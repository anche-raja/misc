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4" d="100"/>
          <a:sy n="104" d="100"/>
        </p:scale>
        <p:origin x="28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9334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A623"/>
          </a:solidFill>
          <a:ln w="12700">
            <a:solidFill>
              <a:srgbClr val="F5A623">
                <a:alpha val="0"/>
              </a:srgbClr>
            </a:solidFill>
            <a:prstDash val="solid"/>
          </a:ln>
        </p:spPr>
        <p:txBody>
          <a:bodyPr/>
          <a:lstStyle/>
          <a:p>
            <a:endParaRPr lang="en-US"/>
          </a:p>
        </p:txBody>
      </p:sp>
      <p:sp>
        <p:nvSpPr>
          <p:cNvPr id="3" name="Shape 1"/>
          <p:cNvSpPr/>
          <p:nvPr/>
        </p:nvSpPr>
        <p:spPr>
          <a:xfrm>
            <a:off x="8686800" y="-91440"/>
            <a:ext cx="731520" cy="2633472"/>
          </a:xfrm>
          <a:prstGeom prst="rect">
            <a:avLst/>
          </a:prstGeom>
          <a:solidFill>
            <a:srgbClr val="C47E0F">
              <a:alpha val="85000"/>
            </a:srgbClr>
          </a:solidFill>
          <a:ln w="12700">
            <a:solidFill>
              <a:srgbClr val="C47E0F">
                <a:alpha val="0"/>
              </a:srgbClr>
            </a:solidFill>
            <a:prstDash val="solid"/>
          </a:ln>
        </p:spPr>
        <p:txBody>
          <a:bodyPr/>
          <a:lstStyle/>
          <a:p>
            <a:endParaRPr lang="en-US"/>
          </a:p>
        </p:txBody>
      </p:sp>
      <p:sp>
        <p:nvSpPr>
          <p:cNvPr id="4" name="Shape 2"/>
          <p:cNvSpPr/>
          <p:nvPr/>
        </p:nvSpPr>
        <p:spPr>
          <a:xfrm>
            <a:off x="8540496" y="219456"/>
            <a:ext cx="1053389" cy="2194560"/>
          </a:xfrm>
          <a:prstGeom prst="rect">
            <a:avLst/>
          </a:prstGeom>
          <a:solidFill>
            <a:srgbClr val="F5A623"/>
          </a:solidFill>
          <a:ln w="12700">
            <a:solidFill>
              <a:srgbClr val="F5A623">
                <a:alpha val="0"/>
              </a:srgbClr>
            </a:solidFill>
            <a:prstDash val="solid"/>
          </a:ln>
        </p:spPr>
        <p:txBody>
          <a:bodyPr/>
          <a:lstStyle/>
          <a:p>
            <a:endParaRPr lang="en-US"/>
          </a:p>
        </p:txBody>
      </p:sp>
      <p:sp>
        <p:nvSpPr>
          <p:cNvPr id="5" name="Shape 3"/>
          <p:cNvSpPr/>
          <p:nvPr/>
        </p:nvSpPr>
        <p:spPr>
          <a:xfrm>
            <a:off x="9509760" y="-91440"/>
            <a:ext cx="868680" cy="3127248"/>
          </a:xfrm>
          <a:prstGeom prst="rect">
            <a:avLst/>
          </a:prstGeom>
          <a:solidFill>
            <a:srgbClr val="C47E0F">
              <a:alpha val="85000"/>
            </a:srgbClr>
          </a:solidFill>
          <a:ln w="12700">
            <a:solidFill>
              <a:srgbClr val="C47E0F">
                <a:alpha val="0"/>
              </a:srgbClr>
            </a:solidFill>
            <a:prstDash val="solid"/>
          </a:ln>
        </p:spPr>
        <p:txBody>
          <a:bodyPr/>
          <a:lstStyle/>
          <a:p>
            <a:endParaRPr lang="en-US"/>
          </a:p>
        </p:txBody>
      </p:sp>
      <p:sp>
        <p:nvSpPr>
          <p:cNvPr id="6" name="Shape 4"/>
          <p:cNvSpPr/>
          <p:nvPr/>
        </p:nvSpPr>
        <p:spPr>
          <a:xfrm>
            <a:off x="9336024" y="260604"/>
            <a:ext cx="1250899" cy="2606040"/>
          </a:xfrm>
          <a:prstGeom prst="rect">
            <a:avLst/>
          </a:prstGeom>
          <a:solidFill>
            <a:srgbClr val="F5A623"/>
          </a:solidFill>
          <a:ln w="12700">
            <a:solidFill>
              <a:srgbClr val="F5A623">
                <a:alpha val="0"/>
              </a:srgbClr>
            </a:solidFill>
            <a:prstDash val="solid"/>
          </a:ln>
        </p:spPr>
        <p:txBody>
          <a:bodyPr/>
          <a:lstStyle/>
          <a:p>
            <a:endParaRPr lang="en-US"/>
          </a:p>
        </p:txBody>
      </p:sp>
      <p:sp>
        <p:nvSpPr>
          <p:cNvPr id="7" name="Shape 5"/>
          <p:cNvSpPr/>
          <p:nvPr/>
        </p:nvSpPr>
        <p:spPr>
          <a:xfrm>
            <a:off x="10332720" y="-91440"/>
            <a:ext cx="685800" cy="2468880"/>
          </a:xfrm>
          <a:prstGeom prst="rect">
            <a:avLst/>
          </a:prstGeom>
          <a:solidFill>
            <a:srgbClr val="C47E0F">
              <a:alpha val="85000"/>
            </a:srgbClr>
          </a:solidFill>
          <a:ln w="12700">
            <a:solidFill>
              <a:srgbClr val="C47E0F">
                <a:alpha val="0"/>
              </a:srgbClr>
            </a:solidFill>
            <a:prstDash val="solid"/>
          </a:ln>
        </p:spPr>
        <p:txBody>
          <a:bodyPr/>
          <a:lstStyle/>
          <a:p>
            <a:endParaRPr lang="en-US"/>
          </a:p>
        </p:txBody>
      </p:sp>
      <p:sp>
        <p:nvSpPr>
          <p:cNvPr id="8" name="Shape 6"/>
          <p:cNvSpPr/>
          <p:nvPr/>
        </p:nvSpPr>
        <p:spPr>
          <a:xfrm>
            <a:off x="10195560" y="205740"/>
            <a:ext cx="987552" cy="2057400"/>
          </a:xfrm>
          <a:prstGeom prst="rect">
            <a:avLst/>
          </a:prstGeom>
          <a:solidFill>
            <a:srgbClr val="F5A623"/>
          </a:solidFill>
          <a:ln w="12700">
            <a:solidFill>
              <a:srgbClr val="F5A623">
                <a:alpha val="0"/>
              </a:srgbClr>
            </a:solidFill>
            <a:prstDash val="solid"/>
          </a:ln>
        </p:spPr>
        <p:txBody>
          <a:bodyPr/>
          <a:lstStyle/>
          <a:p>
            <a:endParaRPr lang="en-US"/>
          </a:p>
        </p:txBody>
      </p:sp>
      <p:sp>
        <p:nvSpPr>
          <p:cNvPr id="9" name="Shape 7"/>
          <p:cNvSpPr/>
          <p:nvPr/>
        </p:nvSpPr>
        <p:spPr>
          <a:xfrm>
            <a:off x="11064240" y="-91440"/>
            <a:ext cx="502920" cy="1810512"/>
          </a:xfrm>
          <a:prstGeom prst="rect">
            <a:avLst/>
          </a:prstGeom>
          <a:solidFill>
            <a:srgbClr val="C47E0F">
              <a:alpha val="85000"/>
            </a:srgbClr>
          </a:solidFill>
          <a:ln w="12700">
            <a:solidFill>
              <a:srgbClr val="C47E0F">
                <a:alpha val="0"/>
              </a:srgbClr>
            </a:solidFill>
            <a:prstDash val="solid"/>
          </a:ln>
        </p:spPr>
        <p:txBody>
          <a:bodyPr/>
          <a:lstStyle/>
          <a:p>
            <a:endParaRPr lang="en-US"/>
          </a:p>
        </p:txBody>
      </p:sp>
      <p:sp>
        <p:nvSpPr>
          <p:cNvPr id="10" name="Shape 8"/>
          <p:cNvSpPr/>
          <p:nvPr/>
        </p:nvSpPr>
        <p:spPr>
          <a:xfrm>
            <a:off x="10963656" y="150876"/>
            <a:ext cx="724205" cy="1508760"/>
          </a:xfrm>
          <a:prstGeom prst="rect">
            <a:avLst/>
          </a:prstGeom>
          <a:solidFill>
            <a:srgbClr val="F5A623"/>
          </a:solidFill>
          <a:ln w="12700">
            <a:solidFill>
              <a:srgbClr val="F5A623">
                <a:alpha val="0"/>
              </a:srgbClr>
            </a:solidFill>
            <a:prstDash val="solid"/>
          </a:ln>
        </p:spPr>
        <p:txBody>
          <a:bodyPr/>
          <a:lstStyle/>
          <a:p>
            <a:endParaRPr lang="en-US"/>
          </a:p>
        </p:txBody>
      </p:sp>
      <p:sp>
        <p:nvSpPr>
          <p:cNvPr id="11" name="Text 9"/>
          <p:cNvSpPr/>
          <p:nvPr/>
        </p:nvSpPr>
        <p:spPr>
          <a:xfrm>
            <a:off x="310896" y="1005840"/>
            <a:ext cx="7315200" cy="1005840"/>
          </a:xfrm>
          <a:prstGeom prst="rect">
            <a:avLst/>
          </a:prstGeom>
          <a:noFill/>
          <a:ln/>
        </p:spPr>
        <p:txBody>
          <a:bodyPr wrap="square" lIns="0" tIns="0" rIns="0" bIns="0" rtlCol="0" anchor="ctr"/>
          <a:lstStyle/>
          <a:p>
            <a:pPr marL="0" indent="0" algn="l">
              <a:buNone/>
            </a:pPr>
            <a:r>
              <a:rPr lang="en-US" sz="8000" b="1" kern="0" spc="800" dirty="0">
                <a:solidFill>
                  <a:srgbClr val="F5A623"/>
                </a:solidFill>
                <a:latin typeface="Georgia" pitchFamily="34" charset="0"/>
                <a:ea typeface="Georgia" pitchFamily="34" charset="-122"/>
                <a:cs typeface="Georgia" pitchFamily="34" charset="-120"/>
              </a:rPr>
              <a:t>FORGE</a:t>
            </a:r>
            <a:endParaRPr lang="en-US" sz="8000" dirty="0"/>
          </a:p>
        </p:txBody>
      </p:sp>
      <p:sp>
        <p:nvSpPr>
          <p:cNvPr id="12" name="Text 10"/>
          <p:cNvSpPr/>
          <p:nvPr/>
        </p:nvSpPr>
        <p:spPr>
          <a:xfrm>
            <a:off x="310896" y="2084832"/>
            <a:ext cx="7315200" cy="566928"/>
          </a:xfrm>
          <a:prstGeom prst="rect">
            <a:avLst/>
          </a:prstGeom>
          <a:noFill/>
          <a:ln/>
        </p:spPr>
        <p:txBody>
          <a:bodyPr wrap="square" lIns="0" tIns="0" rIns="0" bIns="0" rtlCol="0" anchor="ctr"/>
          <a:lstStyle/>
          <a:p>
            <a:pPr marL="0" indent="0" algn="l">
              <a:buNone/>
            </a:pPr>
            <a:r>
              <a:rPr lang="en-US" sz="3600" b="1" dirty="0">
                <a:solidFill>
                  <a:srgbClr val="FFFFFF"/>
                </a:solidFill>
                <a:latin typeface="Georgia" pitchFamily="34" charset="0"/>
                <a:ea typeface="Georgia" pitchFamily="34" charset="-122"/>
                <a:cs typeface="Georgia" pitchFamily="34" charset="-120"/>
              </a:rPr>
              <a:t>Agent Deep Dive</a:t>
            </a:r>
            <a:endParaRPr lang="en-US" sz="3600" dirty="0"/>
          </a:p>
        </p:txBody>
      </p:sp>
      <p:sp>
        <p:nvSpPr>
          <p:cNvPr id="13" name="Text 11"/>
          <p:cNvSpPr/>
          <p:nvPr/>
        </p:nvSpPr>
        <p:spPr>
          <a:xfrm>
            <a:off x="310896" y="2761488"/>
            <a:ext cx="8229600" cy="384048"/>
          </a:xfrm>
          <a:prstGeom prst="rect">
            <a:avLst/>
          </a:prstGeom>
          <a:noFill/>
          <a:ln/>
        </p:spPr>
        <p:txBody>
          <a:bodyPr wrap="square" lIns="0" tIns="0" rIns="0" bIns="0" rtlCol="0" anchor="ctr"/>
          <a:lstStyle/>
          <a:p>
            <a:pPr marL="0" indent="0" algn="l">
              <a:buNone/>
            </a:pPr>
            <a:r>
              <a:rPr lang="en-US" sz="1800" i="1" dirty="0">
                <a:solidFill>
                  <a:srgbClr val="FDD17A"/>
                </a:solidFill>
                <a:latin typeface="Georgia" pitchFamily="34" charset="0"/>
                <a:ea typeface="Georgia" pitchFamily="34" charset="-122"/>
                <a:cs typeface="Georgia" pitchFamily="34" charset="-120"/>
              </a:rPr>
              <a:t>An agent-by-agent technical breakdown</a:t>
            </a:r>
            <a:endParaRPr lang="en-US" sz="1800" dirty="0"/>
          </a:p>
        </p:txBody>
      </p:sp>
      <p:sp>
        <p:nvSpPr>
          <p:cNvPr id="14" name="Shape 12"/>
          <p:cNvSpPr/>
          <p:nvPr/>
        </p:nvSpPr>
        <p:spPr>
          <a:xfrm>
            <a:off x="310896" y="3273552"/>
            <a:ext cx="4114800" cy="22860"/>
          </a:xfrm>
          <a:prstGeom prst="rect">
            <a:avLst/>
          </a:prstGeom>
          <a:solidFill>
            <a:srgbClr val="F5A623">
              <a:alpha val="45000"/>
            </a:srgbClr>
          </a:solidFill>
          <a:ln w="12700">
            <a:solidFill>
              <a:srgbClr val="F5A623">
                <a:alpha val="0"/>
              </a:srgbClr>
            </a:solidFill>
            <a:prstDash val="solid"/>
          </a:ln>
        </p:spPr>
        <p:txBody>
          <a:bodyPr/>
          <a:lstStyle/>
          <a:p>
            <a:endParaRPr lang="en-US"/>
          </a:p>
        </p:txBody>
      </p:sp>
      <p:sp>
        <p:nvSpPr>
          <p:cNvPr id="15" name="Text 13"/>
          <p:cNvSpPr/>
          <p:nvPr/>
        </p:nvSpPr>
        <p:spPr>
          <a:xfrm>
            <a:off x="310896" y="3419856"/>
            <a:ext cx="8229600" cy="310896"/>
          </a:xfrm>
          <a:prstGeom prst="rect">
            <a:avLst/>
          </a:prstGeom>
          <a:noFill/>
          <a:ln/>
        </p:spPr>
        <p:txBody>
          <a:bodyPr wrap="square" lIns="0" tIns="0" rIns="0" bIns="0" rtlCol="0" anchor="ctr"/>
          <a:lstStyle/>
          <a:p>
            <a:pPr marL="0" indent="0" algn="l">
              <a:buNone/>
            </a:pPr>
            <a:r>
              <a:rPr lang="en-US" sz="1300" dirty="0">
                <a:solidFill>
                  <a:srgbClr val="7A95B4"/>
                </a:solidFill>
                <a:latin typeface="Georgia" pitchFamily="34" charset="0"/>
                <a:ea typeface="Georgia" pitchFamily="34" charset="-122"/>
                <a:cs typeface="Georgia" pitchFamily="34" charset="-120"/>
              </a:rPr>
              <a:t>What each agent does · How it decides · Why it matters</a:t>
            </a:r>
            <a:endParaRPr lang="en-US" sz="1300" dirty="0"/>
          </a:p>
        </p:txBody>
      </p:sp>
      <p:sp>
        <p:nvSpPr>
          <p:cNvPr id="16" name="Text 14"/>
          <p:cNvSpPr/>
          <p:nvPr/>
        </p:nvSpPr>
        <p:spPr>
          <a:xfrm>
            <a:off x="310896" y="3822192"/>
            <a:ext cx="7315200" cy="274320"/>
          </a:xfrm>
          <a:prstGeom prst="rect">
            <a:avLst/>
          </a:prstGeom>
          <a:noFill/>
          <a:ln/>
        </p:spPr>
        <p:txBody>
          <a:bodyPr wrap="square" lIns="0" tIns="0" rIns="0" bIns="0" rtlCol="0" anchor="ctr"/>
          <a:lstStyle/>
          <a:p>
            <a:pPr marL="0" indent="0" algn="l">
              <a:buNone/>
            </a:pPr>
            <a:r>
              <a:rPr lang="en-US" sz="1100" b="1" dirty="0">
                <a:solidFill>
                  <a:srgbClr val="F5A623"/>
                </a:solidFill>
                <a:latin typeface="Georgia" pitchFamily="34" charset="0"/>
                <a:ea typeface="Georgia" pitchFamily="34" charset="-122"/>
                <a:cs typeface="Georgia" pitchFamily="34" charset="-120"/>
              </a:rPr>
              <a:t>What this deck covers</a:t>
            </a:r>
            <a:endParaRPr lang="en-US" sz="1100" dirty="0"/>
          </a:p>
        </p:txBody>
      </p:sp>
      <p:sp>
        <p:nvSpPr>
          <p:cNvPr id="17" name="Shape 15"/>
          <p:cNvSpPr/>
          <p:nvPr/>
        </p:nvSpPr>
        <p:spPr>
          <a:xfrm>
            <a:off x="310896" y="4169664"/>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18" name="Text 16"/>
          <p:cNvSpPr/>
          <p:nvPr/>
        </p:nvSpPr>
        <p:spPr>
          <a:xfrm>
            <a:off x="530352" y="4151376"/>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The Guardrails Agent — two safety checkpoints</a:t>
            </a:r>
            <a:endParaRPr lang="en-US" sz="1050" dirty="0"/>
          </a:p>
        </p:txBody>
      </p:sp>
      <p:sp>
        <p:nvSpPr>
          <p:cNvPr id="19" name="Shape 17"/>
          <p:cNvSpPr/>
          <p:nvPr/>
        </p:nvSpPr>
        <p:spPr>
          <a:xfrm>
            <a:off x="310896" y="4517136"/>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20" name="Text 18"/>
          <p:cNvSpPr/>
          <p:nvPr/>
        </p:nvSpPr>
        <p:spPr>
          <a:xfrm>
            <a:off x="530352" y="4498848"/>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The Leader Agent — orchestration and retry logic</a:t>
            </a:r>
            <a:endParaRPr lang="en-US" sz="1050" dirty="0"/>
          </a:p>
        </p:txBody>
      </p:sp>
      <p:sp>
        <p:nvSpPr>
          <p:cNvPr id="21" name="Shape 19"/>
          <p:cNvSpPr/>
          <p:nvPr/>
        </p:nvSpPr>
        <p:spPr>
          <a:xfrm>
            <a:off x="310896" y="4864608"/>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22" name="Text 20"/>
          <p:cNvSpPr/>
          <p:nvPr/>
        </p:nvSpPr>
        <p:spPr>
          <a:xfrm>
            <a:off x="530352" y="4846320"/>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Discovery + Risk Agents — codebase analysis</a:t>
            </a:r>
            <a:endParaRPr lang="en-US" sz="1050" dirty="0"/>
          </a:p>
        </p:txBody>
      </p:sp>
      <p:sp>
        <p:nvSpPr>
          <p:cNvPr id="23" name="Shape 21"/>
          <p:cNvSpPr/>
          <p:nvPr/>
        </p:nvSpPr>
        <p:spPr>
          <a:xfrm>
            <a:off x="310896" y="5212080"/>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24" name="Text 22"/>
          <p:cNvSpPr/>
          <p:nvPr/>
        </p:nvSpPr>
        <p:spPr>
          <a:xfrm>
            <a:off x="530352" y="5193792"/>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Java + Spring upgrade agents</a:t>
            </a:r>
            <a:endParaRPr lang="en-US" sz="1050" dirty="0"/>
          </a:p>
        </p:txBody>
      </p:sp>
      <p:sp>
        <p:nvSpPr>
          <p:cNvPr id="25" name="Shape 23"/>
          <p:cNvSpPr/>
          <p:nvPr/>
        </p:nvSpPr>
        <p:spPr>
          <a:xfrm>
            <a:off x="310896" y="5559552"/>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26" name="Text 24"/>
          <p:cNvSpPr/>
          <p:nvPr/>
        </p:nvSpPr>
        <p:spPr>
          <a:xfrm>
            <a:off x="530352" y="5541264"/>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Struts 2.x elimination — OGNL completely removed</a:t>
            </a:r>
            <a:endParaRPr lang="en-US" sz="1050" dirty="0"/>
          </a:p>
        </p:txBody>
      </p:sp>
      <p:sp>
        <p:nvSpPr>
          <p:cNvPr id="27" name="Shape 25"/>
          <p:cNvSpPr/>
          <p:nvPr/>
        </p:nvSpPr>
        <p:spPr>
          <a:xfrm>
            <a:off x="310896" y="5907024"/>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28" name="Text 26"/>
          <p:cNvSpPr/>
          <p:nvPr/>
        </p:nvSpPr>
        <p:spPr>
          <a:xfrm>
            <a:off x="530352" y="5888736"/>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Containerize + Test Gen agents</a:t>
            </a:r>
            <a:endParaRPr lang="en-US" sz="1050" dirty="0"/>
          </a:p>
        </p:txBody>
      </p:sp>
      <p:sp>
        <p:nvSpPr>
          <p:cNvPr id="29" name="Shape 27"/>
          <p:cNvSpPr/>
          <p:nvPr/>
        </p:nvSpPr>
        <p:spPr>
          <a:xfrm>
            <a:off x="6217920" y="4169664"/>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30" name="Text 28"/>
          <p:cNvSpPr/>
          <p:nvPr/>
        </p:nvSpPr>
        <p:spPr>
          <a:xfrm>
            <a:off x="6437376" y="4151376"/>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Review agents — 5 independent quality checks</a:t>
            </a:r>
            <a:endParaRPr lang="en-US" sz="1050" dirty="0"/>
          </a:p>
        </p:txBody>
      </p:sp>
      <p:sp>
        <p:nvSpPr>
          <p:cNvPr id="31" name="Shape 29"/>
          <p:cNvSpPr/>
          <p:nvPr/>
        </p:nvSpPr>
        <p:spPr>
          <a:xfrm>
            <a:off x="6217920" y="4517136"/>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32" name="Text 30"/>
          <p:cNvSpPr/>
          <p:nvPr/>
        </p:nvSpPr>
        <p:spPr>
          <a:xfrm>
            <a:off x="6437376" y="4498848"/>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Why two different AI models — cross-model validation</a:t>
            </a:r>
            <a:endParaRPr lang="en-US" sz="1050" dirty="0"/>
          </a:p>
        </p:txBody>
      </p:sp>
      <p:sp>
        <p:nvSpPr>
          <p:cNvPr id="33" name="Shape 31"/>
          <p:cNvSpPr/>
          <p:nvPr/>
        </p:nvSpPr>
        <p:spPr>
          <a:xfrm>
            <a:off x="6217920" y="4864608"/>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34" name="Text 32"/>
          <p:cNvSpPr/>
          <p:nvPr/>
        </p:nvSpPr>
        <p:spPr>
          <a:xfrm>
            <a:off x="6437376" y="4846320"/>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The retry loop and feedback injection mechanism</a:t>
            </a:r>
            <a:endParaRPr lang="en-US" sz="1050" dirty="0"/>
          </a:p>
        </p:txBody>
      </p:sp>
      <p:sp>
        <p:nvSpPr>
          <p:cNvPr id="35" name="Shape 33"/>
          <p:cNvSpPr/>
          <p:nvPr/>
        </p:nvSpPr>
        <p:spPr>
          <a:xfrm>
            <a:off x="6217920" y="5212080"/>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36" name="Text 34"/>
          <p:cNvSpPr/>
          <p:nvPr/>
        </p:nvSpPr>
        <p:spPr>
          <a:xfrm>
            <a:off x="6437376" y="5193792"/>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The manual review queue and review portal</a:t>
            </a:r>
            <a:endParaRPr lang="en-US" sz="1050" dirty="0"/>
          </a:p>
        </p:txBody>
      </p:sp>
      <p:sp>
        <p:nvSpPr>
          <p:cNvPr id="37" name="Shape 35"/>
          <p:cNvSpPr/>
          <p:nvPr/>
        </p:nvSpPr>
        <p:spPr>
          <a:xfrm>
            <a:off x="6217920" y="5559552"/>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38" name="Text 36"/>
          <p:cNvSpPr/>
          <p:nvPr/>
        </p:nvSpPr>
        <p:spPr>
          <a:xfrm>
            <a:off x="6437376" y="5541264"/>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RAG Knowledge Base — enterprise standards grounding</a:t>
            </a:r>
            <a:endParaRPr lang="en-US" sz="1050" dirty="0"/>
          </a:p>
        </p:txBody>
      </p:sp>
      <p:sp>
        <p:nvSpPr>
          <p:cNvPr id="39" name="Shape 37"/>
          <p:cNvSpPr/>
          <p:nvPr/>
        </p:nvSpPr>
        <p:spPr>
          <a:xfrm>
            <a:off x="6217920" y="5907024"/>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40" name="Text 38"/>
          <p:cNvSpPr/>
          <p:nvPr/>
        </p:nvSpPr>
        <p:spPr>
          <a:xfrm>
            <a:off x="6437376" y="5888736"/>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Mission · Mechanism · Guarantee</a:t>
            </a:r>
            <a:endParaRPr lang="en-US" sz="1050" dirty="0"/>
          </a:p>
        </p:txBody>
      </p:sp>
      <p:sp>
        <p:nvSpPr>
          <p:cNvPr id="41" name="Text 39"/>
          <p:cNvSpPr/>
          <p:nvPr/>
        </p:nvSpPr>
        <p:spPr>
          <a:xfrm>
            <a:off x="310896" y="6309360"/>
            <a:ext cx="9144000" cy="274320"/>
          </a:xfrm>
          <a:prstGeom prst="rect">
            <a:avLst/>
          </a:prstGeom>
          <a:noFill/>
          <a:ln/>
        </p:spPr>
        <p:txBody>
          <a:bodyPr wrap="square" lIns="0" tIns="0" rIns="0" bIns="0" rtlCol="0" anchor="ctr"/>
          <a:lstStyle/>
          <a:p>
            <a:pPr marL="0" indent="0" algn="l">
              <a:buNone/>
            </a:pPr>
            <a:r>
              <a:rPr lang="en-US" sz="1000" kern="0" spc="100" dirty="0">
                <a:solidFill>
                  <a:srgbClr val="7A95B4"/>
                </a:solidFill>
                <a:latin typeface="Calibri" pitchFamily="34" charset="0"/>
                <a:ea typeface="Calibri" pitchFamily="34" charset="-122"/>
                <a:cs typeface="Calibri" pitchFamily="34" charset="-120"/>
              </a:rPr>
              <a:t>Powered by Claude Sonnet 4.5  ·  Amazon Nova Pro  ·  AWS Bedrock  ·  Strands Agents</a:t>
            </a:r>
            <a:endParaRPr lang="en-US" sz="1000" dirty="0"/>
          </a:p>
        </p:txBody>
      </p:sp>
      <p:sp>
        <p:nvSpPr>
          <p:cNvPr id="42" name="Shape 40"/>
          <p:cNvSpPr/>
          <p:nvPr/>
        </p:nvSpPr>
        <p:spPr>
          <a:xfrm>
            <a:off x="128016" y="6729984"/>
            <a:ext cx="12033504" cy="73152"/>
          </a:xfrm>
          <a:prstGeom prst="rect">
            <a:avLst/>
          </a:prstGeom>
          <a:solidFill>
            <a:srgbClr val="C47E0F"/>
          </a:solidFill>
          <a:ln w="12700">
            <a:solidFill>
              <a:srgbClr val="C47E0F">
                <a:alpha val="0"/>
              </a:srgbClr>
            </a:solidFill>
            <a:prstDash val="solid"/>
          </a:ln>
        </p:spPr>
        <p:txBody>
          <a:bodyPr/>
          <a:lstStyle/>
          <a:p>
            <a:endParaRPr lang="en-US"/>
          </a:p>
        </p:txBody>
      </p:sp>
      <p:sp>
        <p:nvSpPr>
          <p:cNvPr id="43" name="Text 14">
            <a:extLst>
              <a:ext uri="{FF2B5EF4-FFF2-40B4-BE49-F238E27FC236}">
                <a16:creationId xmlns:a16="http://schemas.microsoft.com/office/drawing/2014/main" id="{F7388990-70A7-3743-EB4D-3B49E99A055D}"/>
              </a:ext>
            </a:extLst>
          </p:cNvPr>
          <p:cNvSpPr/>
          <p:nvPr/>
        </p:nvSpPr>
        <p:spPr>
          <a:xfrm>
            <a:off x="196596" y="260604"/>
            <a:ext cx="9601200" cy="219456"/>
          </a:xfrm>
          <a:prstGeom prst="rect">
            <a:avLst/>
          </a:prstGeom>
          <a:noFill/>
          <a:ln/>
        </p:spPr>
        <p:txBody>
          <a:bodyPr wrap="square" lIns="0" tIns="0" rIns="0" bIns="0" rtlCol="0" anchor="ctr"/>
          <a:lstStyle/>
          <a:p>
            <a:pPr marL="0" indent="0">
              <a:buNone/>
            </a:pPr>
            <a:r>
              <a:rPr lang="en-US" sz="1000" b="1" kern="0" spc="100" dirty="0">
                <a:solidFill>
                  <a:srgbClr val="7A95B4"/>
                </a:solidFill>
                <a:latin typeface="Calibri" pitchFamily="34" charset="0"/>
                <a:ea typeface="Calibri" pitchFamily="34" charset="-122"/>
                <a:cs typeface="Calibri" pitchFamily="34" charset="-120"/>
              </a:rPr>
              <a:t>Framework Orchestrated Rewrite &amp; Generation Engine</a:t>
            </a:r>
            <a:endParaRPr lang="en-US" sz="1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A623"/>
          </a:solidFill>
          <a:ln w="12700">
            <a:solidFill>
              <a:srgbClr val="F5A623">
                <a:alpha val="0"/>
              </a:srgbClr>
            </a:solidFill>
            <a:prstDash val="solid"/>
          </a:ln>
        </p:spPr>
        <p:txBody>
          <a:bodyPr/>
          <a:lstStyle/>
          <a:p>
            <a:endParaRPr lang="en-US"/>
          </a:p>
        </p:txBody>
      </p:sp>
      <p:sp>
        <p:nvSpPr>
          <p:cNvPr id="3" name="Text 1"/>
          <p:cNvSpPr/>
          <p:nvPr/>
        </p:nvSpPr>
        <p:spPr>
          <a:xfrm>
            <a:off x="274320" y="91440"/>
            <a:ext cx="9144000" cy="256032"/>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02  ·  The system in three sentences</a:t>
            </a:r>
            <a:endParaRPr lang="en-US" sz="1000" dirty="0"/>
          </a:p>
        </p:txBody>
      </p:sp>
      <p:sp>
        <p:nvSpPr>
          <p:cNvPr id="4" name="Shape 2"/>
          <p:cNvSpPr/>
          <p:nvPr/>
        </p:nvSpPr>
        <p:spPr>
          <a:xfrm>
            <a:off x="219456" y="384048"/>
            <a:ext cx="11814048" cy="20117"/>
          </a:xfrm>
          <a:prstGeom prst="rect">
            <a:avLst/>
          </a:prstGeom>
          <a:solidFill>
            <a:srgbClr val="F5A623">
              <a:alpha val="45000"/>
            </a:srgbClr>
          </a:solidFill>
          <a:ln w="12700">
            <a:solidFill>
              <a:srgbClr val="F5A623">
                <a:alpha val="0"/>
              </a:srgbClr>
            </a:solidFill>
            <a:prstDash val="solid"/>
          </a:ln>
        </p:spPr>
        <p:txBody>
          <a:bodyPr/>
          <a:lstStyle/>
          <a:p>
            <a:endParaRPr lang="en-US"/>
          </a:p>
        </p:txBody>
      </p:sp>
      <p:sp>
        <p:nvSpPr>
          <p:cNvPr id="5" name="Shape 3"/>
          <p:cNvSpPr/>
          <p:nvPr/>
        </p:nvSpPr>
        <p:spPr>
          <a:xfrm>
            <a:off x="219456" y="475488"/>
            <a:ext cx="11814048" cy="1901952"/>
          </a:xfrm>
          <a:prstGeom prst="rect">
            <a:avLst/>
          </a:prstGeom>
          <a:solidFill>
            <a:srgbClr val="0F2040"/>
          </a:solidFill>
          <a:ln w="15240">
            <a:solidFill>
              <a:srgbClr val="F5A623"/>
            </a:solidFill>
            <a:prstDash val="solid"/>
          </a:ln>
          <a:effectLst>
            <a:outerShdw blurRad="127000" dist="38100" dir="8100000" algn="bl" rotWithShape="0">
              <a:srgbClr val="000000">
                <a:alpha val="12000"/>
              </a:srgbClr>
            </a:outerShdw>
          </a:effectLst>
        </p:spPr>
        <p:txBody>
          <a:bodyPr/>
          <a:lstStyle/>
          <a:p>
            <a:endParaRPr lang="en-US"/>
          </a:p>
        </p:txBody>
      </p:sp>
      <p:sp>
        <p:nvSpPr>
          <p:cNvPr id="6" name="Shape 4"/>
          <p:cNvSpPr/>
          <p:nvPr/>
        </p:nvSpPr>
        <p:spPr>
          <a:xfrm>
            <a:off x="219456" y="475488"/>
            <a:ext cx="91440" cy="1901952"/>
          </a:xfrm>
          <a:prstGeom prst="rect">
            <a:avLst/>
          </a:prstGeom>
          <a:solidFill>
            <a:srgbClr val="F5A623"/>
          </a:solidFill>
          <a:ln w="12700">
            <a:solidFill>
              <a:srgbClr val="F5A623">
                <a:alpha val="0"/>
              </a:srgbClr>
            </a:solidFill>
            <a:prstDash val="solid"/>
          </a:ln>
        </p:spPr>
        <p:txBody>
          <a:bodyPr/>
          <a:lstStyle/>
          <a:p>
            <a:endParaRPr lang="en-US"/>
          </a:p>
        </p:txBody>
      </p:sp>
      <p:sp>
        <p:nvSpPr>
          <p:cNvPr id="7" name="Shape 5"/>
          <p:cNvSpPr/>
          <p:nvPr/>
        </p:nvSpPr>
        <p:spPr>
          <a:xfrm>
            <a:off x="402336" y="1005840"/>
            <a:ext cx="457200" cy="457200"/>
          </a:xfrm>
          <a:prstGeom prst="ellipse">
            <a:avLst/>
          </a:prstGeom>
          <a:solidFill>
            <a:srgbClr val="F5A623">
              <a:alpha val="85000"/>
            </a:srgbClr>
          </a:solidFill>
          <a:ln w="12700">
            <a:solidFill>
              <a:srgbClr val="F5A623"/>
            </a:solidFill>
            <a:prstDash val="solid"/>
          </a:ln>
        </p:spPr>
        <p:txBody>
          <a:bodyPr/>
          <a:lstStyle/>
          <a:p>
            <a:endParaRPr lang="en-US"/>
          </a:p>
        </p:txBody>
      </p:sp>
      <p:sp>
        <p:nvSpPr>
          <p:cNvPr id="8" name="Text 6"/>
          <p:cNvSpPr/>
          <p:nvPr/>
        </p:nvSpPr>
        <p:spPr>
          <a:xfrm>
            <a:off x="402336" y="1005840"/>
            <a:ext cx="457200" cy="457200"/>
          </a:xfrm>
          <a:prstGeom prst="rect">
            <a:avLst/>
          </a:prstGeom>
          <a:noFill/>
          <a:ln/>
        </p:spPr>
        <p:txBody>
          <a:bodyPr wrap="square" lIns="0" tIns="0" rIns="0" bIns="0" rtlCol="0" anchor="ctr"/>
          <a:lstStyle/>
          <a:p>
            <a:pPr marL="0" indent="0" algn="ctr">
              <a:buNone/>
            </a:pPr>
            <a:r>
              <a:rPr lang="en-US" sz="1800" b="1" dirty="0">
                <a:solidFill>
                  <a:srgbClr val="F5A623"/>
                </a:solidFill>
                <a:latin typeface="Georgia" pitchFamily="34" charset="0"/>
                <a:ea typeface="Georgia" pitchFamily="34" charset="-122"/>
                <a:cs typeface="Georgia" pitchFamily="34" charset="-120"/>
              </a:rPr>
              <a:t>1</a:t>
            </a:r>
            <a:endParaRPr lang="en-US" sz="1800" dirty="0"/>
          </a:p>
        </p:txBody>
      </p:sp>
      <p:sp>
        <p:nvSpPr>
          <p:cNvPr id="9" name="Shape 7"/>
          <p:cNvSpPr/>
          <p:nvPr/>
        </p:nvSpPr>
        <p:spPr>
          <a:xfrm>
            <a:off x="969264" y="548640"/>
            <a:ext cx="1188720" cy="237744"/>
          </a:xfrm>
          <a:prstGeom prst="rect">
            <a:avLst/>
          </a:prstGeom>
          <a:solidFill>
            <a:srgbClr val="F5A623">
              <a:alpha val="80000"/>
            </a:srgbClr>
          </a:solidFill>
          <a:ln w="12700">
            <a:solidFill>
              <a:srgbClr val="F5A623">
                <a:alpha val="50000"/>
              </a:srgbClr>
            </a:solidFill>
            <a:prstDash val="solid"/>
          </a:ln>
        </p:spPr>
        <p:txBody>
          <a:bodyPr/>
          <a:lstStyle/>
          <a:p>
            <a:endParaRPr lang="en-US"/>
          </a:p>
        </p:txBody>
      </p:sp>
      <p:sp>
        <p:nvSpPr>
          <p:cNvPr id="10" name="Text 8"/>
          <p:cNvSpPr/>
          <p:nvPr/>
        </p:nvSpPr>
        <p:spPr>
          <a:xfrm>
            <a:off x="969264" y="548640"/>
            <a:ext cx="1188720" cy="237744"/>
          </a:xfrm>
          <a:prstGeom prst="rect">
            <a:avLst/>
          </a:prstGeom>
          <a:noFill/>
          <a:ln/>
        </p:spPr>
        <p:txBody>
          <a:bodyPr wrap="square" lIns="0" tIns="0" rIns="0" bIns="0" rtlCol="0" anchor="ctr"/>
          <a:lstStyle/>
          <a:p>
            <a:pPr marL="0" indent="0" algn="ctr">
              <a:buNone/>
            </a:pPr>
            <a:r>
              <a:rPr lang="en-US" sz="900" b="1" dirty="0">
                <a:solidFill>
                  <a:srgbClr val="F5A623"/>
                </a:solidFill>
                <a:latin typeface="Calibri" pitchFamily="34" charset="0"/>
                <a:ea typeface="Calibri" pitchFamily="34" charset="-122"/>
                <a:cs typeface="Calibri" pitchFamily="34" charset="-120"/>
              </a:rPr>
              <a:t>What it is</a:t>
            </a:r>
            <a:endParaRPr lang="en-US" sz="900" dirty="0"/>
          </a:p>
        </p:txBody>
      </p:sp>
      <p:sp>
        <p:nvSpPr>
          <p:cNvPr id="11" name="Shape 9"/>
          <p:cNvSpPr/>
          <p:nvPr/>
        </p:nvSpPr>
        <p:spPr>
          <a:xfrm>
            <a:off x="2267712" y="548640"/>
            <a:ext cx="1472184" cy="237744"/>
          </a:xfrm>
          <a:prstGeom prst="rect">
            <a:avLst/>
          </a:prstGeom>
          <a:solidFill>
            <a:srgbClr val="F5A623"/>
          </a:solidFill>
          <a:ln w="12700">
            <a:solidFill>
              <a:srgbClr val="F5A623">
                <a:alpha val="0"/>
              </a:srgbClr>
            </a:solidFill>
            <a:prstDash val="solid"/>
          </a:ln>
        </p:spPr>
        <p:txBody>
          <a:bodyPr/>
          <a:lstStyle/>
          <a:p>
            <a:endParaRPr lang="en-US"/>
          </a:p>
        </p:txBody>
      </p:sp>
      <p:sp>
        <p:nvSpPr>
          <p:cNvPr id="12" name="Text 10"/>
          <p:cNvSpPr/>
          <p:nvPr/>
        </p:nvSpPr>
        <p:spPr>
          <a:xfrm>
            <a:off x="2267712" y="548640"/>
            <a:ext cx="1472184" cy="237744"/>
          </a:xfrm>
          <a:prstGeom prst="rect">
            <a:avLst/>
          </a:prstGeom>
          <a:noFill/>
          <a:ln/>
        </p:spPr>
        <p:txBody>
          <a:bodyPr wrap="square" lIns="0" tIns="0" rIns="0" bIns="0" rtlCol="0" anchor="ctr"/>
          <a:lstStyle/>
          <a:p>
            <a:pPr marL="0" indent="0" algn="ctr">
              <a:buNone/>
            </a:pPr>
            <a:r>
              <a:rPr lang="en-US" sz="850" b="1" dirty="0">
                <a:solidFill>
                  <a:srgbClr val="0A1628"/>
                </a:solidFill>
                <a:latin typeface="Calibri" pitchFamily="34" charset="0"/>
                <a:ea typeface="Calibri" pitchFamily="34" charset="-122"/>
                <a:cs typeface="Calibri" pitchFamily="34" charset="-120"/>
              </a:rPr>
              <a:t>Multi-agent system</a:t>
            </a:r>
            <a:endParaRPr lang="en-US" sz="850" dirty="0"/>
          </a:p>
        </p:txBody>
      </p:sp>
      <p:sp>
        <p:nvSpPr>
          <p:cNvPr id="13" name="Shape 11"/>
          <p:cNvSpPr/>
          <p:nvPr/>
        </p:nvSpPr>
        <p:spPr>
          <a:xfrm>
            <a:off x="3813048" y="548640"/>
            <a:ext cx="1266444" cy="237744"/>
          </a:xfrm>
          <a:prstGeom prst="rect">
            <a:avLst/>
          </a:prstGeom>
          <a:solidFill>
            <a:srgbClr val="FDD17A"/>
          </a:solidFill>
          <a:ln w="12700">
            <a:solidFill>
              <a:srgbClr val="FDD17A">
                <a:alpha val="0"/>
              </a:srgbClr>
            </a:solidFill>
            <a:prstDash val="solid"/>
          </a:ln>
        </p:spPr>
        <p:txBody>
          <a:bodyPr/>
          <a:lstStyle/>
          <a:p>
            <a:endParaRPr lang="en-US"/>
          </a:p>
        </p:txBody>
      </p:sp>
      <p:sp>
        <p:nvSpPr>
          <p:cNvPr id="14" name="Text 12"/>
          <p:cNvSpPr/>
          <p:nvPr/>
        </p:nvSpPr>
        <p:spPr>
          <a:xfrm>
            <a:off x="3813048" y="548640"/>
            <a:ext cx="1266444" cy="237744"/>
          </a:xfrm>
          <a:prstGeom prst="rect">
            <a:avLst/>
          </a:prstGeom>
          <a:noFill/>
          <a:ln/>
        </p:spPr>
        <p:txBody>
          <a:bodyPr wrap="square" lIns="0" tIns="0" rIns="0" bIns="0" rtlCol="0" anchor="ctr"/>
          <a:lstStyle/>
          <a:p>
            <a:pPr marL="0" indent="0" algn="ctr">
              <a:buNone/>
            </a:pPr>
            <a:r>
              <a:rPr lang="en-US" sz="850" b="1" dirty="0">
                <a:solidFill>
                  <a:srgbClr val="633806"/>
                </a:solidFill>
                <a:latin typeface="Calibri" pitchFamily="34" charset="0"/>
                <a:ea typeface="Calibri" pitchFamily="34" charset="-122"/>
                <a:cs typeface="Calibri" pitchFamily="34" charset="-120"/>
              </a:rPr>
              <a:t>Dual guardrails</a:t>
            </a:r>
            <a:endParaRPr lang="en-US" sz="850" dirty="0"/>
          </a:p>
        </p:txBody>
      </p:sp>
      <p:sp>
        <p:nvSpPr>
          <p:cNvPr id="15" name="Shape 13"/>
          <p:cNvSpPr/>
          <p:nvPr/>
        </p:nvSpPr>
        <p:spPr>
          <a:xfrm>
            <a:off x="5152644" y="548640"/>
            <a:ext cx="1472184" cy="237744"/>
          </a:xfrm>
          <a:prstGeom prst="rect">
            <a:avLst/>
          </a:prstGeom>
          <a:solidFill>
            <a:srgbClr val="1A3A5C"/>
          </a:solidFill>
          <a:ln w="12700">
            <a:solidFill>
              <a:srgbClr val="1A3A5C">
                <a:alpha val="0"/>
              </a:srgbClr>
            </a:solidFill>
            <a:prstDash val="solid"/>
          </a:ln>
        </p:spPr>
        <p:txBody>
          <a:bodyPr/>
          <a:lstStyle/>
          <a:p>
            <a:endParaRPr lang="en-US"/>
          </a:p>
        </p:txBody>
      </p:sp>
      <p:sp>
        <p:nvSpPr>
          <p:cNvPr id="16" name="Text 14"/>
          <p:cNvSpPr/>
          <p:nvPr/>
        </p:nvSpPr>
        <p:spPr>
          <a:xfrm>
            <a:off x="5152644" y="548640"/>
            <a:ext cx="147218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J2EE modernisation</a:t>
            </a:r>
            <a:endParaRPr lang="en-US" sz="850" dirty="0"/>
          </a:p>
        </p:txBody>
      </p:sp>
      <p:sp>
        <p:nvSpPr>
          <p:cNvPr id="17" name="Shape 15"/>
          <p:cNvSpPr/>
          <p:nvPr/>
        </p:nvSpPr>
        <p:spPr>
          <a:xfrm>
            <a:off x="6697980" y="548640"/>
            <a:ext cx="1403604" cy="237744"/>
          </a:xfrm>
          <a:prstGeom prst="rect">
            <a:avLst/>
          </a:prstGeom>
          <a:solidFill>
            <a:srgbClr val="1A3A5C"/>
          </a:solidFill>
          <a:ln w="12700">
            <a:solidFill>
              <a:srgbClr val="1A3A5C">
                <a:alpha val="0"/>
              </a:srgbClr>
            </a:solidFill>
            <a:prstDash val="solid"/>
          </a:ln>
        </p:spPr>
        <p:txBody>
          <a:bodyPr/>
          <a:lstStyle/>
          <a:p>
            <a:endParaRPr lang="en-US"/>
          </a:p>
        </p:txBody>
      </p:sp>
      <p:sp>
        <p:nvSpPr>
          <p:cNvPr id="18" name="Text 16"/>
          <p:cNvSpPr/>
          <p:nvPr/>
        </p:nvSpPr>
        <p:spPr>
          <a:xfrm>
            <a:off x="6697980" y="548640"/>
            <a:ext cx="140360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15 AI specialists</a:t>
            </a:r>
            <a:endParaRPr lang="en-US" sz="850" dirty="0"/>
          </a:p>
        </p:txBody>
      </p:sp>
      <p:sp>
        <p:nvSpPr>
          <p:cNvPr id="19" name="Shape 17"/>
          <p:cNvSpPr/>
          <p:nvPr/>
        </p:nvSpPr>
        <p:spPr>
          <a:xfrm>
            <a:off x="8174736" y="548640"/>
            <a:ext cx="786384" cy="237744"/>
          </a:xfrm>
          <a:prstGeom prst="rect">
            <a:avLst/>
          </a:prstGeom>
          <a:solidFill>
            <a:srgbClr val="0C447C"/>
          </a:solidFill>
          <a:ln w="12700">
            <a:solidFill>
              <a:srgbClr val="0C447C">
                <a:alpha val="0"/>
              </a:srgbClr>
            </a:solidFill>
            <a:prstDash val="solid"/>
          </a:ln>
        </p:spPr>
        <p:txBody>
          <a:bodyPr/>
          <a:lstStyle/>
          <a:p>
            <a:endParaRPr lang="en-US"/>
          </a:p>
        </p:txBody>
      </p:sp>
      <p:sp>
        <p:nvSpPr>
          <p:cNvPr id="20" name="Text 18"/>
          <p:cNvSpPr/>
          <p:nvPr/>
        </p:nvSpPr>
        <p:spPr>
          <a:xfrm>
            <a:off x="8174736" y="548640"/>
            <a:ext cx="78638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Java X→Y</a:t>
            </a:r>
            <a:endParaRPr lang="en-US" sz="850" dirty="0"/>
          </a:p>
        </p:txBody>
      </p:sp>
      <p:sp>
        <p:nvSpPr>
          <p:cNvPr id="21" name="Shape 19"/>
          <p:cNvSpPr/>
          <p:nvPr/>
        </p:nvSpPr>
        <p:spPr>
          <a:xfrm>
            <a:off x="9034272" y="548640"/>
            <a:ext cx="923544" cy="237744"/>
          </a:xfrm>
          <a:prstGeom prst="rect">
            <a:avLst/>
          </a:prstGeom>
          <a:solidFill>
            <a:srgbClr val="0C447C"/>
          </a:solidFill>
          <a:ln w="12700">
            <a:solidFill>
              <a:srgbClr val="0C447C">
                <a:alpha val="0"/>
              </a:srgbClr>
            </a:solidFill>
            <a:prstDash val="solid"/>
          </a:ln>
        </p:spPr>
        <p:txBody>
          <a:bodyPr/>
          <a:lstStyle/>
          <a:p>
            <a:endParaRPr lang="en-US"/>
          </a:p>
        </p:txBody>
      </p:sp>
      <p:sp>
        <p:nvSpPr>
          <p:cNvPr id="22" name="Text 20"/>
          <p:cNvSpPr/>
          <p:nvPr/>
        </p:nvSpPr>
        <p:spPr>
          <a:xfrm>
            <a:off x="9034272" y="548640"/>
            <a:ext cx="92354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Spring X→Y</a:t>
            </a:r>
            <a:endParaRPr lang="en-US" sz="850" dirty="0"/>
          </a:p>
        </p:txBody>
      </p:sp>
      <p:sp>
        <p:nvSpPr>
          <p:cNvPr id="23" name="Shape 21"/>
          <p:cNvSpPr/>
          <p:nvPr/>
        </p:nvSpPr>
        <p:spPr>
          <a:xfrm>
            <a:off x="10030968" y="548640"/>
            <a:ext cx="1540764" cy="237744"/>
          </a:xfrm>
          <a:prstGeom prst="rect">
            <a:avLst/>
          </a:prstGeom>
          <a:solidFill>
            <a:srgbClr val="E05252"/>
          </a:solidFill>
          <a:ln w="12700">
            <a:solidFill>
              <a:srgbClr val="E05252">
                <a:alpha val="0"/>
              </a:srgbClr>
            </a:solidFill>
            <a:prstDash val="solid"/>
          </a:ln>
        </p:spPr>
        <p:txBody>
          <a:bodyPr/>
          <a:lstStyle/>
          <a:p>
            <a:endParaRPr lang="en-US"/>
          </a:p>
        </p:txBody>
      </p:sp>
      <p:sp>
        <p:nvSpPr>
          <p:cNvPr id="24" name="Text 22"/>
          <p:cNvSpPr/>
          <p:nvPr/>
        </p:nvSpPr>
        <p:spPr>
          <a:xfrm>
            <a:off x="10030968" y="548640"/>
            <a:ext cx="154076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Struts → Spring MVC</a:t>
            </a:r>
            <a:endParaRPr lang="en-US" sz="850" dirty="0"/>
          </a:p>
        </p:txBody>
      </p:sp>
      <p:sp>
        <p:nvSpPr>
          <p:cNvPr id="25" name="Text 23"/>
          <p:cNvSpPr/>
          <p:nvPr/>
        </p:nvSpPr>
        <p:spPr>
          <a:xfrm>
            <a:off x="969264" y="859536"/>
            <a:ext cx="10972800" cy="1426464"/>
          </a:xfrm>
          <a:prstGeom prst="rect">
            <a:avLst/>
          </a:prstGeom>
          <a:noFill/>
          <a:ln/>
        </p:spPr>
        <p:txBody>
          <a:bodyPr wrap="square" lIns="0" tIns="0" rIns="0" bIns="0" rtlCol="0" anchor="t"/>
          <a:lstStyle/>
          <a:p>
            <a:pPr marL="0" indent="0">
              <a:buNone/>
            </a:pPr>
            <a:r>
              <a:rPr lang="en-US" sz="1200" b="1" dirty="0">
                <a:solidFill>
                  <a:srgbClr val="F5A623"/>
                </a:solidFill>
                <a:latin typeface="Georgia" pitchFamily="34" charset="0"/>
                <a:ea typeface="Georgia" pitchFamily="34" charset="-122"/>
                <a:cs typeface="Georgia" pitchFamily="34" charset="-120"/>
              </a:rPr>
              <a:t>FORGE</a:t>
            </a:r>
            <a:r>
              <a:rPr lang="en-US" sz="1200" dirty="0">
                <a:solidFill>
                  <a:srgbClr val="E8EDF4"/>
                </a:solidFill>
                <a:latin typeface="Georgia" pitchFamily="34" charset="0"/>
                <a:ea typeface="Georgia" pitchFamily="34" charset="-122"/>
                <a:cs typeface="Georgia" pitchFamily="34" charset="-120"/>
              </a:rPr>
              <a:t> is a </a:t>
            </a:r>
            <a:r>
              <a:rPr lang="en-US" sz="1200" b="1" dirty="0">
                <a:solidFill>
                  <a:srgbClr val="F5A623"/>
                </a:solidFill>
                <a:latin typeface="Georgia" pitchFamily="34" charset="0"/>
                <a:ea typeface="Georgia" pitchFamily="34" charset="-122"/>
                <a:cs typeface="Georgia" pitchFamily="34" charset="-120"/>
              </a:rPr>
              <a:t>multi-agent system with dual guardrails</a:t>
            </a:r>
            <a:r>
              <a:rPr lang="en-US" sz="1200" dirty="0">
                <a:solidFill>
                  <a:srgbClr val="E8EDF4"/>
                </a:solidFill>
                <a:latin typeface="Georgia" pitchFamily="34" charset="0"/>
                <a:ea typeface="Georgia" pitchFamily="34" charset="-122"/>
                <a:cs typeface="Georgia" pitchFamily="34" charset="-120"/>
              </a:rPr>
              <a:t> designed to modernise enterprise J2EE applications — orchestrating </a:t>
            </a:r>
            <a:r>
              <a:rPr lang="en-US" sz="1200" b="1" dirty="0">
                <a:solidFill>
                  <a:srgbClr val="FFFFFF"/>
                </a:solidFill>
                <a:latin typeface="Georgia" pitchFamily="34" charset="0"/>
                <a:ea typeface="Georgia" pitchFamily="34" charset="-122"/>
                <a:cs typeface="Georgia" pitchFamily="34" charset="-120"/>
              </a:rPr>
              <a:t>15 specialised AI agents</a:t>
            </a:r>
            <a:r>
              <a:rPr lang="en-US" sz="1200" dirty="0">
                <a:solidFill>
                  <a:srgbClr val="E8EDF4"/>
                </a:solidFill>
                <a:latin typeface="Georgia" pitchFamily="34" charset="0"/>
                <a:ea typeface="Georgia" pitchFamily="34" charset="-122"/>
                <a:cs typeface="Georgia" pitchFamily="34" charset="-120"/>
              </a:rPr>
              <a:t> across a coordinated pipeline that systematically upgrades the full technology stack from </a:t>
            </a:r>
            <a:r>
              <a:rPr lang="en-US" sz="1200" b="1" dirty="0">
                <a:solidFill>
                  <a:srgbClr val="FDD17A"/>
                </a:solidFill>
                <a:latin typeface="Georgia" pitchFamily="34" charset="0"/>
                <a:ea typeface="Georgia" pitchFamily="34" charset="-122"/>
                <a:cs typeface="Georgia" pitchFamily="34" charset="-120"/>
              </a:rPr>
              <a:t>Java source version to target version</a:t>
            </a:r>
            <a:r>
              <a:rPr lang="en-US" sz="1200" dirty="0">
                <a:solidFill>
                  <a:srgbClr val="E8EDF4"/>
                </a:solidFill>
                <a:latin typeface="Georgia" pitchFamily="34" charset="0"/>
                <a:ea typeface="Georgia" pitchFamily="34" charset="-122"/>
                <a:cs typeface="Georgia" pitchFamily="34" charset="-120"/>
              </a:rPr>
              <a:t>, </a:t>
            </a:r>
            <a:r>
              <a:rPr lang="en-US" sz="1200" b="1" dirty="0">
                <a:solidFill>
                  <a:srgbClr val="FDD17A"/>
                </a:solidFill>
                <a:latin typeface="Georgia" pitchFamily="34" charset="0"/>
                <a:ea typeface="Georgia" pitchFamily="34" charset="-122"/>
                <a:cs typeface="Georgia" pitchFamily="34" charset="-120"/>
              </a:rPr>
              <a:t>Spring source version to target version</a:t>
            </a:r>
            <a:r>
              <a:rPr lang="en-US" sz="1200" dirty="0">
                <a:solidFill>
                  <a:srgbClr val="E8EDF4"/>
                </a:solidFill>
                <a:latin typeface="Georgia" pitchFamily="34" charset="0"/>
                <a:ea typeface="Georgia" pitchFamily="34" charset="-122"/>
                <a:cs typeface="Georgia" pitchFamily="34" charset="-120"/>
              </a:rPr>
              <a:t>, and </a:t>
            </a:r>
            <a:r>
              <a:rPr lang="en-US" sz="1200" b="1" dirty="0">
                <a:solidFill>
                  <a:srgbClr val="E05252"/>
                </a:solidFill>
                <a:latin typeface="Georgia" pitchFamily="34" charset="0"/>
                <a:ea typeface="Georgia" pitchFamily="34" charset="-122"/>
                <a:cs typeface="Georgia" pitchFamily="34" charset="-120"/>
              </a:rPr>
              <a:t>eliminates Struts entirely</a:t>
            </a:r>
            <a:r>
              <a:rPr lang="en-US" sz="1200" dirty="0">
                <a:solidFill>
                  <a:srgbClr val="E8EDF4"/>
                </a:solidFill>
                <a:latin typeface="Georgia" pitchFamily="34" charset="0"/>
                <a:ea typeface="Georgia" pitchFamily="34" charset="-122"/>
                <a:cs typeface="Georgia" pitchFamily="34" charset="-120"/>
              </a:rPr>
              <a:t> — replacing every action class, OGNL expression, and struts.xml routing configuration with </a:t>
            </a:r>
            <a:r>
              <a:rPr lang="en-US" sz="1200" b="1" dirty="0">
                <a:solidFill>
                  <a:srgbClr val="1D9E75"/>
                </a:solidFill>
                <a:latin typeface="Georgia" pitchFamily="34" charset="0"/>
                <a:ea typeface="Georgia" pitchFamily="34" charset="-122"/>
                <a:cs typeface="Georgia" pitchFamily="34" charset="-120"/>
              </a:rPr>
              <a:t>pure Spring MVC</a:t>
            </a:r>
            <a:r>
              <a:rPr lang="en-US" sz="1200" dirty="0">
                <a:solidFill>
                  <a:srgbClr val="E8EDF4"/>
                </a:solidFill>
                <a:latin typeface="Georgia" pitchFamily="34" charset="0"/>
                <a:ea typeface="Georgia" pitchFamily="34" charset="-122"/>
                <a:cs typeface="Georgia" pitchFamily="34" charset="-120"/>
              </a:rPr>
              <a:t>.</a:t>
            </a:r>
            <a:endParaRPr lang="en-US" sz="1200" dirty="0"/>
          </a:p>
        </p:txBody>
      </p:sp>
      <p:sp>
        <p:nvSpPr>
          <p:cNvPr id="26" name="Shape 24"/>
          <p:cNvSpPr/>
          <p:nvPr/>
        </p:nvSpPr>
        <p:spPr>
          <a:xfrm>
            <a:off x="219456" y="2487168"/>
            <a:ext cx="11814048" cy="1901952"/>
          </a:xfrm>
          <a:prstGeom prst="rect">
            <a:avLst/>
          </a:prstGeom>
          <a:solidFill>
            <a:srgbClr val="E6F1FB"/>
          </a:solidFill>
          <a:ln w="15240">
            <a:solidFill>
              <a:srgbClr val="3B82C4"/>
            </a:solidFill>
            <a:prstDash val="solid"/>
          </a:ln>
          <a:effectLst>
            <a:outerShdw blurRad="127000" dist="38100" dir="8100000" algn="bl" rotWithShape="0">
              <a:srgbClr val="000000">
                <a:alpha val="12000"/>
              </a:srgbClr>
            </a:outerShdw>
          </a:effectLst>
        </p:spPr>
        <p:txBody>
          <a:bodyPr/>
          <a:lstStyle/>
          <a:p>
            <a:endParaRPr lang="en-US"/>
          </a:p>
        </p:txBody>
      </p:sp>
      <p:sp>
        <p:nvSpPr>
          <p:cNvPr id="27" name="Shape 25"/>
          <p:cNvSpPr/>
          <p:nvPr/>
        </p:nvSpPr>
        <p:spPr>
          <a:xfrm>
            <a:off x="219456" y="2487168"/>
            <a:ext cx="91440" cy="1901952"/>
          </a:xfrm>
          <a:prstGeom prst="rect">
            <a:avLst/>
          </a:prstGeom>
          <a:solidFill>
            <a:srgbClr val="3B82C4"/>
          </a:solidFill>
          <a:ln w="12700">
            <a:solidFill>
              <a:srgbClr val="3B82C4">
                <a:alpha val="0"/>
              </a:srgbClr>
            </a:solidFill>
            <a:prstDash val="solid"/>
          </a:ln>
        </p:spPr>
        <p:txBody>
          <a:bodyPr/>
          <a:lstStyle/>
          <a:p>
            <a:endParaRPr lang="en-US"/>
          </a:p>
        </p:txBody>
      </p:sp>
      <p:sp>
        <p:nvSpPr>
          <p:cNvPr id="28" name="Shape 26"/>
          <p:cNvSpPr/>
          <p:nvPr/>
        </p:nvSpPr>
        <p:spPr>
          <a:xfrm>
            <a:off x="402336" y="3017520"/>
            <a:ext cx="457200" cy="457200"/>
          </a:xfrm>
          <a:prstGeom prst="ellipse">
            <a:avLst/>
          </a:prstGeom>
          <a:solidFill>
            <a:srgbClr val="3B82C4">
              <a:alpha val="80000"/>
            </a:srgbClr>
          </a:solidFill>
          <a:ln w="12700">
            <a:solidFill>
              <a:srgbClr val="3B82C4"/>
            </a:solidFill>
            <a:prstDash val="solid"/>
          </a:ln>
        </p:spPr>
        <p:txBody>
          <a:bodyPr/>
          <a:lstStyle/>
          <a:p>
            <a:endParaRPr lang="en-US"/>
          </a:p>
        </p:txBody>
      </p:sp>
      <p:sp>
        <p:nvSpPr>
          <p:cNvPr id="29" name="Text 27"/>
          <p:cNvSpPr/>
          <p:nvPr/>
        </p:nvSpPr>
        <p:spPr>
          <a:xfrm>
            <a:off x="402336" y="3017520"/>
            <a:ext cx="457200" cy="457200"/>
          </a:xfrm>
          <a:prstGeom prst="rect">
            <a:avLst/>
          </a:prstGeom>
          <a:noFill/>
          <a:ln/>
        </p:spPr>
        <p:txBody>
          <a:bodyPr wrap="square" lIns="0" tIns="0" rIns="0" bIns="0" rtlCol="0" anchor="ctr"/>
          <a:lstStyle/>
          <a:p>
            <a:pPr marL="0" indent="0" algn="ctr">
              <a:buNone/>
            </a:pPr>
            <a:r>
              <a:rPr lang="en-US" sz="1800" b="1" dirty="0">
                <a:solidFill>
                  <a:srgbClr val="3B82C4"/>
                </a:solidFill>
                <a:latin typeface="Georgia" pitchFamily="34" charset="0"/>
                <a:ea typeface="Georgia" pitchFamily="34" charset="-122"/>
                <a:cs typeface="Georgia" pitchFamily="34" charset="-120"/>
              </a:rPr>
              <a:t>2</a:t>
            </a:r>
            <a:endParaRPr lang="en-US" sz="1800" dirty="0"/>
          </a:p>
        </p:txBody>
      </p:sp>
      <p:sp>
        <p:nvSpPr>
          <p:cNvPr id="30" name="Shape 28"/>
          <p:cNvSpPr/>
          <p:nvPr/>
        </p:nvSpPr>
        <p:spPr>
          <a:xfrm>
            <a:off x="969264" y="2560320"/>
            <a:ext cx="1188720" cy="237744"/>
          </a:xfrm>
          <a:prstGeom prst="rect">
            <a:avLst/>
          </a:prstGeom>
          <a:solidFill>
            <a:srgbClr val="3B82C4">
              <a:alpha val="80000"/>
            </a:srgbClr>
          </a:solidFill>
          <a:ln w="12700">
            <a:solidFill>
              <a:srgbClr val="3B82C4">
                <a:alpha val="50000"/>
              </a:srgbClr>
            </a:solidFill>
            <a:prstDash val="solid"/>
          </a:ln>
        </p:spPr>
        <p:txBody>
          <a:bodyPr/>
          <a:lstStyle/>
          <a:p>
            <a:endParaRPr lang="en-US"/>
          </a:p>
        </p:txBody>
      </p:sp>
      <p:sp>
        <p:nvSpPr>
          <p:cNvPr id="31" name="Text 29"/>
          <p:cNvSpPr/>
          <p:nvPr/>
        </p:nvSpPr>
        <p:spPr>
          <a:xfrm>
            <a:off x="969264" y="2560320"/>
            <a:ext cx="1188720" cy="237744"/>
          </a:xfrm>
          <a:prstGeom prst="rect">
            <a:avLst/>
          </a:prstGeom>
          <a:noFill/>
          <a:ln/>
        </p:spPr>
        <p:txBody>
          <a:bodyPr wrap="square" lIns="0" tIns="0" rIns="0" bIns="0" rtlCol="0" anchor="ctr"/>
          <a:lstStyle/>
          <a:p>
            <a:pPr marL="0" indent="0" algn="ctr">
              <a:buNone/>
            </a:pPr>
            <a:r>
              <a:rPr lang="en-US" sz="900" b="1" dirty="0">
                <a:solidFill>
                  <a:srgbClr val="042C53"/>
                </a:solidFill>
                <a:latin typeface="Calibri" pitchFamily="34" charset="0"/>
                <a:ea typeface="Calibri" pitchFamily="34" charset="-122"/>
                <a:cs typeface="Calibri" pitchFamily="34" charset="-120"/>
              </a:rPr>
              <a:t>How it works</a:t>
            </a:r>
            <a:endParaRPr lang="en-US" sz="900" dirty="0"/>
          </a:p>
        </p:txBody>
      </p:sp>
      <p:sp>
        <p:nvSpPr>
          <p:cNvPr id="32" name="Shape 30"/>
          <p:cNvSpPr/>
          <p:nvPr/>
        </p:nvSpPr>
        <p:spPr>
          <a:xfrm>
            <a:off x="2267712" y="2560320"/>
            <a:ext cx="1060704" cy="237744"/>
          </a:xfrm>
          <a:prstGeom prst="rect">
            <a:avLst/>
          </a:prstGeom>
          <a:solidFill>
            <a:srgbClr val="1D9E75"/>
          </a:solidFill>
          <a:ln w="12700">
            <a:solidFill>
              <a:srgbClr val="1D9E75">
                <a:alpha val="0"/>
              </a:srgbClr>
            </a:solidFill>
            <a:prstDash val="solid"/>
          </a:ln>
        </p:spPr>
        <p:txBody>
          <a:bodyPr/>
          <a:lstStyle/>
          <a:p>
            <a:endParaRPr lang="en-US"/>
          </a:p>
        </p:txBody>
      </p:sp>
      <p:sp>
        <p:nvSpPr>
          <p:cNvPr id="33" name="Text 31"/>
          <p:cNvSpPr/>
          <p:nvPr/>
        </p:nvSpPr>
        <p:spPr>
          <a:xfrm>
            <a:off x="2267712" y="2560320"/>
            <a:ext cx="106070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Leader Agent</a:t>
            </a:r>
            <a:endParaRPr lang="en-US" sz="850" dirty="0"/>
          </a:p>
        </p:txBody>
      </p:sp>
      <p:sp>
        <p:nvSpPr>
          <p:cNvPr id="34" name="Shape 32"/>
          <p:cNvSpPr/>
          <p:nvPr/>
        </p:nvSpPr>
        <p:spPr>
          <a:xfrm>
            <a:off x="3401568" y="2560320"/>
            <a:ext cx="1472184" cy="237744"/>
          </a:xfrm>
          <a:prstGeom prst="rect">
            <a:avLst/>
          </a:prstGeom>
          <a:solidFill>
            <a:srgbClr val="0C447C"/>
          </a:solidFill>
          <a:ln w="12700">
            <a:solidFill>
              <a:srgbClr val="0C447C">
                <a:alpha val="0"/>
              </a:srgbClr>
            </a:solidFill>
            <a:prstDash val="solid"/>
          </a:ln>
        </p:spPr>
        <p:txBody>
          <a:bodyPr/>
          <a:lstStyle/>
          <a:p>
            <a:endParaRPr lang="en-US"/>
          </a:p>
        </p:txBody>
      </p:sp>
      <p:sp>
        <p:nvSpPr>
          <p:cNvPr id="35" name="Text 33"/>
          <p:cNvSpPr/>
          <p:nvPr/>
        </p:nvSpPr>
        <p:spPr>
          <a:xfrm>
            <a:off x="3401568" y="2560320"/>
            <a:ext cx="147218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 transform agents</a:t>
            </a:r>
            <a:endParaRPr lang="en-US" sz="850" dirty="0"/>
          </a:p>
        </p:txBody>
      </p:sp>
      <p:sp>
        <p:nvSpPr>
          <p:cNvPr id="36" name="Shape 34"/>
          <p:cNvSpPr/>
          <p:nvPr/>
        </p:nvSpPr>
        <p:spPr>
          <a:xfrm>
            <a:off x="4946904" y="2560320"/>
            <a:ext cx="1403604" cy="237744"/>
          </a:xfrm>
          <a:prstGeom prst="rect">
            <a:avLst/>
          </a:prstGeom>
          <a:solidFill>
            <a:srgbClr val="B5D4F4"/>
          </a:solidFill>
          <a:ln w="12700">
            <a:solidFill>
              <a:srgbClr val="B5D4F4">
                <a:alpha val="0"/>
              </a:srgbClr>
            </a:solidFill>
            <a:prstDash val="solid"/>
          </a:ln>
        </p:spPr>
        <p:txBody>
          <a:bodyPr/>
          <a:lstStyle/>
          <a:p>
            <a:endParaRPr lang="en-US"/>
          </a:p>
        </p:txBody>
      </p:sp>
      <p:sp>
        <p:nvSpPr>
          <p:cNvPr id="37" name="Text 35"/>
          <p:cNvSpPr/>
          <p:nvPr/>
        </p:nvSpPr>
        <p:spPr>
          <a:xfrm>
            <a:off x="4946904" y="2560320"/>
            <a:ext cx="1403604" cy="237744"/>
          </a:xfrm>
          <a:prstGeom prst="rect">
            <a:avLst/>
          </a:prstGeom>
          <a:noFill/>
          <a:ln/>
        </p:spPr>
        <p:txBody>
          <a:bodyPr wrap="square" lIns="0" tIns="0" rIns="0" bIns="0" rtlCol="0" anchor="ctr"/>
          <a:lstStyle/>
          <a:p>
            <a:pPr marL="0" indent="0" algn="ctr">
              <a:buNone/>
            </a:pPr>
            <a:r>
              <a:rPr lang="en-US" sz="850" b="1" dirty="0">
                <a:solidFill>
                  <a:srgbClr val="042C53"/>
                </a:solidFill>
                <a:latin typeface="Calibri" pitchFamily="34" charset="0"/>
                <a:ea typeface="Calibri" pitchFamily="34" charset="-122"/>
                <a:cs typeface="Calibri" pitchFamily="34" charset="-120"/>
              </a:rPr>
              <a:t>Claude Sonnet 4.5</a:t>
            </a:r>
            <a:endParaRPr lang="en-US" sz="850" dirty="0"/>
          </a:p>
        </p:txBody>
      </p:sp>
      <p:sp>
        <p:nvSpPr>
          <p:cNvPr id="38" name="Shape 36"/>
          <p:cNvSpPr/>
          <p:nvPr/>
        </p:nvSpPr>
        <p:spPr>
          <a:xfrm>
            <a:off x="6423660" y="2560320"/>
            <a:ext cx="1266444" cy="237744"/>
          </a:xfrm>
          <a:prstGeom prst="rect">
            <a:avLst/>
          </a:prstGeom>
          <a:solidFill>
            <a:srgbClr val="EEEDFE"/>
          </a:solidFill>
          <a:ln w="12700">
            <a:solidFill>
              <a:srgbClr val="EEEDFE">
                <a:alpha val="0"/>
              </a:srgbClr>
            </a:solidFill>
            <a:prstDash val="solid"/>
          </a:ln>
        </p:spPr>
        <p:txBody>
          <a:bodyPr/>
          <a:lstStyle/>
          <a:p>
            <a:endParaRPr lang="en-US"/>
          </a:p>
        </p:txBody>
      </p:sp>
      <p:sp>
        <p:nvSpPr>
          <p:cNvPr id="39" name="Text 37"/>
          <p:cNvSpPr/>
          <p:nvPr/>
        </p:nvSpPr>
        <p:spPr>
          <a:xfrm>
            <a:off x="6423660" y="2560320"/>
            <a:ext cx="1266444" cy="237744"/>
          </a:xfrm>
          <a:prstGeom prst="rect">
            <a:avLst/>
          </a:prstGeom>
          <a:noFill/>
          <a:ln/>
        </p:spPr>
        <p:txBody>
          <a:bodyPr wrap="square" lIns="0" tIns="0" rIns="0" bIns="0" rtlCol="0" anchor="ctr"/>
          <a:lstStyle/>
          <a:p>
            <a:pPr marL="0" indent="0" algn="ctr">
              <a:buNone/>
            </a:pPr>
            <a:r>
              <a:rPr lang="en-US" sz="850" b="1" dirty="0">
                <a:solidFill>
                  <a:srgbClr val="26215C"/>
                </a:solidFill>
                <a:latin typeface="Calibri" pitchFamily="34" charset="0"/>
                <a:ea typeface="Calibri" pitchFamily="34" charset="-122"/>
                <a:cs typeface="Calibri" pitchFamily="34" charset="-120"/>
              </a:rPr>
              <a:t>5 review agents</a:t>
            </a:r>
            <a:endParaRPr lang="en-US" sz="850" dirty="0"/>
          </a:p>
        </p:txBody>
      </p:sp>
      <p:sp>
        <p:nvSpPr>
          <p:cNvPr id="40" name="Shape 38"/>
          <p:cNvSpPr/>
          <p:nvPr/>
        </p:nvSpPr>
        <p:spPr>
          <a:xfrm>
            <a:off x="7763256" y="2560320"/>
            <a:ext cx="1266444" cy="237744"/>
          </a:xfrm>
          <a:prstGeom prst="rect">
            <a:avLst/>
          </a:prstGeom>
          <a:solidFill>
            <a:srgbClr val="EAF3DE"/>
          </a:solidFill>
          <a:ln w="12700">
            <a:solidFill>
              <a:srgbClr val="EAF3DE">
                <a:alpha val="0"/>
              </a:srgbClr>
            </a:solidFill>
            <a:prstDash val="solid"/>
          </a:ln>
        </p:spPr>
        <p:txBody>
          <a:bodyPr/>
          <a:lstStyle/>
          <a:p>
            <a:endParaRPr lang="en-US"/>
          </a:p>
        </p:txBody>
      </p:sp>
      <p:sp>
        <p:nvSpPr>
          <p:cNvPr id="41" name="Text 39"/>
          <p:cNvSpPr/>
          <p:nvPr/>
        </p:nvSpPr>
        <p:spPr>
          <a:xfrm>
            <a:off x="7763256" y="2560320"/>
            <a:ext cx="1266444" cy="237744"/>
          </a:xfrm>
          <a:prstGeom prst="rect">
            <a:avLst/>
          </a:prstGeom>
          <a:noFill/>
          <a:ln/>
        </p:spPr>
        <p:txBody>
          <a:bodyPr wrap="square" lIns="0" tIns="0" rIns="0" bIns="0" rtlCol="0" anchor="ctr"/>
          <a:lstStyle/>
          <a:p>
            <a:pPr marL="0" indent="0" algn="ctr">
              <a:buNone/>
            </a:pPr>
            <a:r>
              <a:rPr lang="en-US" sz="850" b="1" dirty="0">
                <a:solidFill>
                  <a:srgbClr val="27500A"/>
                </a:solidFill>
                <a:latin typeface="Calibri" pitchFamily="34" charset="0"/>
                <a:ea typeface="Calibri" pitchFamily="34" charset="-122"/>
                <a:cs typeface="Calibri" pitchFamily="34" charset="-120"/>
              </a:rPr>
              <a:t>Amazon Nova Pro</a:t>
            </a:r>
            <a:endParaRPr lang="en-US" sz="850" dirty="0"/>
          </a:p>
        </p:txBody>
      </p:sp>
      <p:sp>
        <p:nvSpPr>
          <p:cNvPr id="42" name="Shape 40"/>
          <p:cNvSpPr/>
          <p:nvPr/>
        </p:nvSpPr>
        <p:spPr>
          <a:xfrm>
            <a:off x="9102852" y="2560320"/>
            <a:ext cx="1677924" cy="237744"/>
          </a:xfrm>
          <a:prstGeom prst="rect">
            <a:avLst/>
          </a:prstGeom>
          <a:solidFill>
            <a:srgbClr val="FEF6E7"/>
          </a:solidFill>
          <a:ln w="12700">
            <a:solidFill>
              <a:srgbClr val="FEF6E7">
                <a:alpha val="0"/>
              </a:srgbClr>
            </a:solidFill>
            <a:prstDash val="solid"/>
          </a:ln>
        </p:spPr>
        <p:txBody>
          <a:bodyPr/>
          <a:lstStyle/>
          <a:p>
            <a:endParaRPr lang="en-US"/>
          </a:p>
        </p:txBody>
      </p:sp>
      <p:sp>
        <p:nvSpPr>
          <p:cNvPr id="43" name="Text 41"/>
          <p:cNvSpPr/>
          <p:nvPr/>
        </p:nvSpPr>
        <p:spPr>
          <a:xfrm>
            <a:off x="9102852" y="2560320"/>
            <a:ext cx="1677924" cy="237744"/>
          </a:xfrm>
          <a:prstGeom prst="rect">
            <a:avLst/>
          </a:prstGeom>
          <a:noFill/>
          <a:ln/>
        </p:spPr>
        <p:txBody>
          <a:bodyPr wrap="square" lIns="0" tIns="0" rIns="0" bIns="0" rtlCol="0" anchor="ctr"/>
          <a:lstStyle/>
          <a:p>
            <a:pPr marL="0" indent="0" algn="ctr">
              <a:buNone/>
            </a:pPr>
            <a:r>
              <a:rPr lang="en-US" sz="850" b="1" dirty="0">
                <a:solidFill>
                  <a:srgbClr val="633806"/>
                </a:solidFill>
                <a:latin typeface="Calibri" pitchFamily="34" charset="0"/>
                <a:ea typeface="Calibri" pitchFamily="34" charset="-122"/>
                <a:cs typeface="Calibri" pitchFamily="34" charset="-120"/>
              </a:rPr>
              <a:t>Retry + feedback loop</a:t>
            </a:r>
            <a:endParaRPr lang="en-US" sz="850" dirty="0"/>
          </a:p>
        </p:txBody>
      </p:sp>
      <p:sp>
        <p:nvSpPr>
          <p:cNvPr id="44" name="Shape 42"/>
          <p:cNvSpPr/>
          <p:nvPr/>
        </p:nvSpPr>
        <p:spPr>
          <a:xfrm>
            <a:off x="10853928" y="2560320"/>
            <a:ext cx="1266444" cy="237744"/>
          </a:xfrm>
          <a:prstGeom prst="rect">
            <a:avLst/>
          </a:prstGeom>
          <a:solidFill>
            <a:srgbClr val="FDD17A"/>
          </a:solidFill>
          <a:ln w="12700">
            <a:solidFill>
              <a:srgbClr val="FDD17A">
                <a:alpha val="0"/>
              </a:srgbClr>
            </a:solidFill>
            <a:prstDash val="solid"/>
          </a:ln>
        </p:spPr>
        <p:txBody>
          <a:bodyPr/>
          <a:lstStyle/>
          <a:p>
            <a:endParaRPr lang="en-US"/>
          </a:p>
        </p:txBody>
      </p:sp>
      <p:sp>
        <p:nvSpPr>
          <p:cNvPr id="45" name="Text 43"/>
          <p:cNvSpPr/>
          <p:nvPr/>
        </p:nvSpPr>
        <p:spPr>
          <a:xfrm>
            <a:off x="10853928" y="2560320"/>
            <a:ext cx="1266444" cy="237744"/>
          </a:xfrm>
          <a:prstGeom prst="rect">
            <a:avLst/>
          </a:prstGeom>
          <a:noFill/>
          <a:ln/>
        </p:spPr>
        <p:txBody>
          <a:bodyPr wrap="square" lIns="0" tIns="0" rIns="0" bIns="0" rtlCol="0" anchor="ctr"/>
          <a:lstStyle/>
          <a:p>
            <a:pPr marL="0" indent="0" algn="ctr">
              <a:buNone/>
            </a:pPr>
            <a:r>
              <a:rPr lang="en-US" sz="850" b="1" dirty="0">
                <a:solidFill>
                  <a:srgbClr val="633806"/>
                </a:solidFill>
                <a:latin typeface="Calibri" pitchFamily="34" charset="0"/>
                <a:ea typeface="Calibri" pitchFamily="34" charset="-122"/>
                <a:cs typeface="Calibri" pitchFamily="34" charset="-120"/>
              </a:rPr>
              <a:t>Dual guardrails</a:t>
            </a:r>
            <a:endParaRPr lang="en-US" sz="850" dirty="0"/>
          </a:p>
        </p:txBody>
      </p:sp>
      <p:sp>
        <p:nvSpPr>
          <p:cNvPr id="46" name="Text 44"/>
          <p:cNvSpPr/>
          <p:nvPr/>
        </p:nvSpPr>
        <p:spPr>
          <a:xfrm>
            <a:off x="969264" y="2871216"/>
            <a:ext cx="10972800" cy="1426464"/>
          </a:xfrm>
          <a:prstGeom prst="rect">
            <a:avLst/>
          </a:prstGeom>
          <a:noFill/>
          <a:ln/>
        </p:spPr>
        <p:txBody>
          <a:bodyPr wrap="square" lIns="0" tIns="0" rIns="0" bIns="0" rtlCol="0" anchor="t"/>
          <a:lstStyle/>
          <a:p>
            <a:pPr marL="0" indent="0">
              <a:buNone/>
            </a:pPr>
            <a:r>
              <a:rPr lang="en-US" sz="1200" dirty="0">
                <a:solidFill>
                  <a:srgbClr val="042C53"/>
                </a:solidFill>
                <a:latin typeface="Georgia" pitchFamily="34" charset="0"/>
                <a:ea typeface="Georgia" pitchFamily="34" charset="-122"/>
                <a:cs typeface="Georgia" pitchFamily="34" charset="-120"/>
              </a:rPr>
              <a:t>The pipeline is anchored by a </a:t>
            </a:r>
            <a:r>
              <a:rPr lang="en-US" sz="1200" b="1" dirty="0">
                <a:solidFill>
                  <a:srgbClr val="085041"/>
                </a:solidFill>
                <a:latin typeface="Georgia" pitchFamily="34" charset="0"/>
                <a:ea typeface="Georgia" pitchFamily="34" charset="-122"/>
                <a:cs typeface="Georgia" pitchFamily="34" charset="-120"/>
              </a:rPr>
              <a:t>Leader Agent</a:t>
            </a:r>
            <a:r>
              <a:rPr lang="en-US" sz="1200" dirty="0">
                <a:solidFill>
                  <a:srgbClr val="042C53"/>
                </a:solidFill>
                <a:latin typeface="Georgia" pitchFamily="34" charset="0"/>
                <a:ea typeface="Georgia" pitchFamily="34" charset="-122"/>
                <a:cs typeface="Georgia" pitchFamily="34" charset="-120"/>
              </a:rPr>
              <a:t> that coordinates </a:t>
            </a:r>
            <a:r>
              <a:rPr lang="en-US" sz="1200" b="1" dirty="0">
                <a:solidFill>
                  <a:srgbClr val="042C53"/>
                </a:solidFill>
                <a:latin typeface="Georgia" pitchFamily="34" charset="0"/>
                <a:ea typeface="Georgia" pitchFamily="34" charset="-122"/>
                <a:cs typeface="Georgia" pitchFamily="34" charset="-120"/>
              </a:rPr>
              <a:t>7 transformation agents running on Claude Sonnet 4.5</a:t>
            </a:r>
            <a:r>
              <a:rPr lang="en-US" sz="1200" dirty="0">
                <a:solidFill>
                  <a:srgbClr val="042C53"/>
                </a:solidFill>
                <a:latin typeface="Georgia" pitchFamily="34" charset="0"/>
                <a:ea typeface="Georgia" pitchFamily="34" charset="-122"/>
                <a:cs typeface="Georgia" pitchFamily="34" charset="-120"/>
              </a:rPr>
              <a:t> — each a specialist in one migration domain — while </a:t>
            </a:r>
            <a:r>
              <a:rPr lang="en-US" sz="1200" b="1" dirty="0">
                <a:solidFill>
                  <a:srgbClr val="534AB7"/>
                </a:solidFill>
                <a:latin typeface="Georgia" pitchFamily="34" charset="0"/>
                <a:ea typeface="Georgia" pitchFamily="34" charset="-122"/>
                <a:cs typeface="Georgia" pitchFamily="34" charset="-120"/>
              </a:rPr>
              <a:t>5 independent review agents powered by Amazon Nova Pro</a:t>
            </a:r>
            <a:r>
              <a:rPr lang="en-US" sz="1200" dirty="0">
                <a:solidFill>
                  <a:srgbClr val="042C53"/>
                </a:solidFill>
                <a:latin typeface="Georgia" pitchFamily="34" charset="0"/>
                <a:ea typeface="Georgia" pitchFamily="34" charset="-122"/>
                <a:cs typeface="Georgia" pitchFamily="34" charset="-120"/>
              </a:rPr>
              <a:t>, a completely different model family, validate every transformation before it can proceed; the </a:t>
            </a:r>
            <a:r>
              <a:rPr lang="en-US" sz="1200" b="1" dirty="0">
                <a:solidFill>
                  <a:srgbClr val="633806"/>
                </a:solidFill>
                <a:latin typeface="Georgia" pitchFamily="34" charset="0"/>
                <a:ea typeface="Georgia" pitchFamily="34" charset="-122"/>
                <a:cs typeface="Georgia" pitchFamily="34" charset="-120"/>
              </a:rPr>
              <a:t>dual guardrails layer</a:t>
            </a:r>
            <a:r>
              <a:rPr lang="en-US" sz="1200" dirty="0">
                <a:solidFill>
                  <a:srgbClr val="042C53"/>
                </a:solidFill>
                <a:latin typeface="Georgia" pitchFamily="34" charset="0"/>
                <a:ea typeface="Georgia" pitchFamily="34" charset="-122"/>
                <a:cs typeface="Georgia" pitchFamily="34" charset="-120"/>
              </a:rPr>
              <a:t> enforces enterprise security standards and naming conventions at both ends of the pipeline, ensuring nothing enters the transformation and nothing leaves the quality gate without passing explicit safety checks.</a:t>
            </a:r>
            <a:endParaRPr lang="en-US" sz="1200" dirty="0"/>
          </a:p>
        </p:txBody>
      </p:sp>
      <p:sp>
        <p:nvSpPr>
          <p:cNvPr id="47" name="Shape 45"/>
          <p:cNvSpPr/>
          <p:nvPr/>
        </p:nvSpPr>
        <p:spPr>
          <a:xfrm>
            <a:off x="219456" y="4498848"/>
            <a:ext cx="11814048" cy="1901952"/>
          </a:xfrm>
          <a:prstGeom prst="rect">
            <a:avLst/>
          </a:prstGeom>
          <a:solidFill>
            <a:srgbClr val="E1F5EE"/>
          </a:solidFill>
          <a:ln w="15240">
            <a:solidFill>
              <a:srgbClr val="1D9E75"/>
            </a:solidFill>
            <a:prstDash val="solid"/>
          </a:ln>
          <a:effectLst>
            <a:outerShdw blurRad="127000" dist="38100" dir="8100000" algn="bl" rotWithShape="0">
              <a:srgbClr val="000000">
                <a:alpha val="12000"/>
              </a:srgbClr>
            </a:outerShdw>
          </a:effectLst>
        </p:spPr>
        <p:txBody>
          <a:bodyPr/>
          <a:lstStyle/>
          <a:p>
            <a:endParaRPr lang="en-US"/>
          </a:p>
        </p:txBody>
      </p:sp>
      <p:sp>
        <p:nvSpPr>
          <p:cNvPr id="48" name="Shape 46"/>
          <p:cNvSpPr/>
          <p:nvPr/>
        </p:nvSpPr>
        <p:spPr>
          <a:xfrm>
            <a:off x="219456" y="4498848"/>
            <a:ext cx="91440" cy="1901952"/>
          </a:xfrm>
          <a:prstGeom prst="rect">
            <a:avLst/>
          </a:prstGeom>
          <a:solidFill>
            <a:srgbClr val="1D9E75"/>
          </a:solidFill>
          <a:ln w="12700">
            <a:solidFill>
              <a:srgbClr val="1D9E75">
                <a:alpha val="0"/>
              </a:srgbClr>
            </a:solidFill>
            <a:prstDash val="solid"/>
          </a:ln>
        </p:spPr>
        <p:txBody>
          <a:bodyPr/>
          <a:lstStyle/>
          <a:p>
            <a:endParaRPr lang="en-US"/>
          </a:p>
        </p:txBody>
      </p:sp>
      <p:sp>
        <p:nvSpPr>
          <p:cNvPr id="49" name="Shape 47"/>
          <p:cNvSpPr/>
          <p:nvPr/>
        </p:nvSpPr>
        <p:spPr>
          <a:xfrm>
            <a:off x="402336" y="5029200"/>
            <a:ext cx="457200" cy="457200"/>
          </a:xfrm>
          <a:prstGeom prst="ellipse">
            <a:avLst/>
          </a:prstGeom>
          <a:solidFill>
            <a:srgbClr val="1D9E75">
              <a:alpha val="80000"/>
            </a:srgbClr>
          </a:solidFill>
          <a:ln w="12700">
            <a:solidFill>
              <a:srgbClr val="1D9E75"/>
            </a:solidFill>
            <a:prstDash val="solid"/>
          </a:ln>
        </p:spPr>
        <p:txBody>
          <a:bodyPr/>
          <a:lstStyle/>
          <a:p>
            <a:endParaRPr lang="en-US"/>
          </a:p>
        </p:txBody>
      </p:sp>
      <p:sp>
        <p:nvSpPr>
          <p:cNvPr id="50" name="Text 48"/>
          <p:cNvSpPr/>
          <p:nvPr/>
        </p:nvSpPr>
        <p:spPr>
          <a:xfrm>
            <a:off x="402336" y="5029200"/>
            <a:ext cx="457200" cy="457200"/>
          </a:xfrm>
          <a:prstGeom prst="rect">
            <a:avLst/>
          </a:prstGeom>
          <a:noFill/>
          <a:ln/>
        </p:spPr>
        <p:txBody>
          <a:bodyPr wrap="square" lIns="0" tIns="0" rIns="0" bIns="0" rtlCol="0" anchor="ctr"/>
          <a:lstStyle/>
          <a:p>
            <a:pPr marL="0" indent="0" algn="ctr">
              <a:buNone/>
            </a:pPr>
            <a:r>
              <a:rPr lang="en-US" sz="1800" b="1" dirty="0">
                <a:solidFill>
                  <a:srgbClr val="1D9E75"/>
                </a:solidFill>
                <a:latin typeface="Georgia" pitchFamily="34" charset="0"/>
                <a:ea typeface="Georgia" pitchFamily="34" charset="-122"/>
                <a:cs typeface="Georgia" pitchFamily="34" charset="-120"/>
              </a:rPr>
              <a:t>3</a:t>
            </a:r>
            <a:endParaRPr lang="en-US" sz="1800" dirty="0"/>
          </a:p>
        </p:txBody>
      </p:sp>
      <p:sp>
        <p:nvSpPr>
          <p:cNvPr id="51" name="Shape 49"/>
          <p:cNvSpPr/>
          <p:nvPr/>
        </p:nvSpPr>
        <p:spPr>
          <a:xfrm>
            <a:off x="969264" y="4572000"/>
            <a:ext cx="1371600" cy="237744"/>
          </a:xfrm>
          <a:prstGeom prst="rect">
            <a:avLst/>
          </a:prstGeom>
          <a:solidFill>
            <a:srgbClr val="1D9E75">
              <a:alpha val="80000"/>
            </a:srgbClr>
          </a:solidFill>
          <a:ln w="12700">
            <a:solidFill>
              <a:srgbClr val="1D9E75">
                <a:alpha val="50000"/>
              </a:srgbClr>
            </a:solidFill>
            <a:prstDash val="solid"/>
          </a:ln>
        </p:spPr>
        <p:txBody>
          <a:bodyPr/>
          <a:lstStyle/>
          <a:p>
            <a:endParaRPr lang="en-US"/>
          </a:p>
        </p:txBody>
      </p:sp>
      <p:sp>
        <p:nvSpPr>
          <p:cNvPr id="52" name="Text 50"/>
          <p:cNvSpPr/>
          <p:nvPr/>
        </p:nvSpPr>
        <p:spPr>
          <a:xfrm>
            <a:off x="969264" y="4572000"/>
            <a:ext cx="1371600" cy="237744"/>
          </a:xfrm>
          <a:prstGeom prst="rect">
            <a:avLst/>
          </a:prstGeom>
          <a:noFill/>
          <a:ln/>
        </p:spPr>
        <p:txBody>
          <a:bodyPr wrap="square" lIns="0" tIns="0" rIns="0" bIns="0" rtlCol="0" anchor="ctr"/>
          <a:lstStyle/>
          <a:p>
            <a:pPr marL="0" indent="0" algn="ctr">
              <a:buNone/>
            </a:pPr>
            <a:r>
              <a:rPr lang="en-US" sz="900" b="1" dirty="0">
                <a:solidFill>
                  <a:srgbClr val="085041"/>
                </a:solidFill>
                <a:latin typeface="Calibri" pitchFamily="34" charset="0"/>
                <a:ea typeface="Calibri" pitchFamily="34" charset="-122"/>
                <a:cs typeface="Calibri" pitchFamily="34" charset="-120"/>
              </a:rPr>
              <a:t>What it delivers</a:t>
            </a:r>
            <a:endParaRPr lang="en-US" sz="900" dirty="0"/>
          </a:p>
        </p:txBody>
      </p:sp>
      <p:sp>
        <p:nvSpPr>
          <p:cNvPr id="53" name="Shape 51"/>
          <p:cNvSpPr/>
          <p:nvPr/>
        </p:nvSpPr>
        <p:spPr>
          <a:xfrm>
            <a:off x="2450592" y="4572000"/>
            <a:ext cx="1197864" cy="237744"/>
          </a:xfrm>
          <a:prstGeom prst="rect">
            <a:avLst/>
          </a:prstGeom>
          <a:solidFill>
            <a:srgbClr val="FDD17A"/>
          </a:solidFill>
          <a:ln w="12700">
            <a:solidFill>
              <a:srgbClr val="FDD17A">
                <a:alpha val="0"/>
              </a:srgbClr>
            </a:solidFill>
            <a:prstDash val="solid"/>
          </a:ln>
        </p:spPr>
        <p:txBody>
          <a:bodyPr/>
          <a:lstStyle/>
          <a:p>
            <a:endParaRPr lang="en-US"/>
          </a:p>
        </p:txBody>
      </p:sp>
      <p:sp>
        <p:nvSpPr>
          <p:cNvPr id="54" name="Text 52"/>
          <p:cNvSpPr/>
          <p:nvPr/>
        </p:nvSpPr>
        <p:spPr>
          <a:xfrm>
            <a:off x="2450592" y="4572000"/>
            <a:ext cx="1197864" cy="237744"/>
          </a:xfrm>
          <a:prstGeom prst="rect">
            <a:avLst/>
          </a:prstGeom>
          <a:noFill/>
          <a:ln/>
        </p:spPr>
        <p:txBody>
          <a:bodyPr wrap="square" lIns="0" tIns="0" rIns="0" bIns="0" rtlCol="0" anchor="ctr"/>
          <a:lstStyle/>
          <a:p>
            <a:pPr marL="0" indent="0" algn="ctr">
              <a:buNone/>
            </a:pPr>
            <a:r>
              <a:rPr lang="en-US" sz="850" b="1" dirty="0">
                <a:solidFill>
                  <a:srgbClr val="633806"/>
                </a:solidFill>
                <a:latin typeface="Calibri" pitchFamily="34" charset="0"/>
                <a:ea typeface="Calibri" pitchFamily="34" charset="-122"/>
                <a:cs typeface="Calibri" pitchFamily="34" charset="-120"/>
              </a:rPr>
              <a:t>Bedrock RAG KB</a:t>
            </a:r>
            <a:endParaRPr lang="en-US" sz="850" dirty="0"/>
          </a:p>
        </p:txBody>
      </p:sp>
      <p:sp>
        <p:nvSpPr>
          <p:cNvPr id="55" name="Shape 53"/>
          <p:cNvSpPr/>
          <p:nvPr/>
        </p:nvSpPr>
        <p:spPr>
          <a:xfrm>
            <a:off x="3721608" y="4572000"/>
            <a:ext cx="1609344" cy="237744"/>
          </a:xfrm>
          <a:prstGeom prst="rect">
            <a:avLst/>
          </a:prstGeom>
          <a:solidFill>
            <a:srgbClr val="FEF6E7"/>
          </a:solidFill>
          <a:ln w="12700">
            <a:solidFill>
              <a:srgbClr val="FEF6E7">
                <a:alpha val="0"/>
              </a:srgbClr>
            </a:solidFill>
            <a:prstDash val="solid"/>
          </a:ln>
        </p:spPr>
        <p:txBody>
          <a:bodyPr/>
          <a:lstStyle/>
          <a:p>
            <a:endParaRPr lang="en-US"/>
          </a:p>
        </p:txBody>
      </p:sp>
      <p:sp>
        <p:nvSpPr>
          <p:cNvPr id="56" name="Text 54"/>
          <p:cNvSpPr/>
          <p:nvPr/>
        </p:nvSpPr>
        <p:spPr>
          <a:xfrm>
            <a:off x="3721608" y="4572000"/>
            <a:ext cx="1609344" cy="237744"/>
          </a:xfrm>
          <a:prstGeom prst="rect">
            <a:avLst/>
          </a:prstGeom>
          <a:noFill/>
          <a:ln/>
        </p:spPr>
        <p:txBody>
          <a:bodyPr wrap="square" lIns="0" tIns="0" rIns="0" bIns="0" rtlCol="0" anchor="ctr"/>
          <a:lstStyle/>
          <a:p>
            <a:pPr marL="0" indent="0" algn="ctr">
              <a:buNone/>
            </a:pPr>
            <a:r>
              <a:rPr lang="en-US" sz="850" b="1" dirty="0">
                <a:solidFill>
                  <a:srgbClr val="633806"/>
                </a:solidFill>
                <a:latin typeface="Calibri" pitchFamily="34" charset="0"/>
                <a:ea typeface="Calibri" pitchFamily="34" charset="-122"/>
                <a:cs typeface="Calibri" pitchFamily="34" charset="-120"/>
              </a:rPr>
              <a:t>Enterprise standards</a:t>
            </a:r>
            <a:endParaRPr lang="en-US" sz="850" dirty="0"/>
          </a:p>
        </p:txBody>
      </p:sp>
      <p:sp>
        <p:nvSpPr>
          <p:cNvPr id="57" name="Shape 55"/>
          <p:cNvSpPr/>
          <p:nvPr/>
        </p:nvSpPr>
        <p:spPr>
          <a:xfrm>
            <a:off x="5404104" y="4572000"/>
            <a:ext cx="1472184" cy="237744"/>
          </a:xfrm>
          <a:prstGeom prst="rect">
            <a:avLst/>
          </a:prstGeom>
          <a:solidFill>
            <a:srgbClr val="E05252"/>
          </a:solidFill>
          <a:ln w="12700">
            <a:solidFill>
              <a:srgbClr val="E05252">
                <a:alpha val="0"/>
              </a:srgbClr>
            </a:solidFill>
            <a:prstDash val="solid"/>
          </a:ln>
        </p:spPr>
        <p:txBody>
          <a:bodyPr/>
          <a:lstStyle/>
          <a:p>
            <a:endParaRPr lang="en-US"/>
          </a:p>
        </p:txBody>
      </p:sp>
      <p:sp>
        <p:nvSpPr>
          <p:cNvPr id="58" name="Text 56"/>
          <p:cNvSpPr/>
          <p:nvPr/>
        </p:nvSpPr>
        <p:spPr>
          <a:xfrm>
            <a:off x="5404104" y="4572000"/>
            <a:ext cx="147218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Struts-free output</a:t>
            </a:r>
            <a:endParaRPr lang="en-US" sz="850" dirty="0"/>
          </a:p>
        </p:txBody>
      </p:sp>
      <p:sp>
        <p:nvSpPr>
          <p:cNvPr id="59" name="Shape 57"/>
          <p:cNvSpPr/>
          <p:nvPr/>
        </p:nvSpPr>
        <p:spPr>
          <a:xfrm>
            <a:off x="6949440" y="4572000"/>
            <a:ext cx="854964" cy="237744"/>
          </a:xfrm>
          <a:prstGeom prst="rect">
            <a:avLst/>
          </a:prstGeom>
          <a:solidFill>
            <a:srgbClr val="E05252"/>
          </a:solidFill>
          <a:ln w="12700">
            <a:solidFill>
              <a:srgbClr val="E05252">
                <a:alpha val="0"/>
              </a:srgbClr>
            </a:solidFill>
            <a:prstDash val="solid"/>
          </a:ln>
        </p:spPr>
        <p:txBody>
          <a:bodyPr/>
          <a:lstStyle/>
          <a:p>
            <a:endParaRPr lang="en-US"/>
          </a:p>
        </p:txBody>
      </p:sp>
      <p:sp>
        <p:nvSpPr>
          <p:cNvPr id="60" name="Text 58"/>
          <p:cNvSpPr/>
          <p:nvPr/>
        </p:nvSpPr>
        <p:spPr>
          <a:xfrm>
            <a:off x="6949440" y="4572000"/>
            <a:ext cx="85496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Zero OGNL</a:t>
            </a:r>
            <a:endParaRPr lang="en-US" sz="850" dirty="0"/>
          </a:p>
        </p:txBody>
      </p:sp>
      <p:sp>
        <p:nvSpPr>
          <p:cNvPr id="61" name="Shape 59"/>
          <p:cNvSpPr/>
          <p:nvPr/>
        </p:nvSpPr>
        <p:spPr>
          <a:xfrm>
            <a:off x="7877556" y="4572000"/>
            <a:ext cx="1266444" cy="237744"/>
          </a:xfrm>
          <a:prstGeom prst="rect">
            <a:avLst/>
          </a:prstGeom>
          <a:solidFill>
            <a:srgbClr val="E6F1FB"/>
          </a:solidFill>
          <a:ln w="12700">
            <a:solidFill>
              <a:srgbClr val="E6F1FB">
                <a:alpha val="0"/>
              </a:srgbClr>
            </a:solidFill>
            <a:prstDash val="solid"/>
          </a:ln>
        </p:spPr>
        <p:txBody>
          <a:bodyPr/>
          <a:lstStyle/>
          <a:p>
            <a:endParaRPr lang="en-US"/>
          </a:p>
        </p:txBody>
      </p:sp>
      <p:sp>
        <p:nvSpPr>
          <p:cNvPr id="62" name="Text 60"/>
          <p:cNvSpPr/>
          <p:nvPr/>
        </p:nvSpPr>
        <p:spPr>
          <a:xfrm>
            <a:off x="7877556" y="4572000"/>
            <a:ext cx="1266444" cy="237744"/>
          </a:xfrm>
          <a:prstGeom prst="rect">
            <a:avLst/>
          </a:prstGeom>
          <a:noFill/>
          <a:ln/>
        </p:spPr>
        <p:txBody>
          <a:bodyPr wrap="square" lIns="0" tIns="0" rIns="0" bIns="0" rtlCol="0" anchor="ctr"/>
          <a:lstStyle/>
          <a:p>
            <a:pPr marL="0" indent="0" algn="ctr">
              <a:buNone/>
            </a:pPr>
            <a:r>
              <a:rPr lang="en-US" sz="850" b="1" dirty="0">
                <a:solidFill>
                  <a:srgbClr val="042C53"/>
                </a:solidFill>
                <a:latin typeface="Calibri" pitchFamily="34" charset="0"/>
                <a:ea typeface="Calibri" pitchFamily="34" charset="-122"/>
                <a:cs typeface="Calibri" pitchFamily="34" charset="-120"/>
              </a:rPr>
              <a:t>AWS cloud-ready</a:t>
            </a:r>
            <a:endParaRPr lang="en-US" sz="850" dirty="0"/>
          </a:p>
        </p:txBody>
      </p:sp>
      <p:sp>
        <p:nvSpPr>
          <p:cNvPr id="63" name="Shape 61"/>
          <p:cNvSpPr/>
          <p:nvPr/>
        </p:nvSpPr>
        <p:spPr>
          <a:xfrm>
            <a:off x="9217152" y="4572000"/>
            <a:ext cx="1609344" cy="237744"/>
          </a:xfrm>
          <a:prstGeom prst="rect">
            <a:avLst/>
          </a:prstGeom>
          <a:solidFill>
            <a:srgbClr val="1D9E75"/>
          </a:solidFill>
          <a:ln w="12700">
            <a:solidFill>
              <a:srgbClr val="1D9E75">
                <a:alpha val="0"/>
              </a:srgbClr>
            </a:solidFill>
            <a:prstDash val="solid"/>
          </a:ln>
        </p:spPr>
        <p:txBody>
          <a:bodyPr/>
          <a:lstStyle/>
          <a:p>
            <a:endParaRPr lang="en-US"/>
          </a:p>
        </p:txBody>
      </p:sp>
      <p:sp>
        <p:nvSpPr>
          <p:cNvPr id="64" name="Text 62"/>
          <p:cNvSpPr/>
          <p:nvPr/>
        </p:nvSpPr>
        <p:spPr>
          <a:xfrm>
            <a:off x="9217152" y="4572000"/>
            <a:ext cx="160934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18 months → 5 months</a:t>
            </a:r>
            <a:endParaRPr lang="en-US" sz="850" dirty="0"/>
          </a:p>
        </p:txBody>
      </p:sp>
      <p:sp>
        <p:nvSpPr>
          <p:cNvPr id="65" name="Shape 63"/>
          <p:cNvSpPr/>
          <p:nvPr/>
        </p:nvSpPr>
        <p:spPr>
          <a:xfrm>
            <a:off x="10899648" y="4572000"/>
            <a:ext cx="1335024" cy="237744"/>
          </a:xfrm>
          <a:prstGeom prst="rect">
            <a:avLst/>
          </a:prstGeom>
          <a:solidFill>
            <a:srgbClr val="C7EAD8"/>
          </a:solidFill>
          <a:ln w="12700">
            <a:solidFill>
              <a:srgbClr val="C7EAD8">
                <a:alpha val="0"/>
              </a:srgbClr>
            </a:solidFill>
            <a:prstDash val="solid"/>
          </a:ln>
        </p:spPr>
        <p:txBody>
          <a:bodyPr/>
          <a:lstStyle/>
          <a:p>
            <a:endParaRPr lang="en-US"/>
          </a:p>
        </p:txBody>
      </p:sp>
      <p:sp>
        <p:nvSpPr>
          <p:cNvPr id="66" name="Text 64"/>
          <p:cNvSpPr/>
          <p:nvPr/>
        </p:nvSpPr>
        <p:spPr>
          <a:xfrm>
            <a:off x="10899648" y="4572000"/>
            <a:ext cx="1335024" cy="237744"/>
          </a:xfrm>
          <a:prstGeom prst="rect">
            <a:avLst/>
          </a:prstGeom>
          <a:noFill/>
          <a:ln/>
        </p:spPr>
        <p:txBody>
          <a:bodyPr wrap="square" lIns="0" tIns="0" rIns="0" bIns="0" rtlCol="0" anchor="ctr"/>
          <a:lstStyle/>
          <a:p>
            <a:pPr marL="0" indent="0" algn="ctr">
              <a:buNone/>
            </a:pPr>
            <a:r>
              <a:rPr lang="en-US" sz="850" b="1" dirty="0">
                <a:solidFill>
                  <a:srgbClr val="085041"/>
                </a:solidFill>
                <a:latin typeface="Calibri" pitchFamily="34" charset="0"/>
                <a:ea typeface="Calibri" pitchFamily="34" charset="-122"/>
                <a:cs typeface="Calibri" pitchFamily="34" charset="-120"/>
              </a:rPr>
              <a:t>Full audit trail</a:t>
            </a:r>
            <a:endParaRPr lang="en-US" sz="850" dirty="0"/>
          </a:p>
        </p:txBody>
      </p:sp>
      <p:sp>
        <p:nvSpPr>
          <p:cNvPr id="67" name="Text 65"/>
          <p:cNvSpPr/>
          <p:nvPr/>
        </p:nvSpPr>
        <p:spPr>
          <a:xfrm>
            <a:off x="969264" y="4882896"/>
            <a:ext cx="10972800" cy="1408176"/>
          </a:xfrm>
          <a:prstGeom prst="rect">
            <a:avLst/>
          </a:prstGeom>
          <a:noFill/>
          <a:ln/>
        </p:spPr>
        <p:txBody>
          <a:bodyPr wrap="square" lIns="0" tIns="0" rIns="0" bIns="0" rtlCol="0" anchor="t"/>
          <a:lstStyle/>
          <a:p>
            <a:pPr marL="0" indent="0">
              <a:buNone/>
            </a:pPr>
            <a:r>
              <a:rPr lang="en-US" sz="1200" dirty="0">
                <a:solidFill>
                  <a:srgbClr val="085041"/>
                </a:solidFill>
                <a:latin typeface="Georgia" pitchFamily="34" charset="0"/>
                <a:ea typeface="Georgia" pitchFamily="34" charset="-122"/>
                <a:cs typeface="Georgia" pitchFamily="34" charset="-120"/>
              </a:rPr>
              <a:t>Grounded by a </a:t>
            </a:r>
            <a:r>
              <a:rPr lang="en-US" sz="1200" b="1" dirty="0">
                <a:solidFill>
                  <a:srgbClr val="633806"/>
                </a:solidFill>
                <a:latin typeface="Georgia" pitchFamily="34" charset="0"/>
                <a:ea typeface="Georgia" pitchFamily="34" charset="-122"/>
                <a:cs typeface="Georgia" pitchFamily="34" charset="-120"/>
              </a:rPr>
              <a:t>Bedrock RAG Knowledge Base</a:t>
            </a:r>
            <a:r>
              <a:rPr lang="en-US" sz="1200" dirty="0">
                <a:solidFill>
                  <a:srgbClr val="085041"/>
                </a:solidFill>
                <a:latin typeface="Georgia" pitchFamily="34" charset="0"/>
                <a:ea typeface="Georgia" pitchFamily="34" charset="-122"/>
                <a:cs typeface="Georgia" pitchFamily="34" charset="-120"/>
              </a:rPr>
              <a:t> containing your organisation's coding standards, architecture decisions, and Spring migration patterns, FORGE delivers a </a:t>
            </a:r>
            <a:r>
              <a:rPr lang="en-US" sz="1200" b="1" dirty="0">
                <a:solidFill>
                  <a:srgbClr val="085041"/>
                </a:solidFill>
                <a:latin typeface="Georgia" pitchFamily="34" charset="0"/>
                <a:ea typeface="Georgia" pitchFamily="34" charset="-122"/>
                <a:cs typeface="Georgia" pitchFamily="34" charset="-120"/>
              </a:rPr>
              <a:t>Struts-free, OGNL-free, cloud-ready codebase on AWS</a:t>
            </a:r>
            <a:r>
              <a:rPr lang="en-US" sz="1200" dirty="0">
                <a:solidFill>
                  <a:srgbClr val="085041"/>
                </a:solidFill>
                <a:latin typeface="Georgia" pitchFamily="34" charset="0"/>
                <a:ea typeface="Georgia" pitchFamily="34" charset="-122"/>
                <a:cs typeface="Georgia" pitchFamily="34" charset="-120"/>
              </a:rPr>
              <a:t> — transforming </a:t>
            </a:r>
            <a:r>
              <a:rPr lang="en-US" sz="1200" b="1" dirty="0">
                <a:solidFill>
                  <a:srgbClr val="173404"/>
                </a:solidFill>
                <a:latin typeface="Georgia" pitchFamily="34" charset="0"/>
                <a:ea typeface="Georgia" pitchFamily="34" charset="-122"/>
                <a:cs typeface="Georgia" pitchFamily="34" charset="-120"/>
              </a:rPr>
              <a:t>18 months of high-risk manual J2EE migration into a 5-month, auditable, AI-orchestrated process</a:t>
            </a:r>
            <a:r>
              <a:rPr lang="en-US" sz="1200" dirty="0">
                <a:solidFill>
                  <a:srgbClr val="085041"/>
                </a:solidFill>
                <a:latin typeface="Georgia" pitchFamily="34" charset="0"/>
                <a:ea typeface="Georgia" pitchFamily="34" charset="-122"/>
                <a:cs typeface="Georgia" pitchFamily="34" charset="-120"/>
              </a:rPr>
              <a:t> where every file carries a complete decision trail: the model pair used, the review score, the guardrail verdicts, and the full retry history.</a:t>
            </a:r>
            <a:endParaRPr lang="en-US" sz="1200" dirty="0"/>
          </a:p>
        </p:txBody>
      </p:sp>
      <p:sp>
        <p:nvSpPr>
          <p:cNvPr id="68" name="Shape 66"/>
          <p:cNvSpPr/>
          <p:nvPr/>
        </p:nvSpPr>
        <p:spPr>
          <a:xfrm>
            <a:off x="128016" y="6729984"/>
            <a:ext cx="12033504" cy="73152"/>
          </a:xfrm>
          <a:prstGeom prst="rect">
            <a:avLst/>
          </a:prstGeom>
          <a:solidFill>
            <a:srgbClr val="C47E0F"/>
          </a:solidFill>
          <a:ln w="12700">
            <a:solidFill>
              <a:srgbClr val="C47E0F">
                <a:alpha val="0"/>
              </a:srgbClr>
            </a:solidFill>
            <a:prstDash val="solid"/>
          </a:ln>
        </p:spPr>
        <p:txBody>
          <a:bodyPr/>
          <a:lstStyle/>
          <a:p>
            <a:endParaRPr lang="en-US"/>
          </a:p>
        </p:txBody>
      </p:sp>
      <p:sp>
        <p:nvSpPr>
          <p:cNvPr id="69" name="Text 67"/>
          <p:cNvSpPr/>
          <p:nvPr/>
        </p:nvSpPr>
        <p:spPr>
          <a:xfrm>
            <a:off x="256032" y="6729984"/>
            <a:ext cx="11795760" cy="73152"/>
          </a:xfrm>
          <a:prstGeom prst="rect">
            <a:avLst/>
          </a:prstGeom>
          <a:noFill/>
          <a:ln/>
        </p:spPr>
        <p:txBody>
          <a:bodyPr wrap="square" lIns="0" tIns="0" rIns="0" bIns="0" rtlCol="0" anchor="ctr"/>
          <a:lstStyle/>
          <a:p>
            <a:pPr marL="0" indent="0" algn="ctr">
              <a:buNone/>
            </a:pPr>
            <a:r>
              <a:rPr lang="en-US" sz="800" b="1" dirty="0">
                <a:solidFill>
                  <a:srgbClr val="0A1628"/>
                </a:solidFill>
                <a:latin typeface="Calibri" pitchFamily="34" charset="0"/>
                <a:ea typeface="Calibri" pitchFamily="34" charset="-122"/>
                <a:cs typeface="Calibri" pitchFamily="34" charset="-120"/>
              </a:rPr>
              <a:t>FORGE  ·  16 Agents  ·  Claude Sonnet 4.5  ·  Amazon Nova Pro  ·  AWS Bedrock  ·  Struts → Spring MVC  ·  Zero OGNL  ·  5 Months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9272016" y="-137160"/>
            <a:ext cx="486461" cy="1920240"/>
          </a:xfrm>
          <a:prstGeom prst="rect">
            <a:avLst/>
          </a:prstGeom>
          <a:solidFill>
            <a:srgbClr val="C47E0F">
              <a:alpha val="80000"/>
            </a:srgbClr>
          </a:solidFill>
          <a:ln w="12700">
            <a:solidFill>
              <a:srgbClr val="C47E0F">
                <a:alpha val="0"/>
              </a:srgbClr>
            </a:solidFill>
            <a:prstDash val="solid"/>
          </a:ln>
        </p:spPr>
        <p:txBody>
          <a:bodyPr/>
          <a:lstStyle/>
          <a:p>
            <a:endParaRPr lang="en-US"/>
          </a:p>
        </p:txBody>
      </p:sp>
      <p:sp>
        <p:nvSpPr>
          <p:cNvPr id="3" name="Shape 1"/>
          <p:cNvSpPr/>
          <p:nvPr/>
        </p:nvSpPr>
        <p:spPr>
          <a:xfrm>
            <a:off x="9144000" y="118872"/>
            <a:ext cx="704088" cy="1664208"/>
          </a:xfrm>
          <a:prstGeom prst="rect">
            <a:avLst/>
          </a:prstGeom>
          <a:solidFill>
            <a:srgbClr val="F5A623"/>
          </a:solidFill>
          <a:ln w="12700">
            <a:solidFill>
              <a:srgbClr val="F5A623">
                <a:alpha val="0"/>
              </a:srgbClr>
            </a:solidFill>
            <a:prstDash val="solid"/>
          </a:ln>
        </p:spPr>
        <p:txBody>
          <a:bodyPr/>
          <a:lstStyle/>
          <a:p>
            <a:endParaRPr lang="en-US"/>
          </a:p>
        </p:txBody>
      </p:sp>
      <p:sp>
        <p:nvSpPr>
          <p:cNvPr id="4" name="Shape 2"/>
          <p:cNvSpPr/>
          <p:nvPr/>
        </p:nvSpPr>
        <p:spPr>
          <a:xfrm>
            <a:off x="9348826" y="349301"/>
            <a:ext cx="332842" cy="1280160"/>
          </a:xfrm>
          <a:prstGeom prst="rect">
            <a:avLst/>
          </a:prstGeom>
          <a:solidFill>
            <a:srgbClr val="FDD17A"/>
          </a:solidFill>
          <a:ln w="12700">
            <a:solidFill>
              <a:srgbClr val="FDD17A">
                <a:alpha val="0"/>
              </a:srgbClr>
            </a:solidFill>
            <a:prstDash val="solid"/>
          </a:ln>
        </p:spPr>
        <p:txBody>
          <a:bodyPr/>
          <a:lstStyle/>
          <a:p>
            <a:endParaRPr lang="en-US"/>
          </a:p>
        </p:txBody>
      </p:sp>
      <p:sp>
        <p:nvSpPr>
          <p:cNvPr id="5" name="Shape 3"/>
          <p:cNvSpPr/>
          <p:nvPr/>
        </p:nvSpPr>
        <p:spPr>
          <a:xfrm>
            <a:off x="9848088" y="-137160"/>
            <a:ext cx="590702" cy="2331720"/>
          </a:xfrm>
          <a:prstGeom prst="rect">
            <a:avLst/>
          </a:prstGeom>
          <a:solidFill>
            <a:srgbClr val="C47E0F">
              <a:alpha val="80000"/>
            </a:srgbClr>
          </a:solidFill>
          <a:ln w="12700">
            <a:solidFill>
              <a:srgbClr val="C47E0F">
                <a:alpha val="0"/>
              </a:srgbClr>
            </a:solidFill>
            <a:prstDash val="solid"/>
          </a:ln>
        </p:spPr>
        <p:txBody>
          <a:bodyPr/>
          <a:lstStyle/>
          <a:p>
            <a:endParaRPr lang="en-US"/>
          </a:p>
        </p:txBody>
      </p:sp>
      <p:sp>
        <p:nvSpPr>
          <p:cNvPr id="6" name="Shape 4"/>
          <p:cNvSpPr/>
          <p:nvPr/>
        </p:nvSpPr>
        <p:spPr>
          <a:xfrm>
            <a:off x="9692640" y="173736"/>
            <a:ext cx="854964" cy="2020824"/>
          </a:xfrm>
          <a:prstGeom prst="rect">
            <a:avLst/>
          </a:prstGeom>
          <a:solidFill>
            <a:srgbClr val="F5A623"/>
          </a:solidFill>
          <a:ln w="12700">
            <a:solidFill>
              <a:srgbClr val="F5A623">
                <a:alpha val="0"/>
              </a:srgbClr>
            </a:solidFill>
            <a:prstDash val="solid"/>
          </a:ln>
        </p:spPr>
        <p:txBody>
          <a:bodyPr/>
          <a:lstStyle/>
          <a:p>
            <a:endParaRPr lang="en-US"/>
          </a:p>
        </p:txBody>
      </p:sp>
      <p:sp>
        <p:nvSpPr>
          <p:cNvPr id="7" name="Shape 5"/>
          <p:cNvSpPr/>
          <p:nvPr/>
        </p:nvSpPr>
        <p:spPr>
          <a:xfrm>
            <a:off x="9941357" y="453542"/>
            <a:ext cx="404165" cy="1554480"/>
          </a:xfrm>
          <a:prstGeom prst="rect">
            <a:avLst/>
          </a:prstGeom>
          <a:solidFill>
            <a:srgbClr val="FDD17A"/>
          </a:solidFill>
          <a:ln w="12700">
            <a:solidFill>
              <a:srgbClr val="FDD17A">
                <a:alpha val="0"/>
              </a:srgbClr>
            </a:solidFill>
            <a:prstDash val="solid"/>
          </a:ln>
        </p:spPr>
        <p:txBody>
          <a:bodyPr/>
          <a:lstStyle/>
          <a:p>
            <a:endParaRPr lang="en-US"/>
          </a:p>
        </p:txBody>
      </p:sp>
      <p:sp>
        <p:nvSpPr>
          <p:cNvPr id="8" name="Shape 6"/>
          <p:cNvSpPr/>
          <p:nvPr/>
        </p:nvSpPr>
        <p:spPr>
          <a:xfrm>
            <a:off x="10451592" y="-137160"/>
            <a:ext cx="451714" cy="1783080"/>
          </a:xfrm>
          <a:prstGeom prst="rect">
            <a:avLst/>
          </a:prstGeom>
          <a:solidFill>
            <a:srgbClr val="C47E0F">
              <a:alpha val="80000"/>
            </a:srgbClr>
          </a:solidFill>
          <a:ln w="12700">
            <a:solidFill>
              <a:srgbClr val="C47E0F">
                <a:alpha val="0"/>
              </a:srgbClr>
            </a:solidFill>
            <a:prstDash val="solid"/>
          </a:ln>
        </p:spPr>
        <p:txBody>
          <a:bodyPr/>
          <a:lstStyle/>
          <a:p>
            <a:endParaRPr lang="en-US"/>
          </a:p>
        </p:txBody>
      </p:sp>
      <p:sp>
        <p:nvSpPr>
          <p:cNvPr id="9" name="Shape 7"/>
          <p:cNvSpPr/>
          <p:nvPr/>
        </p:nvSpPr>
        <p:spPr>
          <a:xfrm>
            <a:off x="10332720" y="100584"/>
            <a:ext cx="653796" cy="1545336"/>
          </a:xfrm>
          <a:prstGeom prst="rect">
            <a:avLst/>
          </a:prstGeom>
          <a:solidFill>
            <a:srgbClr val="F5A623"/>
          </a:solidFill>
          <a:ln w="12700">
            <a:solidFill>
              <a:srgbClr val="F5A623">
                <a:alpha val="0"/>
              </a:srgbClr>
            </a:solidFill>
            <a:prstDash val="solid"/>
          </a:ln>
        </p:spPr>
        <p:txBody>
          <a:bodyPr/>
          <a:lstStyle/>
          <a:p>
            <a:endParaRPr lang="en-US"/>
          </a:p>
        </p:txBody>
      </p:sp>
      <p:sp>
        <p:nvSpPr>
          <p:cNvPr id="10" name="Shape 8"/>
          <p:cNvSpPr/>
          <p:nvPr/>
        </p:nvSpPr>
        <p:spPr>
          <a:xfrm>
            <a:off x="10522915" y="314554"/>
            <a:ext cx="309067" cy="1188720"/>
          </a:xfrm>
          <a:prstGeom prst="rect">
            <a:avLst/>
          </a:prstGeom>
          <a:solidFill>
            <a:srgbClr val="FDD17A"/>
          </a:solidFill>
          <a:ln w="12700">
            <a:solidFill>
              <a:srgbClr val="FDD17A">
                <a:alpha val="0"/>
              </a:srgbClr>
            </a:solidFill>
            <a:prstDash val="solid"/>
          </a:ln>
        </p:spPr>
        <p:txBody>
          <a:bodyPr/>
          <a:lstStyle/>
          <a:p>
            <a:endParaRPr lang="en-US"/>
          </a:p>
        </p:txBody>
      </p:sp>
      <p:sp>
        <p:nvSpPr>
          <p:cNvPr id="11" name="Shape 9"/>
          <p:cNvSpPr/>
          <p:nvPr/>
        </p:nvSpPr>
        <p:spPr>
          <a:xfrm>
            <a:off x="10927080" y="-137160"/>
            <a:ext cx="347472" cy="1371600"/>
          </a:xfrm>
          <a:prstGeom prst="rect">
            <a:avLst/>
          </a:prstGeom>
          <a:solidFill>
            <a:srgbClr val="C47E0F">
              <a:alpha val="80000"/>
            </a:srgbClr>
          </a:solidFill>
          <a:ln w="12700">
            <a:solidFill>
              <a:srgbClr val="C47E0F">
                <a:alpha val="0"/>
              </a:srgbClr>
            </a:solidFill>
            <a:prstDash val="solid"/>
          </a:ln>
        </p:spPr>
        <p:txBody>
          <a:bodyPr/>
          <a:lstStyle/>
          <a:p>
            <a:endParaRPr lang="en-US"/>
          </a:p>
        </p:txBody>
      </p:sp>
      <p:sp>
        <p:nvSpPr>
          <p:cNvPr id="12" name="Shape 10"/>
          <p:cNvSpPr/>
          <p:nvPr/>
        </p:nvSpPr>
        <p:spPr>
          <a:xfrm>
            <a:off x="10835640" y="45720"/>
            <a:ext cx="502920" cy="1188720"/>
          </a:xfrm>
          <a:prstGeom prst="rect">
            <a:avLst/>
          </a:prstGeom>
          <a:solidFill>
            <a:srgbClr val="F5A623"/>
          </a:solidFill>
          <a:ln w="12700">
            <a:solidFill>
              <a:srgbClr val="F5A623">
                <a:alpha val="0"/>
              </a:srgbClr>
            </a:solidFill>
            <a:prstDash val="solid"/>
          </a:ln>
        </p:spPr>
        <p:txBody>
          <a:bodyPr/>
          <a:lstStyle/>
          <a:p>
            <a:endParaRPr lang="en-US"/>
          </a:p>
        </p:txBody>
      </p:sp>
      <p:sp>
        <p:nvSpPr>
          <p:cNvPr id="13" name="Shape 11"/>
          <p:cNvSpPr/>
          <p:nvPr/>
        </p:nvSpPr>
        <p:spPr>
          <a:xfrm>
            <a:off x="10981944" y="210312"/>
            <a:ext cx="237744" cy="914400"/>
          </a:xfrm>
          <a:prstGeom prst="rect">
            <a:avLst/>
          </a:prstGeom>
          <a:solidFill>
            <a:srgbClr val="FDD17A"/>
          </a:solidFill>
          <a:ln w="12700">
            <a:solidFill>
              <a:srgbClr val="FDD17A">
                <a:alpha val="0"/>
              </a:srgbClr>
            </a:solidFill>
            <a:prstDash val="solid"/>
          </a:ln>
        </p:spPr>
        <p:txBody>
          <a:bodyPr/>
          <a:lstStyle/>
          <a:p>
            <a:endParaRPr lang="en-US"/>
          </a:p>
        </p:txBody>
      </p:sp>
      <p:sp>
        <p:nvSpPr>
          <p:cNvPr id="14" name="Shape 12"/>
          <p:cNvSpPr/>
          <p:nvPr/>
        </p:nvSpPr>
        <p:spPr>
          <a:xfrm>
            <a:off x="0" y="0"/>
            <a:ext cx="128016" cy="6858000"/>
          </a:xfrm>
          <a:prstGeom prst="rect">
            <a:avLst/>
          </a:prstGeom>
          <a:solidFill>
            <a:srgbClr val="F5A623"/>
          </a:solidFill>
          <a:ln w="12700">
            <a:solidFill>
              <a:srgbClr val="F5A623">
                <a:alpha val="0"/>
              </a:srgbClr>
            </a:solidFill>
            <a:prstDash val="solid"/>
          </a:ln>
        </p:spPr>
        <p:txBody>
          <a:bodyPr/>
          <a:lstStyle/>
          <a:p>
            <a:endParaRPr lang="en-US"/>
          </a:p>
        </p:txBody>
      </p:sp>
      <p:sp>
        <p:nvSpPr>
          <p:cNvPr id="15" name="Text 13"/>
          <p:cNvSpPr/>
          <p:nvPr/>
        </p:nvSpPr>
        <p:spPr>
          <a:xfrm>
            <a:off x="201168" y="91440"/>
            <a:ext cx="1828800" cy="384048"/>
          </a:xfrm>
          <a:prstGeom prst="rect">
            <a:avLst/>
          </a:prstGeom>
          <a:noFill/>
          <a:ln/>
        </p:spPr>
        <p:txBody>
          <a:bodyPr wrap="square" lIns="0" tIns="0" rIns="0" bIns="0" rtlCol="0" anchor="ctr"/>
          <a:lstStyle/>
          <a:p>
            <a:pPr marL="0" indent="0">
              <a:buNone/>
            </a:pPr>
            <a:r>
              <a:rPr lang="en-US" sz="2600" b="1" kern="0" spc="400" dirty="0">
                <a:solidFill>
                  <a:srgbClr val="F5A623"/>
                </a:solidFill>
                <a:latin typeface="Georgia" pitchFamily="34" charset="0"/>
                <a:ea typeface="Georgia" pitchFamily="34" charset="-122"/>
                <a:cs typeface="Georgia" pitchFamily="34" charset="-120"/>
              </a:rPr>
              <a:t>FORGE</a:t>
            </a:r>
            <a:endParaRPr lang="en-US" sz="2600" dirty="0"/>
          </a:p>
        </p:txBody>
      </p:sp>
      <p:sp>
        <p:nvSpPr>
          <p:cNvPr id="16" name="Text 14"/>
          <p:cNvSpPr/>
          <p:nvPr/>
        </p:nvSpPr>
        <p:spPr>
          <a:xfrm>
            <a:off x="201168" y="475488"/>
            <a:ext cx="9601200" cy="219456"/>
          </a:xfrm>
          <a:prstGeom prst="rect">
            <a:avLst/>
          </a:prstGeom>
          <a:noFill/>
          <a:ln/>
        </p:spPr>
        <p:txBody>
          <a:bodyPr wrap="square" lIns="0" tIns="0" rIns="0" bIns="0" rtlCol="0" anchor="ctr"/>
          <a:lstStyle/>
          <a:p>
            <a:pPr marL="0" indent="0">
              <a:buNone/>
            </a:pPr>
            <a:r>
              <a:rPr lang="en-US" sz="1000" kern="0" spc="100" dirty="0">
                <a:solidFill>
                  <a:srgbClr val="7A95B4"/>
                </a:solidFill>
                <a:latin typeface="Calibri" pitchFamily="34" charset="0"/>
                <a:ea typeface="Calibri" pitchFamily="34" charset="-122"/>
                <a:cs typeface="Calibri" pitchFamily="34" charset="-120"/>
              </a:rPr>
              <a:t>Framework Orchestrated Rewrite &amp; Generation Engine  ·  Full Architecture — 15 Agents  ·  Zero Struts in </a:t>
            </a:r>
            <a:r>
              <a:rPr lang="en-US" sz="1000" kern="0" spc="100" dirty="0" err="1">
                <a:solidFill>
                  <a:srgbClr val="7A95B4"/>
                </a:solidFill>
                <a:latin typeface="Calibri" pitchFamily="34" charset="0"/>
                <a:ea typeface="Calibri" pitchFamily="34" charset="-122"/>
                <a:cs typeface="Calibri" pitchFamily="34" charset="-120"/>
              </a:rPr>
              <a:t>Outputç</a:t>
            </a:r>
            <a:endParaRPr lang="en-US" sz="1000" dirty="0"/>
          </a:p>
        </p:txBody>
      </p:sp>
      <p:sp>
        <p:nvSpPr>
          <p:cNvPr id="17" name="Shape 15"/>
          <p:cNvSpPr/>
          <p:nvPr/>
        </p:nvSpPr>
        <p:spPr>
          <a:xfrm>
            <a:off x="201168" y="713232"/>
            <a:ext cx="11795760" cy="20117"/>
          </a:xfrm>
          <a:prstGeom prst="rect">
            <a:avLst/>
          </a:prstGeom>
          <a:solidFill>
            <a:srgbClr val="F5A623">
              <a:alpha val="40000"/>
            </a:srgbClr>
          </a:solidFill>
          <a:ln w="12700">
            <a:solidFill>
              <a:srgbClr val="F5A623">
                <a:alpha val="0"/>
              </a:srgbClr>
            </a:solidFill>
            <a:prstDash val="solid"/>
          </a:ln>
        </p:spPr>
        <p:txBody>
          <a:bodyPr/>
          <a:lstStyle/>
          <a:p>
            <a:endParaRPr lang="en-US"/>
          </a:p>
        </p:txBody>
      </p:sp>
      <p:sp>
        <p:nvSpPr>
          <p:cNvPr id="18" name="Shape 16"/>
          <p:cNvSpPr/>
          <p:nvPr/>
        </p:nvSpPr>
        <p:spPr>
          <a:xfrm>
            <a:off x="201168" y="768096"/>
            <a:ext cx="1097280" cy="5669280"/>
          </a:xfrm>
          <a:prstGeom prst="rect">
            <a:avLst/>
          </a:prstGeom>
          <a:solidFill>
            <a:srgbClr val="0F2040"/>
          </a:solidFill>
          <a:ln w="9525">
            <a:solidFill>
              <a:srgbClr val="626E7B"/>
            </a:solidFill>
            <a:prstDash val="solid"/>
          </a:ln>
          <a:effectLst>
            <a:outerShdw blurRad="76200" dist="25400" dir="8100000" algn="bl" rotWithShape="0">
              <a:srgbClr val="000000">
                <a:alpha val="10000"/>
              </a:srgbClr>
            </a:outerShdw>
          </a:effectLst>
        </p:spPr>
        <p:txBody>
          <a:bodyPr/>
          <a:lstStyle/>
          <a:p>
            <a:endParaRPr lang="en-US"/>
          </a:p>
        </p:txBody>
      </p:sp>
      <p:sp>
        <p:nvSpPr>
          <p:cNvPr id="19" name="Shape 17"/>
          <p:cNvSpPr/>
          <p:nvPr/>
        </p:nvSpPr>
        <p:spPr>
          <a:xfrm>
            <a:off x="201168" y="768096"/>
            <a:ext cx="1097280" cy="43891"/>
          </a:xfrm>
          <a:prstGeom prst="rect">
            <a:avLst/>
          </a:prstGeom>
          <a:solidFill>
            <a:srgbClr val="7A95B4"/>
          </a:solidFill>
          <a:ln w="12700">
            <a:solidFill>
              <a:srgbClr val="7A95B4">
                <a:alpha val="0"/>
              </a:srgbClr>
            </a:solidFill>
            <a:prstDash val="solid"/>
          </a:ln>
        </p:spPr>
        <p:txBody>
          <a:bodyPr/>
          <a:lstStyle/>
          <a:p>
            <a:endParaRPr lang="en-US"/>
          </a:p>
        </p:txBody>
      </p:sp>
      <p:sp>
        <p:nvSpPr>
          <p:cNvPr id="20" name="Text 18"/>
          <p:cNvSpPr/>
          <p:nvPr/>
        </p:nvSpPr>
        <p:spPr>
          <a:xfrm>
            <a:off x="201168" y="818388"/>
            <a:ext cx="1097280" cy="237744"/>
          </a:xfrm>
          <a:prstGeom prst="rect">
            <a:avLst/>
          </a:prstGeom>
          <a:noFill/>
          <a:ln/>
        </p:spPr>
        <p:txBody>
          <a:bodyPr wrap="square" lIns="0" tIns="0" rIns="0" bIns="0" rtlCol="0" anchor="ctr"/>
          <a:lstStyle/>
          <a:p>
            <a:pPr marL="0" indent="0" algn="ctr">
              <a:buNone/>
            </a:pPr>
            <a:r>
              <a:rPr lang="en-US" sz="800" b="1" dirty="0">
                <a:solidFill>
                  <a:srgbClr val="7A95B4"/>
                </a:solidFill>
                <a:latin typeface="Georgia" pitchFamily="34" charset="0"/>
                <a:ea typeface="Georgia" pitchFamily="34" charset="-122"/>
                <a:cs typeface="Georgia" pitchFamily="34" charset="-120"/>
              </a:rPr>
              <a:t>CLI entry</a:t>
            </a:r>
            <a:endParaRPr lang="en-US" sz="800" dirty="0"/>
          </a:p>
        </p:txBody>
      </p:sp>
      <p:sp>
        <p:nvSpPr>
          <p:cNvPr id="21" name="Text 19"/>
          <p:cNvSpPr/>
          <p:nvPr/>
        </p:nvSpPr>
        <p:spPr>
          <a:xfrm>
            <a:off x="274320" y="1078992"/>
            <a:ext cx="1005840" cy="182880"/>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migrate.py</a:t>
            </a:r>
            <a:endParaRPr lang="en-US" sz="850" dirty="0"/>
          </a:p>
        </p:txBody>
      </p:sp>
      <p:sp>
        <p:nvSpPr>
          <p:cNvPr id="22" name="Text 20"/>
          <p:cNvSpPr/>
          <p:nvPr/>
        </p:nvSpPr>
        <p:spPr>
          <a:xfrm>
            <a:off x="274320" y="1280160"/>
            <a:ext cx="1005840" cy="182880"/>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Phase sequencer</a:t>
            </a:r>
            <a:endParaRPr lang="en-US" sz="850" dirty="0"/>
          </a:p>
        </p:txBody>
      </p:sp>
      <p:sp>
        <p:nvSpPr>
          <p:cNvPr id="23" name="Text 21"/>
          <p:cNvSpPr/>
          <p:nvPr/>
        </p:nvSpPr>
        <p:spPr>
          <a:xfrm>
            <a:off x="274320" y="1481328"/>
            <a:ext cx="1005840" cy="182880"/>
          </a:xfrm>
          <a:prstGeom prst="rect">
            <a:avLst/>
          </a:prstGeom>
          <a:noFill/>
          <a:ln/>
        </p:spPr>
        <p:txBody>
          <a:bodyPr wrap="square" lIns="0" tIns="0" rIns="0" bIns="0" rtlCol="0" anchor="ctr"/>
          <a:lstStyle/>
          <a:p>
            <a:pPr marL="0" indent="0" algn="l">
              <a:buNone/>
            </a:pPr>
            <a:r>
              <a:rPr lang="en-US" sz="850" dirty="0">
                <a:solidFill>
                  <a:srgbClr val="F5A623"/>
                </a:solidFill>
                <a:latin typeface="Calibri" pitchFamily="34" charset="0"/>
                <a:ea typeface="Calibri" pitchFamily="34" charset="-122"/>
                <a:cs typeface="Calibri" pitchFamily="34" charset="-120"/>
              </a:rPr>
              <a:t>--phase java-upgrade</a:t>
            </a:r>
            <a:endParaRPr lang="en-US" sz="850" dirty="0"/>
          </a:p>
        </p:txBody>
      </p:sp>
      <p:sp>
        <p:nvSpPr>
          <p:cNvPr id="24" name="Text 22"/>
          <p:cNvSpPr/>
          <p:nvPr/>
        </p:nvSpPr>
        <p:spPr>
          <a:xfrm>
            <a:off x="274320" y="1682496"/>
            <a:ext cx="1005840" cy="182880"/>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--dry-run</a:t>
            </a:r>
            <a:endParaRPr lang="en-US" sz="850" dirty="0"/>
          </a:p>
        </p:txBody>
      </p:sp>
      <p:sp>
        <p:nvSpPr>
          <p:cNvPr id="25" name="Text 23"/>
          <p:cNvSpPr/>
          <p:nvPr/>
        </p:nvSpPr>
        <p:spPr>
          <a:xfrm>
            <a:off x="274320" y="1883664"/>
            <a:ext cx="1005840" cy="182880"/>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--resume</a:t>
            </a:r>
            <a:endParaRPr lang="en-US" sz="850" dirty="0"/>
          </a:p>
        </p:txBody>
      </p:sp>
      <p:sp>
        <p:nvSpPr>
          <p:cNvPr id="26" name="Shape 24"/>
          <p:cNvSpPr/>
          <p:nvPr/>
        </p:nvSpPr>
        <p:spPr>
          <a:xfrm>
            <a:off x="256032" y="2185416"/>
            <a:ext cx="987552" cy="201168"/>
          </a:xfrm>
          <a:prstGeom prst="rect">
            <a:avLst/>
          </a:prstGeom>
          <a:solidFill>
            <a:srgbClr val="1A3A5C"/>
          </a:solidFill>
          <a:ln w="6350">
            <a:solidFill>
              <a:srgbClr val="626E7B"/>
            </a:solidFill>
            <a:prstDash val="solid"/>
          </a:ln>
          <a:effectLst>
            <a:outerShdw blurRad="76200" dist="25400" dir="8100000" algn="bl" rotWithShape="0">
              <a:srgbClr val="000000">
                <a:alpha val="10000"/>
              </a:srgbClr>
            </a:outerShdw>
          </a:effectLst>
        </p:spPr>
        <p:txBody>
          <a:bodyPr/>
          <a:lstStyle/>
          <a:p>
            <a:endParaRPr lang="en-US"/>
          </a:p>
        </p:txBody>
      </p:sp>
      <p:sp>
        <p:nvSpPr>
          <p:cNvPr id="27" name="Text 25"/>
          <p:cNvSpPr/>
          <p:nvPr/>
        </p:nvSpPr>
        <p:spPr>
          <a:xfrm>
            <a:off x="256032" y="2185416"/>
            <a:ext cx="987552" cy="201168"/>
          </a:xfrm>
          <a:prstGeom prst="rect">
            <a:avLst/>
          </a:prstGeom>
          <a:noFill/>
          <a:ln/>
        </p:spPr>
        <p:txBody>
          <a:bodyPr wrap="square" lIns="0" tIns="0" rIns="0" bIns="0" rtlCol="0" anchor="ctr"/>
          <a:lstStyle/>
          <a:p>
            <a:pPr marL="0" indent="0" algn="ctr">
              <a:buNone/>
            </a:pPr>
            <a:r>
              <a:rPr lang="en-US" sz="750" b="1" dirty="0">
                <a:solidFill>
                  <a:srgbClr val="7A95B4"/>
                </a:solidFill>
                <a:latin typeface="Calibri" pitchFamily="34" charset="0"/>
                <a:ea typeface="Calibri" pitchFamily="34" charset="-122"/>
                <a:cs typeface="Calibri" pitchFamily="34" charset="-120"/>
              </a:rPr>
              <a:t>Phases</a:t>
            </a:r>
            <a:endParaRPr lang="en-US" sz="750" dirty="0"/>
          </a:p>
        </p:txBody>
      </p:sp>
      <p:sp>
        <p:nvSpPr>
          <p:cNvPr id="28" name="Text 26"/>
          <p:cNvSpPr/>
          <p:nvPr/>
        </p:nvSpPr>
        <p:spPr>
          <a:xfrm>
            <a:off x="274320" y="2432304"/>
            <a:ext cx="1005840" cy="256032"/>
          </a:xfrm>
          <a:prstGeom prst="rect">
            <a:avLst/>
          </a:prstGeom>
          <a:noFill/>
          <a:ln/>
        </p:spPr>
        <p:txBody>
          <a:bodyPr wrap="square" lIns="0" tIns="0" rIns="0" bIns="0" rtlCol="0" anchor="ctr"/>
          <a:lstStyle/>
          <a:p>
            <a:pPr marL="0" indent="0" algn="l">
              <a:buNone/>
            </a:pPr>
            <a:r>
              <a:rPr lang="en-US" sz="750" dirty="0">
                <a:solidFill>
                  <a:srgbClr val="E8EDF4"/>
                </a:solidFill>
                <a:latin typeface="Calibri" pitchFamily="34" charset="0"/>
                <a:ea typeface="Calibri" pitchFamily="34" charset="-122"/>
                <a:cs typeface="Calibri" pitchFamily="34" charset="-120"/>
              </a:rPr>
              <a:t>0 discover</a:t>
            </a:r>
            <a:endParaRPr lang="en-US" sz="750" dirty="0"/>
          </a:p>
        </p:txBody>
      </p:sp>
      <p:sp>
        <p:nvSpPr>
          <p:cNvPr id="29" name="Text 27"/>
          <p:cNvSpPr/>
          <p:nvPr/>
        </p:nvSpPr>
        <p:spPr>
          <a:xfrm>
            <a:off x="274320" y="2724912"/>
            <a:ext cx="1005840" cy="256032"/>
          </a:xfrm>
          <a:prstGeom prst="rect">
            <a:avLst/>
          </a:prstGeom>
          <a:noFill/>
          <a:ln/>
        </p:spPr>
        <p:txBody>
          <a:bodyPr wrap="square" lIns="0" tIns="0" rIns="0" bIns="0" rtlCol="0" anchor="ctr"/>
          <a:lstStyle/>
          <a:p>
            <a:pPr marL="0" indent="0" algn="l">
              <a:buNone/>
            </a:pPr>
            <a:r>
              <a:rPr lang="en-US" sz="750" dirty="0">
                <a:solidFill>
                  <a:srgbClr val="E8EDF4"/>
                </a:solidFill>
                <a:latin typeface="Calibri" pitchFamily="34" charset="0"/>
                <a:ea typeface="Calibri" pitchFamily="34" charset="-122"/>
                <a:cs typeface="Calibri" pitchFamily="34" charset="-120"/>
              </a:rPr>
              <a:t>1 java-upgrade</a:t>
            </a:r>
            <a:endParaRPr lang="en-US" sz="750" dirty="0"/>
          </a:p>
        </p:txBody>
      </p:sp>
      <p:sp>
        <p:nvSpPr>
          <p:cNvPr id="30" name="Text 28"/>
          <p:cNvSpPr/>
          <p:nvPr/>
        </p:nvSpPr>
        <p:spPr>
          <a:xfrm>
            <a:off x="274320" y="3017520"/>
            <a:ext cx="1005840" cy="256032"/>
          </a:xfrm>
          <a:prstGeom prst="rect">
            <a:avLst/>
          </a:prstGeom>
          <a:noFill/>
          <a:ln/>
        </p:spPr>
        <p:txBody>
          <a:bodyPr wrap="square" lIns="0" tIns="0" rIns="0" bIns="0" rtlCol="0" anchor="ctr"/>
          <a:lstStyle/>
          <a:p>
            <a:pPr marL="0" indent="0" algn="l">
              <a:buNone/>
            </a:pPr>
            <a:r>
              <a:rPr lang="en-US" sz="750" dirty="0">
                <a:solidFill>
                  <a:srgbClr val="E8EDF4"/>
                </a:solidFill>
                <a:latin typeface="Calibri" pitchFamily="34" charset="0"/>
                <a:ea typeface="Calibri" pitchFamily="34" charset="-122"/>
                <a:cs typeface="Calibri" pitchFamily="34" charset="-120"/>
              </a:rPr>
              <a:t>2 spring-upgrade</a:t>
            </a:r>
            <a:endParaRPr lang="en-US" sz="750" dirty="0"/>
          </a:p>
        </p:txBody>
      </p:sp>
      <p:sp>
        <p:nvSpPr>
          <p:cNvPr id="31" name="Text 29"/>
          <p:cNvSpPr/>
          <p:nvPr/>
        </p:nvSpPr>
        <p:spPr>
          <a:xfrm>
            <a:off x="274320" y="3310128"/>
            <a:ext cx="1005840" cy="256032"/>
          </a:xfrm>
          <a:prstGeom prst="rect">
            <a:avLst/>
          </a:prstGeom>
          <a:noFill/>
          <a:ln/>
        </p:spPr>
        <p:txBody>
          <a:bodyPr wrap="square" lIns="0" tIns="0" rIns="0" bIns="0" rtlCol="0" anchor="ctr"/>
          <a:lstStyle/>
          <a:p>
            <a:pPr marL="0" indent="0" algn="l">
              <a:buNone/>
            </a:pPr>
            <a:r>
              <a:rPr lang="en-US" sz="750" dirty="0">
                <a:solidFill>
                  <a:srgbClr val="F5A623"/>
                </a:solidFill>
                <a:latin typeface="Calibri" pitchFamily="34" charset="0"/>
                <a:ea typeface="Calibri" pitchFamily="34" charset="-122"/>
                <a:cs typeface="Calibri" pitchFamily="34" charset="-120"/>
              </a:rPr>
              <a:t>3 struts→MVC</a:t>
            </a:r>
            <a:endParaRPr lang="en-US" sz="750" dirty="0"/>
          </a:p>
        </p:txBody>
      </p:sp>
      <p:sp>
        <p:nvSpPr>
          <p:cNvPr id="32" name="Text 30"/>
          <p:cNvSpPr/>
          <p:nvPr/>
        </p:nvSpPr>
        <p:spPr>
          <a:xfrm>
            <a:off x="274320" y="3456432"/>
            <a:ext cx="1005840" cy="128016"/>
          </a:xfrm>
          <a:prstGeom prst="rect">
            <a:avLst/>
          </a:prstGeom>
          <a:noFill/>
          <a:ln/>
        </p:spPr>
        <p:txBody>
          <a:bodyPr wrap="square" lIns="0" tIns="0" rIns="0" bIns="0" rtlCol="0" anchor="ctr"/>
          <a:lstStyle/>
          <a:p>
            <a:pPr marL="0" indent="0" algn="l">
              <a:buNone/>
            </a:pPr>
            <a:r>
              <a:rPr lang="en-US" sz="650" b="1" dirty="0">
                <a:solidFill>
                  <a:srgbClr val="F5A623"/>
                </a:solidFill>
                <a:latin typeface="Calibri" pitchFamily="34" charset="0"/>
                <a:ea typeface="Calibri" pitchFamily="34" charset="-122"/>
                <a:cs typeface="Calibri" pitchFamily="34" charset="-120"/>
              </a:rPr>
              <a:t>human gate</a:t>
            </a:r>
            <a:endParaRPr lang="en-US" sz="650" dirty="0"/>
          </a:p>
        </p:txBody>
      </p:sp>
      <p:sp>
        <p:nvSpPr>
          <p:cNvPr id="33" name="Text 31"/>
          <p:cNvSpPr/>
          <p:nvPr/>
        </p:nvSpPr>
        <p:spPr>
          <a:xfrm>
            <a:off x="274320" y="3602736"/>
            <a:ext cx="1005840" cy="256032"/>
          </a:xfrm>
          <a:prstGeom prst="rect">
            <a:avLst/>
          </a:prstGeom>
          <a:noFill/>
          <a:ln/>
        </p:spPr>
        <p:txBody>
          <a:bodyPr wrap="square" lIns="0" tIns="0" rIns="0" bIns="0" rtlCol="0" anchor="ctr"/>
          <a:lstStyle/>
          <a:p>
            <a:pPr marL="0" indent="0" algn="l">
              <a:buNone/>
            </a:pPr>
            <a:r>
              <a:rPr lang="en-US" sz="750" dirty="0">
                <a:solidFill>
                  <a:srgbClr val="F5A623"/>
                </a:solidFill>
                <a:latin typeface="Calibri" pitchFamily="34" charset="0"/>
                <a:ea typeface="Calibri" pitchFamily="34" charset="-122"/>
                <a:cs typeface="Calibri" pitchFamily="34" charset="-120"/>
              </a:rPr>
              <a:t>4 containerize</a:t>
            </a:r>
            <a:endParaRPr lang="en-US" sz="750" dirty="0"/>
          </a:p>
        </p:txBody>
      </p:sp>
      <p:sp>
        <p:nvSpPr>
          <p:cNvPr id="34" name="Text 32"/>
          <p:cNvSpPr/>
          <p:nvPr/>
        </p:nvSpPr>
        <p:spPr>
          <a:xfrm>
            <a:off x="274320" y="3749040"/>
            <a:ext cx="1005840" cy="128016"/>
          </a:xfrm>
          <a:prstGeom prst="rect">
            <a:avLst/>
          </a:prstGeom>
          <a:noFill/>
          <a:ln/>
        </p:spPr>
        <p:txBody>
          <a:bodyPr wrap="square" lIns="0" tIns="0" rIns="0" bIns="0" rtlCol="0" anchor="ctr"/>
          <a:lstStyle/>
          <a:p>
            <a:pPr marL="0" indent="0" algn="l">
              <a:buNone/>
            </a:pPr>
            <a:r>
              <a:rPr lang="en-US" sz="650" b="1" dirty="0">
                <a:solidFill>
                  <a:srgbClr val="F5A623"/>
                </a:solidFill>
                <a:latin typeface="Calibri" pitchFamily="34" charset="0"/>
                <a:ea typeface="Calibri" pitchFamily="34" charset="-122"/>
                <a:cs typeface="Calibri" pitchFamily="34" charset="-120"/>
              </a:rPr>
              <a:t>human gate</a:t>
            </a:r>
            <a:endParaRPr lang="en-US" sz="650" dirty="0"/>
          </a:p>
        </p:txBody>
      </p:sp>
      <p:sp>
        <p:nvSpPr>
          <p:cNvPr id="35" name="Text 33"/>
          <p:cNvSpPr/>
          <p:nvPr/>
        </p:nvSpPr>
        <p:spPr>
          <a:xfrm>
            <a:off x="274320" y="3895344"/>
            <a:ext cx="1005840" cy="256032"/>
          </a:xfrm>
          <a:prstGeom prst="rect">
            <a:avLst/>
          </a:prstGeom>
          <a:noFill/>
          <a:ln/>
        </p:spPr>
        <p:txBody>
          <a:bodyPr wrap="square" lIns="0" tIns="0" rIns="0" bIns="0" rtlCol="0" anchor="ctr"/>
          <a:lstStyle/>
          <a:p>
            <a:pPr marL="0" indent="0" algn="l">
              <a:buNone/>
            </a:pPr>
            <a:r>
              <a:rPr lang="en-US" sz="750" dirty="0">
                <a:solidFill>
                  <a:srgbClr val="E8EDF4"/>
                </a:solidFill>
                <a:latin typeface="Calibri" pitchFamily="34" charset="0"/>
                <a:ea typeface="Calibri" pitchFamily="34" charset="-122"/>
                <a:cs typeface="Calibri" pitchFamily="34" charset="-120"/>
              </a:rPr>
              <a:t>5 testgen</a:t>
            </a:r>
            <a:endParaRPr lang="en-US" sz="750" dirty="0"/>
          </a:p>
        </p:txBody>
      </p:sp>
      <p:sp>
        <p:nvSpPr>
          <p:cNvPr id="36" name="Shape 34"/>
          <p:cNvSpPr/>
          <p:nvPr/>
        </p:nvSpPr>
        <p:spPr>
          <a:xfrm>
            <a:off x="1298448" y="1426464"/>
            <a:ext cx="128016" cy="22860"/>
          </a:xfrm>
          <a:prstGeom prst="rect">
            <a:avLst/>
          </a:prstGeom>
          <a:solidFill>
            <a:srgbClr val="F5A623">
              <a:alpha val="50000"/>
            </a:srgbClr>
          </a:solidFill>
          <a:ln w="12700">
            <a:solidFill>
              <a:srgbClr val="F5A623">
                <a:alpha val="0"/>
              </a:srgbClr>
            </a:solidFill>
            <a:prstDash val="solid"/>
          </a:ln>
        </p:spPr>
        <p:txBody>
          <a:bodyPr/>
          <a:lstStyle/>
          <a:p>
            <a:endParaRPr lang="en-US"/>
          </a:p>
        </p:txBody>
      </p:sp>
      <p:sp>
        <p:nvSpPr>
          <p:cNvPr id="37" name="Shape 35"/>
          <p:cNvSpPr/>
          <p:nvPr/>
        </p:nvSpPr>
        <p:spPr>
          <a:xfrm>
            <a:off x="1426464" y="768096"/>
            <a:ext cx="1188720" cy="5669280"/>
          </a:xfrm>
          <a:prstGeom prst="rect">
            <a:avLst/>
          </a:prstGeom>
          <a:solidFill>
            <a:srgbClr val="FEF6E7"/>
          </a:solidFill>
          <a:ln w="1524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38" name="Shape 36"/>
          <p:cNvSpPr/>
          <p:nvPr/>
        </p:nvSpPr>
        <p:spPr>
          <a:xfrm>
            <a:off x="1426464" y="768096"/>
            <a:ext cx="1188720" cy="43891"/>
          </a:xfrm>
          <a:prstGeom prst="rect">
            <a:avLst/>
          </a:prstGeom>
          <a:solidFill>
            <a:srgbClr val="F5A623"/>
          </a:solidFill>
          <a:ln w="12700">
            <a:solidFill>
              <a:srgbClr val="F5A623">
                <a:alpha val="0"/>
              </a:srgbClr>
            </a:solidFill>
            <a:prstDash val="solid"/>
          </a:ln>
        </p:spPr>
        <p:txBody>
          <a:bodyPr/>
          <a:lstStyle/>
          <a:p>
            <a:endParaRPr lang="en-US"/>
          </a:p>
        </p:txBody>
      </p:sp>
      <p:sp>
        <p:nvSpPr>
          <p:cNvPr id="39" name="Text 37"/>
          <p:cNvSpPr/>
          <p:nvPr/>
        </p:nvSpPr>
        <p:spPr>
          <a:xfrm>
            <a:off x="1426464" y="818388"/>
            <a:ext cx="1188720" cy="237744"/>
          </a:xfrm>
          <a:prstGeom prst="rect">
            <a:avLst/>
          </a:prstGeom>
          <a:noFill/>
          <a:ln/>
        </p:spPr>
        <p:txBody>
          <a:bodyPr wrap="square" lIns="0" tIns="0" rIns="0" bIns="0" rtlCol="0" anchor="ctr"/>
          <a:lstStyle/>
          <a:p>
            <a:pPr marL="0" indent="0" algn="ctr">
              <a:buNone/>
            </a:pPr>
            <a:r>
              <a:rPr lang="en-US" sz="850" b="1" dirty="0">
                <a:solidFill>
                  <a:srgbClr val="633806"/>
                </a:solidFill>
                <a:latin typeface="Georgia" pitchFamily="34" charset="0"/>
                <a:ea typeface="Georgia" pitchFamily="34" charset="-122"/>
                <a:cs typeface="Georgia" pitchFamily="34" charset="-120"/>
              </a:rPr>
              <a:t>Guardrails (pre)</a:t>
            </a:r>
            <a:endParaRPr lang="en-US" sz="850" dirty="0"/>
          </a:p>
        </p:txBody>
      </p:sp>
      <p:sp>
        <p:nvSpPr>
          <p:cNvPr id="40" name="Shape 38"/>
          <p:cNvSpPr/>
          <p:nvPr/>
        </p:nvSpPr>
        <p:spPr>
          <a:xfrm>
            <a:off x="1499616" y="1097280"/>
            <a:ext cx="1042416" cy="384048"/>
          </a:xfrm>
          <a:prstGeom prst="rect">
            <a:avLst/>
          </a:prstGeom>
          <a:solidFill>
            <a:srgbClr val="FDD17A"/>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41" name="Text 39"/>
          <p:cNvSpPr/>
          <p:nvPr/>
        </p:nvSpPr>
        <p:spPr>
          <a:xfrm>
            <a:off x="1499616" y="1097280"/>
            <a:ext cx="1042416" cy="384048"/>
          </a:xfrm>
          <a:prstGeom prst="rect">
            <a:avLst/>
          </a:prstGeom>
          <a:noFill/>
          <a:ln/>
        </p:spPr>
        <p:txBody>
          <a:bodyPr wrap="square" lIns="0" tIns="0" rIns="0" bIns="0" rtlCol="0" anchor="ctr"/>
          <a:lstStyle/>
          <a:p>
            <a:pPr marL="0" indent="0" algn="ctr">
              <a:buNone/>
            </a:pPr>
            <a:r>
              <a:rPr lang="en-US" sz="800" dirty="0">
                <a:solidFill>
                  <a:srgbClr val="633806"/>
                </a:solidFill>
                <a:latin typeface="Calibri" pitchFamily="34" charset="0"/>
                <a:ea typeface="Calibri" pitchFamily="34" charset="-122"/>
                <a:cs typeface="Calibri" pitchFamily="34" charset="-120"/>
              </a:rPr>
              <a:t>Secret scanner</a:t>
            </a:r>
            <a:endParaRPr lang="en-US" sz="800" dirty="0"/>
          </a:p>
        </p:txBody>
      </p:sp>
      <p:sp>
        <p:nvSpPr>
          <p:cNvPr id="42" name="Shape 40"/>
          <p:cNvSpPr/>
          <p:nvPr/>
        </p:nvSpPr>
        <p:spPr>
          <a:xfrm>
            <a:off x="1499616" y="1554480"/>
            <a:ext cx="1042416" cy="384048"/>
          </a:xfrm>
          <a:prstGeom prst="rect">
            <a:avLst/>
          </a:prstGeom>
          <a:solidFill>
            <a:srgbClr val="FDD17A"/>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43" name="Text 41"/>
          <p:cNvSpPr/>
          <p:nvPr/>
        </p:nvSpPr>
        <p:spPr>
          <a:xfrm>
            <a:off x="1499616" y="1554480"/>
            <a:ext cx="1042416" cy="384048"/>
          </a:xfrm>
          <a:prstGeom prst="rect">
            <a:avLst/>
          </a:prstGeom>
          <a:noFill/>
          <a:ln/>
        </p:spPr>
        <p:txBody>
          <a:bodyPr wrap="square" lIns="0" tIns="0" rIns="0" bIns="0" rtlCol="0" anchor="ctr"/>
          <a:lstStyle/>
          <a:p>
            <a:pPr marL="0" indent="0" algn="ctr">
              <a:buNone/>
            </a:pPr>
            <a:r>
              <a:rPr lang="en-US" sz="800" dirty="0">
                <a:solidFill>
                  <a:srgbClr val="633806"/>
                </a:solidFill>
                <a:latin typeface="Calibri" pitchFamily="34" charset="0"/>
                <a:ea typeface="Calibri" pitchFamily="34" charset="-122"/>
                <a:cs typeface="Calibri" pitchFamily="34" charset="-120"/>
              </a:rPr>
              <a:t>Scope validator</a:t>
            </a:r>
            <a:endParaRPr lang="en-US" sz="800" dirty="0"/>
          </a:p>
        </p:txBody>
      </p:sp>
      <p:sp>
        <p:nvSpPr>
          <p:cNvPr id="44" name="Shape 42"/>
          <p:cNvSpPr/>
          <p:nvPr/>
        </p:nvSpPr>
        <p:spPr>
          <a:xfrm>
            <a:off x="1499616" y="2011680"/>
            <a:ext cx="1042416" cy="384048"/>
          </a:xfrm>
          <a:prstGeom prst="rect">
            <a:avLst/>
          </a:prstGeom>
          <a:solidFill>
            <a:srgbClr val="FDD17A"/>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45" name="Text 43"/>
          <p:cNvSpPr/>
          <p:nvPr/>
        </p:nvSpPr>
        <p:spPr>
          <a:xfrm>
            <a:off x="1499616" y="2011680"/>
            <a:ext cx="1042416" cy="384048"/>
          </a:xfrm>
          <a:prstGeom prst="rect">
            <a:avLst/>
          </a:prstGeom>
          <a:noFill/>
          <a:ln/>
        </p:spPr>
        <p:txBody>
          <a:bodyPr wrap="square" lIns="0" tIns="0" rIns="0" bIns="0" rtlCol="0" anchor="ctr"/>
          <a:lstStyle/>
          <a:p>
            <a:pPr marL="0" indent="0" algn="ctr">
              <a:buNone/>
            </a:pPr>
            <a:r>
              <a:rPr lang="en-US" sz="800" dirty="0">
                <a:solidFill>
                  <a:srgbClr val="633806"/>
                </a:solidFill>
                <a:latin typeface="Calibri" pitchFamily="34" charset="0"/>
                <a:ea typeface="Calibri" pitchFamily="34" charset="-122"/>
                <a:cs typeface="Calibri" pitchFamily="34" charset="-120"/>
              </a:rPr>
              <a:t>PII detector</a:t>
            </a:r>
            <a:endParaRPr lang="en-US" sz="800" dirty="0"/>
          </a:p>
        </p:txBody>
      </p:sp>
      <p:sp>
        <p:nvSpPr>
          <p:cNvPr id="46" name="Shape 44"/>
          <p:cNvSpPr/>
          <p:nvPr/>
        </p:nvSpPr>
        <p:spPr>
          <a:xfrm>
            <a:off x="1499616" y="2468880"/>
            <a:ext cx="1042416" cy="384048"/>
          </a:xfrm>
          <a:prstGeom prst="rect">
            <a:avLst/>
          </a:prstGeom>
          <a:solidFill>
            <a:srgbClr val="FDD17A"/>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47" name="Text 45"/>
          <p:cNvSpPr/>
          <p:nvPr/>
        </p:nvSpPr>
        <p:spPr>
          <a:xfrm>
            <a:off x="1499616" y="2468880"/>
            <a:ext cx="1042416" cy="384048"/>
          </a:xfrm>
          <a:prstGeom prst="rect">
            <a:avLst/>
          </a:prstGeom>
          <a:noFill/>
          <a:ln/>
        </p:spPr>
        <p:txBody>
          <a:bodyPr wrap="square" lIns="0" tIns="0" rIns="0" bIns="0" rtlCol="0" anchor="ctr"/>
          <a:lstStyle/>
          <a:p>
            <a:pPr marL="0" indent="0" algn="ctr">
              <a:buNone/>
            </a:pPr>
            <a:r>
              <a:rPr lang="en-US" sz="800" dirty="0">
                <a:solidFill>
                  <a:srgbClr val="633806"/>
                </a:solidFill>
                <a:latin typeface="Calibri" pitchFamily="34" charset="0"/>
                <a:ea typeface="Calibri" pitchFamily="34" charset="-122"/>
                <a:cs typeface="Calibri" pitchFamily="34" charset="-120"/>
              </a:rPr>
              <a:t>Complexity gate</a:t>
            </a:r>
            <a:endParaRPr lang="en-US" sz="800" dirty="0"/>
          </a:p>
        </p:txBody>
      </p:sp>
      <p:sp>
        <p:nvSpPr>
          <p:cNvPr id="48" name="Shape 46"/>
          <p:cNvSpPr/>
          <p:nvPr/>
        </p:nvSpPr>
        <p:spPr>
          <a:xfrm>
            <a:off x="1499616" y="2962656"/>
            <a:ext cx="1042416" cy="201168"/>
          </a:xfrm>
          <a:prstGeom prst="rect">
            <a:avLst/>
          </a:prstGeom>
          <a:solidFill>
            <a:srgbClr val="E05252"/>
          </a:solidFill>
          <a:ln w="6350">
            <a:solidFill>
              <a:srgbClr val="E05252"/>
            </a:solidFill>
            <a:prstDash val="solid"/>
          </a:ln>
          <a:effectLst>
            <a:outerShdw blurRad="76200" dist="25400" dir="8100000" algn="bl" rotWithShape="0">
              <a:srgbClr val="000000">
                <a:alpha val="10000"/>
              </a:srgbClr>
            </a:outerShdw>
          </a:effectLst>
        </p:spPr>
        <p:txBody>
          <a:bodyPr/>
          <a:lstStyle/>
          <a:p>
            <a:endParaRPr lang="en-US"/>
          </a:p>
        </p:txBody>
      </p:sp>
      <p:sp>
        <p:nvSpPr>
          <p:cNvPr id="49" name="Text 47"/>
          <p:cNvSpPr/>
          <p:nvPr/>
        </p:nvSpPr>
        <p:spPr>
          <a:xfrm>
            <a:off x="1499616" y="2962656"/>
            <a:ext cx="104241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BLOCK</a:t>
            </a:r>
            <a:endParaRPr lang="en-US" sz="800" dirty="0"/>
          </a:p>
        </p:txBody>
      </p:sp>
      <p:sp>
        <p:nvSpPr>
          <p:cNvPr id="50" name="Shape 48"/>
          <p:cNvSpPr/>
          <p:nvPr/>
        </p:nvSpPr>
        <p:spPr>
          <a:xfrm>
            <a:off x="1499616" y="3218688"/>
            <a:ext cx="1042416" cy="201168"/>
          </a:xfrm>
          <a:prstGeom prst="rect">
            <a:avLst/>
          </a:prstGeom>
          <a:solidFill>
            <a:srgbClr val="F5A623"/>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51" name="Text 49"/>
          <p:cNvSpPr/>
          <p:nvPr/>
        </p:nvSpPr>
        <p:spPr>
          <a:xfrm>
            <a:off x="1499616" y="3218688"/>
            <a:ext cx="104241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WARN</a:t>
            </a:r>
            <a:endParaRPr lang="en-US" sz="800" dirty="0"/>
          </a:p>
        </p:txBody>
      </p:sp>
      <p:sp>
        <p:nvSpPr>
          <p:cNvPr id="52" name="Shape 50"/>
          <p:cNvSpPr/>
          <p:nvPr/>
        </p:nvSpPr>
        <p:spPr>
          <a:xfrm>
            <a:off x="1499616" y="3474720"/>
            <a:ext cx="1042416" cy="201168"/>
          </a:xfrm>
          <a:prstGeom prst="rect">
            <a:avLst/>
          </a:prstGeom>
          <a:solidFill>
            <a:srgbClr val="1D9E75"/>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53" name="Text 51"/>
          <p:cNvSpPr/>
          <p:nvPr/>
        </p:nvSpPr>
        <p:spPr>
          <a:xfrm>
            <a:off x="1499616" y="3474720"/>
            <a:ext cx="104241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PASS</a:t>
            </a:r>
            <a:endParaRPr lang="en-US" sz="800" dirty="0"/>
          </a:p>
        </p:txBody>
      </p:sp>
      <p:sp>
        <p:nvSpPr>
          <p:cNvPr id="54" name="Shape 52"/>
          <p:cNvSpPr/>
          <p:nvPr/>
        </p:nvSpPr>
        <p:spPr>
          <a:xfrm>
            <a:off x="1481328" y="3785616"/>
            <a:ext cx="1078992" cy="201168"/>
          </a:xfrm>
          <a:prstGeom prst="rect">
            <a:avLst/>
          </a:prstGeom>
          <a:solidFill>
            <a:srgbClr val="FDD17A"/>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55" name="Text 53"/>
          <p:cNvSpPr/>
          <p:nvPr/>
        </p:nvSpPr>
        <p:spPr>
          <a:xfrm>
            <a:off x="1481328" y="3785616"/>
            <a:ext cx="1078992" cy="201168"/>
          </a:xfrm>
          <a:prstGeom prst="rect">
            <a:avLst/>
          </a:prstGeom>
          <a:noFill/>
          <a:ln/>
        </p:spPr>
        <p:txBody>
          <a:bodyPr wrap="square" lIns="0" tIns="0" rIns="0" bIns="0" rtlCol="0" anchor="ctr"/>
          <a:lstStyle/>
          <a:p>
            <a:pPr marL="0" indent="0" algn="ctr">
              <a:buNone/>
            </a:pPr>
            <a:r>
              <a:rPr lang="en-US" sz="750" b="1" dirty="0">
                <a:solidFill>
                  <a:srgbClr val="633806"/>
                </a:solidFill>
                <a:latin typeface="Calibri" pitchFamily="34" charset="0"/>
                <a:ea typeface="Calibri" pitchFamily="34" charset="-122"/>
                <a:cs typeface="Calibri" pitchFamily="34" charset="-120"/>
              </a:rPr>
              <a:t>Pre-transform checks</a:t>
            </a:r>
            <a:endParaRPr lang="en-US" sz="750" dirty="0"/>
          </a:p>
        </p:txBody>
      </p:sp>
      <p:sp>
        <p:nvSpPr>
          <p:cNvPr id="56" name="Text 54"/>
          <p:cNvSpPr/>
          <p:nvPr/>
        </p:nvSpPr>
        <p:spPr>
          <a:xfrm>
            <a:off x="1517904" y="4023360"/>
            <a:ext cx="1060704" cy="219456"/>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No secrets in source</a:t>
            </a:r>
            <a:endParaRPr lang="en-US" sz="750" dirty="0"/>
          </a:p>
        </p:txBody>
      </p:sp>
      <p:sp>
        <p:nvSpPr>
          <p:cNvPr id="57" name="Text 55"/>
          <p:cNvSpPr/>
          <p:nvPr/>
        </p:nvSpPr>
        <p:spPr>
          <a:xfrm>
            <a:off x="1517904" y="4279392"/>
            <a:ext cx="1060704" cy="219456"/>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File within scope</a:t>
            </a:r>
            <a:endParaRPr lang="en-US" sz="750" dirty="0"/>
          </a:p>
        </p:txBody>
      </p:sp>
      <p:sp>
        <p:nvSpPr>
          <p:cNvPr id="58" name="Text 56"/>
          <p:cNvSpPr/>
          <p:nvPr/>
        </p:nvSpPr>
        <p:spPr>
          <a:xfrm>
            <a:off x="1517904" y="4535424"/>
            <a:ext cx="1060704" cy="219456"/>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No extreme LOC</a:t>
            </a:r>
            <a:endParaRPr lang="en-US" sz="750" dirty="0"/>
          </a:p>
        </p:txBody>
      </p:sp>
      <p:sp>
        <p:nvSpPr>
          <p:cNvPr id="59" name="Text 57"/>
          <p:cNvSpPr/>
          <p:nvPr/>
        </p:nvSpPr>
        <p:spPr>
          <a:xfrm>
            <a:off x="1517904" y="4791456"/>
            <a:ext cx="1060704" cy="219456"/>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PII flagged</a:t>
            </a:r>
            <a:endParaRPr lang="en-US" sz="750" dirty="0"/>
          </a:p>
        </p:txBody>
      </p:sp>
      <p:sp>
        <p:nvSpPr>
          <p:cNvPr id="60" name="Shape 58"/>
          <p:cNvSpPr/>
          <p:nvPr/>
        </p:nvSpPr>
        <p:spPr>
          <a:xfrm>
            <a:off x="1426464" y="6345936"/>
            <a:ext cx="1188720" cy="91440"/>
          </a:xfrm>
          <a:prstGeom prst="rect">
            <a:avLst/>
          </a:prstGeom>
          <a:solidFill>
            <a:srgbClr val="F5A623"/>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61" name="Text 59"/>
          <p:cNvSpPr/>
          <p:nvPr/>
        </p:nvSpPr>
        <p:spPr>
          <a:xfrm>
            <a:off x="1426464" y="6345936"/>
            <a:ext cx="1188720" cy="91440"/>
          </a:xfrm>
          <a:prstGeom prst="rect">
            <a:avLst/>
          </a:prstGeom>
          <a:noFill/>
          <a:ln/>
        </p:spPr>
        <p:txBody>
          <a:bodyPr wrap="square" lIns="0" tIns="0" rIns="0" bIns="0" rtlCol="0" anchor="ctr"/>
          <a:lstStyle/>
          <a:p>
            <a:pPr marL="0" indent="0" algn="ctr">
              <a:buNone/>
            </a:pPr>
            <a:r>
              <a:rPr lang="en-US" sz="700" b="1" dirty="0">
                <a:solidFill>
                  <a:srgbClr val="0A1628"/>
                </a:solidFill>
                <a:latin typeface="Calibri" pitchFamily="34" charset="0"/>
                <a:ea typeface="Calibri" pitchFamily="34" charset="-122"/>
                <a:cs typeface="Calibri" pitchFamily="34" charset="-120"/>
              </a:rPr>
              <a:t>Sonnet 4.5</a:t>
            </a:r>
            <a:endParaRPr lang="en-US" sz="700" dirty="0"/>
          </a:p>
        </p:txBody>
      </p:sp>
      <p:sp>
        <p:nvSpPr>
          <p:cNvPr id="62" name="Shape 60"/>
          <p:cNvSpPr/>
          <p:nvPr/>
        </p:nvSpPr>
        <p:spPr>
          <a:xfrm>
            <a:off x="2615184" y="1426464"/>
            <a:ext cx="128016" cy="22860"/>
          </a:xfrm>
          <a:prstGeom prst="rect">
            <a:avLst/>
          </a:prstGeom>
          <a:solidFill>
            <a:srgbClr val="F5A623">
              <a:alpha val="50000"/>
            </a:srgbClr>
          </a:solidFill>
          <a:ln w="12700">
            <a:solidFill>
              <a:srgbClr val="F5A623">
                <a:alpha val="0"/>
              </a:srgbClr>
            </a:solidFill>
            <a:prstDash val="solid"/>
          </a:ln>
        </p:spPr>
        <p:txBody>
          <a:bodyPr/>
          <a:lstStyle/>
          <a:p>
            <a:endParaRPr lang="en-US"/>
          </a:p>
        </p:txBody>
      </p:sp>
      <p:sp>
        <p:nvSpPr>
          <p:cNvPr id="63" name="Shape 61"/>
          <p:cNvSpPr/>
          <p:nvPr/>
        </p:nvSpPr>
        <p:spPr>
          <a:xfrm>
            <a:off x="2743200" y="768096"/>
            <a:ext cx="1188720" cy="5669280"/>
          </a:xfrm>
          <a:prstGeom prst="rect">
            <a:avLst/>
          </a:prstGeom>
          <a:solidFill>
            <a:srgbClr val="E1F5EE"/>
          </a:solidFill>
          <a:ln w="1524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64" name="Shape 62"/>
          <p:cNvSpPr/>
          <p:nvPr/>
        </p:nvSpPr>
        <p:spPr>
          <a:xfrm>
            <a:off x="2743200" y="768096"/>
            <a:ext cx="1188720" cy="43891"/>
          </a:xfrm>
          <a:prstGeom prst="rect">
            <a:avLst/>
          </a:prstGeom>
          <a:solidFill>
            <a:srgbClr val="1D9E75"/>
          </a:solidFill>
          <a:ln w="12700">
            <a:solidFill>
              <a:srgbClr val="1D9E75">
                <a:alpha val="0"/>
              </a:srgbClr>
            </a:solidFill>
            <a:prstDash val="solid"/>
          </a:ln>
        </p:spPr>
        <p:txBody>
          <a:bodyPr/>
          <a:lstStyle/>
          <a:p>
            <a:endParaRPr lang="en-US"/>
          </a:p>
        </p:txBody>
      </p:sp>
      <p:sp>
        <p:nvSpPr>
          <p:cNvPr id="65" name="Text 63"/>
          <p:cNvSpPr/>
          <p:nvPr/>
        </p:nvSpPr>
        <p:spPr>
          <a:xfrm>
            <a:off x="2743200" y="818388"/>
            <a:ext cx="1188720" cy="237744"/>
          </a:xfrm>
          <a:prstGeom prst="rect">
            <a:avLst/>
          </a:prstGeom>
          <a:noFill/>
          <a:ln/>
        </p:spPr>
        <p:txBody>
          <a:bodyPr wrap="square" lIns="0" tIns="0" rIns="0" bIns="0" rtlCol="0" anchor="ctr"/>
          <a:lstStyle/>
          <a:p>
            <a:pPr marL="0" indent="0" algn="ctr">
              <a:buNone/>
            </a:pPr>
            <a:r>
              <a:rPr lang="en-US" sz="850" b="1" dirty="0">
                <a:solidFill>
                  <a:srgbClr val="085041"/>
                </a:solidFill>
                <a:latin typeface="Georgia" pitchFamily="34" charset="0"/>
                <a:ea typeface="Georgia" pitchFamily="34" charset="-122"/>
                <a:cs typeface="Georgia" pitchFamily="34" charset="-120"/>
              </a:rPr>
              <a:t>Leader agent</a:t>
            </a:r>
            <a:endParaRPr lang="en-US" sz="850" dirty="0"/>
          </a:p>
        </p:txBody>
      </p:sp>
      <p:sp>
        <p:nvSpPr>
          <p:cNvPr id="66" name="Shape 64"/>
          <p:cNvSpPr/>
          <p:nvPr/>
        </p:nvSpPr>
        <p:spPr>
          <a:xfrm>
            <a:off x="2816352" y="1097280"/>
            <a:ext cx="1042416" cy="274320"/>
          </a:xfrm>
          <a:prstGeom prst="rect">
            <a:avLst/>
          </a:prstGeom>
          <a:solidFill>
            <a:srgbClr val="C7EAD8"/>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67" name="Text 65"/>
          <p:cNvSpPr/>
          <p:nvPr/>
        </p:nvSpPr>
        <p:spPr>
          <a:xfrm>
            <a:off x="2816352" y="1097280"/>
            <a:ext cx="1042416" cy="274320"/>
          </a:xfrm>
          <a:prstGeom prst="rect">
            <a:avLst/>
          </a:prstGeom>
          <a:noFill/>
          <a:ln/>
        </p:spPr>
        <p:txBody>
          <a:bodyPr wrap="square" lIns="0" tIns="0" rIns="0" bIns="0" rtlCol="0" anchor="ctr"/>
          <a:lstStyle/>
          <a:p>
            <a:pPr marL="0" indent="0" algn="ctr">
              <a:buNone/>
            </a:pPr>
            <a:r>
              <a:rPr lang="en-US" sz="800" dirty="0">
                <a:solidFill>
                  <a:srgbClr val="085041"/>
                </a:solidFill>
                <a:latin typeface="Calibri" pitchFamily="34" charset="0"/>
                <a:ea typeface="Calibri" pitchFamily="34" charset="-122"/>
                <a:cs typeface="Calibri" pitchFamily="34" charset="-120"/>
              </a:rPr>
              <a:t>Routes per file</a:t>
            </a:r>
            <a:endParaRPr lang="en-US" sz="800" dirty="0"/>
          </a:p>
        </p:txBody>
      </p:sp>
      <p:sp>
        <p:nvSpPr>
          <p:cNvPr id="68" name="Shape 66"/>
          <p:cNvSpPr/>
          <p:nvPr/>
        </p:nvSpPr>
        <p:spPr>
          <a:xfrm>
            <a:off x="2816352" y="1426464"/>
            <a:ext cx="1042416" cy="274320"/>
          </a:xfrm>
          <a:prstGeom prst="rect">
            <a:avLst/>
          </a:prstGeom>
          <a:solidFill>
            <a:srgbClr val="C7EAD8"/>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69" name="Text 67"/>
          <p:cNvSpPr/>
          <p:nvPr/>
        </p:nvSpPr>
        <p:spPr>
          <a:xfrm>
            <a:off x="2816352" y="1426464"/>
            <a:ext cx="1042416" cy="274320"/>
          </a:xfrm>
          <a:prstGeom prst="rect">
            <a:avLst/>
          </a:prstGeom>
          <a:noFill/>
          <a:ln/>
        </p:spPr>
        <p:txBody>
          <a:bodyPr wrap="square" lIns="0" tIns="0" rIns="0" bIns="0" rtlCol="0" anchor="ctr"/>
          <a:lstStyle/>
          <a:p>
            <a:pPr marL="0" indent="0" algn="ctr">
              <a:buNone/>
            </a:pPr>
            <a:r>
              <a:rPr lang="en-US" sz="800" dirty="0">
                <a:solidFill>
                  <a:srgbClr val="085041"/>
                </a:solidFill>
                <a:latin typeface="Calibri" pitchFamily="34" charset="0"/>
                <a:ea typeface="Calibri" pitchFamily="34" charset="-122"/>
                <a:cs typeface="Calibri" pitchFamily="34" charset="-120"/>
              </a:rPr>
              <a:t>Retry loop (max 2)</a:t>
            </a:r>
            <a:endParaRPr lang="en-US" sz="800" dirty="0"/>
          </a:p>
        </p:txBody>
      </p:sp>
      <p:sp>
        <p:nvSpPr>
          <p:cNvPr id="70" name="Shape 68"/>
          <p:cNvSpPr/>
          <p:nvPr/>
        </p:nvSpPr>
        <p:spPr>
          <a:xfrm>
            <a:off x="2816352" y="1755648"/>
            <a:ext cx="1042416" cy="274320"/>
          </a:xfrm>
          <a:prstGeom prst="rect">
            <a:avLst/>
          </a:prstGeom>
          <a:solidFill>
            <a:srgbClr val="C7EAD8"/>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71" name="Text 69"/>
          <p:cNvSpPr/>
          <p:nvPr/>
        </p:nvSpPr>
        <p:spPr>
          <a:xfrm>
            <a:off x="2816352" y="1755648"/>
            <a:ext cx="1042416" cy="274320"/>
          </a:xfrm>
          <a:prstGeom prst="rect">
            <a:avLst/>
          </a:prstGeom>
          <a:noFill/>
          <a:ln/>
        </p:spPr>
        <p:txBody>
          <a:bodyPr wrap="square" lIns="0" tIns="0" rIns="0" bIns="0" rtlCol="0" anchor="ctr"/>
          <a:lstStyle/>
          <a:p>
            <a:pPr marL="0" indent="0" algn="ctr">
              <a:buNone/>
            </a:pPr>
            <a:r>
              <a:rPr lang="en-US" sz="800" dirty="0">
                <a:solidFill>
                  <a:srgbClr val="085041"/>
                </a:solidFill>
                <a:latin typeface="Calibri" pitchFamily="34" charset="0"/>
                <a:ea typeface="Calibri" pitchFamily="34" charset="-122"/>
                <a:cs typeface="Calibri" pitchFamily="34" charset="-120"/>
              </a:rPr>
              <a:t>Injects feedback</a:t>
            </a:r>
            <a:endParaRPr lang="en-US" sz="800" dirty="0"/>
          </a:p>
        </p:txBody>
      </p:sp>
      <p:sp>
        <p:nvSpPr>
          <p:cNvPr id="72" name="Shape 70"/>
          <p:cNvSpPr/>
          <p:nvPr/>
        </p:nvSpPr>
        <p:spPr>
          <a:xfrm>
            <a:off x="2816352" y="2084832"/>
            <a:ext cx="1042416" cy="274320"/>
          </a:xfrm>
          <a:prstGeom prst="rect">
            <a:avLst/>
          </a:prstGeom>
          <a:solidFill>
            <a:srgbClr val="C7EAD8"/>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73" name="Text 71"/>
          <p:cNvSpPr/>
          <p:nvPr/>
        </p:nvSpPr>
        <p:spPr>
          <a:xfrm>
            <a:off x="2816352" y="2084832"/>
            <a:ext cx="1042416" cy="274320"/>
          </a:xfrm>
          <a:prstGeom prst="rect">
            <a:avLst/>
          </a:prstGeom>
          <a:noFill/>
          <a:ln/>
        </p:spPr>
        <p:txBody>
          <a:bodyPr wrap="square" lIns="0" tIns="0" rIns="0" bIns="0" rtlCol="0" anchor="ctr"/>
          <a:lstStyle/>
          <a:p>
            <a:pPr marL="0" indent="0" algn="ctr">
              <a:buNone/>
            </a:pPr>
            <a:r>
              <a:rPr lang="en-US" sz="800" dirty="0">
                <a:solidFill>
                  <a:srgbClr val="085041"/>
                </a:solidFill>
                <a:latin typeface="Calibri" pitchFamily="34" charset="0"/>
                <a:ea typeface="Calibri" pitchFamily="34" charset="-122"/>
                <a:cs typeface="Calibri" pitchFamily="34" charset="-120"/>
              </a:rPr>
              <a:t>Interprets verdicts</a:t>
            </a:r>
            <a:endParaRPr lang="en-US" sz="800" dirty="0"/>
          </a:p>
        </p:txBody>
      </p:sp>
      <p:sp>
        <p:nvSpPr>
          <p:cNvPr id="74" name="Shape 72"/>
          <p:cNvSpPr/>
          <p:nvPr/>
        </p:nvSpPr>
        <p:spPr>
          <a:xfrm>
            <a:off x="2816352" y="2414016"/>
            <a:ext cx="1042416" cy="274320"/>
          </a:xfrm>
          <a:prstGeom prst="rect">
            <a:avLst/>
          </a:prstGeom>
          <a:solidFill>
            <a:srgbClr val="C7EAD8"/>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75" name="Text 73"/>
          <p:cNvSpPr/>
          <p:nvPr/>
        </p:nvSpPr>
        <p:spPr>
          <a:xfrm>
            <a:off x="2816352" y="2414016"/>
            <a:ext cx="1042416" cy="274320"/>
          </a:xfrm>
          <a:prstGeom prst="rect">
            <a:avLst/>
          </a:prstGeom>
          <a:noFill/>
          <a:ln/>
        </p:spPr>
        <p:txBody>
          <a:bodyPr wrap="square" lIns="0" tIns="0" rIns="0" bIns="0" rtlCol="0" anchor="ctr"/>
          <a:lstStyle/>
          <a:p>
            <a:pPr marL="0" indent="0" algn="ctr">
              <a:buNone/>
            </a:pPr>
            <a:r>
              <a:rPr lang="en-US" sz="800" dirty="0">
                <a:solidFill>
                  <a:srgbClr val="085041"/>
                </a:solidFill>
                <a:latin typeface="Calibri" pitchFamily="34" charset="0"/>
                <a:ea typeface="Calibri" pitchFamily="34" charset="-122"/>
                <a:cs typeface="Calibri" pitchFamily="34" charset="-120"/>
              </a:rPr>
              <a:t>State manager</a:t>
            </a:r>
            <a:endParaRPr lang="en-US" sz="800" dirty="0"/>
          </a:p>
        </p:txBody>
      </p:sp>
      <p:sp>
        <p:nvSpPr>
          <p:cNvPr id="76" name="Shape 74"/>
          <p:cNvSpPr/>
          <p:nvPr/>
        </p:nvSpPr>
        <p:spPr>
          <a:xfrm>
            <a:off x="2816352" y="2743200"/>
            <a:ext cx="1042416" cy="274320"/>
          </a:xfrm>
          <a:prstGeom prst="rect">
            <a:avLst/>
          </a:prstGeom>
          <a:solidFill>
            <a:srgbClr val="C7EAD8"/>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77" name="Text 75"/>
          <p:cNvSpPr/>
          <p:nvPr/>
        </p:nvSpPr>
        <p:spPr>
          <a:xfrm>
            <a:off x="2816352" y="2743200"/>
            <a:ext cx="1042416" cy="274320"/>
          </a:xfrm>
          <a:prstGeom prst="rect">
            <a:avLst/>
          </a:prstGeom>
          <a:noFill/>
          <a:ln/>
        </p:spPr>
        <p:txBody>
          <a:bodyPr wrap="square" lIns="0" tIns="0" rIns="0" bIns="0" rtlCol="0" anchor="ctr"/>
          <a:lstStyle/>
          <a:p>
            <a:pPr marL="0" indent="0" algn="ctr">
              <a:buNone/>
            </a:pPr>
            <a:r>
              <a:rPr lang="en-US" sz="800" dirty="0">
                <a:solidFill>
                  <a:srgbClr val="085041"/>
                </a:solidFill>
                <a:latin typeface="Calibri" pitchFamily="34" charset="0"/>
                <a:ea typeface="Calibri" pitchFamily="34" charset="-122"/>
                <a:cs typeface="Calibri" pitchFamily="34" charset="-120"/>
              </a:rPr>
              <a:t>Manual queue push</a:t>
            </a:r>
            <a:endParaRPr lang="en-US" sz="800" dirty="0"/>
          </a:p>
        </p:txBody>
      </p:sp>
      <p:sp>
        <p:nvSpPr>
          <p:cNvPr id="78" name="Shape 76"/>
          <p:cNvSpPr/>
          <p:nvPr/>
        </p:nvSpPr>
        <p:spPr>
          <a:xfrm>
            <a:off x="2798064" y="3145536"/>
            <a:ext cx="1078992" cy="201168"/>
          </a:xfrm>
          <a:prstGeom prst="rect">
            <a:avLst/>
          </a:prstGeom>
          <a:solidFill>
            <a:srgbClr val="C7EAD8"/>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79" name="Text 77"/>
          <p:cNvSpPr/>
          <p:nvPr/>
        </p:nvSpPr>
        <p:spPr>
          <a:xfrm>
            <a:off x="2798064" y="3145536"/>
            <a:ext cx="1078992" cy="201168"/>
          </a:xfrm>
          <a:prstGeom prst="rect">
            <a:avLst/>
          </a:prstGeom>
          <a:noFill/>
          <a:ln/>
        </p:spPr>
        <p:txBody>
          <a:bodyPr wrap="square" lIns="0" tIns="0" rIns="0" bIns="0" rtlCol="0" anchor="ctr"/>
          <a:lstStyle/>
          <a:p>
            <a:pPr marL="0" indent="0" algn="ctr">
              <a:buNone/>
            </a:pPr>
            <a:r>
              <a:rPr lang="en-US" sz="750" b="1" dirty="0">
                <a:solidFill>
                  <a:srgbClr val="085041"/>
                </a:solidFill>
                <a:latin typeface="Calibri" pitchFamily="34" charset="0"/>
                <a:ea typeface="Calibri" pitchFamily="34" charset="-122"/>
                <a:cs typeface="Calibri" pitchFamily="34" charset="-120"/>
              </a:rPr>
              <a:t>Retry logic</a:t>
            </a:r>
            <a:endParaRPr lang="en-US" sz="750" dirty="0"/>
          </a:p>
        </p:txBody>
      </p:sp>
      <p:sp>
        <p:nvSpPr>
          <p:cNvPr id="80" name="Text 78"/>
          <p:cNvSpPr/>
          <p:nvPr/>
        </p:nvSpPr>
        <p:spPr>
          <a:xfrm>
            <a:off x="2834640" y="3383280"/>
            <a:ext cx="1060704" cy="237744"/>
          </a:xfrm>
          <a:prstGeom prst="rect">
            <a:avLst/>
          </a:prstGeom>
          <a:noFill/>
          <a:ln/>
        </p:spPr>
        <p:txBody>
          <a:bodyPr wrap="square" lIns="0" tIns="0" rIns="0" bIns="0" rtlCol="0" anchor="ctr"/>
          <a:lstStyle/>
          <a:p>
            <a:pPr marL="0" indent="0" algn="l">
              <a:buNone/>
            </a:pPr>
            <a:r>
              <a:rPr lang="en-US" sz="750" dirty="0">
                <a:solidFill>
                  <a:srgbClr val="1D9E75"/>
                </a:solidFill>
                <a:latin typeface="Calibri" pitchFamily="34" charset="0"/>
                <a:ea typeface="Calibri" pitchFamily="34" charset="-122"/>
                <a:cs typeface="Calibri" pitchFamily="34" charset="-120"/>
              </a:rPr>
              <a:t>PASS ≥80 → write file</a:t>
            </a:r>
            <a:endParaRPr lang="en-US" sz="750" dirty="0"/>
          </a:p>
        </p:txBody>
      </p:sp>
      <p:sp>
        <p:nvSpPr>
          <p:cNvPr id="81" name="Text 79"/>
          <p:cNvSpPr/>
          <p:nvPr/>
        </p:nvSpPr>
        <p:spPr>
          <a:xfrm>
            <a:off x="2834640" y="3657600"/>
            <a:ext cx="1060704" cy="237744"/>
          </a:xfrm>
          <a:prstGeom prst="rect">
            <a:avLst/>
          </a:prstGeom>
          <a:noFill/>
          <a:ln/>
        </p:spPr>
        <p:txBody>
          <a:bodyPr wrap="square" lIns="0" tIns="0" rIns="0" bIns="0" rtlCol="0" anchor="ctr"/>
          <a:lstStyle/>
          <a:p>
            <a:pPr marL="0" indent="0" algn="l">
              <a:buNone/>
            </a:pPr>
            <a:r>
              <a:rPr lang="en-US" sz="750" dirty="0">
                <a:solidFill>
                  <a:srgbClr val="F5A623"/>
                </a:solidFill>
                <a:latin typeface="Calibri" pitchFamily="34" charset="0"/>
                <a:ea typeface="Calibri" pitchFamily="34" charset="-122"/>
                <a:cs typeface="Calibri" pitchFamily="34" charset="-120"/>
              </a:rPr>
              <a:t>RETRY 50-79 → re-transform</a:t>
            </a:r>
            <a:endParaRPr lang="en-US" sz="750" dirty="0"/>
          </a:p>
        </p:txBody>
      </p:sp>
      <p:sp>
        <p:nvSpPr>
          <p:cNvPr id="82" name="Text 80"/>
          <p:cNvSpPr/>
          <p:nvPr/>
        </p:nvSpPr>
        <p:spPr>
          <a:xfrm>
            <a:off x="2834640" y="3931920"/>
            <a:ext cx="1060704" cy="237744"/>
          </a:xfrm>
          <a:prstGeom prst="rect">
            <a:avLst/>
          </a:prstGeom>
          <a:noFill/>
          <a:ln/>
        </p:spPr>
        <p:txBody>
          <a:bodyPr wrap="square" lIns="0" tIns="0" rIns="0" bIns="0" rtlCol="0" anchor="ctr"/>
          <a:lstStyle/>
          <a:p>
            <a:pPr marL="0" indent="0" algn="l">
              <a:buNone/>
            </a:pPr>
            <a:r>
              <a:rPr lang="en-US" sz="750" dirty="0">
                <a:solidFill>
                  <a:srgbClr val="F5A623"/>
                </a:solidFill>
                <a:latin typeface="Calibri" pitchFamily="34" charset="0"/>
                <a:ea typeface="Calibri" pitchFamily="34" charset="-122"/>
                <a:cs typeface="Calibri" pitchFamily="34" charset="-120"/>
              </a:rPr>
              <a:t>retry count +1 (max 2)</a:t>
            </a:r>
            <a:endParaRPr lang="en-US" sz="750" dirty="0"/>
          </a:p>
        </p:txBody>
      </p:sp>
      <p:sp>
        <p:nvSpPr>
          <p:cNvPr id="83" name="Text 81"/>
          <p:cNvSpPr/>
          <p:nvPr/>
        </p:nvSpPr>
        <p:spPr>
          <a:xfrm>
            <a:off x="2834640" y="4206240"/>
            <a:ext cx="1060704" cy="237744"/>
          </a:xfrm>
          <a:prstGeom prst="rect">
            <a:avLst/>
          </a:prstGeom>
          <a:noFill/>
          <a:ln/>
        </p:spPr>
        <p:txBody>
          <a:bodyPr wrap="square" lIns="0" tIns="0" rIns="0" bIns="0" rtlCol="0" anchor="ctr"/>
          <a:lstStyle/>
          <a:p>
            <a:pPr marL="0" indent="0" algn="l">
              <a:buNone/>
            </a:pPr>
            <a:r>
              <a:rPr lang="en-US" sz="750" dirty="0">
                <a:solidFill>
                  <a:srgbClr val="E05252"/>
                </a:solidFill>
                <a:latin typeface="Calibri" pitchFamily="34" charset="0"/>
                <a:ea typeface="Calibri" pitchFamily="34" charset="-122"/>
                <a:cs typeface="Calibri" pitchFamily="34" charset="-120"/>
              </a:rPr>
              <a:t>MANUAL &lt;50 → queue</a:t>
            </a:r>
            <a:endParaRPr lang="en-US" sz="750" dirty="0"/>
          </a:p>
        </p:txBody>
      </p:sp>
      <p:sp>
        <p:nvSpPr>
          <p:cNvPr id="84" name="Shape 82"/>
          <p:cNvSpPr/>
          <p:nvPr/>
        </p:nvSpPr>
        <p:spPr>
          <a:xfrm>
            <a:off x="2798064" y="4535424"/>
            <a:ext cx="1078992" cy="201168"/>
          </a:xfrm>
          <a:prstGeom prst="rect">
            <a:avLst/>
          </a:prstGeom>
          <a:solidFill>
            <a:srgbClr val="C7EAD8"/>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85" name="Text 83"/>
          <p:cNvSpPr/>
          <p:nvPr/>
        </p:nvSpPr>
        <p:spPr>
          <a:xfrm>
            <a:off x="2798064" y="4535424"/>
            <a:ext cx="1078992" cy="201168"/>
          </a:xfrm>
          <a:prstGeom prst="rect">
            <a:avLst/>
          </a:prstGeom>
          <a:noFill/>
          <a:ln/>
        </p:spPr>
        <p:txBody>
          <a:bodyPr wrap="square" lIns="0" tIns="0" rIns="0" bIns="0" rtlCol="0" anchor="ctr"/>
          <a:lstStyle/>
          <a:p>
            <a:pPr marL="0" indent="0" algn="ctr">
              <a:buNone/>
            </a:pPr>
            <a:r>
              <a:rPr lang="en-US" sz="750" b="1" dirty="0">
                <a:solidFill>
                  <a:srgbClr val="085041"/>
                </a:solidFill>
                <a:latin typeface="Calibri" pitchFamily="34" charset="0"/>
                <a:ea typeface="Calibri" pitchFamily="34" charset="-122"/>
                <a:cs typeface="Calibri" pitchFamily="34" charset="-120"/>
              </a:rPr>
              <a:t>Orchestrates</a:t>
            </a:r>
            <a:endParaRPr lang="en-US" sz="750" dirty="0"/>
          </a:p>
        </p:txBody>
      </p:sp>
      <p:sp>
        <p:nvSpPr>
          <p:cNvPr id="86" name="Text 84"/>
          <p:cNvSpPr/>
          <p:nvPr/>
        </p:nvSpPr>
        <p:spPr>
          <a:xfrm>
            <a:off x="2834640" y="4773168"/>
            <a:ext cx="1060704" cy="237744"/>
          </a:xfrm>
          <a:prstGeom prst="rect">
            <a:avLst/>
          </a:prstGeom>
          <a:noFill/>
          <a:ln/>
        </p:spPr>
        <p:txBody>
          <a:bodyPr wrap="square" lIns="0" tIns="0" rIns="0" bIns="0" rtlCol="0" anchor="ctr"/>
          <a:lstStyle/>
          <a:p>
            <a:pPr marL="0" indent="0" algn="l">
              <a:buNone/>
            </a:pPr>
            <a:r>
              <a:rPr lang="en-US" sz="750" dirty="0">
                <a:solidFill>
                  <a:srgbClr val="085041"/>
                </a:solidFill>
                <a:latin typeface="Calibri" pitchFamily="34" charset="0"/>
                <a:ea typeface="Calibri" pitchFamily="34" charset="-122"/>
                <a:cs typeface="Calibri" pitchFamily="34" charset="-120"/>
              </a:rPr>
              <a:t>Transform → Review</a:t>
            </a:r>
            <a:endParaRPr lang="en-US" sz="750" dirty="0"/>
          </a:p>
        </p:txBody>
      </p:sp>
      <p:sp>
        <p:nvSpPr>
          <p:cNvPr id="87" name="Text 85"/>
          <p:cNvSpPr/>
          <p:nvPr/>
        </p:nvSpPr>
        <p:spPr>
          <a:xfrm>
            <a:off x="2834640" y="5047488"/>
            <a:ext cx="1060704" cy="237744"/>
          </a:xfrm>
          <a:prstGeom prst="rect">
            <a:avLst/>
          </a:prstGeom>
          <a:noFill/>
          <a:ln/>
        </p:spPr>
        <p:txBody>
          <a:bodyPr wrap="square" lIns="0" tIns="0" rIns="0" bIns="0" rtlCol="0" anchor="ctr"/>
          <a:lstStyle/>
          <a:p>
            <a:pPr marL="0" indent="0" algn="l">
              <a:buNone/>
            </a:pPr>
            <a:r>
              <a:rPr lang="en-US" sz="750" dirty="0">
                <a:solidFill>
                  <a:srgbClr val="085041"/>
                </a:solidFill>
                <a:latin typeface="Calibri" pitchFamily="34" charset="0"/>
                <a:ea typeface="Calibri" pitchFamily="34" charset="-122"/>
                <a:cs typeface="Calibri" pitchFamily="34" charset="-120"/>
              </a:rPr>
              <a:t>Review → Guardrails</a:t>
            </a:r>
            <a:endParaRPr lang="en-US" sz="750" dirty="0"/>
          </a:p>
        </p:txBody>
      </p:sp>
      <p:sp>
        <p:nvSpPr>
          <p:cNvPr id="88" name="Text 86"/>
          <p:cNvSpPr/>
          <p:nvPr/>
        </p:nvSpPr>
        <p:spPr>
          <a:xfrm>
            <a:off x="2834640" y="5321808"/>
            <a:ext cx="1060704" cy="237744"/>
          </a:xfrm>
          <a:prstGeom prst="rect">
            <a:avLst/>
          </a:prstGeom>
          <a:noFill/>
          <a:ln/>
        </p:spPr>
        <p:txBody>
          <a:bodyPr wrap="square" lIns="0" tIns="0" rIns="0" bIns="0" rtlCol="0" anchor="ctr"/>
          <a:lstStyle/>
          <a:p>
            <a:pPr marL="0" indent="0" algn="l">
              <a:buNone/>
            </a:pPr>
            <a:r>
              <a:rPr lang="en-US" sz="750" dirty="0">
                <a:solidFill>
                  <a:srgbClr val="085041"/>
                </a:solidFill>
                <a:latin typeface="Calibri" pitchFamily="34" charset="0"/>
                <a:ea typeface="Calibri" pitchFamily="34" charset="-122"/>
                <a:cs typeface="Calibri" pitchFamily="34" charset="-120"/>
              </a:rPr>
              <a:t>Guardrails → Output</a:t>
            </a:r>
            <a:endParaRPr lang="en-US" sz="750" dirty="0"/>
          </a:p>
        </p:txBody>
      </p:sp>
      <p:sp>
        <p:nvSpPr>
          <p:cNvPr id="89" name="Text 87"/>
          <p:cNvSpPr/>
          <p:nvPr/>
        </p:nvSpPr>
        <p:spPr>
          <a:xfrm>
            <a:off x="2834640" y="5596128"/>
            <a:ext cx="1060704" cy="237744"/>
          </a:xfrm>
          <a:prstGeom prst="rect">
            <a:avLst/>
          </a:prstGeom>
          <a:noFill/>
          <a:ln/>
        </p:spPr>
        <p:txBody>
          <a:bodyPr wrap="square" lIns="0" tIns="0" rIns="0" bIns="0" rtlCol="0" anchor="ctr"/>
          <a:lstStyle/>
          <a:p>
            <a:pPr marL="0" indent="0" algn="l">
              <a:buNone/>
            </a:pPr>
            <a:r>
              <a:rPr lang="en-US" sz="750" dirty="0">
                <a:solidFill>
                  <a:srgbClr val="085041"/>
                </a:solidFill>
                <a:latin typeface="Calibri" pitchFamily="34" charset="0"/>
                <a:ea typeface="Calibri" pitchFamily="34" charset="-122"/>
                <a:cs typeface="Calibri" pitchFamily="34" charset="-120"/>
              </a:rPr>
              <a:t>→ Manual queue</a:t>
            </a:r>
            <a:endParaRPr lang="en-US" sz="750" dirty="0"/>
          </a:p>
        </p:txBody>
      </p:sp>
      <p:sp>
        <p:nvSpPr>
          <p:cNvPr id="90" name="Shape 88"/>
          <p:cNvSpPr/>
          <p:nvPr/>
        </p:nvSpPr>
        <p:spPr>
          <a:xfrm>
            <a:off x="2743200" y="6345936"/>
            <a:ext cx="1188720" cy="91440"/>
          </a:xfrm>
          <a:prstGeom prst="rect">
            <a:avLst/>
          </a:prstGeom>
          <a:solidFill>
            <a:srgbClr val="1D9E75"/>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91" name="Text 89"/>
          <p:cNvSpPr/>
          <p:nvPr/>
        </p:nvSpPr>
        <p:spPr>
          <a:xfrm>
            <a:off x="2743200" y="6345936"/>
            <a:ext cx="1188720" cy="9144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Sonnet 4.5</a:t>
            </a:r>
            <a:endParaRPr lang="en-US" sz="700" dirty="0"/>
          </a:p>
        </p:txBody>
      </p:sp>
      <p:sp>
        <p:nvSpPr>
          <p:cNvPr id="92" name="Shape 90"/>
          <p:cNvSpPr/>
          <p:nvPr/>
        </p:nvSpPr>
        <p:spPr>
          <a:xfrm>
            <a:off x="3931920" y="1426464"/>
            <a:ext cx="128016" cy="22860"/>
          </a:xfrm>
          <a:prstGeom prst="rect">
            <a:avLst/>
          </a:prstGeom>
          <a:solidFill>
            <a:srgbClr val="F5A623">
              <a:alpha val="50000"/>
            </a:srgbClr>
          </a:solidFill>
          <a:ln w="12700">
            <a:solidFill>
              <a:srgbClr val="F5A623">
                <a:alpha val="0"/>
              </a:srgbClr>
            </a:solidFill>
            <a:prstDash val="solid"/>
          </a:ln>
        </p:spPr>
        <p:txBody>
          <a:bodyPr/>
          <a:lstStyle/>
          <a:p>
            <a:endParaRPr lang="en-US"/>
          </a:p>
        </p:txBody>
      </p:sp>
      <p:sp>
        <p:nvSpPr>
          <p:cNvPr id="93" name="Shape 91"/>
          <p:cNvSpPr/>
          <p:nvPr/>
        </p:nvSpPr>
        <p:spPr>
          <a:xfrm>
            <a:off x="4059936" y="768096"/>
            <a:ext cx="1481328" cy="5669280"/>
          </a:xfrm>
          <a:prstGeom prst="rect">
            <a:avLst/>
          </a:prstGeom>
          <a:solidFill>
            <a:srgbClr val="E6F1FB"/>
          </a:solidFill>
          <a:ln w="15240">
            <a:solidFill>
              <a:srgbClr val="3B82C4"/>
            </a:solidFill>
            <a:prstDash val="solid"/>
          </a:ln>
          <a:effectLst>
            <a:outerShdw blurRad="76200" dist="25400" dir="8100000" algn="bl" rotWithShape="0">
              <a:srgbClr val="000000">
                <a:alpha val="10000"/>
              </a:srgbClr>
            </a:outerShdw>
          </a:effectLst>
        </p:spPr>
        <p:txBody>
          <a:bodyPr/>
          <a:lstStyle/>
          <a:p>
            <a:endParaRPr lang="en-US"/>
          </a:p>
        </p:txBody>
      </p:sp>
      <p:sp>
        <p:nvSpPr>
          <p:cNvPr id="94" name="Shape 92"/>
          <p:cNvSpPr/>
          <p:nvPr/>
        </p:nvSpPr>
        <p:spPr>
          <a:xfrm>
            <a:off x="4059936" y="768096"/>
            <a:ext cx="1481328" cy="43891"/>
          </a:xfrm>
          <a:prstGeom prst="rect">
            <a:avLst/>
          </a:prstGeom>
          <a:solidFill>
            <a:srgbClr val="3B82C4"/>
          </a:solidFill>
          <a:ln w="12700">
            <a:solidFill>
              <a:srgbClr val="3B82C4">
                <a:alpha val="0"/>
              </a:srgbClr>
            </a:solidFill>
            <a:prstDash val="solid"/>
          </a:ln>
        </p:spPr>
        <p:txBody>
          <a:bodyPr/>
          <a:lstStyle/>
          <a:p>
            <a:endParaRPr lang="en-US"/>
          </a:p>
        </p:txBody>
      </p:sp>
      <p:sp>
        <p:nvSpPr>
          <p:cNvPr id="95" name="Text 93"/>
          <p:cNvSpPr/>
          <p:nvPr/>
        </p:nvSpPr>
        <p:spPr>
          <a:xfrm>
            <a:off x="4059936" y="818388"/>
            <a:ext cx="1481328" cy="237744"/>
          </a:xfrm>
          <a:prstGeom prst="rect">
            <a:avLst/>
          </a:prstGeom>
          <a:noFill/>
          <a:ln/>
        </p:spPr>
        <p:txBody>
          <a:bodyPr wrap="square" lIns="0" tIns="0" rIns="0" bIns="0" rtlCol="0" anchor="ctr"/>
          <a:lstStyle/>
          <a:p>
            <a:pPr marL="0" indent="0" algn="ctr">
              <a:buNone/>
            </a:pPr>
            <a:r>
              <a:rPr lang="en-US" sz="850" b="1" dirty="0">
                <a:solidFill>
                  <a:srgbClr val="042C53"/>
                </a:solidFill>
                <a:latin typeface="Georgia" pitchFamily="34" charset="0"/>
                <a:ea typeface="Georgia" pitchFamily="34" charset="-122"/>
                <a:cs typeface="Georgia" pitchFamily="34" charset="-120"/>
              </a:rPr>
              <a:t>Transform agents × 7</a:t>
            </a:r>
            <a:endParaRPr lang="en-US" sz="850" dirty="0"/>
          </a:p>
        </p:txBody>
      </p:sp>
      <p:sp>
        <p:nvSpPr>
          <p:cNvPr id="96" name="Shape 94"/>
          <p:cNvSpPr/>
          <p:nvPr/>
        </p:nvSpPr>
        <p:spPr>
          <a:xfrm>
            <a:off x="4142232" y="1088136"/>
            <a:ext cx="1316736" cy="475488"/>
          </a:xfrm>
          <a:prstGeom prst="rect">
            <a:avLst/>
          </a:prstGeom>
          <a:solidFill>
            <a:srgbClr val="185FA5"/>
          </a:solidFill>
          <a:ln w="6350">
            <a:solidFill>
              <a:srgbClr val="85B7EB"/>
            </a:solidFill>
            <a:prstDash val="solid"/>
          </a:ln>
          <a:effectLst>
            <a:outerShdw blurRad="76200" dist="25400" dir="8100000" algn="bl" rotWithShape="0">
              <a:srgbClr val="000000">
                <a:alpha val="10000"/>
              </a:srgbClr>
            </a:outerShdw>
          </a:effectLst>
        </p:spPr>
        <p:txBody>
          <a:bodyPr/>
          <a:lstStyle/>
          <a:p>
            <a:endParaRPr lang="en-US"/>
          </a:p>
        </p:txBody>
      </p:sp>
      <p:sp>
        <p:nvSpPr>
          <p:cNvPr id="97" name="Text 95"/>
          <p:cNvSpPr/>
          <p:nvPr/>
        </p:nvSpPr>
        <p:spPr>
          <a:xfrm>
            <a:off x="4142232" y="1088136"/>
            <a:ext cx="1316736" cy="475488"/>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Discovery</a:t>
            </a:r>
            <a:endParaRPr lang="en-US" sz="850" dirty="0"/>
          </a:p>
        </p:txBody>
      </p:sp>
      <p:sp>
        <p:nvSpPr>
          <p:cNvPr id="98" name="Shape 96"/>
          <p:cNvSpPr/>
          <p:nvPr/>
        </p:nvSpPr>
        <p:spPr>
          <a:xfrm>
            <a:off x="4142232" y="1636776"/>
            <a:ext cx="1316736" cy="475488"/>
          </a:xfrm>
          <a:prstGeom prst="rect">
            <a:avLst/>
          </a:prstGeom>
          <a:solidFill>
            <a:srgbClr val="185FA5"/>
          </a:solidFill>
          <a:ln w="6350">
            <a:solidFill>
              <a:srgbClr val="85B7EB"/>
            </a:solidFill>
            <a:prstDash val="solid"/>
          </a:ln>
          <a:effectLst>
            <a:outerShdw blurRad="76200" dist="25400" dir="8100000" algn="bl" rotWithShape="0">
              <a:srgbClr val="000000">
                <a:alpha val="10000"/>
              </a:srgbClr>
            </a:outerShdw>
          </a:effectLst>
        </p:spPr>
        <p:txBody>
          <a:bodyPr/>
          <a:lstStyle/>
          <a:p>
            <a:endParaRPr lang="en-US"/>
          </a:p>
        </p:txBody>
      </p:sp>
      <p:sp>
        <p:nvSpPr>
          <p:cNvPr id="99" name="Text 97"/>
          <p:cNvSpPr/>
          <p:nvPr/>
        </p:nvSpPr>
        <p:spPr>
          <a:xfrm>
            <a:off x="4142232" y="1636776"/>
            <a:ext cx="1316736" cy="475488"/>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Risk scorer</a:t>
            </a:r>
            <a:endParaRPr lang="en-US" sz="850" dirty="0"/>
          </a:p>
        </p:txBody>
      </p:sp>
      <p:sp>
        <p:nvSpPr>
          <p:cNvPr id="100" name="Shape 98"/>
          <p:cNvSpPr/>
          <p:nvPr/>
        </p:nvSpPr>
        <p:spPr>
          <a:xfrm>
            <a:off x="4142232" y="2185416"/>
            <a:ext cx="1316736" cy="475488"/>
          </a:xfrm>
          <a:prstGeom prst="rect">
            <a:avLst/>
          </a:prstGeom>
          <a:solidFill>
            <a:srgbClr val="0C447C"/>
          </a:solidFill>
          <a:ln w="6350">
            <a:solidFill>
              <a:srgbClr val="85B7EB"/>
            </a:solidFill>
            <a:prstDash val="solid"/>
          </a:ln>
          <a:effectLst>
            <a:outerShdw blurRad="76200" dist="25400" dir="8100000" algn="bl" rotWithShape="0">
              <a:srgbClr val="000000">
                <a:alpha val="10000"/>
              </a:srgbClr>
            </a:outerShdw>
          </a:effectLst>
        </p:spPr>
        <p:txBody>
          <a:bodyPr/>
          <a:lstStyle/>
          <a:p>
            <a:endParaRPr lang="en-US"/>
          </a:p>
        </p:txBody>
      </p:sp>
      <p:sp>
        <p:nvSpPr>
          <p:cNvPr id="101" name="Text 99"/>
          <p:cNvSpPr/>
          <p:nvPr/>
        </p:nvSpPr>
        <p:spPr>
          <a:xfrm>
            <a:off x="4142232" y="2185416"/>
            <a:ext cx="1316736" cy="475488"/>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Java X→Y</a:t>
            </a:r>
            <a:endParaRPr lang="en-US" sz="850" dirty="0"/>
          </a:p>
        </p:txBody>
      </p:sp>
      <p:sp>
        <p:nvSpPr>
          <p:cNvPr id="102" name="Shape 100"/>
          <p:cNvSpPr/>
          <p:nvPr/>
        </p:nvSpPr>
        <p:spPr>
          <a:xfrm>
            <a:off x="4142232" y="2734056"/>
            <a:ext cx="1316736" cy="475488"/>
          </a:xfrm>
          <a:prstGeom prst="rect">
            <a:avLst/>
          </a:prstGeom>
          <a:solidFill>
            <a:srgbClr val="0C447C"/>
          </a:solidFill>
          <a:ln w="6350">
            <a:solidFill>
              <a:srgbClr val="85B7EB"/>
            </a:solidFill>
            <a:prstDash val="solid"/>
          </a:ln>
          <a:effectLst>
            <a:outerShdw blurRad="76200" dist="25400" dir="8100000" algn="bl" rotWithShape="0">
              <a:srgbClr val="000000">
                <a:alpha val="10000"/>
              </a:srgbClr>
            </a:outerShdw>
          </a:effectLst>
        </p:spPr>
        <p:txBody>
          <a:bodyPr/>
          <a:lstStyle/>
          <a:p>
            <a:endParaRPr lang="en-US"/>
          </a:p>
        </p:txBody>
      </p:sp>
      <p:sp>
        <p:nvSpPr>
          <p:cNvPr id="103" name="Text 101"/>
          <p:cNvSpPr/>
          <p:nvPr/>
        </p:nvSpPr>
        <p:spPr>
          <a:xfrm>
            <a:off x="4142232" y="2734056"/>
            <a:ext cx="1316736" cy="475488"/>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Spring X→Y</a:t>
            </a:r>
            <a:endParaRPr lang="en-US" sz="850" dirty="0"/>
          </a:p>
        </p:txBody>
      </p:sp>
      <p:sp>
        <p:nvSpPr>
          <p:cNvPr id="104" name="Shape 102"/>
          <p:cNvSpPr/>
          <p:nvPr/>
        </p:nvSpPr>
        <p:spPr>
          <a:xfrm>
            <a:off x="4142232" y="3282696"/>
            <a:ext cx="1316736" cy="475488"/>
          </a:xfrm>
          <a:prstGeom prst="rect">
            <a:avLst/>
          </a:prstGeom>
          <a:solidFill>
            <a:srgbClr val="0C447C"/>
          </a:solidFill>
          <a:ln w="6350">
            <a:solidFill>
              <a:srgbClr val="85B7EB"/>
            </a:solidFill>
            <a:prstDash val="solid"/>
          </a:ln>
          <a:effectLst>
            <a:outerShdw blurRad="76200" dist="25400" dir="8100000" algn="bl" rotWithShape="0">
              <a:srgbClr val="000000">
                <a:alpha val="10000"/>
              </a:srgbClr>
            </a:outerShdw>
          </a:effectLst>
        </p:spPr>
        <p:txBody>
          <a:bodyPr/>
          <a:lstStyle/>
          <a:p>
            <a:endParaRPr lang="en-US"/>
          </a:p>
        </p:txBody>
      </p:sp>
      <p:sp>
        <p:nvSpPr>
          <p:cNvPr id="105" name="Text 103"/>
          <p:cNvSpPr/>
          <p:nvPr/>
        </p:nvSpPr>
        <p:spPr>
          <a:xfrm>
            <a:off x="4142232" y="3282696"/>
            <a:ext cx="1316736" cy="475488"/>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Struts2 → MVC</a:t>
            </a:r>
            <a:endParaRPr lang="en-US" sz="850" dirty="0"/>
          </a:p>
        </p:txBody>
      </p:sp>
      <p:sp>
        <p:nvSpPr>
          <p:cNvPr id="106" name="Shape 104"/>
          <p:cNvSpPr/>
          <p:nvPr/>
        </p:nvSpPr>
        <p:spPr>
          <a:xfrm>
            <a:off x="4142232" y="3831336"/>
            <a:ext cx="1316736" cy="475488"/>
          </a:xfrm>
          <a:prstGeom prst="rect">
            <a:avLst/>
          </a:prstGeom>
          <a:solidFill>
            <a:srgbClr val="185FA5"/>
          </a:solidFill>
          <a:ln w="6350">
            <a:solidFill>
              <a:srgbClr val="85B7EB"/>
            </a:solidFill>
            <a:prstDash val="solid"/>
          </a:ln>
          <a:effectLst>
            <a:outerShdw blurRad="76200" dist="25400" dir="8100000" algn="bl" rotWithShape="0">
              <a:srgbClr val="000000">
                <a:alpha val="10000"/>
              </a:srgbClr>
            </a:outerShdw>
          </a:effectLst>
        </p:spPr>
        <p:txBody>
          <a:bodyPr/>
          <a:lstStyle/>
          <a:p>
            <a:endParaRPr lang="en-US"/>
          </a:p>
        </p:txBody>
      </p:sp>
      <p:sp>
        <p:nvSpPr>
          <p:cNvPr id="107" name="Text 105"/>
          <p:cNvSpPr/>
          <p:nvPr/>
        </p:nvSpPr>
        <p:spPr>
          <a:xfrm>
            <a:off x="4142232" y="3831336"/>
            <a:ext cx="1316736" cy="475488"/>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Containerize</a:t>
            </a:r>
            <a:endParaRPr lang="en-US" sz="850" dirty="0"/>
          </a:p>
        </p:txBody>
      </p:sp>
      <p:sp>
        <p:nvSpPr>
          <p:cNvPr id="108" name="Shape 106"/>
          <p:cNvSpPr/>
          <p:nvPr/>
        </p:nvSpPr>
        <p:spPr>
          <a:xfrm>
            <a:off x="4142232" y="4379976"/>
            <a:ext cx="1316736" cy="475488"/>
          </a:xfrm>
          <a:prstGeom prst="rect">
            <a:avLst/>
          </a:prstGeom>
          <a:solidFill>
            <a:srgbClr val="185FA5"/>
          </a:solidFill>
          <a:ln w="6350">
            <a:solidFill>
              <a:srgbClr val="85B7EB"/>
            </a:solidFill>
            <a:prstDash val="solid"/>
          </a:ln>
          <a:effectLst>
            <a:outerShdw blurRad="76200" dist="25400" dir="8100000" algn="bl" rotWithShape="0">
              <a:srgbClr val="000000">
                <a:alpha val="10000"/>
              </a:srgbClr>
            </a:outerShdw>
          </a:effectLst>
        </p:spPr>
        <p:txBody>
          <a:bodyPr/>
          <a:lstStyle/>
          <a:p>
            <a:endParaRPr lang="en-US"/>
          </a:p>
        </p:txBody>
      </p:sp>
      <p:sp>
        <p:nvSpPr>
          <p:cNvPr id="109" name="Text 107"/>
          <p:cNvSpPr/>
          <p:nvPr/>
        </p:nvSpPr>
        <p:spPr>
          <a:xfrm>
            <a:off x="4142232" y="4379976"/>
            <a:ext cx="1316736" cy="475488"/>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Test gen</a:t>
            </a:r>
            <a:endParaRPr lang="en-US" sz="850" dirty="0"/>
          </a:p>
        </p:txBody>
      </p:sp>
      <p:sp>
        <p:nvSpPr>
          <p:cNvPr id="110" name="Shape 108"/>
          <p:cNvSpPr/>
          <p:nvPr/>
        </p:nvSpPr>
        <p:spPr>
          <a:xfrm>
            <a:off x="4059936" y="4974336"/>
            <a:ext cx="1481328" cy="201168"/>
          </a:xfrm>
          <a:prstGeom prst="rect">
            <a:avLst/>
          </a:prstGeom>
          <a:solidFill>
            <a:srgbClr val="185FA5"/>
          </a:solidFill>
          <a:ln w="6350">
            <a:solidFill>
              <a:srgbClr val="3B82C4"/>
            </a:solidFill>
            <a:prstDash val="solid"/>
          </a:ln>
          <a:effectLst>
            <a:outerShdw blurRad="76200" dist="25400" dir="8100000" algn="bl" rotWithShape="0">
              <a:srgbClr val="000000">
                <a:alpha val="10000"/>
              </a:srgbClr>
            </a:outerShdw>
          </a:effectLst>
        </p:spPr>
        <p:txBody>
          <a:bodyPr/>
          <a:lstStyle/>
          <a:p>
            <a:endParaRPr lang="en-US"/>
          </a:p>
        </p:txBody>
      </p:sp>
      <p:sp>
        <p:nvSpPr>
          <p:cNvPr id="111" name="Text 109"/>
          <p:cNvSpPr/>
          <p:nvPr/>
        </p:nvSpPr>
        <p:spPr>
          <a:xfrm>
            <a:off x="4059936" y="4974336"/>
            <a:ext cx="1481328" cy="201168"/>
          </a:xfrm>
          <a:prstGeom prst="rect">
            <a:avLst/>
          </a:prstGeom>
          <a:noFill/>
          <a:ln/>
        </p:spPr>
        <p:txBody>
          <a:bodyPr wrap="square" lIns="0" tIns="0" rIns="0" bIns="0" rtlCol="0" anchor="ctr"/>
          <a:lstStyle/>
          <a:p>
            <a:pPr marL="0" indent="0" algn="ctr">
              <a:buNone/>
            </a:pPr>
            <a:r>
              <a:rPr lang="en-US" sz="750" b="1" dirty="0">
                <a:solidFill>
                  <a:srgbClr val="E8EDF4"/>
                </a:solidFill>
                <a:latin typeface="Calibri" pitchFamily="34" charset="0"/>
                <a:ea typeface="Calibri" pitchFamily="34" charset="-122"/>
                <a:cs typeface="Calibri" pitchFamily="34" charset="-120"/>
              </a:rPr>
              <a:t>@tool functions per agent</a:t>
            </a:r>
            <a:endParaRPr lang="en-US" sz="750" dirty="0"/>
          </a:p>
        </p:txBody>
      </p:sp>
      <p:sp>
        <p:nvSpPr>
          <p:cNvPr id="112" name="Shape 110"/>
          <p:cNvSpPr/>
          <p:nvPr/>
        </p:nvSpPr>
        <p:spPr>
          <a:xfrm>
            <a:off x="4133088" y="5212080"/>
            <a:ext cx="1335024" cy="182880"/>
          </a:xfrm>
          <a:prstGeom prst="rect">
            <a:avLst/>
          </a:prstGeom>
          <a:solidFill>
            <a:srgbClr val="E6F1FB"/>
          </a:solidFill>
          <a:ln w="5080">
            <a:solidFill>
              <a:srgbClr val="3B82C4"/>
            </a:solidFill>
            <a:prstDash val="solid"/>
          </a:ln>
          <a:effectLst>
            <a:outerShdw blurRad="76200" dist="25400" dir="8100000" algn="bl" rotWithShape="0">
              <a:srgbClr val="000000">
                <a:alpha val="10000"/>
              </a:srgbClr>
            </a:outerShdw>
          </a:effectLst>
        </p:spPr>
        <p:txBody>
          <a:bodyPr/>
          <a:lstStyle/>
          <a:p>
            <a:endParaRPr lang="en-US"/>
          </a:p>
        </p:txBody>
      </p:sp>
      <p:sp>
        <p:nvSpPr>
          <p:cNvPr id="113" name="Text 111"/>
          <p:cNvSpPr/>
          <p:nvPr/>
        </p:nvSpPr>
        <p:spPr>
          <a:xfrm>
            <a:off x="4133088" y="5212080"/>
            <a:ext cx="1335024" cy="182880"/>
          </a:xfrm>
          <a:prstGeom prst="rect">
            <a:avLst/>
          </a:prstGeom>
          <a:noFill/>
          <a:ln/>
        </p:spPr>
        <p:txBody>
          <a:bodyPr wrap="square" lIns="0" tIns="0" rIns="0" bIns="0" rtlCol="0" anchor="ctr"/>
          <a:lstStyle/>
          <a:p>
            <a:pPr marL="0" indent="0" algn="ctr">
              <a:buNone/>
            </a:pPr>
            <a:r>
              <a:rPr lang="en-US" sz="700" dirty="0">
                <a:solidFill>
                  <a:srgbClr val="042C53"/>
                </a:solidFill>
                <a:latin typeface="Calibri" pitchFamily="34" charset="0"/>
                <a:ea typeface="Calibri" pitchFamily="34" charset="-122"/>
                <a:cs typeface="Calibri" pitchFamily="34" charset="-120"/>
              </a:rPr>
              <a:t>detect_patterns()</a:t>
            </a:r>
            <a:endParaRPr lang="en-US" sz="700" dirty="0"/>
          </a:p>
        </p:txBody>
      </p:sp>
      <p:sp>
        <p:nvSpPr>
          <p:cNvPr id="114" name="Shape 112"/>
          <p:cNvSpPr/>
          <p:nvPr/>
        </p:nvSpPr>
        <p:spPr>
          <a:xfrm>
            <a:off x="4133088" y="5431536"/>
            <a:ext cx="1335024" cy="182880"/>
          </a:xfrm>
          <a:prstGeom prst="rect">
            <a:avLst/>
          </a:prstGeom>
          <a:solidFill>
            <a:srgbClr val="E6F1FB"/>
          </a:solidFill>
          <a:ln w="5080">
            <a:solidFill>
              <a:srgbClr val="3B82C4"/>
            </a:solidFill>
            <a:prstDash val="solid"/>
          </a:ln>
          <a:effectLst>
            <a:outerShdw blurRad="76200" dist="25400" dir="8100000" algn="bl" rotWithShape="0">
              <a:srgbClr val="000000">
                <a:alpha val="10000"/>
              </a:srgbClr>
            </a:outerShdw>
          </a:effectLst>
        </p:spPr>
        <p:txBody>
          <a:bodyPr/>
          <a:lstStyle/>
          <a:p>
            <a:endParaRPr lang="en-US"/>
          </a:p>
        </p:txBody>
      </p:sp>
      <p:sp>
        <p:nvSpPr>
          <p:cNvPr id="115" name="Text 113"/>
          <p:cNvSpPr/>
          <p:nvPr/>
        </p:nvSpPr>
        <p:spPr>
          <a:xfrm>
            <a:off x="4133088" y="5431536"/>
            <a:ext cx="1335024" cy="182880"/>
          </a:xfrm>
          <a:prstGeom prst="rect">
            <a:avLst/>
          </a:prstGeom>
          <a:noFill/>
          <a:ln/>
        </p:spPr>
        <p:txBody>
          <a:bodyPr wrap="square" lIns="0" tIns="0" rIns="0" bIns="0" rtlCol="0" anchor="ctr"/>
          <a:lstStyle/>
          <a:p>
            <a:pPr marL="0" indent="0" algn="ctr">
              <a:buNone/>
            </a:pPr>
            <a:r>
              <a:rPr lang="en-US" sz="700" dirty="0">
                <a:solidFill>
                  <a:srgbClr val="042C53"/>
                </a:solidFill>
                <a:latin typeface="Calibri" pitchFamily="34" charset="0"/>
                <a:ea typeface="Calibri" pitchFamily="34" charset="-122"/>
                <a:cs typeface="Calibri" pitchFamily="34" charset="-120"/>
              </a:rPr>
              <a:t>parse_struts_xml()</a:t>
            </a:r>
            <a:endParaRPr lang="en-US" sz="700" dirty="0"/>
          </a:p>
        </p:txBody>
      </p:sp>
      <p:sp>
        <p:nvSpPr>
          <p:cNvPr id="116" name="Shape 114"/>
          <p:cNvSpPr/>
          <p:nvPr/>
        </p:nvSpPr>
        <p:spPr>
          <a:xfrm>
            <a:off x="4133088" y="5650992"/>
            <a:ext cx="1335024" cy="182880"/>
          </a:xfrm>
          <a:prstGeom prst="rect">
            <a:avLst/>
          </a:prstGeom>
          <a:solidFill>
            <a:srgbClr val="E6F1FB"/>
          </a:solidFill>
          <a:ln w="5080">
            <a:solidFill>
              <a:srgbClr val="3B82C4"/>
            </a:solidFill>
            <a:prstDash val="solid"/>
          </a:ln>
          <a:effectLst>
            <a:outerShdw blurRad="76200" dist="25400" dir="8100000" algn="bl" rotWithShape="0">
              <a:srgbClr val="000000">
                <a:alpha val="10000"/>
              </a:srgbClr>
            </a:outerShdw>
          </a:effectLst>
        </p:spPr>
        <p:txBody>
          <a:bodyPr/>
          <a:lstStyle/>
          <a:p>
            <a:endParaRPr lang="en-US"/>
          </a:p>
        </p:txBody>
      </p:sp>
      <p:sp>
        <p:nvSpPr>
          <p:cNvPr id="117" name="Text 115"/>
          <p:cNvSpPr/>
          <p:nvPr/>
        </p:nvSpPr>
        <p:spPr>
          <a:xfrm>
            <a:off x="4133088" y="5650992"/>
            <a:ext cx="1335024" cy="182880"/>
          </a:xfrm>
          <a:prstGeom prst="rect">
            <a:avLst/>
          </a:prstGeom>
          <a:noFill/>
          <a:ln/>
        </p:spPr>
        <p:txBody>
          <a:bodyPr wrap="square" lIns="0" tIns="0" rIns="0" bIns="0" rtlCol="0" anchor="ctr"/>
          <a:lstStyle/>
          <a:p>
            <a:pPr marL="0" indent="0" algn="ctr">
              <a:buNone/>
            </a:pPr>
            <a:r>
              <a:rPr lang="en-US" sz="700" dirty="0">
                <a:solidFill>
                  <a:srgbClr val="042C53"/>
                </a:solidFill>
                <a:latin typeface="Calibri" pitchFamily="34" charset="0"/>
                <a:ea typeface="Calibri" pitchFamily="34" charset="-122"/>
                <a:cs typeface="Calibri" pitchFamily="34" charset="-120"/>
              </a:rPr>
              <a:t>detect_ognl()</a:t>
            </a:r>
            <a:endParaRPr lang="en-US" sz="700" dirty="0"/>
          </a:p>
        </p:txBody>
      </p:sp>
      <p:sp>
        <p:nvSpPr>
          <p:cNvPr id="118" name="Shape 116"/>
          <p:cNvSpPr/>
          <p:nvPr/>
        </p:nvSpPr>
        <p:spPr>
          <a:xfrm>
            <a:off x="4133088" y="5870448"/>
            <a:ext cx="1335024" cy="182880"/>
          </a:xfrm>
          <a:prstGeom prst="rect">
            <a:avLst/>
          </a:prstGeom>
          <a:solidFill>
            <a:srgbClr val="E6F1FB"/>
          </a:solidFill>
          <a:ln w="5080">
            <a:solidFill>
              <a:srgbClr val="3B82C4"/>
            </a:solidFill>
            <a:prstDash val="solid"/>
          </a:ln>
          <a:effectLst>
            <a:outerShdw blurRad="76200" dist="25400" dir="8100000" algn="bl" rotWithShape="0">
              <a:srgbClr val="000000">
                <a:alpha val="10000"/>
              </a:srgbClr>
            </a:outerShdw>
          </a:effectLst>
        </p:spPr>
        <p:txBody>
          <a:bodyPr/>
          <a:lstStyle/>
          <a:p>
            <a:endParaRPr lang="en-US"/>
          </a:p>
        </p:txBody>
      </p:sp>
      <p:sp>
        <p:nvSpPr>
          <p:cNvPr id="119" name="Text 117"/>
          <p:cNvSpPr/>
          <p:nvPr/>
        </p:nvSpPr>
        <p:spPr>
          <a:xfrm>
            <a:off x="4133088" y="5870448"/>
            <a:ext cx="1335024" cy="182880"/>
          </a:xfrm>
          <a:prstGeom prst="rect">
            <a:avLst/>
          </a:prstGeom>
          <a:noFill/>
          <a:ln/>
        </p:spPr>
        <p:txBody>
          <a:bodyPr wrap="square" lIns="0" tIns="0" rIns="0" bIns="0" rtlCol="0" anchor="ctr"/>
          <a:lstStyle/>
          <a:p>
            <a:pPr marL="0" indent="0" algn="ctr">
              <a:buNone/>
            </a:pPr>
            <a:r>
              <a:rPr lang="en-US" sz="700" dirty="0">
                <a:solidFill>
                  <a:srgbClr val="042C53"/>
                </a:solidFill>
                <a:latin typeface="Calibri" pitchFamily="34" charset="0"/>
                <a:ea typeface="Calibri" pitchFamily="34" charset="-122"/>
                <a:cs typeface="Calibri" pitchFamily="34" charset="-120"/>
              </a:rPr>
              <a:t>map_tags()</a:t>
            </a:r>
            <a:endParaRPr lang="en-US" sz="700" dirty="0"/>
          </a:p>
        </p:txBody>
      </p:sp>
      <p:sp>
        <p:nvSpPr>
          <p:cNvPr id="120" name="Shape 118"/>
          <p:cNvSpPr/>
          <p:nvPr/>
        </p:nvSpPr>
        <p:spPr>
          <a:xfrm>
            <a:off x="4059936" y="6345936"/>
            <a:ext cx="1481328" cy="91440"/>
          </a:xfrm>
          <a:prstGeom prst="rect">
            <a:avLst/>
          </a:prstGeom>
          <a:solidFill>
            <a:srgbClr val="3B82C4"/>
          </a:solidFill>
          <a:ln w="6350">
            <a:solidFill>
              <a:srgbClr val="3B82C4"/>
            </a:solidFill>
            <a:prstDash val="solid"/>
          </a:ln>
          <a:effectLst>
            <a:outerShdw blurRad="76200" dist="25400" dir="8100000" algn="bl" rotWithShape="0">
              <a:srgbClr val="000000">
                <a:alpha val="10000"/>
              </a:srgbClr>
            </a:outerShdw>
          </a:effectLst>
        </p:spPr>
        <p:txBody>
          <a:bodyPr/>
          <a:lstStyle/>
          <a:p>
            <a:endParaRPr lang="en-US"/>
          </a:p>
        </p:txBody>
      </p:sp>
      <p:sp>
        <p:nvSpPr>
          <p:cNvPr id="121" name="Text 119"/>
          <p:cNvSpPr/>
          <p:nvPr/>
        </p:nvSpPr>
        <p:spPr>
          <a:xfrm>
            <a:off x="4059936" y="6345936"/>
            <a:ext cx="1481328" cy="9144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Claude Sonnet 4.5 + RAG</a:t>
            </a:r>
            <a:endParaRPr lang="en-US" sz="700" dirty="0"/>
          </a:p>
        </p:txBody>
      </p:sp>
      <p:sp>
        <p:nvSpPr>
          <p:cNvPr id="122" name="Shape 120"/>
          <p:cNvSpPr/>
          <p:nvPr/>
        </p:nvSpPr>
        <p:spPr>
          <a:xfrm>
            <a:off x="5541264" y="3236976"/>
            <a:ext cx="128016" cy="22860"/>
          </a:xfrm>
          <a:prstGeom prst="rect">
            <a:avLst/>
          </a:prstGeom>
          <a:solidFill>
            <a:srgbClr val="F5A623">
              <a:alpha val="50000"/>
            </a:srgbClr>
          </a:solidFill>
          <a:ln w="12700">
            <a:solidFill>
              <a:srgbClr val="F5A623">
                <a:alpha val="0"/>
              </a:srgbClr>
            </a:solidFill>
            <a:prstDash val="solid"/>
          </a:ln>
        </p:spPr>
        <p:txBody>
          <a:bodyPr/>
          <a:lstStyle/>
          <a:p>
            <a:endParaRPr lang="en-US"/>
          </a:p>
        </p:txBody>
      </p:sp>
      <p:sp>
        <p:nvSpPr>
          <p:cNvPr id="123" name="Shape 121"/>
          <p:cNvSpPr/>
          <p:nvPr/>
        </p:nvSpPr>
        <p:spPr>
          <a:xfrm>
            <a:off x="5669280" y="768096"/>
            <a:ext cx="1481328" cy="5669280"/>
          </a:xfrm>
          <a:prstGeom prst="rect">
            <a:avLst/>
          </a:prstGeom>
          <a:solidFill>
            <a:srgbClr val="EEEDFE"/>
          </a:solidFill>
          <a:ln w="15240">
            <a:solidFill>
              <a:srgbClr val="534AB7"/>
            </a:solidFill>
            <a:prstDash val="solid"/>
          </a:ln>
          <a:effectLst>
            <a:outerShdw blurRad="76200" dist="25400" dir="8100000" algn="bl" rotWithShape="0">
              <a:srgbClr val="000000">
                <a:alpha val="10000"/>
              </a:srgbClr>
            </a:outerShdw>
          </a:effectLst>
        </p:spPr>
        <p:txBody>
          <a:bodyPr/>
          <a:lstStyle/>
          <a:p>
            <a:endParaRPr lang="en-US"/>
          </a:p>
        </p:txBody>
      </p:sp>
      <p:sp>
        <p:nvSpPr>
          <p:cNvPr id="124" name="Shape 122"/>
          <p:cNvSpPr/>
          <p:nvPr/>
        </p:nvSpPr>
        <p:spPr>
          <a:xfrm>
            <a:off x="5669280" y="768096"/>
            <a:ext cx="1481328" cy="43891"/>
          </a:xfrm>
          <a:prstGeom prst="rect">
            <a:avLst/>
          </a:prstGeom>
          <a:solidFill>
            <a:srgbClr val="534AB7"/>
          </a:solidFill>
          <a:ln w="12700">
            <a:solidFill>
              <a:srgbClr val="534AB7">
                <a:alpha val="0"/>
              </a:srgbClr>
            </a:solidFill>
            <a:prstDash val="solid"/>
          </a:ln>
        </p:spPr>
        <p:txBody>
          <a:bodyPr/>
          <a:lstStyle/>
          <a:p>
            <a:endParaRPr lang="en-US"/>
          </a:p>
        </p:txBody>
      </p:sp>
      <p:sp>
        <p:nvSpPr>
          <p:cNvPr id="125" name="Text 123"/>
          <p:cNvSpPr/>
          <p:nvPr/>
        </p:nvSpPr>
        <p:spPr>
          <a:xfrm>
            <a:off x="5669280" y="818388"/>
            <a:ext cx="1481328" cy="237744"/>
          </a:xfrm>
          <a:prstGeom prst="rect">
            <a:avLst/>
          </a:prstGeom>
          <a:noFill/>
          <a:ln/>
        </p:spPr>
        <p:txBody>
          <a:bodyPr wrap="square" lIns="0" tIns="0" rIns="0" bIns="0" rtlCol="0" anchor="ctr"/>
          <a:lstStyle/>
          <a:p>
            <a:pPr marL="0" indent="0" algn="ctr">
              <a:buNone/>
            </a:pPr>
            <a:r>
              <a:rPr lang="en-US" sz="850" b="1" dirty="0">
                <a:solidFill>
                  <a:srgbClr val="26215C"/>
                </a:solidFill>
                <a:latin typeface="Georgia" pitchFamily="34" charset="0"/>
                <a:ea typeface="Georgia" pitchFamily="34" charset="-122"/>
                <a:cs typeface="Georgia" pitchFamily="34" charset="-120"/>
              </a:rPr>
              <a:t>Review agents × 5</a:t>
            </a:r>
            <a:endParaRPr lang="en-US" sz="850" dirty="0"/>
          </a:p>
        </p:txBody>
      </p:sp>
      <p:sp>
        <p:nvSpPr>
          <p:cNvPr id="126" name="Shape 124"/>
          <p:cNvSpPr/>
          <p:nvPr/>
        </p:nvSpPr>
        <p:spPr>
          <a:xfrm>
            <a:off x="5751576" y="1088136"/>
            <a:ext cx="1316736" cy="493776"/>
          </a:xfrm>
          <a:prstGeom prst="rect">
            <a:avLst/>
          </a:prstGeom>
          <a:solidFill>
            <a:srgbClr val="3C3489"/>
          </a:solidFill>
          <a:ln w="6350">
            <a:solidFill>
              <a:srgbClr val="7F77DD"/>
            </a:solidFill>
            <a:prstDash val="solid"/>
          </a:ln>
          <a:effectLst>
            <a:outerShdw blurRad="76200" dist="25400" dir="8100000" algn="bl" rotWithShape="0">
              <a:srgbClr val="000000">
                <a:alpha val="10000"/>
              </a:srgbClr>
            </a:outerShdw>
          </a:effectLst>
        </p:spPr>
        <p:txBody>
          <a:bodyPr/>
          <a:lstStyle/>
          <a:p>
            <a:endParaRPr lang="en-US"/>
          </a:p>
        </p:txBody>
      </p:sp>
      <p:sp>
        <p:nvSpPr>
          <p:cNvPr id="127" name="Text 125"/>
          <p:cNvSpPr/>
          <p:nvPr/>
        </p:nvSpPr>
        <p:spPr>
          <a:xfrm>
            <a:off x="5751576" y="1088136"/>
            <a:ext cx="1316736" cy="493776"/>
          </a:xfrm>
          <a:prstGeom prst="rect">
            <a:avLst/>
          </a:prstGeom>
          <a:noFill/>
          <a:ln/>
        </p:spPr>
        <p:txBody>
          <a:bodyPr wrap="square" lIns="0" tIns="0" rIns="0" bIns="0" rtlCol="0" anchor="ctr"/>
          <a:lstStyle/>
          <a:p>
            <a:pPr marL="0" indent="0" algn="ctr">
              <a:buNone/>
            </a:pPr>
            <a:r>
              <a:rPr lang="en-US" sz="850" dirty="0">
                <a:solidFill>
                  <a:srgbClr val="E8EDF4"/>
                </a:solidFill>
                <a:latin typeface="Calibri" pitchFamily="34" charset="0"/>
                <a:ea typeface="Calibri" pitchFamily="34" charset="-122"/>
                <a:cs typeface="Calibri" pitchFamily="34" charset="-120"/>
              </a:rPr>
              <a:t>Java review</a:t>
            </a:r>
            <a:endParaRPr lang="en-US" sz="850" dirty="0"/>
          </a:p>
        </p:txBody>
      </p:sp>
      <p:sp>
        <p:nvSpPr>
          <p:cNvPr id="128" name="Shape 126"/>
          <p:cNvSpPr/>
          <p:nvPr/>
        </p:nvSpPr>
        <p:spPr>
          <a:xfrm>
            <a:off x="5751576" y="1655064"/>
            <a:ext cx="1316736" cy="493776"/>
          </a:xfrm>
          <a:prstGeom prst="rect">
            <a:avLst/>
          </a:prstGeom>
          <a:solidFill>
            <a:srgbClr val="3C3489"/>
          </a:solidFill>
          <a:ln w="6350">
            <a:solidFill>
              <a:srgbClr val="7F77DD"/>
            </a:solidFill>
            <a:prstDash val="solid"/>
          </a:ln>
          <a:effectLst>
            <a:outerShdw blurRad="76200" dist="25400" dir="8100000" algn="bl" rotWithShape="0">
              <a:srgbClr val="000000">
                <a:alpha val="10000"/>
              </a:srgbClr>
            </a:outerShdw>
          </a:effectLst>
        </p:spPr>
        <p:txBody>
          <a:bodyPr/>
          <a:lstStyle/>
          <a:p>
            <a:endParaRPr lang="en-US"/>
          </a:p>
        </p:txBody>
      </p:sp>
      <p:sp>
        <p:nvSpPr>
          <p:cNvPr id="129" name="Text 127"/>
          <p:cNvSpPr/>
          <p:nvPr/>
        </p:nvSpPr>
        <p:spPr>
          <a:xfrm>
            <a:off x="5751576" y="1655064"/>
            <a:ext cx="1316736" cy="493776"/>
          </a:xfrm>
          <a:prstGeom prst="rect">
            <a:avLst/>
          </a:prstGeom>
          <a:noFill/>
          <a:ln/>
        </p:spPr>
        <p:txBody>
          <a:bodyPr wrap="square" lIns="0" tIns="0" rIns="0" bIns="0" rtlCol="0" anchor="ctr"/>
          <a:lstStyle/>
          <a:p>
            <a:pPr marL="0" indent="0" algn="ctr">
              <a:buNone/>
            </a:pPr>
            <a:r>
              <a:rPr lang="en-US" sz="850" dirty="0">
                <a:solidFill>
                  <a:srgbClr val="E8EDF4"/>
                </a:solidFill>
                <a:latin typeface="Calibri" pitchFamily="34" charset="0"/>
                <a:ea typeface="Calibri" pitchFamily="34" charset="-122"/>
                <a:cs typeface="Calibri" pitchFamily="34" charset="-120"/>
              </a:rPr>
              <a:t>Spring review</a:t>
            </a:r>
            <a:endParaRPr lang="en-US" sz="850" dirty="0"/>
          </a:p>
        </p:txBody>
      </p:sp>
      <p:sp>
        <p:nvSpPr>
          <p:cNvPr id="130" name="Shape 128"/>
          <p:cNvSpPr/>
          <p:nvPr/>
        </p:nvSpPr>
        <p:spPr>
          <a:xfrm>
            <a:off x="5751576" y="2221992"/>
            <a:ext cx="1316736" cy="493776"/>
          </a:xfrm>
          <a:prstGeom prst="rect">
            <a:avLst/>
          </a:prstGeom>
          <a:solidFill>
            <a:srgbClr val="3C3489"/>
          </a:solidFill>
          <a:ln w="6350">
            <a:solidFill>
              <a:srgbClr val="7F77DD"/>
            </a:solidFill>
            <a:prstDash val="solid"/>
          </a:ln>
          <a:effectLst>
            <a:outerShdw blurRad="76200" dist="25400" dir="8100000" algn="bl" rotWithShape="0">
              <a:srgbClr val="000000">
                <a:alpha val="10000"/>
              </a:srgbClr>
            </a:outerShdw>
          </a:effectLst>
        </p:spPr>
        <p:txBody>
          <a:bodyPr/>
          <a:lstStyle/>
          <a:p>
            <a:endParaRPr lang="en-US"/>
          </a:p>
        </p:txBody>
      </p:sp>
      <p:sp>
        <p:nvSpPr>
          <p:cNvPr id="131" name="Text 129"/>
          <p:cNvSpPr/>
          <p:nvPr/>
        </p:nvSpPr>
        <p:spPr>
          <a:xfrm>
            <a:off x="5751576" y="2221992"/>
            <a:ext cx="1316736" cy="493776"/>
          </a:xfrm>
          <a:prstGeom prst="rect">
            <a:avLst/>
          </a:prstGeom>
          <a:noFill/>
          <a:ln/>
        </p:spPr>
        <p:txBody>
          <a:bodyPr wrap="square" lIns="0" tIns="0" rIns="0" bIns="0" rtlCol="0" anchor="ctr"/>
          <a:lstStyle/>
          <a:p>
            <a:pPr marL="0" indent="0" algn="ctr">
              <a:buNone/>
            </a:pPr>
            <a:r>
              <a:rPr lang="en-US" sz="850" dirty="0">
                <a:solidFill>
                  <a:srgbClr val="E8EDF4"/>
                </a:solidFill>
                <a:latin typeface="Calibri" pitchFamily="34" charset="0"/>
                <a:ea typeface="Calibri" pitchFamily="34" charset="-122"/>
                <a:cs typeface="Calibri" pitchFamily="34" charset="-120"/>
              </a:rPr>
              <a:t>Struts review</a:t>
            </a:r>
            <a:endParaRPr lang="en-US" sz="850" dirty="0"/>
          </a:p>
        </p:txBody>
      </p:sp>
      <p:sp>
        <p:nvSpPr>
          <p:cNvPr id="132" name="Shape 130"/>
          <p:cNvSpPr/>
          <p:nvPr/>
        </p:nvSpPr>
        <p:spPr>
          <a:xfrm>
            <a:off x="5751576" y="2788920"/>
            <a:ext cx="1316736" cy="493776"/>
          </a:xfrm>
          <a:prstGeom prst="rect">
            <a:avLst/>
          </a:prstGeom>
          <a:solidFill>
            <a:srgbClr val="3C3489"/>
          </a:solidFill>
          <a:ln w="6350">
            <a:solidFill>
              <a:srgbClr val="7F77DD"/>
            </a:solidFill>
            <a:prstDash val="solid"/>
          </a:ln>
          <a:effectLst>
            <a:outerShdw blurRad="76200" dist="25400" dir="8100000" algn="bl" rotWithShape="0">
              <a:srgbClr val="000000">
                <a:alpha val="10000"/>
              </a:srgbClr>
            </a:outerShdw>
          </a:effectLst>
        </p:spPr>
        <p:txBody>
          <a:bodyPr/>
          <a:lstStyle/>
          <a:p>
            <a:endParaRPr lang="en-US"/>
          </a:p>
        </p:txBody>
      </p:sp>
      <p:sp>
        <p:nvSpPr>
          <p:cNvPr id="133" name="Text 131"/>
          <p:cNvSpPr/>
          <p:nvPr/>
        </p:nvSpPr>
        <p:spPr>
          <a:xfrm>
            <a:off x="5751576" y="2788920"/>
            <a:ext cx="1316736" cy="493776"/>
          </a:xfrm>
          <a:prstGeom prst="rect">
            <a:avLst/>
          </a:prstGeom>
          <a:noFill/>
          <a:ln/>
        </p:spPr>
        <p:txBody>
          <a:bodyPr wrap="square" lIns="0" tIns="0" rIns="0" bIns="0" rtlCol="0" anchor="ctr"/>
          <a:lstStyle/>
          <a:p>
            <a:pPr marL="0" indent="0" algn="ctr">
              <a:buNone/>
            </a:pPr>
            <a:r>
              <a:rPr lang="en-US" sz="850" dirty="0">
                <a:solidFill>
                  <a:srgbClr val="E8EDF4"/>
                </a:solidFill>
                <a:latin typeface="Calibri" pitchFamily="34" charset="0"/>
                <a:ea typeface="Calibri" pitchFamily="34" charset="-122"/>
                <a:cs typeface="Calibri" pitchFamily="34" charset="-120"/>
              </a:rPr>
              <a:t>Container review</a:t>
            </a:r>
            <a:endParaRPr lang="en-US" sz="850" dirty="0"/>
          </a:p>
        </p:txBody>
      </p:sp>
      <p:sp>
        <p:nvSpPr>
          <p:cNvPr id="134" name="Shape 132"/>
          <p:cNvSpPr/>
          <p:nvPr/>
        </p:nvSpPr>
        <p:spPr>
          <a:xfrm>
            <a:off x="5751576" y="3355848"/>
            <a:ext cx="1316736" cy="493776"/>
          </a:xfrm>
          <a:prstGeom prst="rect">
            <a:avLst/>
          </a:prstGeom>
          <a:solidFill>
            <a:srgbClr val="3C3489"/>
          </a:solidFill>
          <a:ln w="6350">
            <a:solidFill>
              <a:srgbClr val="7F77DD"/>
            </a:solidFill>
            <a:prstDash val="solid"/>
          </a:ln>
          <a:effectLst>
            <a:outerShdw blurRad="76200" dist="25400" dir="8100000" algn="bl" rotWithShape="0">
              <a:srgbClr val="000000">
                <a:alpha val="10000"/>
              </a:srgbClr>
            </a:outerShdw>
          </a:effectLst>
        </p:spPr>
        <p:txBody>
          <a:bodyPr/>
          <a:lstStyle/>
          <a:p>
            <a:endParaRPr lang="en-US"/>
          </a:p>
        </p:txBody>
      </p:sp>
      <p:sp>
        <p:nvSpPr>
          <p:cNvPr id="135" name="Text 133"/>
          <p:cNvSpPr/>
          <p:nvPr/>
        </p:nvSpPr>
        <p:spPr>
          <a:xfrm>
            <a:off x="5751576" y="3355848"/>
            <a:ext cx="1316736" cy="493776"/>
          </a:xfrm>
          <a:prstGeom prst="rect">
            <a:avLst/>
          </a:prstGeom>
          <a:noFill/>
          <a:ln/>
        </p:spPr>
        <p:txBody>
          <a:bodyPr wrap="square" lIns="0" tIns="0" rIns="0" bIns="0" rtlCol="0" anchor="ctr"/>
          <a:lstStyle/>
          <a:p>
            <a:pPr marL="0" indent="0" algn="ctr">
              <a:buNone/>
            </a:pPr>
            <a:r>
              <a:rPr lang="en-US" sz="850" dirty="0">
                <a:solidFill>
                  <a:srgbClr val="E8EDF4"/>
                </a:solidFill>
                <a:latin typeface="Calibri" pitchFamily="34" charset="0"/>
                <a:ea typeface="Calibri" pitchFamily="34" charset="-122"/>
                <a:cs typeface="Calibri" pitchFamily="34" charset="-120"/>
              </a:rPr>
              <a:t>Test review</a:t>
            </a:r>
            <a:endParaRPr lang="en-US" sz="850" dirty="0"/>
          </a:p>
        </p:txBody>
      </p:sp>
      <p:sp>
        <p:nvSpPr>
          <p:cNvPr id="136" name="Shape 134"/>
          <p:cNvSpPr/>
          <p:nvPr/>
        </p:nvSpPr>
        <p:spPr>
          <a:xfrm>
            <a:off x="5669280" y="3950208"/>
            <a:ext cx="1481328" cy="658368"/>
          </a:xfrm>
          <a:prstGeom prst="rect">
            <a:avLst/>
          </a:prstGeom>
          <a:solidFill>
            <a:srgbClr val="26215C"/>
          </a:solidFill>
          <a:ln w="6350">
            <a:solidFill>
              <a:srgbClr val="534AB7"/>
            </a:solidFill>
            <a:prstDash val="solid"/>
          </a:ln>
          <a:effectLst>
            <a:outerShdw blurRad="76200" dist="25400" dir="8100000" algn="bl" rotWithShape="0">
              <a:srgbClr val="000000">
                <a:alpha val="10000"/>
              </a:srgbClr>
            </a:outerShdw>
          </a:effectLst>
        </p:spPr>
        <p:txBody>
          <a:bodyPr/>
          <a:lstStyle/>
          <a:p>
            <a:endParaRPr lang="en-US"/>
          </a:p>
        </p:txBody>
      </p:sp>
      <p:sp>
        <p:nvSpPr>
          <p:cNvPr id="137" name="Shape 135"/>
          <p:cNvSpPr/>
          <p:nvPr/>
        </p:nvSpPr>
        <p:spPr>
          <a:xfrm>
            <a:off x="5751576" y="3986784"/>
            <a:ext cx="1316736" cy="146304"/>
          </a:xfrm>
          <a:prstGeom prst="rect">
            <a:avLst/>
          </a:prstGeom>
          <a:solidFill>
            <a:srgbClr val="1D9E75"/>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138" name="Text 136"/>
          <p:cNvSpPr/>
          <p:nvPr/>
        </p:nvSpPr>
        <p:spPr>
          <a:xfrm>
            <a:off x="5751576" y="3986784"/>
            <a:ext cx="1316736" cy="146304"/>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PASS ≥80</a:t>
            </a:r>
            <a:endParaRPr lang="en-US" sz="750" dirty="0"/>
          </a:p>
        </p:txBody>
      </p:sp>
      <p:sp>
        <p:nvSpPr>
          <p:cNvPr id="139" name="Shape 137"/>
          <p:cNvSpPr/>
          <p:nvPr/>
        </p:nvSpPr>
        <p:spPr>
          <a:xfrm>
            <a:off x="5751576" y="4169664"/>
            <a:ext cx="1316736" cy="146304"/>
          </a:xfrm>
          <a:prstGeom prst="rect">
            <a:avLst/>
          </a:prstGeom>
          <a:solidFill>
            <a:srgbClr val="F5A623"/>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140" name="Text 138"/>
          <p:cNvSpPr/>
          <p:nvPr/>
        </p:nvSpPr>
        <p:spPr>
          <a:xfrm>
            <a:off x="5751576" y="4169664"/>
            <a:ext cx="1316736" cy="146304"/>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RETRY 50-79</a:t>
            </a:r>
            <a:endParaRPr lang="en-US" sz="750" dirty="0"/>
          </a:p>
        </p:txBody>
      </p:sp>
      <p:sp>
        <p:nvSpPr>
          <p:cNvPr id="141" name="Shape 139"/>
          <p:cNvSpPr/>
          <p:nvPr/>
        </p:nvSpPr>
        <p:spPr>
          <a:xfrm>
            <a:off x="5751576" y="4352544"/>
            <a:ext cx="1316736" cy="146304"/>
          </a:xfrm>
          <a:prstGeom prst="rect">
            <a:avLst/>
          </a:prstGeom>
          <a:solidFill>
            <a:srgbClr val="E05252"/>
          </a:solidFill>
          <a:ln w="6350">
            <a:solidFill>
              <a:srgbClr val="E05252"/>
            </a:solidFill>
            <a:prstDash val="solid"/>
          </a:ln>
          <a:effectLst>
            <a:outerShdw blurRad="76200" dist="25400" dir="8100000" algn="bl" rotWithShape="0">
              <a:srgbClr val="000000">
                <a:alpha val="10000"/>
              </a:srgbClr>
            </a:outerShdw>
          </a:effectLst>
        </p:spPr>
        <p:txBody>
          <a:bodyPr/>
          <a:lstStyle/>
          <a:p>
            <a:endParaRPr lang="en-US"/>
          </a:p>
        </p:txBody>
      </p:sp>
      <p:sp>
        <p:nvSpPr>
          <p:cNvPr id="142" name="Text 140"/>
          <p:cNvSpPr/>
          <p:nvPr/>
        </p:nvSpPr>
        <p:spPr>
          <a:xfrm>
            <a:off x="5751576" y="4352544"/>
            <a:ext cx="1316736" cy="146304"/>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MANUAL &lt;50</a:t>
            </a:r>
            <a:endParaRPr lang="en-US" sz="750" dirty="0"/>
          </a:p>
        </p:txBody>
      </p:sp>
      <p:sp>
        <p:nvSpPr>
          <p:cNvPr id="143" name="Shape 141"/>
          <p:cNvSpPr/>
          <p:nvPr/>
        </p:nvSpPr>
        <p:spPr>
          <a:xfrm>
            <a:off x="5669280" y="4645152"/>
            <a:ext cx="1481328" cy="182880"/>
          </a:xfrm>
          <a:prstGeom prst="rect">
            <a:avLst/>
          </a:prstGeom>
          <a:solidFill>
            <a:srgbClr val="534AB7"/>
          </a:solidFill>
          <a:ln w="6350">
            <a:solidFill>
              <a:srgbClr val="7F77DD"/>
            </a:solidFill>
            <a:prstDash val="solid"/>
          </a:ln>
          <a:effectLst>
            <a:outerShdw blurRad="76200" dist="25400" dir="8100000" algn="bl" rotWithShape="0">
              <a:srgbClr val="000000">
                <a:alpha val="10000"/>
              </a:srgbClr>
            </a:outerShdw>
          </a:effectLst>
        </p:spPr>
        <p:txBody>
          <a:bodyPr/>
          <a:lstStyle/>
          <a:p>
            <a:endParaRPr lang="en-US"/>
          </a:p>
        </p:txBody>
      </p:sp>
      <p:sp>
        <p:nvSpPr>
          <p:cNvPr id="144" name="Text 142"/>
          <p:cNvSpPr/>
          <p:nvPr/>
        </p:nvSpPr>
        <p:spPr>
          <a:xfrm>
            <a:off x="5669280" y="4645152"/>
            <a:ext cx="1481328" cy="182880"/>
          </a:xfrm>
          <a:prstGeom prst="rect">
            <a:avLst/>
          </a:prstGeom>
          <a:noFill/>
          <a:ln/>
        </p:spPr>
        <p:txBody>
          <a:bodyPr wrap="square" lIns="0" tIns="0" rIns="0" bIns="0" rtlCol="0" anchor="ctr"/>
          <a:lstStyle/>
          <a:p>
            <a:pPr marL="0" indent="0" algn="ctr">
              <a:buNone/>
            </a:pPr>
            <a:r>
              <a:rPr lang="en-US" sz="750" dirty="0">
                <a:solidFill>
                  <a:srgbClr val="E8EDF4"/>
                </a:solidFill>
                <a:latin typeface="Calibri" pitchFamily="34" charset="0"/>
                <a:ea typeface="Calibri" pitchFamily="34" charset="-122"/>
                <a:cs typeface="Calibri" pitchFamily="34" charset="-120"/>
              </a:rPr>
              <a:t>↺ retry: feedback injected</a:t>
            </a:r>
            <a:endParaRPr lang="en-US" sz="750" dirty="0"/>
          </a:p>
        </p:txBody>
      </p:sp>
      <p:sp>
        <p:nvSpPr>
          <p:cNvPr id="145" name="Shape 143"/>
          <p:cNvSpPr/>
          <p:nvPr/>
        </p:nvSpPr>
        <p:spPr>
          <a:xfrm>
            <a:off x="5724144" y="4864608"/>
            <a:ext cx="1371600" cy="201168"/>
          </a:xfrm>
          <a:prstGeom prst="rect">
            <a:avLst/>
          </a:prstGeom>
          <a:solidFill>
            <a:srgbClr val="3C3489"/>
          </a:solidFill>
          <a:ln w="6350">
            <a:solidFill>
              <a:srgbClr val="534AB7"/>
            </a:solidFill>
            <a:prstDash val="solid"/>
          </a:ln>
          <a:effectLst>
            <a:outerShdw blurRad="76200" dist="25400" dir="8100000" algn="bl" rotWithShape="0">
              <a:srgbClr val="000000">
                <a:alpha val="10000"/>
              </a:srgbClr>
            </a:outerShdw>
          </a:effectLst>
        </p:spPr>
        <p:txBody>
          <a:bodyPr/>
          <a:lstStyle/>
          <a:p>
            <a:endParaRPr lang="en-US"/>
          </a:p>
        </p:txBody>
      </p:sp>
      <p:sp>
        <p:nvSpPr>
          <p:cNvPr id="146" name="Text 144"/>
          <p:cNvSpPr/>
          <p:nvPr/>
        </p:nvSpPr>
        <p:spPr>
          <a:xfrm>
            <a:off x="5724144" y="4864608"/>
            <a:ext cx="1371600" cy="201168"/>
          </a:xfrm>
          <a:prstGeom prst="rect">
            <a:avLst/>
          </a:prstGeom>
          <a:noFill/>
          <a:ln/>
        </p:spPr>
        <p:txBody>
          <a:bodyPr wrap="square" lIns="0" tIns="0" rIns="0" bIns="0" rtlCol="0" anchor="ctr"/>
          <a:lstStyle/>
          <a:p>
            <a:pPr marL="0" indent="0" algn="ctr">
              <a:buNone/>
            </a:pPr>
            <a:r>
              <a:rPr lang="en-US" sz="750" b="1" dirty="0">
                <a:solidFill>
                  <a:srgbClr val="E8EDF4"/>
                </a:solidFill>
                <a:latin typeface="Calibri" pitchFamily="34" charset="0"/>
                <a:ea typeface="Calibri" pitchFamily="34" charset="-122"/>
                <a:cs typeface="Calibri" pitchFamily="34" charset="-120"/>
              </a:rPr>
              <a:t>Review checks</a:t>
            </a:r>
            <a:endParaRPr lang="en-US" sz="750" dirty="0"/>
          </a:p>
        </p:txBody>
      </p:sp>
      <p:sp>
        <p:nvSpPr>
          <p:cNvPr id="147" name="Text 145"/>
          <p:cNvSpPr/>
          <p:nvPr/>
        </p:nvSpPr>
        <p:spPr>
          <a:xfrm>
            <a:off x="5760720" y="5102352"/>
            <a:ext cx="1353312" cy="219456"/>
          </a:xfrm>
          <a:prstGeom prst="rect">
            <a:avLst/>
          </a:prstGeom>
          <a:noFill/>
          <a:ln/>
        </p:spPr>
        <p:txBody>
          <a:bodyPr wrap="square" lIns="0" tIns="0" rIns="0" bIns="0" rtlCol="0" anchor="ctr"/>
          <a:lstStyle/>
          <a:p>
            <a:pPr marL="0" indent="0" algn="l">
              <a:buNone/>
            </a:pPr>
            <a:r>
              <a:rPr lang="en-US" sz="750" dirty="0">
                <a:solidFill>
                  <a:srgbClr val="E8EDF4"/>
                </a:solidFill>
                <a:latin typeface="Calibri" pitchFamily="34" charset="0"/>
                <a:ea typeface="Calibri" pitchFamily="34" charset="-122"/>
                <a:cs typeface="Calibri" pitchFamily="34" charset="-120"/>
              </a:rPr>
              <a:t>Mapping correctness</a:t>
            </a:r>
            <a:endParaRPr lang="en-US" sz="750" dirty="0"/>
          </a:p>
        </p:txBody>
      </p:sp>
      <p:sp>
        <p:nvSpPr>
          <p:cNvPr id="148" name="Text 146"/>
          <p:cNvSpPr/>
          <p:nvPr/>
        </p:nvSpPr>
        <p:spPr>
          <a:xfrm>
            <a:off x="5760720" y="5358384"/>
            <a:ext cx="1353312" cy="219456"/>
          </a:xfrm>
          <a:prstGeom prst="rect">
            <a:avLst/>
          </a:prstGeom>
          <a:noFill/>
          <a:ln/>
        </p:spPr>
        <p:txBody>
          <a:bodyPr wrap="square" lIns="0" tIns="0" rIns="0" bIns="0" rtlCol="0" anchor="ctr"/>
          <a:lstStyle/>
          <a:p>
            <a:pPr marL="0" indent="0" algn="l">
              <a:buNone/>
            </a:pPr>
            <a:r>
              <a:rPr lang="en-US" sz="750" dirty="0">
                <a:solidFill>
                  <a:srgbClr val="E8EDF4"/>
                </a:solidFill>
                <a:latin typeface="Calibri" pitchFamily="34" charset="0"/>
                <a:ea typeface="Calibri" pitchFamily="34" charset="-122"/>
                <a:cs typeface="Calibri" pitchFamily="34" charset="-120"/>
              </a:rPr>
              <a:t>DTO fields preserved</a:t>
            </a:r>
            <a:endParaRPr lang="en-US" sz="750" dirty="0"/>
          </a:p>
        </p:txBody>
      </p:sp>
      <p:sp>
        <p:nvSpPr>
          <p:cNvPr id="149" name="Text 147"/>
          <p:cNvSpPr/>
          <p:nvPr/>
        </p:nvSpPr>
        <p:spPr>
          <a:xfrm>
            <a:off x="5760720" y="5614416"/>
            <a:ext cx="1353312" cy="219456"/>
          </a:xfrm>
          <a:prstGeom prst="rect">
            <a:avLst/>
          </a:prstGeom>
          <a:noFill/>
          <a:ln/>
        </p:spPr>
        <p:txBody>
          <a:bodyPr wrap="square" lIns="0" tIns="0" rIns="0" bIns="0" rtlCol="0" anchor="ctr"/>
          <a:lstStyle/>
          <a:p>
            <a:pPr marL="0" indent="0" algn="l">
              <a:buNone/>
            </a:pPr>
            <a:r>
              <a:rPr lang="en-US" sz="750" dirty="0">
                <a:solidFill>
                  <a:srgbClr val="E8EDF4"/>
                </a:solidFill>
                <a:latin typeface="Calibri" pitchFamily="34" charset="0"/>
                <a:ea typeface="Calibri" pitchFamily="34" charset="-122"/>
                <a:cs typeface="Calibri" pitchFamily="34" charset="-120"/>
              </a:rPr>
              <a:t>OGNL refs flagged</a:t>
            </a:r>
            <a:endParaRPr lang="en-US" sz="750" dirty="0"/>
          </a:p>
        </p:txBody>
      </p:sp>
      <p:sp>
        <p:nvSpPr>
          <p:cNvPr id="150" name="Text 148"/>
          <p:cNvSpPr/>
          <p:nvPr/>
        </p:nvSpPr>
        <p:spPr>
          <a:xfrm>
            <a:off x="5760720" y="5870448"/>
            <a:ext cx="1353312" cy="219456"/>
          </a:xfrm>
          <a:prstGeom prst="rect">
            <a:avLst/>
          </a:prstGeom>
          <a:noFill/>
          <a:ln/>
        </p:spPr>
        <p:txBody>
          <a:bodyPr wrap="square" lIns="0" tIns="0" rIns="0" bIns="0" rtlCol="0" anchor="ctr"/>
          <a:lstStyle/>
          <a:p>
            <a:pPr marL="0" indent="0" algn="l">
              <a:buNone/>
            </a:pPr>
            <a:r>
              <a:rPr lang="en-US" sz="750" dirty="0">
                <a:solidFill>
                  <a:srgbClr val="E8EDF4"/>
                </a:solidFill>
                <a:latin typeface="Calibri" pitchFamily="34" charset="0"/>
                <a:ea typeface="Calibri" pitchFamily="34" charset="-122"/>
                <a:cs typeface="Calibri" pitchFamily="34" charset="-120"/>
              </a:rPr>
              <a:t>No new deprecations</a:t>
            </a:r>
            <a:endParaRPr lang="en-US" sz="750" dirty="0"/>
          </a:p>
        </p:txBody>
      </p:sp>
      <p:sp>
        <p:nvSpPr>
          <p:cNvPr id="151" name="Shape 149"/>
          <p:cNvSpPr/>
          <p:nvPr/>
        </p:nvSpPr>
        <p:spPr>
          <a:xfrm>
            <a:off x="5669280" y="6345936"/>
            <a:ext cx="1481328" cy="91440"/>
          </a:xfrm>
          <a:prstGeom prst="rect">
            <a:avLst/>
          </a:prstGeom>
          <a:solidFill>
            <a:srgbClr val="EAF3DE"/>
          </a:solidFill>
          <a:ln w="6350">
            <a:solidFill>
              <a:srgbClr val="333333"/>
            </a:solidFill>
            <a:prstDash val="solid"/>
          </a:ln>
          <a:effectLst>
            <a:outerShdw blurRad="76200" dist="25400" dir="8100000" algn="bl" rotWithShape="0">
              <a:srgbClr val="000000">
                <a:alpha val="10000"/>
              </a:srgbClr>
            </a:outerShdw>
          </a:effectLst>
        </p:spPr>
        <p:txBody>
          <a:bodyPr/>
          <a:lstStyle/>
          <a:p>
            <a:endParaRPr lang="en-US"/>
          </a:p>
        </p:txBody>
      </p:sp>
      <p:sp>
        <p:nvSpPr>
          <p:cNvPr id="152" name="Text 150"/>
          <p:cNvSpPr/>
          <p:nvPr/>
        </p:nvSpPr>
        <p:spPr>
          <a:xfrm>
            <a:off x="5669280" y="6345936"/>
            <a:ext cx="1481328" cy="91440"/>
          </a:xfrm>
          <a:prstGeom prst="rect">
            <a:avLst/>
          </a:prstGeom>
          <a:noFill/>
          <a:ln/>
        </p:spPr>
        <p:txBody>
          <a:bodyPr wrap="square" lIns="0" tIns="0" rIns="0" bIns="0" rtlCol="0" anchor="ctr"/>
          <a:lstStyle/>
          <a:p>
            <a:pPr marL="0" indent="0" algn="ctr">
              <a:buNone/>
            </a:pPr>
            <a:r>
              <a:rPr lang="en-US" sz="700" b="1" dirty="0">
                <a:solidFill>
                  <a:srgbClr val="27500A"/>
                </a:solidFill>
                <a:latin typeface="Calibri" pitchFamily="34" charset="0"/>
                <a:ea typeface="Calibri" pitchFamily="34" charset="-122"/>
                <a:cs typeface="Calibri" pitchFamily="34" charset="-120"/>
              </a:rPr>
              <a:t>Amazon Nova Pro + RAG</a:t>
            </a:r>
            <a:endParaRPr lang="en-US" sz="700" dirty="0"/>
          </a:p>
        </p:txBody>
      </p:sp>
      <p:sp>
        <p:nvSpPr>
          <p:cNvPr id="153" name="Shape 151"/>
          <p:cNvSpPr/>
          <p:nvPr/>
        </p:nvSpPr>
        <p:spPr>
          <a:xfrm>
            <a:off x="7150608" y="3236976"/>
            <a:ext cx="128016" cy="22860"/>
          </a:xfrm>
          <a:prstGeom prst="rect">
            <a:avLst/>
          </a:prstGeom>
          <a:solidFill>
            <a:srgbClr val="F5A623">
              <a:alpha val="50000"/>
            </a:srgbClr>
          </a:solidFill>
          <a:ln w="12700">
            <a:solidFill>
              <a:srgbClr val="F5A623">
                <a:alpha val="0"/>
              </a:srgbClr>
            </a:solidFill>
            <a:prstDash val="solid"/>
          </a:ln>
        </p:spPr>
        <p:txBody>
          <a:bodyPr/>
          <a:lstStyle/>
          <a:p>
            <a:endParaRPr lang="en-US"/>
          </a:p>
        </p:txBody>
      </p:sp>
      <p:sp>
        <p:nvSpPr>
          <p:cNvPr id="154" name="Shape 152"/>
          <p:cNvSpPr/>
          <p:nvPr/>
        </p:nvSpPr>
        <p:spPr>
          <a:xfrm>
            <a:off x="7278624" y="768096"/>
            <a:ext cx="1188720" cy="5669280"/>
          </a:xfrm>
          <a:prstGeom prst="rect">
            <a:avLst/>
          </a:prstGeom>
          <a:solidFill>
            <a:srgbClr val="FEF6E7"/>
          </a:solidFill>
          <a:ln w="1524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155" name="Shape 153"/>
          <p:cNvSpPr/>
          <p:nvPr/>
        </p:nvSpPr>
        <p:spPr>
          <a:xfrm>
            <a:off x="7278624" y="768096"/>
            <a:ext cx="1188720" cy="43891"/>
          </a:xfrm>
          <a:prstGeom prst="rect">
            <a:avLst/>
          </a:prstGeom>
          <a:solidFill>
            <a:srgbClr val="F5A623"/>
          </a:solidFill>
          <a:ln w="12700">
            <a:solidFill>
              <a:srgbClr val="F5A623">
                <a:alpha val="0"/>
              </a:srgbClr>
            </a:solidFill>
            <a:prstDash val="solid"/>
          </a:ln>
        </p:spPr>
        <p:txBody>
          <a:bodyPr/>
          <a:lstStyle/>
          <a:p>
            <a:endParaRPr lang="en-US"/>
          </a:p>
        </p:txBody>
      </p:sp>
      <p:sp>
        <p:nvSpPr>
          <p:cNvPr id="156" name="Text 154"/>
          <p:cNvSpPr/>
          <p:nvPr/>
        </p:nvSpPr>
        <p:spPr>
          <a:xfrm>
            <a:off x="7278624" y="818388"/>
            <a:ext cx="1188720" cy="237744"/>
          </a:xfrm>
          <a:prstGeom prst="rect">
            <a:avLst/>
          </a:prstGeom>
          <a:noFill/>
          <a:ln/>
        </p:spPr>
        <p:txBody>
          <a:bodyPr wrap="square" lIns="0" tIns="0" rIns="0" bIns="0" rtlCol="0" anchor="ctr"/>
          <a:lstStyle/>
          <a:p>
            <a:pPr marL="0" indent="0" algn="ctr">
              <a:buNone/>
            </a:pPr>
            <a:r>
              <a:rPr lang="en-US" sz="850" b="1" dirty="0">
                <a:solidFill>
                  <a:srgbClr val="633806"/>
                </a:solidFill>
                <a:latin typeface="Georgia" pitchFamily="34" charset="0"/>
                <a:ea typeface="Georgia" pitchFamily="34" charset="-122"/>
                <a:cs typeface="Georgia" pitchFamily="34" charset="-120"/>
              </a:rPr>
              <a:t>Guardrails (post)</a:t>
            </a:r>
            <a:endParaRPr lang="en-US" sz="850" dirty="0"/>
          </a:p>
        </p:txBody>
      </p:sp>
      <p:sp>
        <p:nvSpPr>
          <p:cNvPr id="157" name="Shape 155"/>
          <p:cNvSpPr/>
          <p:nvPr/>
        </p:nvSpPr>
        <p:spPr>
          <a:xfrm>
            <a:off x="7351776" y="1097280"/>
            <a:ext cx="1042416" cy="384048"/>
          </a:xfrm>
          <a:prstGeom prst="rect">
            <a:avLst/>
          </a:prstGeom>
          <a:solidFill>
            <a:srgbClr val="FDD17A"/>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158" name="Text 156"/>
          <p:cNvSpPr/>
          <p:nvPr/>
        </p:nvSpPr>
        <p:spPr>
          <a:xfrm>
            <a:off x="7351776" y="1097280"/>
            <a:ext cx="1042416" cy="384048"/>
          </a:xfrm>
          <a:prstGeom prst="rect">
            <a:avLst/>
          </a:prstGeom>
          <a:noFill/>
          <a:ln/>
        </p:spPr>
        <p:txBody>
          <a:bodyPr wrap="square" lIns="0" tIns="0" rIns="0" bIns="0" rtlCol="0" anchor="ctr"/>
          <a:lstStyle/>
          <a:p>
            <a:pPr marL="0" indent="0" algn="ctr">
              <a:buNone/>
            </a:pPr>
            <a:r>
              <a:rPr lang="en-US" sz="800" dirty="0">
                <a:solidFill>
                  <a:srgbClr val="633806"/>
                </a:solidFill>
                <a:latin typeface="Calibri" pitchFamily="34" charset="0"/>
                <a:ea typeface="Calibri" pitchFamily="34" charset="-122"/>
                <a:cs typeface="Calibri" pitchFamily="34" charset="-120"/>
              </a:rPr>
              <a:t>Naming enforcer</a:t>
            </a:r>
            <a:endParaRPr lang="en-US" sz="800" dirty="0"/>
          </a:p>
        </p:txBody>
      </p:sp>
      <p:sp>
        <p:nvSpPr>
          <p:cNvPr id="159" name="Shape 157"/>
          <p:cNvSpPr/>
          <p:nvPr/>
        </p:nvSpPr>
        <p:spPr>
          <a:xfrm>
            <a:off x="7351776" y="1554480"/>
            <a:ext cx="1042416" cy="384048"/>
          </a:xfrm>
          <a:prstGeom prst="rect">
            <a:avLst/>
          </a:prstGeom>
          <a:solidFill>
            <a:srgbClr val="FDD17A"/>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160" name="Text 158"/>
          <p:cNvSpPr/>
          <p:nvPr/>
        </p:nvSpPr>
        <p:spPr>
          <a:xfrm>
            <a:off x="7351776" y="1554480"/>
            <a:ext cx="1042416" cy="384048"/>
          </a:xfrm>
          <a:prstGeom prst="rect">
            <a:avLst/>
          </a:prstGeom>
          <a:noFill/>
          <a:ln/>
        </p:spPr>
        <p:txBody>
          <a:bodyPr wrap="square" lIns="0" tIns="0" rIns="0" bIns="0" rtlCol="0" anchor="ctr"/>
          <a:lstStyle/>
          <a:p>
            <a:pPr marL="0" indent="0" algn="ctr">
              <a:buNone/>
            </a:pPr>
            <a:r>
              <a:rPr lang="en-US" sz="800" dirty="0">
                <a:solidFill>
                  <a:srgbClr val="633806"/>
                </a:solidFill>
                <a:latin typeface="Calibri" pitchFamily="34" charset="0"/>
                <a:ea typeface="Calibri" pitchFamily="34" charset="-122"/>
                <a:cs typeface="Calibri" pitchFamily="34" charset="-120"/>
              </a:rPr>
              <a:t>Security patterns</a:t>
            </a:r>
            <a:endParaRPr lang="en-US" sz="800" dirty="0"/>
          </a:p>
        </p:txBody>
      </p:sp>
      <p:sp>
        <p:nvSpPr>
          <p:cNvPr id="161" name="Shape 159"/>
          <p:cNvSpPr/>
          <p:nvPr/>
        </p:nvSpPr>
        <p:spPr>
          <a:xfrm>
            <a:off x="7351776" y="2011680"/>
            <a:ext cx="1042416" cy="384048"/>
          </a:xfrm>
          <a:prstGeom prst="rect">
            <a:avLst/>
          </a:prstGeom>
          <a:solidFill>
            <a:srgbClr val="FDD17A"/>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162" name="Text 160"/>
          <p:cNvSpPr/>
          <p:nvPr/>
        </p:nvSpPr>
        <p:spPr>
          <a:xfrm>
            <a:off x="7351776" y="2011680"/>
            <a:ext cx="1042416" cy="384048"/>
          </a:xfrm>
          <a:prstGeom prst="rect">
            <a:avLst/>
          </a:prstGeom>
          <a:noFill/>
          <a:ln/>
        </p:spPr>
        <p:txBody>
          <a:bodyPr wrap="square" lIns="0" tIns="0" rIns="0" bIns="0" rtlCol="0" anchor="ctr"/>
          <a:lstStyle/>
          <a:p>
            <a:pPr marL="0" indent="0" algn="ctr">
              <a:buNone/>
            </a:pPr>
            <a:r>
              <a:rPr lang="en-US" sz="800" dirty="0">
                <a:solidFill>
                  <a:srgbClr val="633806"/>
                </a:solidFill>
                <a:latin typeface="Calibri" pitchFamily="34" charset="0"/>
                <a:ea typeface="Calibri" pitchFamily="34" charset="-122"/>
                <a:cs typeface="Calibri" pitchFamily="34" charset="-120"/>
              </a:rPr>
              <a:t>License headers</a:t>
            </a:r>
            <a:endParaRPr lang="en-US" sz="800" dirty="0"/>
          </a:p>
        </p:txBody>
      </p:sp>
      <p:sp>
        <p:nvSpPr>
          <p:cNvPr id="163" name="Shape 161"/>
          <p:cNvSpPr/>
          <p:nvPr/>
        </p:nvSpPr>
        <p:spPr>
          <a:xfrm>
            <a:off x="7351776" y="2468880"/>
            <a:ext cx="1042416" cy="384048"/>
          </a:xfrm>
          <a:prstGeom prst="rect">
            <a:avLst/>
          </a:prstGeom>
          <a:solidFill>
            <a:srgbClr val="FDD17A"/>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164" name="Text 162"/>
          <p:cNvSpPr/>
          <p:nvPr/>
        </p:nvSpPr>
        <p:spPr>
          <a:xfrm>
            <a:off x="7351776" y="2468880"/>
            <a:ext cx="1042416" cy="384048"/>
          </a:xfrm>
          <a:prstGeom prst="rect">
            <a:avLst/>
          </a:prstGeom>
          <a:noFill/>
          <a:ln/>
        </p:spPr>
        <p:txBody>
          <a:bodyPr wrap="square" lIns="0" tIns="0" rIns="0" bIns="0" rtlCol="0" anchor="ctr"/>
          <a:lstStyle/>
          <a:p>
            <a:pPr marL="0" indent="0" algn="ctr">
              <a:buNone/>
            </a:pPr>
            <a:r>
              <a:rPr lang="en-US" sz="800" dirty="0">
                <a:solidFill>
                  <a:srgbClr val="633806"/>
                </a:solidFill>
                <a:latin typeface="Calibri" pitchFamily="34" charset="0"/>
                <a:ea typeface="Calibri" pitchFamily="34" charset="-122"/>
                <a:cs typeface="Calibri" pitchFamily="34" charset="-120"/>
              </a:rPr>
              <a:t>No-regression</a:t>
            </a:r>
            <a:endParaRPr lang="en-US" sz="800" dirty="0"/>
          </a:p>
        </p:txBody>
      </p:sp>
      <p:sp>
        <p:nvSpPr>
          <p:cNvPr id="165" name="Shape 163"/>
          <p:cNvSpPr/>
          <p:nvPr/>
        </p:nvSpPr>
        <p:spPr>
          <a:xfrm>
            <a:off x="7351776" y="2962656"/>
            <a:ext cx="1042416" cy="201168"/>
          </a:xfrm>
          <a:prstGeom prst="rect">
            <a:avLst/>
          </a:prstGeom>
          <a:solidFill>
            <a:srgbClr val="E05252"/>
          </a:solidFill>
          <a:ln w="6350">
            <a:solidFill>
              <a:srgbClr val="E05252"/>
            </a:solidFill>
            <a:prstDash val="solid"/>
          </a:ln>
          <a:effectLst>
            <a:outerShdw blurRad="76200" dist="25400" dir="8100000" algn="bl" rotWithShape="0">
              <a:srgbClr val="000000">
                <a:alpha val="10000"/>
              </a:srgbClr>
            </a:outerShdw>
          </a:effectLst>
        </p:spPr>
        <p:txBody>
          <a:bodyPr/>
          <a:lstStyle/>
          <a:p>
            <a:endParaRPr lang="en-US"/>
          </a:p>
        </p:txBody>
      </p:sp>
      <p:sp>
        <p:nvSpPr>
          <p:cNvPr id="166" name="Text 164"/>
          <p:cNvSpPr/>
          <p:nvPr/>
        </p:nvSpPr>
        <p:spPr>
          <a:xfrm>
            <a:off x="7351776" y="2962656"/>
            <a:ext cx="104241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BLOCK</a:t>
            </a:r>
            <a:endParaRPr lang="en-US" sz="800" dirty="0"/>
          </a:p>
        </p:txBody>
      </p:sp>
      <p:sp>
        <p:nvSpPr>
          <p:cNvPr id="167" name="Shape 165"/>
          <p:cNvSpPr/>
          <p:nvPr/>
        </p:nvSpPr>
        <p:spPr>
          <a:xfrm>
            <a:off x="7351776" y="3218688"/>
            <a:ext cx="1042416" cy="201168"/>
          </a:xfrm>
          <a:prstGeom prst="rect">
            <a:avLst/>
          </a:prstGeom>
          <a:solidFill>
            <a:srgbClr val="F5A623"/>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168" name="Text 166"/>
          <p:cNvSpPr/>
          <p:nvPr/>
        </p:nvSpPr>
        <p:spPr>
          <a:xfrm>
            <a:off x="7351776" y="3218688"/>
            <a:ext cx="104241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WARN</a:t>
            </a:r>
            <a:endParaRPr lang="en-US" sz="800" dirty="0"/>
          </a:p>
        </p:txBody>
      </p:sp>
      <p:sp>
        <p:nvSpPr>
          <p:cNvPr id="169" name="Shape 167"/>
          <p:cNvSpPr/>
          <p:nvPr/>
        </p:nvSpPr>
        <p:spPr>
          <a:xfrm>
            <a:off x="7351776" y="3474720"/>
            <a:ext cx="1042416" cy="201168"/>
          </a:xfrm>
          <a:prstGeom prst="rect">
            <a:avLst/>
          </a:prstGeom>
          <a:solidFill>
            <a:srgbClr val="1D9E75"/>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170" name="Text 168"/>
          <p:cNvSpPr/>
          <p:nvPr/>
        </p:nvSpPr>
        <p:spPr>
          <a:xfrm>
            <a:off x="7351776" y="3474720"/>
            <a:ext cx="104241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PASS</a:t>
            </a:r>
            <a:endParaRPr lang="en-US" sz="800" dirty="0"/>
          </a:p>
        </p:txBody>
      </p:sp>
      <p:sp>
        <p:nvSpPr>
          <p:cNvPr id="171" name="Shape 169"/>
          <p:cNvSpPr/>
          <p:nvPr/>
        </p:nvSpPr>
        <p:spPr>
          <a:xfrm>
            <a:off x="7333488" y="3785616"/>
            <a:ext cx="1078992" cy="201168"/>
          </a:xfrm>
          <a:prstGeom prst="rect">
            <a:avLst/>
          </a:prstGeom>
          <a:solidFill>
            <a:srgbClr val="FDD17A"/>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172" name="Text 170"/>
          <p:cNvSpPr/>
          <p:nvPr/>
        </p:nvSpPr>
        <p:spPr>
          <a:xfrm>
            <a:off x="7333488" y="3785616"/>
            <a:ext cx="1078992" cy="201168"/>
          </a:xfrm>
          <a:prstGeom prst="rect">
            <a:avLst/>
          </a:prstGeom>
          <a:noFill/>
          <a:ln/>
        </p:spPr>
        <p:txBody>
          <a:bodyPr wrap="square" lIns="0" tIns="0" rIns="0" bIns="0" rtlCol="0" anchor="ctr"/>
          <a:lstStyle/>
          <a:p>
            <a:pPr marL="0" indent="0" algn="ctr">
              <a:buNone/>
            </a:pPr>
            <a:r>
              <a:rPr lang="en-US" sz="750" b="1" dirty="0">
                <a:solidFill>
                  <a:srgbClr val="633806"/>
                </a:solidFill>
                <a:latin typeface="Calibri" pitchFamily="34" charset="0"/>
                <a:ea typeface="Calibri" pitchFamily="34" charset="-122"/>
                <a:cs typeface="Calibri" pitchFamily="34" charset="-120"/>
              </a:rPr>
              <a:t>Post-review checks</a:t>
            </a:r>
            <a:endParaRPr lang="en-US" sz="750" dirty="0"/>
          </a:p>
        </p:txBody>
      </p:sp>
      <p:sp>
        <p:nvSpPr>
          <p:cNvPr id="173" name="Text 171"/>
          <p:cNvSpPr/>
          <p:nvPr/>
        </p:nvSpPr>
        <p:spPr>
          <a:xfrm>
            <a:off x="7370064" y="4023360"/>
            <a:ext cx="1060704" cy="219456"/>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Enterprise naming</a:t>
            </a:r>
            <a:endParaRPr lang="en-US" sz="750" dirty="0"/>
          </a:p>
        </p:txBody>
      </p:sp>
      <p:sp>
        <p:nvSpPr>
          <p:cNvPr id="174" name="Text 172"/>
          <p:cNvSpPr/>
          <p:nvPr/>
        </p:nvSpPr>
        <p:spPr>
          <a:xfrm>
            <a:off x="7370064" y="4279392"/>
            <a:ext cx="1060704" cy="219456"/>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No OGNL in output</a:t>
            </a:r>
            <a:endParaRPr lang="en-US" sz="750" dirty="0"/>
          </a:p>
        </p:txBody>
      </p:sp>
      <p:sp>
        <p:nvSpPr>
          <p:cNvPr id="175" name="Text 173"/>
          <p:cNvSpPr/>
          <p:nvPr/>
        </p:nvSpPr>
        <p:spPr>
          <a:xfrm>
            <a:off x="7370064" y="4535424"/>
            <a:ext cx="1060704" cy="219456"/>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@Valid on DTOs</a:t>
            </a:r>
            <a:endParaRPr lang="en-US" sz="750" dirty="0"/>
          </a:p>
        </p:txBody>
      </p:sp>
      <p:sp>
        <p:nvSpPr>
          <p:cNvPr id="176" name="Text 174"/>
          <p:cNvSpPr/>
          <p:nvPr/>
        </p:nvSpPr>
        <p:spPr>
          <a:xfrm>
            <a:off x="7370064" y="4791456"/>
            <a:ext cx="1060704" cy="219456"/>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OWASP patterns</a:t>
            </a:r>
            <a:endParaRPr lang="en-US" sz="750" dirty="0"/>
          </a:p>
        </p:txBody>
      </p:sp>
      <p:sp>
        <p:nvSpPr>
          <p:cNvPr id="177" name="Text 175"/>
          <p:cNvSpPr/>
          <p:nvPr/>
        </p:nvSpPr>
        <p:spPr>
          <a:xfrm>
            <a:off x="7370064" y="5047488"/>
            <a:ext cx="1060704" cy="219456"/>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Copyright header</a:t>
            </a:r>
            <a:endParaRPr lang="en-US" sz="750" dirty="0"/>
          </a:p>
        </p:txBody>
      </p:sp>
      <p:sp>
        <p:nvSpPr>
          <p:cNvPr id="178" name="Shape 176"/>
          <p:cNvSpPr/>
          <p:nvPr/>
        </p:nvSpPr>
        <p:spPr>
          <a:xfrm>
            <a:off x="7278624" y="6345936"/>
            <a:ext cx="1188720" cy="91440"/>
          </a:xfrm>
          <a:prstGeom prst="rect">
            <a:avLst/>
          </a:prstGeom>
          <a:solidFill>
            <a:srgbClr val="F5A623"/>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179" name="Text 177"/>
          <p:cNvSpPr/>
          <p:nvPr/>
        </p:nvSpPr>
        <p:spPr>
          <a:xfrm>
            <a:off x="7278624" y="6345936"/>
            <a:ext cx="1188720" cy="91440"/>
          </a:xfrm>
          <a:prstGeom prst="rect">
            <a:avLst/>
          </a:prstGeom>
          <a:noFill/>
          <a:ln/>
        </p:spPr>
        <p:txBody>
          <a:bodyPr wrap="square" lIns="0" tIns="0" rIns="0" bIns="0" rtlCol="0" anchor="ctr"/>
          <a:lstStyle/>
          <a:p>
            <a:pPr marL="0" indent="0" algn="ctr">
              <a:buNone/>
            </a:pPr>
            <a:r>
              <a:rPr lang="en-US" sz="700" b="1" dirty="0">
                <a:solidFill>
                  <a:srgbClr val="0A1628"/>
                </a:solidFill>
                <a:latin typeface="Calibri" pitchFamily="34" charset="0"/>
                <a:ea typeface="Calibri" pitchFamily="34" charset="-122"/>
                <a:cs typeface="Calibri" pitchFamily="34" charset="-120"/>
              </a:rPr>
              <a:t>Sonnet 4.5</a:t>
            </a:r>
            <a:endParaRPr lang="en-US" sz="700" dirty="0"/>
          </a:p>
        </p:txBody>
      </p:sp>
      <p:sp>
        <p:nvSpPr>
          <p:cNvPr id="180" name="Shape 178"/>
          <p:cNvSpPr/>
          <p:nvPr/>
        </p:nvSpPr>
        <p:spPr>
          <a:xfrm>
            <a:off x="8467344" y="1426464"/>
            <a:ext cx="128016" cy="22860"/>
          </a:xfrm>
          <a:prstGeom prst="rect">
            <a:avLst/>
          </a:prstGeom>
          <a:solidFill>
            <a:srgbClr val="F5A623">
              <a:alpha val="50000"/>
            </a:srgbClr>
          </a:solidFill>
          <a:ln w="12700">
            <a:solidFill>
              <a:srgbClr val="F5A623">
                <a:alpha val="0"/>
              </a:srgbClr>
            </a:solidFill>
            <a:prstDash val="solid"/>
          </a:ln>
        </p:spPr>
        <p:txBody>
          <a:bodyPr/>
          <a:lstStyle/>
          <a:p>
            <a:endParaRPr lang="en-US"/>
          </a:p>
        </p:txBody>
      </p:sp>
      <p:sp>
        <p:nvSpPr>
          <p:cNvPr id="181" name="Shape 179"/>
          <p:cNvSpPr/>
          <p:nvPr/>
        </p:nvSpPr>
        <p:spPr>
          <a:xfrm>
            <a:off x="8595360" y="768096"/>
            <a:ext cx="1417320" cy="347472"/>
          </a:xfrm>
          <a:prstGeom prst="rect">
            <a:avLst/>
          </a:prstGeom>
          <a:solidFill>
            <a:srgbClr val="E05252"/>
          </a:solidFill>
          <a:ln w="19050">
            <a:solidFill>
              <a:srgbClr val="E05252"/>
            </a:solidFill>
            <a:prstDash val="solid"/>
          </a:ln>
          <a:effectLst>
            <a:outerShdw blurRad="76200" dist="25400" dir="8100000" algn="bl" rotWithShape="0">
              <a:srgbClr val="000000">
                <a:alpha val="10000"/>
              </a:srgbClr>
            </a:outerShdw>
          </a:effectLst>
        </p:spPr>
        <p:txBody>
          <a:bodyPr/>
          <a:lstStyle/>
          <a:p>
            <a:endParaRPr lang="en-US"/>
          </a:p>
        </p:txBody>
      </p:sp>
      <p:sp>
        <p:nvSpPr>
          <p:cNvPr id="182" name="Text 180"/>
          <p:cNvSpPr/>
          <p:nvPr/>
        </p:nvSpPr>
        <p:spPr>
          <a:xfrm>
            <a:off x="8595360" y="768096"/>
            <a:ext cx="1417320"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itchFamily="34" charset="0"/>
                <a:ea typeface="Georgia" pitchFamily="34" charset="-122"/>
                <a:cs typeface="Georgia" pitchFamily="34" charset="-120"/>
              </a:rPr>
              <a:t>STRUTS ELIMINATED</a:t>
            </a:r>
            <a:endParaRPr lang="en-US" sz="900" dirty="0"/>
          </a:p>
        </p:txBody>
      </p:sp>
      <p:sp>
        <p:nvSpPr>
          <p:cNvPr id="183" name="Shape 181"/>
          <p:cNvSpPr/>
          <p:nvPr/>
        </p:nvSpPr>
        <p:spPr>
          <a:xfrm>
            <a:off x="8595360" y="1152144"/>
            <a:ext cx="1417320" cy="2048256"/>
          </a:xfrm>
          <a:prstGeom prst="rect">
            <a:avLst/>
          </a:prstGeom>
          <a:solidFill>
            <a:srgbClr val="E1F5EE"/>
          </a:solidFill>
          <a:ln w="1524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184" name="Shape 182"/>
          <p:cNvSpPr/>
          <p:nvPr/>
        </p:nvSpPr>
        <p:spPr>
          <a:xfrm>
            <a:off x="8595360" y="1152144"/>
            <a:ext cx="1417320" cy="43891"/>
          </a:xfrm>
          <a:prstGeom prst="rect">
            <a:avLst/>
          </a:prstGeom>
          <a:solidFill>
            <a:srgbClr val="1D9E75"/>
          </a:solidFill>
          <a:ln w="12700">
            <a:solidFill>
              <a:srgbClr val="1D9E75">
                <a:alpha val="0"/>
              </a:srgbClr>
            </a:solidFill>
            <a:prstDash val="solid"/>
          </a:ln>
        </p:spPr>
        <p:txBody>
          <a:bodyPr/>
          <a:lstStyle/>
          <a:p>
            <a:endParaRPr lang="en-US"/>
          </a:p>
        </p:txBody>
      </p:sp>
      <p:sp>
        <p:nvSpPr>
          <p:cNvPr id="185" name="Text 183"/>
          <p:cNvSpPr/>
          <p:nvPr/>
        </p:nvSpPr>
        <p:spPr>
          <a:xfrm>
            <a:off x="8595360" y="1202436"/>
            <a:ext cx="1417320" cy="237744"/>
          </a:xfrm>
          <a:prstGeom prst="rect">
            <a:avLst/>
          </a:prstGeom>
          <a:noFill/>
          <a:ln/>
        </p:spPr>
        <p:txBody>
          <a:bodyPr wrap="square" lIns="0" tIns="0" rIns="0" bIns="0" rtlCol="0" anchor="ctr"/>
          <a:lstStyle/>
          <a:p>
            <a:pPr marL="0" indent="0" algn="ctr">
              <a:buNone/>
            </a:pPr>
            <a:r>
              <a:rPr lang="en-US" sz="850" b="1" dirty="0">
                <a:solidFill>
                  <a:srgbClr val="085041"/>
                </a:solidFill>
                <a:latin typeface="Georgia" pitchFamily="34" charset="0"/>
                <a:ea typeface="Georgia" pitchFamily="34" charset="-122"/>
                <a:cs typeface="Georgia" pitchFamily="34" charset="-120"/>
              </a:rPr>
              <a:t>Target — pure Spring MVC</a:t>
            </a:r>
            <a:endParaRPr lang="en-US" sz="850" dirty="0"/>
          </a:p>
        </p:txBody>
      </p:sp>
      <p:sp>
        <p:nvSpPr>
          <p:cNvPr id="186" name="Shape 184"/>
          <p:cNvSpPr/>
          <p:nvPr/>
        </p:nvSpPr>
        <p:spPr>
          <a:xfrm>
            <a:off x="8668512" y="1463040"/>
            <a:ext cx="1271016" cy="237744"/>
          </a:xfrm>
          <a:prstGeom prst="rect">
            <a:avLst/>
          </a:prstGeom>
          <a:solidFill>
            <a:srgbClr val="C7EAD8"/>
          </a:solidFill>
          <a:ln w="508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187" name="Text 185"/>
          <p:cNvSpPr/>
          <p:nvPr/>
        </p:nvSpPr>
        <p:spPr>
          <a:xfrm>
            <a:off x="8705088" y="1463040"/>
            <a:ext cx="678942" cy="237744"/>
          </a:xfrm>
          <a:prstGeom prst="rect">
            <a:avLst/>
          </a:prstGeom>
          <a:noFill/>
          <a:ln/>
        </p:spPr>
        <p:txBody>
          <a:bodyPr wrap="square" lIns="0" tIns="0" rIns="0" bIns="0" rtlCol="0" anchor="ctr"/>
          <a:lstStyle/>
          <a:p>
            <a:pPr marL="0" indent="0" algn="l">
              <a:buNone/>
            </a:pPr>
            <a:r>
              <a:rPr lang="en-US" sz="750" b="1" dirty="0">
                <a:solidFill>
                  <a:srgbClr val="085041"/>
                </a:solidFill>
                <a:latin typeface="Calibri" pitchFamily="34" charset="0"/>
                <a:ea typeface="Calibri" pitchFamily="34" charset="-122"/>
                <a:cs typeface="Calibri" pitchFamily="34" charset="-120"/>
              </a:rPr>
              <a:t>@Controller</a:t>
            </a:r>
            <a:endParaRPr lang="en-US" sz="750" dirty="0"/>
          </a:p>
        </p:txBody>
      </p:sp>
      <p:sp>
        <p:nvSpPr>
          <p:cNvPr id="188" name="Text 186"/>
          <p:cNvSpPr/>
          <p:nvPr/>
        </p:nvSpPr>
        <p:spPr>
          <a:xfrm>
            <a:off x="9384030" y="1463040"/>
            <a:ext cx="555498" cy="237744"/>
          </a:xfrm>
          <a:prstGeom prst="rect">
            <a:avLst/>
          </a:prstGeom>
          <a:noFill/>
          <a:ln/>
        </p:spPr>
        <p:txBody>
          <a:bodyPr wrap="square" lIns="0" tIns="0" rIns="0" bIns="0" rtlCol="0" anchor="ctr"/>
          <a:lstStyle/>
          <a:p>
            <a:pPr marL="0" indent="0" algn="l">
              <a:buNone/>
            </a:pPr>
            <a:r>
              <a:rPr lang="en-US" sz="650" dirty="0">
                <a:solidFill>
                  <a:srgbClr val="7A95B4"/>
                </a:solidFill>
                <a:latin typeface="Calibri" pitchFamily="34" charset="0"/>
                <a:ea typeface="Calibri" pitchFamily="34" charset="-122"/>
                <a:cs typeface="Calibri" pitchFamily="34" charset="-120"/>
              </a:rPr>
              <a:t>no ActionSupport</a:t>
            </a:r>
            <a:endParaRPr lang="en-US" sz="650" dirty="0"/>
          </a:p>
        </p:txBody>
      </p:sp>
      <p:sp>
        <p:nvSpPr>
          <p:cNvPr id="189" name="Shape 187"/>
          <p:cNvSpPr/>
          <p:nvPr/>
        </p:nvSpPr>
        <p:spPr>
          <a:xfrm>
            <a:off x="8668512" y="1737360"/>
            <a:ext cx="1271016" cy="237744"/>
          </a:xfrm>
          <a:prstGeom prst="rect">
            <a:avLst/>
          </a:prstGeom>
          <a:solidFill>
            <a:srgbClr val="C7EAD8"/>
          </a:solidFill>
          <a:ln w="508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190" name="Text 188"/>
          <p:cNvSpPr/>
          <p:nvPr/>
        </p:nvSpPr>
        <p:spPr>
          <a:xfrm>
            <a:off x="8705088" y="1737360"/>
            <a:ext cx="678942" cy="237744"/>
          </a:xfrm>
          <a:prstGeom prst="rect">
            <a:avLst/>
          </a:prstGeom>
          <a:noFill/>
          <a:ln/>
        </p:spPr>
        <p:txBody>
          <a:bodyPr wrap="square" lIns="0" tIns="0" rIns="0" bIns="0" rtlCol="0" anchor="ctr"/>
          <a:lstStyle/>
          <a:p>
            <a:pPr marL="0" indent="0" algn="l">
              <a:buNone/>
            </a:pPr>
            <a:r>
              <a:rPr lang="en-US" sz="750" b="1" dirty="0">
                <a:solidFill>
                  <a:srgbClr val="085041"/>
                </a:solidFill>
                <a:latin typeface="Calibri" pitchFamily="34" charset="0"/>
                <a:ea typeface="Calibri" pitchFamily="34" charset="-122"/>
                <a:cs typeface="Calibri" pitchFamily="34" charset="-120"/>
              </a:rPr>
              <a:t>@RequestMapping</a:t>
            </a:r>
            <a:endParaRPr lang="en-US" sz="750" dirty="0"/>
          </a:p>
        </p:txBody>
      </p:sp>
      <p:sp>
        <p:nvSpPr>
          <p:cNvPr id="191" name="Text 189"/>
          <p:cNvSpPr/>
          <p:nvPr/>
        </p:nvSpPr>
        <p:spPr>
          <a:xfrm>
            <a:off x="9384030" y="1737360"/>
            <a:ext cx="555498" cy="237744"/>
          </a:xfrm>
          <a:prstGeom prst="rect">
            <a:avLst/>
          </a:prstGeom>
          <a:noFill/>
          <a:ln/>
        </p:spPr>
        <p:txBody>
          <a:bodyPr wrap="square" lIns="0" tIns="0" rIns="0" bIns="0" rtlCol="0" anchor="ctr"/>
          <a:lstStyle/>
          <a:p>
            <a:pPr marL="0" indent="0" algn="l">
              <a:buNone/>
            </a:pPr>
            <a:r>
              <a:rPr lang="en-US" sz="650" dirty="0">
                <a:solidFill>
                  <a:srgbClr val="7A95B4"/>
                </a:solidFill>
                <a:latin typeface="Calibri" pitchFamily="34" charset="0"/>
                <a:ea typeface="Calibri" pitchFamily="34" charset="-122"/>
                <a:cs typeface="Calibri" pitchFamily="34" charset="-120"/>
              </a:rPr>
              <a:t>no struts.xml</a:t>
            </a:r>
            <a:endParaRPr lang="en-US" sz="650" dirty="0"/>
          </a:p>
        </p:txBody>
      </p:sp>
      <p:sp>
        <p:nvSpPr>
          <p:cNvPr id="192" name="Shape 190"/>
          <p:cNvSpPr/>
          <p:nvPr/>
        </p:nvSpPr>
        <p:spPr>
          <a:xfrm>
            <a:off x="8668512" y="2011680"/>
            <a:ext cx="1271016" cy="237744"/>
          </a:xfrm>
          <a:prstGeom prst="rect">
            <a:avLst/>
          </a:prstGeom>
          <a:solidFill>
            <a:srgbClr val="C7EAD8"/>
          </a:solidFill>
          <a:ln w="508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193" name="Text 191"/>
          <p:cNvSpPr/>
          <p:nvPr/>
        </p:nvSpPr>
        <p:spPr>
          <a:xfrm>
            <a:off x="8705088" y="2011680"/>
            <a:ext cx="678942" cy="237744"/>
          </a:xfrm>
          <a:prstGeom prst="rect">
            <a:avLst/>
          </a:prstGeom>
          <a:noFill/>
          <a:ln/>
        </p:spPr>
        <p:txBody>
          <a:bodyPr wrap="square" lIns="0" tIns="0" rIns="0" bIns="0" rtlCol="0" anchor="ctr"/>
          <a:lstStyle/>
          <a:p>
            <a:pPr marL="0" indent="0" algn="l">
              <a:buNone/>
            </a:pPr>
            <a:r>
              <a:rPr lang="en-US" sz="750" b="1" dirty="0">
                <a:solidFill>
                  <a:srgbClr val="085041"/>
                </a:solidFill>
                <a:latin typeface="Calibri" pitchFamily="34" charset="0"/>
                <a:ea typeface="Calibri" pitchFamily="34" charset="-122"/>
                <a:cs typeface="Calibri" pitchFamily="34" charset="-120"/>
              </a:rPr>
              <a:t>@ModelAttribute</a:t>
            </a:r>
            <a:endParaRPr lang="en-US" sz="750" dirty="0"/>
          </a:p>
        </p:txBody>
      </p:sp>
      <p:sp>
        <p:nvSpPr>
          <p:cNvPr id="194" name="Text 192"/>
          <p:cNvSpPr/>
          <p:nvPr/>
        </p:nvSpPr>
        <p:spPr>
          <a:xfrm>
            <a:off x="9384030" y="2011680"/>
            <a:ext cx="555498" cy="237744"/>
          </a:xfrm>
          <a:prstGeom prst="rect">
            <a:avLst/>
          </a:prstGeom>
          <a:noFill/>
          <a:ln/>
        </p:spPr>
        <p:txBody>
          <a:bodyPr wrap="square" lIns="0" tIns="0" rIns="0" bIns="0" rtlCol="0" anchor="ctr"/>
          <a:lstStyle/>
          <a:p>
            <a:pPr marL="0" indent="0" algn="l">
              <a:buNone/>
            </a:pPr>
            <a:r>
              <a:rPr lang="en-US" sz="650" dirty="0">
                <a:solidFill>
                  <a:srgbClr val="7A95B4"/>
                </a:solidFill>
                <a:latin typeface="Calibri" pitchFamily="34" charset="0"/>
                <a:ea typeface="Calibri" pitchFamily="34" charset="-122"/>
                <a:cs typeface="Calibri" pitchFamily="34" charset="-120"/>
              </a:rPr>
              <a:t>no ActionForm</a:t>
            </a:r>
            <a:endParaRPr lang="en-US" sz="650" dirty="0"/>
          </a:p>
        </p:txBody>
      </p:sp>
      <p:sp>
        <p:nvSpPr>
          <p:cNvPr id="195" name="Shape 193"/>
          <p:cNvSpPr/>
          <p:nvPr/>
        </p:nvSpPr>
        <p:spPr>
          <a:xfrm>
            <a:off x="8668512" y="2286000"/>
            <a:ext cx="1271016" cy="237744"/>
          </a:xfrm>
          <a:prstGeom prst="rect">
            <a:avLst/>
          </a:prstGeom>
          <a:solidFill>
            <a:srgbClr val="C7EAD8"/>
          </a:solidFill>
          <a:ln w="508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196" name="Text 194"/>
          <p:cNvSpPr/>
          <p:nvPr/>
        </p:nvSpPr>
        <p:spPr>
          <a:xfrm>
            <a:off x="8705088" y="2286000"/>
            <a:ext cx="678942" cy="237744"/>
          </a:xfrm>
          <a:prstGeom prst="rect">
            <a:avLst/>
          </a:prstGeom>
          <a:noFill/>
          <a:ln/>
        </p:spPr>
        <p:txBody>
          <a:bodyPr wrap="square" lIns="0" tIns="0" rIns="0" bIns="0" rtlCol="0" anchor="ctr"/>
          <a:lstStyle/>
          <a:p>
            <a:pPr marL="0" indent="0" algn="l">
              <a:buNone/>
            </a:pPr>
            <a:r>
              <a:rPr lang="en-US" sz="750" b="1" dirty="0">
                <a:solidFill>
                  <a:srgbClr val="085041"/>
                </a:solidFill>
                <a:latin typeface="Calibri" pitchFamily="34" charset="0"/>
                <a:ea typeface="Calibri" pitchFamily="34" charset="-122"/>
                <a:cs typeface="Calibri" pitchFamily="34" charset="-120"/>
              </a:rPr>
              <a:t>HandlerInterceptor</a:t>
            </a:r>
            <a:endParaRPr lang="en-US" sz="750" dirty="0"/>
          </a:p>
        </p:txBody>
      </p:sp>
      <p:sp>
        <p:nvSpPr>
          <p:cNvPr id="197" name="Text 195"/>
          <p:cNvSpPr/>
          <p:nvPr/>
        </p:nvSpPr>
        <p:spPr>
          <a:xfrm>
            <a:off x="9384030" y="2286000"/>
            <a:ext cx="555498" cy="237744"/>
          </a:xfrm>
          <a:prstGeom prst="rect">
            <a:avLst/>
          </a:prstGeom>
          <a:noFill/>
          <a:ln/>
        </p:spPr>
        <p:txBody>
          <a:bodyPr wrap="square" lIns="0" tIns="0" rIns="0" bIns="0" rtlCol="0" anchor="ctr"/>
          <a:lstStyle/>
          <a:p>
            <a:pPr marL="0" indent="0" algn="l">
              <a:buNone/>
            </a:pPr>
            <a:r>
              <a:rPr lang="en-US" sz="650" dirty="0">
                <a:solidFill>
                  <a:srgbClr val="7A95B4"/>
                </a:solidFill>
                <a:latin typeface="Calibri" pitchFamily="34" charset="0"/>
                <a:ea typeface="Calibri" pitchFamily="34" charset="-122"/>
                <a:cs typeface="Calibri" pitchFamily="34" charset="-120"/>
              </a:rPr>
              <a:t>no S2 interceptors</a:t>
            </a:r>
            <a:endParaRPr lang="en-US" sz="650" dirty="0"/>
          </a:p>
        </p:txBody>
      </p:sp>
      <p:sp>
        <p:nvSpPr>
          <p:cNvPr id="198" name="Shape 196"/>
          <p:cNvSpPr/>
          <p:nvPr/>
        </p:nvSpPr>
        <p:spPr>
          <a:xfrm>
            <a:off x="8668512" y="2560320"/>
            <a:ext cx="1271016" cy="237744"/>
          </a:xfrm>
          <a:prstGeom prst="rect">
            <a:avLst/>
          </a:prstGeom>
          <a:solidFill>
            <a:srgbClr val="C7EAD8"/>
          </a:solidFill>
          <a:ln w="508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199" name="Text 197"/>
          <p:cNvSpPr/>
          <p:nvPr/>
        </p:nvSpPr>
        <p:spPr>
          <a:xfrm>
            <a:off x="8705088" y="2560320"/>
            <a:ext cx="678942" cy="237744"/>
          </a:xfrm>
          <a:prstGeom prst="rect">
            <a:avLst/>
          </a:prstGeom>
          <a:noFill/>
          <a:ln/>
        </p:spPr>
        <p:txBody>
          <a:bodyPr wrap="square" lIns="0" tIns="0" rIns="0" bIns="0" rtlCol="0" anchor="ctr"/>
          <a:lstStyle/>
          <a:p>
            <a:pPr marL="0" indent="0" algn="l">
              <a:buNone/>
            </a:pPr>
            <a:r>
              <a:rPr lang="en-US" sz="750" b="1" dirty="0">
                <a:solidFill>
                  <a:srgbClr val="085041"/>
                </a:solidFill>
                <a:latin typeface="Calibri" pitchFamily="34" charset="0"/>
                <a:ea typeface="Calibri" pitchFamily="34" charset="-122"/>
                <a:cs typeface="Calibri" pitchFamily="34" charset="-120"/>
              </a:rPr>
              <a:t>&lt;form:&gt; / JSTL</a:t>
            </a:r>
            <a:endParaRPr lang="en-US" sz="750" dirty="0"/>
          </a:p>
        </p:txBody>
      </p:sp>
      <p:sp>
        <p:nvSpPr>
          <p:cNvPr id="200" name="Text 198"/>
          <p:cNvSpPr/>
          <p:nvPr/>
        </p:nvSpPr>
        <p:spPr>
          <a:xfrm>
            <a:off x="9384030" y="2560320"/>
            <a:ext cx="555498" cy="237744"/>
          </a:xfrm>
          <a:prstGeom prst="rect">
            <a:avLst/>
          </a:prstGeom>
          <a:noFill/>
          <a:ln/>
        </p:spPr>
        <p:txBody>
          <a:bodyPr wrap="square" lIns="0" tIns="0" rIns="0" bIns="0" rtlCol="0" anchor="ctr"/>
          <a:lstStyle/>
          <a:p>
            <a:pPr marL="0" indent="0" algn="l">
              <a:buNone/>
            </a:pPr>
            <a:r>
              <a:rPr lang="en-US" sz="650" dirty="0">
                <a:solidFill>
                  <a:srgbClr val="7A95B4"/>
                </a:solidFill>
                <a:latin typeface="Calibri" pitchFamily="34" charset="0"/>
                <a:ea typeface="Calibri" pitchFamily="34" charset="-122"/>
                <a:cs typeface="Calibri" pitchFamily="34" charset="-120"/>
              </a:rPr>
              <a:t>no &lt;s:&gt; tags</a:t>
            </a:r>
            <a:endParaRPr lang="en-US" sz="650" dirty="0"/>
          </a:p>
        </p:txBody>
      </p:sp>
      <p:sp>
        <p:nvSpPr>
          <p:cNvPr id="201" name="Shape 199"/>
          <p:cNvSpPr/>
          <p:nvPr/>
        </p:nvSpPr>
        <p:spPr>
          <a:xfrm>
            <a:off x="8668512" y="2834640"/>
            <a:ext cx="1271016" cy="237744"/>
          </a:xfrm>
          <a:prstGeom prst="rect">
            <a:avLst/>
          </a:prstGeom>
          <a:solidFill>
            <a:srgbClr val="C7EAD8"/>
          </a:solidFill>
          <a:ln w="508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202" name="Text 200"/>
          <p:cNvSpPr/>
          <p:nvPr/>
        </p:nvSpPr>
        <p:spPr>
          <a:xfrm>
            <a:off x="8705088" y="2834640"/>
            <a:ext cx="678942" cy="237744"/>
          </a:xfrm>
          <a:prstGeom prst="rect">
            <a:avLst/>
          </a:prstGeom>
          <a:noFill/>
          <a:ln/>
        </p:spPr>
        <p:txBody>
          <a:bodyPr wrap="square" lIns="0" tIns="0" rIns="0" bIns="0" rtlCol="0" anchor="ctr"/>
          <a:lstStyle/>
          <a:p>
            <a:pPr marL="0" indent="0" algn="l">
              <a:buNone/>
            </a:pPr>
            <a:r>
              <a:rPr lang="en-US" sz="750" b="1" dirty="0">
                <a:solidFill>
                  <a:srgbClr val="085041"/>
                </a:solidFill>
                <a:latin typeface="Calibri" pitchFamily="34" charset="0"/>
                <a:ea typeface="Calibri" pitchFamily="34" charset="-122"/>
                <a:cs typeface="Calibri" pitchFamily="34" charset="-120"/>
              </a:rPr>
              <a:t>${} EL only</a:t>
            </a:r>
            <a:endParaRPr lang="en-US" sz="750" dirty="0"/>
          </a:p>
        </p:txBody>
      </p:sp>
      <p:sp>
        <p:nvSpPr>
          <p:cNvPr id="203" name="Text 201"/>
          <p:cNvSpPr/>
          <p:nvPr/>
        </p:nvSpPr>
        <p:spPr>
          <a:xfrm>
            <a:off x="9384030" y="2834640"/>
            <a:ext cx="555498" cy="237744"/>
          </a:xfrm>
          <a:prstGeom prst="rect">
            <a:avLst/>
          </a:prstGeom>
          <a:noFill/>
          <a:ln/>
        </p:spPr>
        <p:txBody>
          <a:bodyPr wrap="square" lIns="0" tIns="0" rIns="0" bIns="0" rtlCol="0" anchor="ctr"/>
          <a:lstStyle/>
          <a:p>
            <a:pPr marL="0" indent="0" algn="l">
              <a:buNone/>
            </a:pPr>
            <a:r>
              <a:rPr lang="en-US" sz="650" dirty="0">
                <a:solidFill>
                  <a:srgbClr val="7A95B4"/>
                </a:solidFill>
                <a:latin typeface="Calibri" pitchFamily="34" charset="0"/>
                <a:ea typeface="Calibri" pitchFamily="34" charset="-122"/>
                <a:cs typeface="Calibri" pitchFamily="34" charset="-120"/>
              </a:rPr>
              <a:t>no OGNL %{...}</a:t>
            </a:r>
            <a:endParaRPr lang="en-US" sz="650" dirty="0"/>
          </a:p>
        </p:txBody>
      </p:sp>
      <p:sp>
        <p:nvSpPr>
          <p:cNvPr id="204" name="Shape 202"/>
          <p:cNvSpPr/>
          <p:nvPr/>
        </p:nvSpPr>
        <p:spPr>
          <a:xfrm>
            <a:off x="8650224" y="3108960"/>
            <a:ext cx="1307592" cy="36576"/>
          </a:xfrm>
          <a:prstGeom prst="rect">
            <a:avLst/>
          </a:prstGeom>
          <a:solidFill>
            <a:srgbClr val="E05252"/>
          </a:solidFill>
          <a:ln w="5080">
            <a:solidFill>
              <a:srgbClr val="E05252"/>
            </a:solidFill>
            <a:prstDash val="solid"/>
          </a:ln>
          <a:effectLst>
            <a:outerShdw blurRad="76200" dist="25400" dir="8100000" algn="bl" rotWithShape="0">
              <a:srgbClr val="000000">
                <a:alpha val="10000"/>
              </a:srgbClr>
            </a:outerShdw>
          </a:effectLst>
        </p:spPr>
        <p:txBody>
          <a:bodyPr/>
          <a:lstStyle/>
          <a:p>
            <a:endParaRPr lang="en-US"/>
          </a:p>
        </p:txBody>
      </p:sp>
      <p:sp>
        <p:nvSpPr>
          <p:cNvPr id="205" name="Shape 203"/>
          <p:cNvSpPr/>
          <p:nvPr/>
        </p:nvSpPr>
        <p:spPr>
          <a:xfrm>
            <a:off x="8595360" y="3163824"/>
            <a:ext cx="1417320" cy="347472"/>
          </a:xfrm>
          <a:prstGeom prst="rect">
            <a:avLst/>
          </a:prstGeom>
          <a:solidFill>
            <a:srgbClr val="173404"/>
          </a:solidFill>
          <a:ln w="1270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206" name="Text 204"/>
          <p:cNvSpPr/>
          <p:nvPr/>
        </p:nvSpPr>
        <p:spPr>
          <a:xfrm>
            <a:off x="8595360" y="3163824"/>
            <a:ext cx="1417320" cy="347472"/>
          </a:xfrm>
          <a:prstGeom prst="rect">
            <a:avLst/>
          </a:prstGeom>
          <a:noFill/>
          <a:ln/>
        </p:spPr>
        <p:txBody>
          <a:bodyPr wrap="square" lIns="0" tIns="0" rIns="0" bIns="0" rtlCol="0" anchor="ctr"/>
          <a:lstStyle/>
          <a:p>
            <a:pPr marL="0" indent="0" algn="ctr">
              <a:buNone/>
            </a:pPr>
            <a:r>
              <a:rPr lang="en-US" sz="800" b="1" dirty="0">
                <a:solidFill>
                  <a:srgbClr val="1D9E75"/>
                </a:solidFill>
                <a:latin typeface="Calibri" pitchFamily="34" charset="0"/>
                <a:ea typeface="Calibri" pitchFamily="34" charset="-122"/>
                <a:cs typeface="Calibri" pitchFamily="34" charset="-120"/>
              </a:rPr>
              <a:t>Zero Struts in output</a:t>
            </a:r>
            <a:endParaRPr lang="en-US" sz="800" dirty="0"/>
          </a:p>
        </p:txBody>
      </p:sp>
      <p:sp>
        <p:nvSpPr>
          <p:cNvPr id="207" name="Shape 205"/>
          <p:cNvSpPr/>
          <p:nvPr/>
        </p:nvSpPr>
        <p:spPr>
          <a:xfrm>
            <a:off x="8595360" y="3621024"/>
            <a:ext cx="1417320" cy="1152144"/>
          </a:xfrm>
          <a:prstGeom prst="rect">
            <a:avLst/>
          </a:prstGeom>
          <a:solidFill>
            <a:srgbClr val="FEF6E7"/>
          </a:solidFill>
          <a:ln w="1524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208" name="Shape 206"/>
          <p:cNvSpPr/>
          <p:nvPr/>
        </p:nvSpPr>
        <p:spPr>
          <a:xfrm>
            <a:off x="8595360" y="3621024"/>
            <a:ext cx="1417320" cy="43891"/>
          </a:xfrm>
          <a:prstGeom prst="rect">
            <a:avLst/>
          </a:prstGeom>
          <a:solidFill>
            <a:srgbClr val="F5A623"/>
          </a:solidFill>
          <a:ln w="12700">
            <a:solidFill>
              <a:srgbClr val="F5A623">
                <a:alpha val="0"/>
              </a:srgbClr>
            </a:solidFill>
            <a:prstDash val="solid"/>
          </a:ln>
        </p:spPr>
        <p:txBody>
          <a:bodyPr/>
          <a:lstStyle/>
          <a:p>
            <a:endParaRPr lang="en-US"/>
          </a:p>
        </p:txBody>
      </p:sp>
      <p:sp>
        <p:nvSpPr>
          <p:cNvPr id="209" name="Text 207"/>
          <p:cNvSpPr/>
          <p:nvPr/>
        </p:nvSpPr>
        <p:spPr>
          <a:xfrm>
            <a:off x="8595360" y="3671316"/>
            <a:ext cx="1417320" cy="237744"/>
          </a:xfrm>
          <a:prstGeom prst="rect">
            <a:avLst/>
          </a:prstGeom>
          <a:noFill/>
          <a:ln/>
        </p:spPr>
        <p:txBody>
          <a:bodyPr wrap="square" lIns="0" tIns="0" rIns="0" bIns="0" rtlCol="0" anchor="ctr"/>
          <a:lstStyle/>
          <a:p>
            <a:pPr marL="0" indent="0" algn="ctr">
              <a:buNone/>
            </a:pPr>
            <a:r>
              <a:rPr lang="en-US" sz="850" b="1" dirty="0">
                <a:solidFill>
                  <a:srgbClr val="633806"/>
                </a:solidFill>
                <a:latin typeface="Georgia" pitchFamily="34" charset="0"/>
                <a:ea typeface="Georgia" pitchFamily="34" charset="-122"/>
                <a:cs typeface="Georgia" pitchFamily="34" charset="-120"/>
              </a:rPr>
              <a:t>Manual review queue</a:t>
            </a:r>
            <a:endParaRPr lang="en-US" sz="850" dirty="0"/>
          </a:p>
        </p:txBody>
      </p:sp>
      <p:sp>
        <p:nvSpPr>
          <p:cNvPr id="210" name="Text 208"/>
          <p:cNvSpPr/>
          <p:nvPr/>
        </p:nvSpPr>
        <p:spPr>
          <a:xfrm>
            <a:off x="8686800" y="3931920"/>
            <a:ext cx="1307592" cy="164592"/>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manual-review-queue.json</a:t>
            </a:r>
            <a:endParaRPr lang="en-US" sz="750" dirty="0"/>
          </a:p>
        </p:txBody>
      </p:sp>
      <p:sp>
        <p:nvSpPr>
          <p:cNvPr id="211" name="Text 209"/>
          <p:cNvSpPr/>
          <p:nvPr/>
        </p:nvSpPr>
        <p:spPr>
          <a:xfrm>
            <a:off x="8686800" y="4096512"/>
            <a:ext cx="1307592" cy="164592"/>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review_portal.py</a:t>
            </a:r>
            <a:endParaRPr lang="en-US" sz="750" dirty="0"/>
          </a:p>
        </p:txBody>
      </p:sp>
      <p:sp>
        <p:nvSpPr>
          <p:cNvPr id="212" name="Text 210"/>
          <p:cNvSpPr/>
          <p:nvPr/>
        </p:nvSpPr>
        <p:spPr>
          <a:xfrm>
            <a:off x="8686800" y="4261104"/>
            <a:ext cx="1307592" cy="164592"/>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Full context: original</a:t>
            </a:r>
            <a:endParaRPr lang="en-US" sz="750" dirty="0"/>
          </a:p>
        </p:txBody>
      </p:sp>
      <p:sp>
        <p:nvSpPr>
          <p:cNvPr id="213" name="Text 211"/>
          <p:cNvSpPr/>
          <p:nvPr/>
        </p:nvSpPr>
        <p:spPr>
          <a:xfrm>
            <a:off x="8686800" y="4425696"/>
            <a:ext cx="1307592" cy="164592"/>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 transformed + verdicts</a:t>
            </a:r>
            <a:endParaRPr lang="en-US" sz="750" dirty="0"/>
          </a:p>
        </p:txBody>
      </p:sp>
      <p:sp>
        <p:nvSpPr>
          <p:cNvPr id="214" name="Text 212"/>
          <p:cNvSpPr/>
          <p:nvPr/>
        </p:nvSpPr>
        <p:spPr>
          <a:xfrm>
            <a:off x="8686800" y="4590288"/>
            <a:ext cx="1307592" cy="164592"/>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Engineer: approve/reject</a:t>
            </a:r>
            <a:endParaRPr lang="en-US" sz="750" dirty="0"/>
          </a:p>
        </p:txBody>
      </p:sp>
      <p:sp>
        <p:nvSpPr>
          <p:cNvPr id="215" name="Shape 213"/>
          <p:cNvSpPr/>
          <p:nvPr/>
        </p:nvSpPr>
        <p:spPr>
          <a:xfrm>
            <a:off x="8595360" y="4919472"/>
            <a:ext cx="1417320" cy="1517904"/>
          </a:xfrm>
          <a:prstGeom prst="rect">
            <a:avLst/>
          </a:prstGeom>
          <a:solidFill>
            <a:srgbClr val="0F2040"/>
          </a:solidFill>
          <a:ln w="9525">
            <a:solidFill>
              <a:srgbClr val="626E7B"/>
            </a:solidFill>
            <a:prstDash val="solid"/>
          </a:ln>
          <a:effectLst>
            <a:outerShdw blurRad="76200" dist="25400" dir="8100000" algn="bl" rotWithShape="0">
              <a:srgbClr val="000000">
                <a:alpha val="10000"/>
              </a:srgbClr>
            </a:outerShdw>
          </a:effectLst>
        </p:spPr>
        <p:txBody>
          <a:bodyPr/>
          <a:lstStyle/>
          <a:p>
            <a:endParaRPr lang="en-US"/>
          </a:p>
        </p:txBody>
      </p:sp>
      <p:sp>
        <p:nvSpPr>
          <p:cNvPr id="216" name="Text 214"/>
          <p:cNvSpPr/>
          <p:nvPr/>
        </p:nvSpPr>
        <p:spPr>
          <a:xfrm>
            <a:off x="8595360" y="4974336"/>
            <a:ext cx="1417320" cy="201168"/>
          </a:xfrm>
          <a:prstGeom prst="rect">
            <a:avLst/>
          </a:prstGeom>
          <a:noFill/>
          <a:ln/>
        </p:spPr>
        <p:txBody>
          <a:bodyPr wrap="square" lIns="0" tIns="0" rIns="0" bIns="0" rtlCol="0" anchor="ctr"/>
          <a:lstStyle/>
          <a:p>
            <a:pPr marL="0" indent="0" algn="ctr">
              <a:buNone/>
            </a:pPr>
            <a:r>
              <a:rPr lang="en-US" sz="750" b="1" dirty="0">
                <a:solidFill>
                  <a:srgbClr val="7A95B4"/>
                </a:solidFill>
                <a:latin typeface="Calibri" pitchFamily="34" charset="0"/>
                <a:ea typeface="Calibri" pitchFamily="34" charset="-122"/>
                <a:cs typeface="Calibri" pitchFamily="34" charset="-120"/>
              </a:rPr>
              <a:t>State machine</a:t>
            </a:r>
            <a:endParaRPr lang="en-US" sz="750" dirty="0"/>
          </a:p>
        </p:txBody>
      </p:sp>
      <p:sp>
        <p:nvSpPr>
          <p:cNvPr id="217" name="Shape 215"/>
          <p:cNvSpPr/>
          <p:nvPr/>
        </p:nvSpPr>
        <p:spPr>
          <a:xfrm>
            <a:off x="8668512" y="5212080"/>
            <a:ext cx="1271016" cy="164592"/>
          </a:xfrm>
          <a:prstGeom prst="rect">
            <a:avLst/>
          </a:prstGeom>
          <a:solidFill>
            <a:srgbClr val="7A95B4"/>
          </a:solidFill>
          <a:ln w="6350">
            <a:solidFill>
              <a:srgbClr val="7A95B4"/>
            </a:solidFill>
            <a:prstDash val="solid"/>
          </a:ln>
          <a:effectLst>
            <a:outerShdw blurRad="76200" dist="25400" dir="8100000" algn="bl" rotWithShape="0">
              <a:srgbClr val="000000">
                <a:alpha val="10000"/>
              </a:srgbClr>
            </a:outerShdw>
          </a:effectLst>
        </p:spPr>
        <p:txBody>
          <a:bodyPr/>
          <a:lstStyle/>
          <a:p>
            <a:endParaRPr lang="en-US"/>
          </a:p>
        </p:txBody>
      </p:sp>
      <p:sp>
        <p:nvSpPr>
          <p:cNvPr id="218" name="Text 216"/>
          <p:cNvSpPr/>
          <p:nvPr/>
        </p:nvSpPr>
        <p:spPr>
          <a:xfrm>
            <a:off x="8668512" y="5212080"/>
            <a:ext cx="1271016" cy="16459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PENDING</a:t>
            </a:r>
            <a:endParaRPr lang="en-US" sz="700" dirty="0"/>
          </a:p>
        </p:txBody>
      </p:sp>
      <p:sp>
        <p:nvSpPr>
          <p:cNvPr id="219" name="Shape 217"/>
          <p:cNvSpPr/>
          <p:nvPr/>
        </p:nvSpPr>
        <p:spPr>
          <a:xfrm>
            <a:off x="8668512" y="5413248"/>
            <a:ext cx="1271016" cy="164592"/>
          </a:xfrm>
          <a:prstGeom prst="rect">
            <a:avLst/>
          </a:prstGeom>
          <a:solidFill>
            <a:srgbClr val="3B82C4"/>
          </a:solidFill>
          <a:ln w="6350">
            <a:solidFill>
              <a:srgbClr val="3B82C4"/>
            </a:solidFill>
            <a:prstDash val="solid"/>
          </a:ln>
          <a:effectLst>
            <a:outerShdw blurRad="76200" dist="25400" dir="8100000" algn="bl" rotWithShape="0">
              <a:srgbClr val="000000">
                <a:alpha val="10000"/>
              </a:srgbClr>
            </a:outerShdw>
          </a:effectLst>
        </p:spPr>
        <p:txBody>
          <a:bodyPr/>
          <a:lstStyle/>
          <a:p>
            <a:endParaRPr lang="en-US"/>
          </a:p>
        </p:txBody>
      </p:sp>
      <p:sp>
        <p:nvSpPr>
          <p:cNvPr id="220" name="Text 218"/>
          <p:cNvSpPr/>
          <p:nvPr/>
        </p:nvSpPr>
        <p:spPr>
          <a:xfrm>
            <a:off x="8668512" y="5413248"/>
            <a:ext cx="1271016" cy="16459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TRANSFORMING</a:t>
            </a:r>
            <a:endParaRPr lang="en-US" sz="700" dirty="0"/>
          </a:p>
        </p:txBody>
      </p:sp>
      <p:sp>
        <p:nvSpPr>
          <p:cNvPr id="221" name="Shape 219"/>
          <p:cNvSpPr/>
          <p:nvPr/>
        </p:nvSpPr>
        <p:spPr>
          <a:xfrm>
            <a:off x="8668512" y="5614416"/>
            <a:ext cx="1271016" cy="164592"/>
          </a:xfrm>
          <a:prstGeom prst="rect">
            <a:avLst/>
          </a:prstGeom>
          <a:solidFill>
            <a:srgbClr val="534AB7"/>
          </a:solidFill>
          <a:ln w="6350">
            <a:solidFill>
              <a:srgbClr val="534AB7"/>
            </a:solidFill>
            <a:prstDash val="solid"/>
          </a:ln>
          <a:effectLst>
            <a:outerShdw blurRad="76200" dist="25400" dir="8100000" algn="bl" rotWithShape="0">
              <a:srgbClr val="000000">
                <a:alpha val="10000"/>
              </a:srgbClr>
            </a:outerShdw>
          </a:effectLst>
        </p:spPr>
        <p:txBody>
          <a:bodyPr/>
          <a:lstStyle/>
          <a:p>
            <a:endParaRPr lang="en-US"/>
          </a:p>
        </p:txBody>
      </p:sp>
      <p:sp>
        <p:nvSpPr>
          <p:cNvPr id="222" name="Text 220"/>
          <p:cNvSpPr/>
          <p:nvPr/>
        </p:nvSpPr>
        <p:spPr>
          <a:xfrm>
            <a:off x="8668512" y="5614416"/>
            <a:ext cx="1271016" cy="16459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REVIEWING</a:t>
            </a:r>
            <a:endParaRPr lang="en-US" sz="700" dirty="0"/>
          </a:p>
        </p:txBody>
      </p:sp>
      <p:sp>
        <p:nvSpPr>
          <p:cNvPr id="223" name="Shape 221"/>
          <p:cNvSpPr/>
          <p:nvPr/>
        </p:nvSpPr>
        <p:spPr>
          <a:xfrm>
            <a:off x="8668512" y="5815584"/>
            <a:ext cx="1271016" cy="164592"/>
          </a:xfrm>
          <a:prstGeom prst="rect">
            <a:avLst/>
          </a:prstGeom>
          <a:solidFill>
            <a:srgbClr val="F5A623"/>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224" name="Text 222"/>
          <p:cNvSpPr/>
          <p:nvPr/>
        </p:nvSpPr>
        <p:spPr>
          <a:xfrm>
            <a:off x="8668512" y="5815584"/>
            <a:ext cx="1271016" cy="16459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RETRY 1/2</a:t>
            </a:r>
            <a:endParaRPr lang="en-US" sz="700" dirty="0"/>
          </a:p>
        </p:txBody>
      </p:sp>
      <p:sp>
        <p:nvSpPr>
          <p:cNvPr id="225" name="Shape 223"/>
          <p:cNvSpPr/>
          <p:nvPr/>
        </p:nvSpPr>
        <p:spPr>
          <a:xfrm>
            <a:off x="8668512" y="6016752"/>
            <a:ext cx="1271016" cy="164592"/>
          </a:xfrm>
          <a:prstGeom prst="rect">
            <a:avLst/>
          </a:prstGeom>
          <a:solidFill>
            <a:srgbClr val="1D9E75"/>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226" name="Text 224"/>
          <p:cNvSpPr/>
          <p:nvPr/>
        </p:nvSpPr>
        <p:spPr>
          <a:xfrm>
            <a:off x="8668512" y="6016752"/>
            <a:ext cx="1271016" cy="16459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DONE</a:t>
            </a:r>
            <a:endParaRPr lang="en-US" sz="700" dirty="0"/>
          </a:p>
        </p:txBody>
      </p:sp>
      <p:sp>
        <p:nvSpPr>
          <p:cNvPr id="227" name="Shape 225"/>
          <p:cNvSpPr/>
          <p:nvPr/>
        </p:nvSpPr>
        <p:spPr>
          <a:xfrm>
            <a:off x="8668512" y="6217920"/>
            <a:ext cx="1271016" cy="164592"/>
          </a:xfrm>
          <a:prstGeom prst="rect">
            <a:avLst/>
          </a:prstGeom>
          <a:solidFill>
            <a:srgbClr val="E05252"/>
          </a:solidFill>
          <a:ln w="6350">
            <a:solidFill>
              <a:srgbClr val="E05252"/>
            </a:solidFill>
            <a:prstDash val="solid"/>
          </a:ln>
          <a:effectLst>
            <a:outerShdw blurRad="76200" dist="25400" dir="8100000" algn="bl" rotWithShape="0">
              <a:srgbClr val="000000">
                <a:alpha val="10000"/>
              </a:srgbClr>
            </a:outerShdw>
          </a:effectLst>
        </p:spPr>
        <p:txBody>
          <a:bodyPr/>
          <a:lstStyle/>
          <a:p>
            <a:endParaRPr lang="en-US"/>
          </a:p>
        </p:txBody>
      </p:sp>
      <p:sp>
        <p:nvSpPr>
          <p:cNvPr id="228" name="Text 226"/>
          <p:cNvSpPr/>
          <p:nvPr/>
        </p:nvSpPr>
        <p:spPr>
          <a:xfrm>
            <a:off x="8668512" y="6217920"/>
            <a:ext cx="1271016" cy="16459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MANUAL_REVIEW</a:t>
            </a:r>
            <a:endParaRPr lang="en-US" sz="700" dirty="0"/>
          </a:p>
        </p:txBody>
      </p:sp>
      <p:sp>
        <p:nvSpPr>
          <p:cNvPr id="229" name="Shape 227"/>
          <p:cNvSpPr/>
          <p:nvPr/>
        </p:nvSpPr>
        <p:spPr>
          <a:xfrm>
            <a:off x="10149840" y="768096"/>
            <a:ext cx="1874520" cy="1792224"/>
          </a:xfrm>
          <a:prstGeom prst="rect">
            <a:avLst/>
          </a:prstGeom>
          <a:solidFill>
            <a:srgbClr val="E6F1FB"/>
          </a:solidFill>
          <a:ln w="12700">
            <a:solidFill>
              <a:srgbClr val="3B82C4"/>
            </a:solidFill>
            <a:prstDash val="solid"/>
          </a:ln>
          <a:effectLst>
            <a:outerShdw blurRad="76200" dist="25400" dir="8100000" algn="bl" rotWithShape="0">
              <a:srgbClr val="000000">
                <a:alpha val="10000"/>
              </a:srgbClr>
            </a:outerShdw>
          </a:effectLst>
        </p:spPr>
        <p:txBody>
          <a:bodyPr/>
          <a:lstStyle/>
          <a:p>
            <a:endParaRPr lang="en-US"/>
          </a:p>
        </p:txBody>
      </p:sp>
      <p:sp>
        <p:nvSpPr>
          <p:cNvPr id="230" name="Shape 228"/>
          <p:cNvSpPr/>
          <p:nvPr/>
        </p:nvSpPr>
        <p:spPr>
          <a:xfrm>
            <a:off x="10149840" y="768096"/>
            <a:ext cx="1874520" cy="43891"/>
          </a:xfrm>
          <a:prstGeom prst="rect">
            <a:avLst/>
          </a:prstGeom>
          <a:solidFill>
            <a:srgbClr val="3B82C4"/>
          </a:solidFill>
          <a:ln w="12700">
            <a:solidFill>
              <a:srgbClr val="3B82C4">
                <a:alpha val="0"/>
              </a:srgbClr>
            </a:solidFill>
            <a:prstDash val="solid"/>
          </a:ln>
        </p:spPr>
        <p:txBody>
          <a:bodyPr/>
          <a:lstStyle/>
          <a:p>
            <a:endParaRPr lang="en-US"/>
          </a:p>
        </p:txBody>
      </p:sp>
      <p:sp>
        <p:nvSpPr>
          <p:cNvPr id="231" name="Text 229"/>
          <p:cNvSpPr/>
          <p:nvPr/>
        </p:nvSpPr>
        <p:spPr>
          <a:xfrm>
            <a:off x="10149840" y="818388"/>
            <a:ext cx="1874520" cy="237744"/>
          </a:xfrm>
          <a:prstGeom prst="rect">
            <a:avLst/>
          </a:prstGeom>
          <a:noFill/>
          <a:ln/>
        </p:spPr>
        <p:txBody>
          <a:bodyPr wrap="square" lIns="0" tIns="0" rIns="0" bIns="0" rtlCol="0" anchor="ctr"/>
          <a:lstStyle/>
          <a:p>
            <a:pPr marL="0" indent="0" algn="ctr">
              <a:buNone/>
            </a:pPr>
            <a:r>
              <a:rPr lang="en-US" sz="850" b="1" dirty="0">
                <a:solidFill>
                  <a:srgbClr val="042C53"/>
                </a:solidFill>
                <a:latin typeface="Georgia" pitchFamily="34" charset="0"/>
                <a:ea typeface="Georgia" pitchFamily="34" charset="-122"/>
                <a:cs typeface="Georgia" pitchFamily="34" charset="-120"/>
              </a:rPr>
              <a:t>AWS Bedrock</a:t>
            </a:r>
            <a:endParaRPr lang="en-US" sz="850" dirty="0"/>
          </a:p>
        </p:txBody>
      </p:sp>
      <p:sp>
        <p:nvSpPr>
          <p:cNvPr id="232" name="Text 230"/>
          <p:cNvSpPr/>
          <p:nvPr/>
        </p:nvSpPr>
        <p:spPr>
          <a:xfrm>
            <a:off x="10241280" y="1106424"/>
            <a:ext cx="1746504" cy="182880"/>
          </a:xfrm>
          <a:prstGeom prst="rect">
            <a:avLst/>
          </a:prstGeom>
          <a:noFill/>
          <a:ln/>
        </p:spPr>
        <p:txBody>
          <a:bodyPr wrap="square" lIns="0" tIns="0" rIns="0" bIns="0" rtlCol="0" anchor="ctr"/>
          <a:lstStyle/>
          <a:p>
            <a:pPr marL="0" indent="0" algn="l">
              <a:buNone/>
            </a:pPr>
            <a:r>
              <a:rPr lang="en-US" sz="750" dirty="0">
                <a:solidFill>
                  <a:srgbClr val="7A95B4"/>
                </a:solidFill>
                <a:latin typeface="Calibri" pitchFamily="34" charset="0"/>
                <a:ea typeface="Calibri" pitchFamily="34" charset="-122"/>
                <a:cs typeface="Calibri" pitchFamily="34" charset="-120"/>
              </a:rPr>
              <a:t>Transform &amp; Leader &amp; Guardrails</a:t>
            </a:r>
            <a:endParaRPr lang="en-US" sz="750" dirty="0"/>
          </a:p>
        </p:txBody>
      </p:sp>
      <p:sp>
        <p:nvSpPr>
          <p:cNvPr id="233" name="Text 231"/>
          <p:cNvSpPr/>
          <p:nvPr/>
        </p:nvSpPr>
        <p:spPr>
          <a:xfrm>
            <a:off x="10241280" y="1271016"/>
            <a:ext cx="1746504" cy="146304"/>
          </a:xfrm>
          <a:prstGeom prst="rect">
            <a:avLst/>
          </a:prstGeom>
          <a:noFill/>
          <a:ln/>
        </p:spPr>
        <p:txBody>
          <a:bodyPr wrap="square" lIns="0" tIns="0" rIns="0" bIns="0" rtlCol="0" anchor="ctr"/>
          <a:lstStyle/>
          <a:p>
            <a:pPr marL="0" indent="0" algn="l">
              <a:buNone/>
            </a:pPr>
            <a:r>
              <a:rPr lang="en-US" sz="750" b="1" dirty="0">
                <a:solidFill>
                  <a:srgbClr val="042C53"/>
                </a:solidFill>
                <a:latin typeface="Calibri" pitchFamily="34" charset="0"/>
                <a:ea typeface="Calibri" pitchFamily="34" charset="-122"/>
                <a:cs typeface="Calibri" pitchFamily="34" charset="-120"/>
              </a:rPr>
              <a:t>Claude Sonnet 4.5</a:t>
            </a:r>
            <a:endParaRPr lang="en-US" sz="750" dirty="0"/>
          </a:p>
        </p:txBody>
      </p:sp>
      <p:sp>
        <p:nvSpPr>
          <p:cNvPr id="234" name="Text 232"/>
          <p:cNvSpPr/>
          <p:nvPr/>
        </p:nvSpPr>
        <p:spPr>
          <a:xfrm>
            <a:off x="10241280" y="1453896"/>
            <a:ext cx="1746504" cy="182880"/>
          </a:xfrm>
          <a:prstGeom prst="rect">
            <a:avLst/>
          </a:prstGeom>
          <a:noFill/>
          <a:ln/>
        </p:spPr>
        <p:txBody>
          <a:bodyPr wrap="square" lIns="0" tIns="0" rIns="0" bIns="0" rtlCol="0" anchor="ctr"/>
          <a:lstStyle/>
          <a:p>
            <a:pPr marL="0" indent="0" algn="l">
              <a:buNone/>
            </a:pPr>
            <a:r>
              <a:rPr lang="en-US" sz="750" dirty="0">
                <a:solidFill>
                  <a:srgbClr val="7A95B4"/>
                </a:solidFill>
                <a:latin typeface="Calibri" pitchFamily="34" charset="0"/>
                <a:ea typeface="Calibri" pitchFamily="34" charset="-122"/>
                <a:cs typeface="Calibri" pitchFamily="34" charset="-120"/>
              </a:rPr>
              <a:t>Review agents (cross-model)</a:t>
            </a:r>
            <a:endParaRPr lang="en-US" sz="750" dirty="0"/>
          </a:p>
        </p:txBody>
      </p:sp>
      <p:sp>
        <p:nvSpPr>
          <p:cNvPr id="235" name="Text 233"/>
          <p:cNvSpPr/>
          <p:nvPr/>
        </p:nvSpPr>
        <p:spPr>
          <a:xfrm>
            <a:off x="10241280" y="1618488"/>
            <a:ext cx="1746504" cy="146304"/>
          </a:xfrm>
          <a:prstGeom prst="rect">
            <a:avLst/>
          </a:prstGeom>
          <a:noFill/>
          <a:ln/>
        </p:spPr>
        <p:txBody>
          <a:bodyPr wrap="square" lIns="0" tIns="0" rIns="0" bIns="0" rtlCol="0" anchor="ctr"/>
          <a:lstStyle/>
          <a:p>
            <a:pPr marL="0" indent="0" algn="l">
              <a:buNone/>
            </a:pPr>
            <a:r>
              <a:rPr lang="en-US" sz="750" b="1" dirty="0">
                <a:solidFill>
                  <a:srgbClr val="042C53"/>
                </a:solidFill>
                <a:latin typeface="Calibri" pitchFamily="34" charset="0"/>
                <a:ea typeface="Calibri" pitchFamily="34" charset="-122"/>
                <a:cs typeface="Calibri" pitchFamily="34" charset="-120"/>
              </a:rPr>
              <a:t>Amazon Nova Pro</a:t>
            </a:r>
            <a:endParaRPr lang="en-US" sz="750" dirty="0"/>
          </a:p>
        </p:txBody>
      </p:sp>
      <p:sp>
        <p:nvSpPr>
          <p:cNvPr id="236" name="Text 234"/>
          <p:cNvSpPr/>
          <p:nvPr/>
        </p:nvSpPr>
        <p:spPr>
          <a:xfrm>
            <a:off x="10241280" y="1801368"/>
            <a:ext cx="1746504" cy="182880"/>
          </a:xfrm>
          <a:prstGeom prst="rect">
            <a:avLst/>
          </a:prstGeom>
          <a:noFill/>
          <a:ln/>
        </p:spPr>
        <p:txBody>
          <a:bodyPr wrap="square" lIns="0" tIns="0" rIns="0" bIns="0" rtlCol="0" anchor="ctr"/>
          <a:lstStyle/>
          <a:p>
            <a:pPr marL="0" indent="0" algn="l">
              <a:buNone/>
            </a:pPr>
            <a:r>
              <a:rPr lang="en-US" sz="750" dirty="0">
                <a:solidFill>
                  <a:srgbClr val="7A95B4"/>
                </a:solidFill>
                <a:latin typeface="Calibri" pitchFamily="34" charset="0"/>
                <a:ea typeface="Calibri" pitchFamily="34" charset="-122"/>
                <a:cs typeface="Calibri" pitchFamily="34" charset="-120"/>
              </a:rPr>
              <a:t>Embeddings (KB)</a:t>
            </a:r>
            <a:endParaRPr lang="en-US" sz="750" dirty="0"/>
          </a:p>
        </p:txBody>
      </p:sp>
      <p:sp>
        <p:nvSpPr>
          <p:cNvPr id="237" name="Text 235"/>
          <p:cNvSpPr/>
          <p:nvPr/>
        </p:nvSpPr>
        <p:spPr>
          <a:xfrm>
            <a:off x="10241280" y="1965960"/>
            <a:ext cx="1746504" cy="146304"/>
          </a:xfrm>
          <a:prstGeom prst="rect">
            <a:avLst/>
          </a:prstGeom>
          <a:noFill/>
          <a:ln/>
        </p:spPr>
        <p:txBody>
          <a:bodyPr wrap="square" lIns="0" tIns="0" rIns="0" bIns="0" rtlCol="0" anchor="ctr"/>
          <a:lstStyle/>
          <a:p>
            <a:pPr marL="0" indent="0" algn="l">
              <a:buNone/>
            </a:pPr>
            <a:r>
              <a:rPr lang="en-US" sz="750" b="1" dirty="0">
                <a:solidFill>
                  <a:srgbClr val="042C53"/>
                </a:solidFill>
                <a:latin typeface="Calibri" pitchFamily="34" charset="0"/>
                <a:ea typeface="Calibri" pitchFamily="34" charset="-122"/>
                <a:cs typeface="Calibri" pitchFamily="34" charset="-120"/>
              </a:rPr>
              <a:t>Titan Text v2</a:t>
            </a:r>
            <a:endParaRPr lang="en-US" sz="750" dirty="0"/>
          </a:p>
        </p:txBody>
      </p:sp>
      <p:sp>
        <p:nvSpPr>
          <p:cNvPr id="238" name="Text 236"/>
          <p:cNvSpPr/>
          <p:nvPr/>
        </p:nvSpPr>
        <p:spPr>
          <a:xfrm>
            <a:off x="10241280" y="2148840"/>
            <a:ext cx="1746504" cy="182880"/>
          </a:xfrm>
          <a:prstGeom prst="rect">
            <a:avLst/>
          </a:prstGeom>
          <a:noFill/>
          <a:ln/>
        </p:spPr>
        <p:txBody>
          <a:bodyPr wrap="square" lIns="0" tIns="0" rIns="0" bIns="0" rtlCol="0" anchor="ctr"/>
          <a:lstStyle/>
          <a:p>
            <a:pPr marL="0" indent="0" algn="l">
              <a:buNone/>
            </a:pPr>
            <a:r>
              <a:rPr lang="en-US" sz="750" dirty="0">
                <a:solidFill>
                  <a:srgbClr val="7A95B4"/>
                </a:solidFill>
                <a:latin typeface="Calibri" pitchFamily="34" charset="0"/>
                <a:ea typeface="Calibri" pitchFamily="34" charset="-122"/>
                <a:cs typeface="Calibri" pitchFamily="34" charset="-120"/>
              </a:rPr>
              <a:t>Vector store</a:t>
            </a:r>
            <a:endParaRPr lang="en-US" sz="750" dirty="0"/>
          </a:p>
        </p:txBody>
      </p:sp>
      <p:sp>
        <p:nvSpPr>
          <p:cNvPr id="239" name="Text 237"/>
          <p:cNvSpPr/>
          <p:nvPr/>
        </p:nvSpPr>
        <p:spPr>
          <a:xfrm>
            <a:off x="10241280" y="2313432"/>
            <a:ext cx="1746504" cy="146304"/>
          </a:xfrm>
          <a:prstGeom prst="rect">
            <a:avLst/>
          </a:prstGeom>
          <a:noFill/>
          <a:ln/>
        </p:spPr>
        <p:txBody>
          <a:bodyPr wrap="square" lIns="0" tIns="0" rIns="0" bIns="0" rtlCol="0" anchor="ctr"/>
          <a:lstStyle/>
          <a:p>
            <a:pPr marL="0" indent="0" algn="l">
              <a:buNone/>
            </a:pPr>
            <a:r>
              <a:rPr lang="en-US" sz="750" b="1" dirty="0">
                <a:solidFill>
                  <a:srgbClr val="042C53"/>
                </a:solidFill>
                <a:latin typeface="Calibri" pitchFamily="34" charset="0"/>
                <a:ea typeface="Calibri" pitchFamily="34" charset="-122"/>
                <a:cs typeface="Calibri" pitchFamily="34" charset="-120"/>
              </a:rPr>
              <a:t>OpenSearch Serverless</a:t>
            </a:r>
            <a:endParaRPr lang="en-US" sz="750" dirty="0"/>
          </a:p>
        </p:txBody>
      </p:sp>
      <p:sp>
        <p:nvSpPr>
          <p:cNvPr id="240" name="Shape 238"/>
          <p:cNvSpPr/>
          <p:nvPr/>
        </p:nvSpPr>
        <p:spPr>
          <a:xfrm>
            <a:off x="10149840" y="2688336"/>
            <a:ext cx="1874520" cy="2377440"/>
          </a:xfrm>
          <a:prstGeom prst="rect">
            <a:avLst/>
          </a:prstGeom>
          <a:solidFill>
            <a:srgbClr val="1A2810"/>
          </a:solidFill>
          <a:ln w="1270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241" name="Shape 239"/>
          <p:cNvSpPr/>
          <p:nvPr/>
        </p:nvSpPr>
        <p:spPr>
          <a:xfrm>
            <a:off x="10149840" y="2688336"/>
            <a:ext cx="1874520" cy="43891"/>
          </a:xfrm>
          <a:prstGeom prst="rect">
            <a:avLst/>
          </a:prstGeom>
          <a:solidFill>
            <a:srgbClr val="F5A623"/>
          </a:solidFill>
          <a:ln w="12700">
            <a:solidFill>
              <a:srgbClr val="F5A623">
                <a:alpha val="0"/>
              </a:srgbClr>
            </a:solidFill>
            <a:prstDash val="solid"/>
          </a:ln>
        </p:spPr>
        <p:txBody>
          <a:bodyPr/>
          <a:lstStyle/>
          <a:p>
            <a:endParaRPr lang="en-US"/>
          </a:p>
        </p:txBody>
      </p:sp>
      <p:sp>
        <p:nvSpPr>
          <p:cNvPr id="242" name="Text 240"/>
          <p:cNvSpPr/>
          <p:nvPr/>
        </p:nvSpPr>
        <p:spPr>
          <a:xfrm>
            <a:off x="10149840" y="2743200"/>
            <a:ext cx="1874520" cy="237744"/>
          </a:xfrm>
          <a:prstGeom prst="rect">
            <a:avLst/>
          </a:prstGeom>
          <a:noFill/>
          <a:ln/>
        </p:spPr>
        <p:txBody>
          <a:bodyPr wrap="square" lIns="0" tIns="0" rIns="0" bIns="0" rtlCol="0" anchor="ctr"/>
          <a:lstStyle/>
          <a:p>
            <a:pPr marL="0" indent="0" algn="ctr">
              <a:buNone/>
            </a:pPr>
            <a:r>
              <a:rPr lang="en-US" sz="850" b="1" dirty="0">
                <a:solidFill>
                  <a:srgbClr val="FDD17A"/>
                </a:solidFill>
                <a:latin typeface="Georgia" pitchFamily="34" charset="0"/>
                <a:ea typeface="Georgia" pitchFamily="34" charset="-122"/>
                <a:cs typeface="Georgia" pitchFamily="34" charset="-120"/>
              </a:rPr>
              <a:t>Bedrock KB (RAG)</a:t>
            </a:r>
            <a:endParaRPr lang="en-US" sz="850" dirty="0"/>
          </a:p>
        </p:txBody>
      </p:sp>
      <p:sp>
        <p:nvSpPr>
          <p:cNvPr id="243" name="Text 241"/>
          <p:cNvSpPr/>
          <p:nvPr/>
        </p:nvSpPr>
        <p:spPr>
          <a:xfrm>
            <a:off x="10241280" y="3035808"/>
            <a:ext cx="1746504" cy="182880"/>
          </a:xfrm>
          <a:prstGeom prst="rect">
            <a:avLst/>
          </a:prstGeom>
          <a:noFill/>
          <a:ln/>
        </p:spPr>
        <p:txBody>
          <a:bodyPr wrap="square" lIns="0" tIns="0" rIns="0" bIns="0" rtlCol="0" anchor="ctr"/>
          <a:lstStyle/>
          <a:p>
            <a:pPr marL="0" indent="0" algn="l">
              <a:buNone/>
            </a:pPr>
            <a:r>
              <a:rPr lang="en-US" sz="750" b="1" dirty="0">
                <a:solidFill>
                  <a:srgbClr val="FDD17A"/>
                </a:solidFill>
                <a:latin typeface="Calibri" pitchFamily="34" charset="0"/>
                <a:ea typeface="Calibri" pitchFamily="34" charset="-122"/>
                <a:cs typeface="Calibri" pitchFamily="34" charset="-120"/>
              </a:rPr>
              <a:t>coding_standards</a:t>
            </a:r>
            <a:endParaRPr lang="en-US" sz="750" dirty="0"/>
          </a:p>
        </p:txBody>
      </p:sp>
      <p:sp>
        <p:nvSpPr>
          <p:cNvPr id="244" name="Text 242"/>
          <p:cNvSpPr/>
          <p:nvPr/>
        </p:nvSpPr>
        <p:spPr>
          <a:xfrm>
            <a:off x="10241280" y="3209544"/>
            <a:ext cx="1746504" cy="146304"/>
          </a:xfrm>
          <a:prstGeom prst="rect">
            <a:avLst/>
          </a:prstGeom>
          <a:noFill/>
          <a:ln/>
        </p:spPr>
        <p:txBody>
          <a:bodyPr wrap="square" lIns="0" tIns="0" rIns="0" bIns="0" rtlCol="0" anchor="ctr"/>
          <a:lstStyle/>
          <a:p>
            <a:pPr marL="0" indent="0" algn="l">
              <a:buNone/>
            </a:pPr>
            <a:r>
              <a:rPr lang="en-US" sz="700" dirty="0">
                <a:solidFill>
                  <a:srgbClr val="7A95B4"/>
                </a:solidFill>
                <a:latin typeface="Calibri" pitchFamily="34" charset="0"/>
                <a:ea typeface="Calibri" pitchFamily="34" charset="-122"/>
                <a:cs typeface="Calibri" pitchFamily="34" charset="-120"/>
              </a:rPr>
              <a:t>→ Transform agents</a:t>
            </a:r>
            <a:endParaRPr lang="en-US" sz="700" dirty="0"/>
          </a:p>
        </p:txBody>
      </p:sp>
      <p:sp>
        <p:nvSpPr>
          <p:cNvPr id="245" name="Text 243"/>
          <p:cNvSpPr/>
          <p:nvPr/>
        </p:nvSpPr>
        <p:spPr>
          <a:xfrm>
            <a:off x="10241280" y="3383280"/>
            <a:ext cx="1746504" cy="182880"/>
          </a:xfrm>
          <a:prstGeom prst="rect">
            <a:avLst/>
          </a:prstGeom>
          <a:noFill/>
          <a:ln/>
        </p:spPr>
        <p:txBody>
          <a:bodyPr wrap="square" lIns="0" tIns="0" rIns="0" bIns="0" rtlCol="0" anchor="ctr"/>
          <a:lstStyle/>
          <a:p>
            <a:pPr marL="0" indent="0" algn="l">
              <a:buNone/>
            </a:pPr>
            <a:r>
              <a:rPr lang="en-US" sz="750" b="1" dirty="0">
                <a:solidFill>
                  <a:srgbClr val="FDD17A"/>
                </a:solidFill>
                <a:latin typeface="Calibri" pitchFamily="34" charset="0"/>
                <a:ea typeface="Calibri" pitchFamily="34" charset="-122"/>
                <a:cs typeface="Calibri" pitchFamily="34" charset="-120"/>
              </a:rPr>
              <a:t>spring_migration_patterns</a:t>
            </a:r>
            <a:endParaRPr lang="en-US" sz="750" dirty="0"/>
          </a:p>
        </p:txBody>
      </p:sp>
      <p:sp>
        <p:nvSpPr>
          <p:cNvPr id="246" name="Text 244"/>
          <p:cNvSpPr/>
          <p:nvPr/>
        </p:nvSpPr>
        <p:spPr>
          <a:xfrm>
            <a:off x="10241280" y="3557016"/>
            <a:ext cx="1746504" cy="146304"/>
          </a:xfrm>
          <a:prstGeom prst="rect">
            <a:avLst/>
          </a:prstGeom>
          <a:noFill/>
          <a:ln/>
        </p:spPr>
        <p:txBody>
          <a:bodyPr wrap="square" lIns="0" tIns="0" rIns="0" bIns="0" rtlCol="0" anchor="ctr"/>
          <a:lstStyle/>
          <a:p>
            <a:pPr marL="0" indent="0" algn="l">
              <a:buNone/>
            </a:pPr>
            <a:r>
              <a:rPr lang="en-US" sz="700" dirty="0">
                <a:solidFill>
                  <a:srgbClr val="7A95B4"/>
                </a:solidFill>
                <a:latin typeface="Calibri" pitchFamily="34" charset="0"/>
                <a:ea typeface="Calibri" pitchFamily="34" charset="-122"/>
                <a:cs typeface="Calibri" pitchFamily="34" charset="-120"/>
              </a:rPr>
              <a:t>→ Transform agents</a:t>
            </a:r>
            <a:endParaRPr lang="en-US" sz="700" dirty="0"/>
          </a:p>
        </p:txBody>
      </p:sp>
      <p:sp>
        <p:nvSpPr>
          <p:cNvPr id="247" name="Text 245"/>
          <p:cNvSpPr/>
          <p:nvPr/>
        </p:nvSpPr>
        <p:spPr>
          <a:xfrm>
            <a:off x="10241280" y="3730752"/>
            <a:ext cx="1746504" cy="182880"/>
          </a:xfrm>
          <a:prstGeom prst="rect">
            <a:avLst/>
          </a:prstGeom>
          <a:noFill/>
          <a:ln/>
        </p:spPr>
        <p:txBody>
          <a:bodyPr wrap="square" lIns="0" tIns="0" rIns="0" bIns="0" rtlCol="0" anchor="ctr"/>
          <a:lstStyle/>
          <a:p>
            <a:pPr marL="0" indent="0" algn="l">
              <a:buNone/>
            </a:pPr>
            <a:r>
              <a:rPr lang="en-US" sz="750" b="1" dirty="0">
                <a:solidFill>
                  <a:srgbClr val="FDD17A"/>
                </a:solidFill>
                <a:latin typeface="Calibri" pitchFamily="34" charset="0"/>
                <a:ea typeface="Calibri" pitchFamily="34" charset="-122"/>
                <a:cs typeface="Calibri" pitchFamily="34" charset="-120"/>
              </a:rPr>
              <a:t>struts2_to_mvc_rules</a:t>
            </a:r>
            <a:endParaRPr lang="en-US" sz="750" dirty="0"/>
          </a:p>
        </p:txBody>
      </p:sp>
      <p:sp>
        <p:nvSpPr>
          <p:cNvPr id="248" name="Text 246"/>
          <p:cNvSpPr/>
          <p:nvPr/>
        </p:nvSpPr>
        <p:spPr>
          <a:xfrm>
            <a:off x="10241280" y="3904488"/>
            <a:ext cx="1746504" cy="146304"/>
          </a:xfrm>
          <a:prstGeom prst="rect">
            <a:avLst/>
          </a:prstGeom>
          <a:noFill/>
          <a:ln/>
        </p:spPr>
        <p:txBody>
          <a:bodyPr wrap="square" lIns="0" tIns="0" rIns="0" bIns="0" rtlCol="0" anchor="ctr"/>
          <a:lstStyle/>
          <a:p>
            <a:pPr marL="0" indent="0" algn="l">
              <a:buNone/>
            </a:pPr>
            <a:r>
              <a:rPr lang="en-US" sz="700" dirty="0">
                <a:solidFill>
                  <a:srgbClr val="7A95B4"/>
                </a:solidFill>
                <a:latin typeface="Calibri" pitchFamily="34" charset="0"/>
                <a:ea typeface="Calibri" pitchFamily="34" charset="-122"/>
                <a:cs typeface="Calibri" pitchFamily="34" charset="-120"/>
              </a:rPr>
              <a:t>→ Struts→MVC agent</a:t>
            </a:r>
            <a:endParaRPr lang="en-US" sz="700" dirty="0"/>
          </a:p>
        </p:txBody>
      </p:sp>
      <p:sp>
        <p:nvSpPr>
          <p:cNvPr id="249" name="Text 247"/>
          <p:cNvSpPr/>
          <p:nvPr/>
        </p:nvSpPr>
        <p:spPr>
          <a:xfrm>
            <a:off x="10241280" y="4078224"/>
            <a:ext cx="1746504" cy="182880"/>
          </a:xfrm>
          <a:prstGeom prst="rect">
            <a:avLst/>
          </a:prstGeom>
          <a:noFill/>
          <a:ln/>
        </p:spPr>
        <p:txBody>
          <a:bodyPr wrap="square" lIns="0" tIns="0" rIns="0" bIns="0" rtlCol="0" anchor="ctr"/>
          <a:lstStyle/>
          <a:p>
            <a:pPr marL="0" indent="0" algn="l">
              <a:buNone/>
            </a:pPr>
            <a:r>
              <a:rPr lang="en-US" sz="750" b="1" dirty="0">
                <a:solidFill>
                  <a:srgbClr val="FDD17A"/>
                </a:solidFill>
                <a:latin typeface="Calibri" pitchFamily="34" charset="0"/>
                <a:ea typeface="Calibri" pitchFamily="34" charset="-122"/>
                <a:cs typeface="Calibri" pitchFamily="34" charset="-120"/>
              </a:rPr>
              <a:t>arch_decisions (ADRs)</a:t>
            </a:r>
            <a:endParaRPr lang="en-US" sz="750" dirty="0"/>
          </a:p>
        </p:txBody>
      </p:sp>
      <p:sp>
        <p:nvSpPr>
          <p:cNvPr id="250" name="Text 248"/>
          <p:cNvSpPr/>
          <p:nvPr/>
        </p:nvSpPr>
        <p:spPr>
          <a:xfrm>
            <a:off x="10241280" y="4251960"/>
            <a:ext cx="1746504" cy="146304"/>
          </a:xfrm>
          <a:prstGeom prst="rect">
            <a:avLst/>
          </a:prstGeom>
          <a:noFill/>
          <a:ln/>
        </p:spPr>
        <p:txBody>
          <a:bodyPr wrap="square" lIns="0" tIns="0" rIns="0" bIns="0" rtlCol="0" anchor="ctr"/>
          <a:lstStyle/>
          <a:p>
            <a:pPr marL="0" indent="0" algn="l">
              <a:buNone/>
            </a:pPr>
            <a:r>
              <a:rPr lang="en-US" sz="700" dirty="0">
                <a:solidFill>
                  <a:srgbClr val="7A95B4"/>
                </a:solidFill>
                <a:latin typeface="Calibri" pitchFamily="34" charset="0"/>
                <a:ea typeface="Calibri" pitchFamily="34" charset="-122"/>
                <a:cs typeface="Calibri" pitchFamily="34" charset="-120"/>
              </a:rPr>
              <a:t>→ Review agents</a:t>
            </a:r>
            <a:endParaRPr lang="en-US" sz="700" dirty="0"/>
          </a:p>
        </p:txBody>
      </p:sp>
      <p:sp>
        <p:nvSpPr>
          <p:cNvPr id="251" name="Text 249"/>
          <p:cNvSpPr/>
          <p:nvPr/>
        </p:nvSpPr>
        <p:spPr>
          <a:xfrm>
            <a:off x="10241280" y="4425696"/>
            <a:ext cx="1746504" cy="182880"/>
          </a:xfrm>
          <a:prstGeom prst="rect">
            <a:avLst/>
          </a:prstGeom>
          <a:noFill/>
          <a:ln/>
        </p:spPr>
        <p:txBody>
          <a:bodyPr wrap="square" lIns="0" tIns="0" rIns="0" bIns="0" rtlCol="0" anchor="ctr"/>
          <a:lstStyle/>
          <a:p>
            <a:pPr marL="0" indent="0" algn="l">
              <a:buNone/>
            </a:pPr>
            <a:r>
              <a:rPr lang="en-US" sz="750" b="1" dirty="0">
                <a:solidFill>
                  <a:srgbClr val="FDD17A"/>
                </a:solidFill>
                <a:latin typeface="Calibri" pitchFamily="34" charset="0"/>
                <a:ea typeface="Calibri" pitchFamily="34" charset="-122"/>
                <a:cs typeface="Calibri" pitchFamily="34" charset="-120"/>
              </a:rPr>
              <a:t>security_policies</a:t>
            </a:r>
            <a:endParaRPr lang="en-US" sz="750" dirty="0"/>
          </a:p>
        </p:txBody>
      </p:sp>
      <p:sp>
        <p:nvSpPr>
          <p:cNvPr id="252" name="Text 250"/>
          <p:cNvSpPr/>
          <p:nvPr/>
        </p:nvSpPr>
        <p:spPr>
          <a:xfrm>
            <a:off x="10241280" y="4599432"/>
            <a:ext cx="1746504" cy="146304"/>
          </a:xfrm>
          <a:prstGeom prst="rect">
            <a:avLst/>
          </a:prstGeom>
          <a:noFill/>
          <a:ln/>
        </p:spPr>
        <p:txBody>
          <a:bodyPr wrap="square" lIns="0" tIns="0" rIns="0" bIns="0" rtlCol="0" anchor="ctr"/>
          <a:lstStyle/>
          <a:p>
            <a:pPr marL="0" indent="0" algn="l">
              <a:buNone/>
            </a:pPr>
            <a:r>
              <a:rPr lang="en-US" sz="700" dirty="0">
                <a:solidFill>
                  <a:srgbClr val="7A95B4"/>
                </a:solidFill>
                <a:latin typeface="Calibri" pitchFamily="34" charset="0"/>
                <a:ea typeface="Calibri" pitchFamily="34" charset="-122"/>
                <a:cs typeface="Calibri" pitchFamily="34" charset="-120"/>
              </a:rPr>
              <a:t>→ Guardrails</a:t>
            </a:r>
            <a:endParaRPr lang="en-US" sz="700" dirty="0"/>
          </a:p>
        </p:txBody>
      </p:sp>
      <p:sp>
        <p:nvSpPr>
          <p:cNvPr id="253" name="Text 251"/>
          <p:cNvSpPr/>
          <p:nvPr/>
        </p:nvSpPr>
        <p:spPr>
          <a:xfrm>
            <a:off x="10241280" y="4773168"/>
            <a:ext cx="1746504" cy="182880"/>
          </a:xfrm>
          <a:prstGeom prst="rect">
            <a:avLst/>
          </a:prstGeom>
          <a:noFill/>
          <a:ln/>
        </p:spPr>
        <p:txBody>
          <a:bodyPr wrap="square" lIns="0" tIns="0" rIns="0" bIns="0" rtlCol="0" anchor="ctr"/>
          <a:lstStyle/>
          <a:p>
            <a:pPr marL="0" indent="0" algn="l">
              <a:buNone/>
            </a:pPr>
            <a:r>
              <a:rPr lang="en-US" sz="750" b="1" dirty="0">
                <a:solidFill>
                  <a:srgbClr val="FDD17A"/>
                </a:solidFill>
                <a:latin typeface="Calibri" pitchFamily="34" charset="0"/>
                <a:ea typeface="Calibri" pitchFamily="34" charset="-122"/>
                <a:cs typeface="Calibri" pitchFamily="34" charset="-120"/>
              </a:rPr>
              <a:t>liberty_config_standards</a:t>
            </a:r>
            <a:endParaRPr lang="en-US" sz="750" dirty="0"/>
          </a:p>
        </p:txBody>
      </p:sp>
      <p:sp>
        <p:nvSpPr>
          <p:cNvPr id="254" name="Text 252"/>
          <p:cNvSpPr/>
          <p:nvPr/>
        </p:nvSpPr>
        <p:spPr>
          <a:xfrm>
            <a:off x="10241280" y="4946904"/>
            <a:ext cx="1746504" cy="146304"/>
          </a:xfrm>
          <a:prstGeom prst="rect">
            <a:avLst/>
          </a:prstGeom>
          <a:noFill/>
          <a:ln/>
        </p:spPr>
        <p:txBody>
          <a:bodyPr wrap="square" lIns="0" tIns="0" rIns="0" bIns="0" rtlCol="0" anchor="ctr"/>
          <a:lstStyle/>
          <a:p>
            <a:pPr marL="0" indent="0" algn="l">
              <a:buNone/>
            </a:pPr>
            <a:r>
              <a:rPr lang="en-US" sz="700" dirty="0">
                <a:solidFill>
                  <a:srgbClr val="7A95B4"/>
                </a:solidFill>
                <a:latin typeface="Calibri" pitchFamily="34" charset="0"/>
                <a:ea typeface="Calibri" pitchFamily="34" charset="-122"/>
                <a:cs typeface="Calibri" pitchFamily="34" charset="-120"/>
              </a:rPr>
              <a:t>→ Container agent</a:t>
            </a:r>
            <a:endParaRPr lang="en-US" sz="700" dirty="0"/>
          </a:p>
        </p:txBody>
      </p:sp>
      <p:sp>
        <p:nvSpPr>
          <p:cNvPr id="255" name="Shape 253"/>
          <p:cNvSpPr/>
          <p:nvPr/>
        </p:nvSpPr>
        <p:spPr>
          <a:xfrm>
            <a:off x="10149840" y="5193792"/>
            <a:ext cx="1874520" cy="1243584"/>
          </a:xfrm>
          <a:prstGeom prst="rect">
            <a:avLst/>
          </a:prstGeom>
          <a:solidFill>
            <a:srgbClr val="0F2040"/>
          </a:solidFill>
          <a:ln w="9525">
            <a:solidFill>
              <a:srgbClr val="626E7B"/>
            </a:solidFill>
            <a:prstDash val="solid"/>
          </a:ln>
          <a:effectLst>
            <a:outerShdw blurRad="76200" dist="25400" dir="8100000" algn="bl" rotWithShape="0">
              <a:srgbClr val="000000">
                <a:alpha val="10000"/>
              </a:srgbClr>
            </a:outerShdw>
          </a:effectLst>
        </p:spPr>
        <p:txBody>
          <a:bodyPr/>
          <a:lstStyle/>
          <a:p>
            <a:endParaRPr lang="en-US"/>
          </a:p>
        </p:txBody>
      </p:sp>
      <p:sp>
        <p:nvSpPr>
          <p:cNvPr id="256" name="Shape 254"/>
          <p:cNvSpPr/>
          <p:nvPr/>
        </p:nvSpPr>
        <p:spPr>
          <a:xfrm>
            <a:off x="10149840" y="5193792"/>
            <a:ext cx="1874520" cy="43891"/>
          </a:xfrm>
          <a:prstGeom prst="rect">
            <a:avLst/>
          </a:prstGeom>
          <a:solidFill>
            <a:srgbClr val="7A95B4"/>
          </a:solidFill>
          <a:ln w="12700">
            <a:solidFill>
              <a:srgbClr val="7A95B4">
                <a:alpha val="0"/>
              </a:srgbClr>
            </a:solidFill>
            <a:prstDash val="solid"/>
          </a:ln>
        </p:spPr>
        <p:txBody>
          <a:bodyPr/>
          <a:lstStyle/>
          <a:p>
            <a:endParaRPr lang="en-US"/>
          </a:p>
        </p:txBody>
      </p:sp>
      <p:sp>
        <p:nvSpPr>
          <p:cNvPr id="257" name="Text 255"/>
          <p:cNvSpPr/>
          <p:nvPr/>
        </p:nvSpPr>
        <p:spPr>
          <a:xfrm>
            <a:off x="10149840" y="5239512"/>
            <a:ext cx="1874520" cy="237744"/>
          </a:xfrm>
          <a:prstGeom prst="rect">
            <a:avLst/>
          </a:prstGeom>
          <a:noFill/>
          <a:ln/>
        </p:spPr>
        <p:txBody>
          <a:bodyPr wrap="square" lIns="0" tIns="0" rIns="0" bIns="0" rtlCol="0" anchor="ctr"/>
          <a:lstStyle/>
          <a:p>
            <a:pPr marL="0" indent="0" algn="ctr">
              <a:buNone/>
            </a:pPr>
            <a:r>
              <a:rPr lang="en-US" sz="800" b="1" dirty="0">
                <a:solidFill>
                  <a:srgbClr val="7A95B4"/>
                </a:solidFill>
                <a:latin typeface="Georgia" pitchFamily="34" charset="0"/>
                <a:ea typeface="Georgia" pitchFamily="34" charset="-122"/>
                <a:cs typeface="Georgia" pitchFamily="34" charset="-120"/>
              </a:rPr>
              <a:t>Local I/O layer</a:t>
            </a:r>
            <a:endParaRPr lang="en-US" sz="800" dirty="0"/>
          </a:p>
        </p:txBody>
      </p:sp>
      <p:sp>
        <p:nvSpPr>
          <p:cNvPr id="258" name="Text 256"/>
          <p:cNvSpPr/>
          <p:nvPr/>
        </p:nvSpPr>
        <p:spPr>
          <a:xfrm>
            <a:off x="10241280" y="5522976"/>
            <a:ext cx="777240" cy="182880"/>
          </a:xfrm>
          <a:prstGeom prst="rect">
            <a:avLst/>
          </a:prstGeom>
          <a:noFill/>
          <a:ln/>
        </p:spPr>
        <p:txBody>
          <a:bodyPr wrap="square" lIns="0" tIns="0" rIns="0" bIns="0" rtlCol="0" anchor="ctr"/>
          <a:lstStyle/>
          <a:p>
            <a:pPr marL="0" indent="0" algn="l">
              <a:buNone/>
            </a:pPr>
            <a:r>
              <a:rPr lang="en-US" sz="750" b="1" dirty="0">
                <a:solidFill>
                  <a:srgbClr val="F5A623"/>
                </a:solidFill>
                <a:latin typeface="Calibri" pitchFamily="34" charset="0"/>
                <a:ea typeface="Calibri" pitchFamily="34" charset="-122"/>
                <a:cs typeface="Calibri" pitchFamily="34" charset="-120"/>
              </a:rPr>
              <a:t>FileScanner</a:t>
            </a:r>
            <a:endParaRPr lang="en-US" sz="750" dirty="0"/>
          </a:p>
        </p:txBody>
      </p:sp>
      <p:sp>
        <p:nvSpPr>
          <p:cNvPr id="259" name="Text 257"/>
          <p:cNvSpPr/>
          <p:nvPr/>
        </p:nvSpPr>
        <p:spPr>
          <a:xfrm>
            <a:off x="11036808" y="5522976"/>
            <a:ext cx="960120" cy="182880"/>
          </a:xfrm>
          <a:prstGeom prst="rect">
            <a:avLst/>
          </a:prstGeom>
          <a:noFill/>
          <a:ln/>
        </p:spPr>
        <p:txBody>
          <a:bodyPr wrap="square" lIns="0" tIns="0" rIns="0" bIns="0" rtlCol="0" anchor="ctr"/>
          <a:lstStyle/>
          <a:p>
            <a:pPr marL="0" indent="0" algn="l">
              <a:buNone/>
            </a:pPr>
            <a:r>
              <a:rPr lang="en-US" sz="700" dirty="0">
                <a:solidFill>
                  <a:srgbClr val="E8EDF4"/>
                </a:solidFill>
                <a:latin typeface="Calibri" pitchFamily="34" charset="0"/>
                <a:ea typeface="Calibri" pitchFamily="34" charset="-122"/>
                <a:cs typeface="Calibri" pitchFamily="34" charset="-120"/>
              </a:rPr>
              <a:t>./myapp/**</a:t>
            </a:r>
            <a:endParaRPr lang="en-US" sz="700" dirty="0"/>
          </a:p>
        </p:txBody>
      </p:sp>
      <p:sp>
        <p:nvSpPr>
          <p:cNvPr id="260" name="Text 258"/>
          <p:cNvSpPr/>
          <p:nvPr/>
        </p:nvSpPr>
        <p:spPr>
          <a:xfrm>
            <a:off x="10241280" y="5742432"/>
            <a:ext cx="777240" cy="182880"/>
          </a:xfrm>
          <a:prstGeom prst="rect">
            <a:avLst/>
          </a:prstGeom>
          <a:noFill/>
          <a:ln/>
        </p:spPr>
        <p:txBody>
          <a:bodyPr wrap="square" lIns="0" tIns="0" rIns="0" bIns="0" rtlCol="0" anchor="ctr"/>
          <a:lstStyle/>
          <a:p>
            <a:pPr marL="0" indent="0" algn="l">
              <a:buNone/>
            </a:pPr>
            <a:r>
              <a:rPr lang="en-US" sz="750" b="1" dirty="0">
                <a:solidFill>
                  <a:srgbClr val="F5A623"/>
                </a:solidFill>
                <a:latin typeface="Calibri" pitchFamily="34" charset="0"/>
                <a:ea typeface="Calibri" pitchFamily="34" charset="-122"/>
                <a:cs typeface="Calibri" pitchFamily="34" charset="-120"/>
              </a:rPr>
              <a:t>FileWriter</a:t>
            </a:r>
            <a:endParaRPr lang="en-US" sz="750" dirty="0"/>
          </a:p>
        </p:txBody>
      </p:sp>
      <p:sp>
        <p:nvSpPr>
          <p:cNvPr id="261" name="Text 259"/>
          <p:cNvSpPr/>
          <p:nvPr/>
        </p:nvSpPr>
        <p:spPr>
          <a:xfrm>
            <a:off x="11036808" y="5742432"/>
            <a:ext cx="960120" cy="182880"/>
          </a:xfrm>
          <a:prstGeom prst="rect">
            <a:avLst/>
          </a:prstGeom>
          <a:noFill/>
          <a:ln/>
        </p:spPr>
        <p:txBody>
          <a:bodyPr wrap="square" lIns="0" tIns="0" rIns="0" bIns="0" rtlCol="0" anchor="ctr"/>
          <a:lstStyle/>
          <a:p>
            <a:pPr marL="0" indent="0" algn="l">
              <a:buNone/>
            </a:pPr>
            <a:r>
              <a:rPr lang="en-US" sz="700" dirty="0">
                <a:solidFill>
                  <a:srgbClr val="E8EDF4"/>
                </a:solidFill>
                <a:latin typeface="Calibri" pitchFamily="34" charset="0"/>
                <a:ea typeface="Calibri" pitchFamily="34" charset="-122"/>
                <a:cs typeface="Calibri" pitchFamily="34" charset="-120"/>
              </a:rPr>
              <a:t>./migrated/myapp/</a:t>
            </a:r>
            <a:endParaRPr lang="en-US" sz="700" dirty="0"/>
          </a:p>
        </p:txBody>
      </p:sp>
      <p:sp>
        <p:nvSpPr>
          <p:cNvPr id="262" name="Text 260"/>
          <p:cNvSpPr/>
          <p:nvPr/>
        </p:nvSpPr>
        <p:spPr>
          <a:xfrm>
            <a:off x="10241280" y="5961888"/>
            <a:ext cx="777240" cy="182880"/>
          </a:xfrm>
          <a:prstGeom prst="rect">
            <a:avLst/>
          </a:prstGeom>
          <a:noFill/>
          <a:ln/>
        </p:spPr>
        <p:txBody>
          <a:bodyPr wrap="square" lIns="0" tIns="0" rIns="0" bIns="0" rtlCol="0" anchor="ctr"/>
          <a:lstStyle/>
          <a:p>
            <a:pPr marL="0" indent="0" algn="l">
              <a:buNone/>
            </a:pPr>
            <a:r>
              <a:rPr lang="en-US" sz="750" b="1" dirty="0">
                <a:solidFill>
                  <a:srgbClr val="F5A623"/>
                </a:solidFill>
                <a:latin typeface="Calibri" pitchFamily="34" charset="0"/>
                <a:ea typeface="Calibri" pitchFamily="34" charset="-122"/>
                <a:cs typeface="Calibri" pitchFamily="34" charset="-120"/>
              </a:rPr>
              <a:t>StateManager</a:t>
            </a:r>
            <a:endParaRPr lang="en-US" sz="750" dirty="0"/>
          </a:p>
        </p:txBody>
      </p:sp>
      <p:sp>
        <p:nvSpPr>
          <p:cNvPr id="263" name="Text 261"/>
          <p:cNvSpPr/>
          <p:nvPr/>
        </p:nvSpPr>
        <p:spPr>
          <a:xfrm>
            <a:off x="11036808" y="5961888"/>
            <a:ext cx="960120" cy="182880"/>
          </a:xfrm>
          <a:prstGeom prst="rect">
            <a:avLst/>
          </a:prstGeom>
          <a:noFill/>
          <a:ln/>
        </p:spPr>
        <p:txBody>
          <a:bodyPr wrap="square" lIns="0" tIns="0" rIns="0" bIns="0" rtlCol="0" anchor="ctr"/>
          <a:lstStyle/>
          <a:p>
            <a:pPr marL="0" indent="0" algn="l">
              <a:buNone/>
            </a:pPr>
            <a:r>
              <a:rPr lang="en-US" sz="700" dirty="0">
                <a:solidFill>
                  <a:srgbClr val="E8EDF4"/>
                </a:solidFill>
                <a:latin typeface="Calibri" pitchFamily="34" charset="0"/>
                <a:ea typeface="Calibri" pitchFamily="34" charset="-122"/>
                <a:cs typeface="Calibri" pitchFamily="34" charset="-120"/>
              </a:rPr>
              <a:t>migration-state.json</a:t>
            </a:r>
            <a:endParaRPr lang="en-US" sz="700" dirty="0"/>
          </a:p>
        </p:txBody>
      </p:sp>
      <p:sp>
        <p:nvSpPr>
          <p:cNvPr id="264" name="Text 262"/>
          <p:cNvSpPr/>
          <p:nvPr/>
        </p:nvSpPr>
        <p:spPr>
          <a:xfrm>
            <a:off x="10241280" y="6181344"/>
            <a:ext cx="777240" cy="182880"/>
          </a:xfrm>
          <a:prstGeom prst="rect">
            <a:avLst/>
          </a:prstGeom>
          <a:noFill/>
          <a:ln/>
        </p:spPr>
        <p:txBody>
          <a:bodyPr wrap="square" lIns="0" tIns="0" rIns="0" bIns="0" rtlCol="0" anchor="ctr"/>
          <a:lstStyle/>
          <a:p>
            <a:pPr marL="0" indent="0" algn="l">
              <a:buNone/>
            </a:pPr>
            <a:r>
              <a:rPr lang="en-US" sz="750" b="1" dirty="0">
                <a:solidFill>
                  <a:srgbClr val="F5A623"/>
                </a:solidFill>
                <a:latin typeface="Calibri" pitchFamily="34" charset="0"/>
                <a:ea typeface="Calibri" pitchFamily="34" charset="-122"/>
                <a:cs typeface="Calibri" pitchFamily="34" charset="-120"/>
              </a:rPr>
              <a:t>ReviewQueue</a:t>
            </a:r>
            <a:endParaRPr lang="en-US" sz="750" dirty="0"/>
          </a:p>
        </p:txBody>
      </p:sp>
      <p:sp>
        <p:nvSpPr>
          <p:cNvPr id="265" name="Text 263"/>
          <p:cNvSpPr/>
          <p:nvPr/>
        </p:nvSpPr>
        <p:spPr>
          <a:xfrm>
            <a:off x="11036808" y="6181344"/>
            <a:ext cx="960120" cy="182880"/>
          </a:xfrm>
          <a:prstGeom prst="rect">
            <a:avLst/>
          </a:prstGeom>
          <a:noFill/>
          <a:ln/>
        </p:spPr>
        <p:txBody>
          <a:bodyPr wrap="square" lIns="0" tIns="0" rIns="0" bIns="0" rtlCol="0" anchor="ctr"/>
          <a:lstStyle/>
          <a:p>
            <a:pPr marL="0" indent="0" algn="l">
              <a:buNone/>
            </a:pPr>
            <a:r>
              <a:rPr lang="en-US" sz="700" dirty="0">
                <a:solidFill>
                  <a:srgbClr val="E8EDF4"/>
                </a:solidFill>
                <a:latin typeface="Calibri" pitchFamily="34" charset="0"/>
                <a:ea typeface="Calibri" pitchFamily="34" charset="-122"/>
                <a:cs typeface="Calibri" pitchFamily="34" charset="-120"/>
              </a:rPr>
              <a:t>manual-review-queue.json</a:t>
            </a:r>
            <a:endParaRPr lang="en-US" sz="700" dirty="0"/>
          </a:p>
        </p:txBody>
      </p:sp>
      <p:sp>
        <p:nvSpPr>
          <p:cNvPr id="266" name="Shape 264"/>
          <p:cNvSpPr/>
          <p:nvPr/>
        </p:nvSpPr>
        <p:spPr>
          <a:xfrm>
            <a:off x="201168" y="6510528"/>
            <a:ext cx="11795760" cy="20117"/>
          </a:xfrm>
          <a:prstGeom prst="rect">
            <a:avLst/>
          </a:prstGeom>
          <a:solidFill>
            <a:srgbClr val="F5A623">
              <a:alpha val="30000"/>
            </a:srgbClr>
          </a:solidFill>
          <a:ln w="12700">
            <a:solidFill>
              <a:srgbClr val="F5A623">
                <a:alpha val="0"/>
              </a:srgbClr>
            </a:solidFill>
            <a:prstDash val="solid"/>
          </a:ln>
        </p:spPr>
        <p:txBody>
          <a:bodyPr/>
          <a:lstStyle/>
          <a:p>
            <a:endParaRPr lang="en-US"/>
          </a:p>
        </p:txBody>
      </p:sp>
      <p:sp>
        <p:nvSpPr>
          <p:cNvPr id="267" name="Shape 265"/>
          <p:cNvSpPr/>
          <p:nvPr/>
        </p:nvSpPr>
        <p:spPr>
          <a:xfrm>
            <a:off x="201168" y="6565392"/>
            <a:ext cx="146304" cy="128016"/>
          </a:xfrm>
          <a:prstGeom prst="rect">
            <a:avLst/>
          </a:prstGeom>
          <a:solidFill>
            <a:srgbClr val="FEF6E7"/>
          </a:solidFill>
          <a:ln w="9525">
            <a:solidFill>
              <a:srgbClr val="F5A623"/>
            </a:solidFill>
            <a:prstDash val="solid"/>
          </a:ln>
        </p:spPr>
        <p:txBody>
          <a:bodyPr/>
          <a:lstStyle/>
          <a:p>
            <a:endParaRPr lang="en-US"/>
          </a:p>
        </p:txBody>
      </p:sp>
      <p:sp>
        <p:nvSpPr>
          <p:cNvPr id="268" name="Text 266"/>
          <p:cNvSpPr/>
          <p:nvPr/>
        </p:nvSpPr>
        <p:spPr>
          <a:xfrm>
            <a:off x="384048" y="6556248"/>
            <a:ext cx="1737360" cy="146304"/>
          </a:xfrm>
          <a:prstGeom prst="rect">
            <a:avLst/>
          </a:prstGeom>
          <a:noFill/>
          <a:ln/>
        </p:spPr>
        <p:txBody>
          <a:bodyPr wrap="square" lIns="0" tIns="0" rIns="0" bIns="0" rtlCol="0" anchor="ctr"/>
          <a:lstStyle/>
          <a:p>
            <a:pPr marL="0" indent="0">
              <a:buNone/>
            </a:pPr>
            <a:r>
              <a:rPr lang="en-US" sz="750" dirty="0">
                <a:solidFill>
                  <a:srgbClr val="7A95B4"/>
                </a:solidFill>
                <a:latin typeface="Calibri" pitchFamily="34" charset="0"/>
                <a:ea typeface="Calibri" pitchFamily="34" charset="-122"/>
                <a:cs typeface="Calibri" pitchFamily="34" charset="-120"/>
              </a:rPr>
              <a:t>Guardrails (Sonnet 4.5)</a:t>
            </a:r>
            <a:endParaRPr lang="en-US" sz="750" dirty="0"/>
          </a:p>
        </p:txBody>
      </p:sp>
      <p:sp>
        <p:nvSpPr>
          <p:cNvPr id="269" name="Shape 267"/>
          <p:cNvSpPr/>
          <p:nvPr/>
        </p:nvSpPr>
        <p:spPr>
          <a:xfrm>
            <a:off x="2167128" y="6565392"/>
            <a:ext cx="146304" cy="128016"/>
          </a:xfrm>
          <a:prstGeom prst="rect">
            <a:avLst/>
          </a:prstGeom>
          <a:solidFill>
            <a:srgbClr val="E1F5EE"/>
          </a:solidFill>
          <a:ln w="9525">
            <a:solidFill>
              <a:srgbClr val="1D9E75"/>
            </a:solidFill>
            <a:prstDash val="solid"/>
          </a:ln>
        </p:spPr>
        <p:txBody>
          <a:bodyPr/>
          <a:lstStyle/>
          <a:p>
            <a:endParaRPr lang="en-US"/>
          </a:p>
        </p:txBody>
      </p:sp>
      <p:sp>
        <p:nvSpPr>
          <p:cNvPr id="270" name="Text 268"/>
          <p:cNvSpPr/>
          <p:nvPr/>
        </p:nvSpPr>
        <p:spPr>
          <a:xfrm>
            <a:off x="2350008" y="6556248"/>
            <a:ext cx="1737360" cy="146304"/>
          </a:xfrm>
          <a:prstGeom prst="rect">
            <a:avLst/>
          </a:prstGeom>
          <a:noFill/>
          <a:ln/>
        </p:spPr>
        <p:txBody>
          <a:bodyPr wrap="square" lIns="0" tIns="0" rIns="0" bIns="0" rtlCol="0" anchor="ctr"/>
          <a:lstStyle/>
          <a:p>
            <a:pPr marL="0" indent="0">
              <a:buNone/>
            </a:pPr>
            <a:r>
              <a:rPr lang="en-US" sz="750" dirty="0">
                <a:solidFill>
                  <a:srgbClr val="7A95B4"/>
                </a:solidFill>
                <a:latin typeface="Calibri" pitchFamily="34" charset="0"/>
                <a:ea typeface="Calibri" pitchFamily="34" charset="-122"/>
                <a:cs typeface="Calibri" pitchFamily="34" charset="-120"/>
              </a:rPr>
              <a:t>Leader (Sonnet 4.5)</a:t>
            </a:r>
            <a:endParaRPr lang="en-US" sz="750" dirty="0"/>
          </a:p>
        </p:txBody>
      </p:sp>
      <p:sp>
        <p:nvSpPr>
          <p:cNvPr id="271" name="Shape 269"/>
          <p:cNvSpPr/>
          <p:nvPr/>
        </p:nvSpPr>
        <p:spPr>
          <a:xfrm>
            <a:off x="4133088" y="6565392"/>
            <a:ext cx="146304" cy="128016"/>
          </a:xfrm>
          <a:prstGeom prst="rect">
            <a:avLst/>
          </a:prstGeom>
          <a:solidFill>
            <a:srgbClr val="E6F1FB"/>
          </a:solidFill>
          <a:ln w="9525">
            <a:solidFill>
              <a:srgbClr val="3B82C4"/>
            </a:solidFill>
            <a:prstDash val="solid"/>
          </a:ln>
        </p:spPr>
        <p:txBody>
          <a:bodyPr/>
          <a:lstStyle/>
          <a:p>
            <a:endParaRPr lang="en-US"/>
          </a:p>
        </p:txBody>
      </p:sp>
      <p:sp>
        <p:nvSpPr>
          <p:cNvPr id="272" name="Text 270"/>
          <p:cNvSpPr/>
          <p:nvPr/>
        </p:nvSpPr>
        <p:spPr>
          <a:xfrm>
            <a:off x="4315968" y="6556248"/>
            <a:ext cx="1737360" cy="146304"/>
          </a:xfrm>
          <a:prstGeom prst="rect">
            <a:avLst/>
          </a:prstGeom>
          <a:noFill/>
          <a:ln/>
        </p:spPr>
        <p:txBody>
          <a:bodyPr wrap="square" lIns="0" tIns="0" rIns="0" bIns="0" rtlCol="0" anchor="ctr"/>
          <a:lstStyle/>
          <a:p>
            <a:pPr marL="0" indent="0">
              <a:buNone/>
            </a:pPr>
            <a:r>
              <a:rPr lang="en-US" sz="750" dirty="0">
                <a:solidFill>
                  <a:srgbClr val="7A95B4"/>
                </a:solidFill>
                <a:latin typeface="Calibri" pitchFamily="34" charset="0"/>
                <a:ea typeface="Calibri" pitchFamily="34" charset="-122"/>
                <a:cs typeface="Calibri" pitchFamily="34" charset="-120"/>
              </a:rPr>
              <a:t>Transform × 7 (Sonnet 4.5)</a:t>
            </a:r>
            <a:endParaRPr lang="en-US" sz="750" dirty="0"/>
          </a:p>
        </p:txBody>
      </p:sp>
      <p:sp>
        <p:nvSpPr>
          <p:cNvPr id="273" name="Shape 271"/>
          <p:cNvSpPr/>
          <p:nvPr/>
        </p:nvSpPr>
        <p:spPr>
          <a:xfrm>
            <a:off x="6099048" y="6565392"/>
            <a:ext cx="146304" cy="128016"/>
          </a:xfrm>
          <a:prstGeom prst="rect">
            <a:avLst/>
          </a:prstGeom>
          <a:solidFill>
            <a:srgbClr val="EEEDFE"/>
          </a:solidFill>
          <a:ln w="9525">
            <a:solidFill>
              <a:srgbClr val="534AB7"/>
            </a:solidFill>
            <a:prstDash val="solid"/>
          </a:ln>
        </p:spPr>
        <p:txBody>
          <a:bodyPr/>
          <a:lstStyle/>
          <a:p>
            <a:endParaRPr lang="en-US"/>
          </a:p>
        </p:txBody>
      </p:sp>
      <p:sp>
        <p:nvSpPr>
          <p:cNvPr id="274" name="Text 272"/>
          <p:cNvSpPr/>
          <p:nvPr/>
        </p:nvSpPr>
        <p:spPr>
          <a:xfrm>
            <a:off x="6281928" y="6556248"/>
            <a:ext cx="1737360" cy="146304"/>
          </a:xfrm>
          <a:prstGeom prst="rect">
            <a:avLst/>
          </a:prstGeom>
          <a:noFill/>
          <a:ln/>
        </p:spPr>
        <p:txBody>
          <a:bodyPr wrap="square" lIns="0" tIns="0" rIns="0" bIns="0" rtlCol="0" anchor="ctr"/>
          <a:lstStyle/>
          <a:p>
            <a:pPr marL="0" indent="0">
              <a:buNone/>
            </a:pPr>
            <a:r>
              <a:rPr lang="en-US" sz="750" dirty="0">
                <a:solidFill>
                  <a:srgbClr val="7A95B4"/>
                </a:solidFill>
                <a:latin typeface="Calibri" pitchFamily="34" charset="0"/>
                <a:ea typeface="Calibri" pitchFamily="34" charset="-122"/>
                <a:cs typeface="Calibri" pitchFamily="34" charset="-120"/>
              </a:rPr>
              <a:t>Review × 5 (Nova Pro)</a:t>
            </a:r>
            <a:endParaRPr lang="en-US" sz="750" dirty="0"/>
          </a:p>
        </p:txBody>
      </p:sp>
      <p:sp>
        <p:nvSpPr>
          <p:cNvPr id="275" name="Shape 273"/>
          <p:cNvSpPr/>
          <p:nvPr/>
        </p:nvSpPr>
        <p:spPr>
          <a:xfrm>
            <a:off x="8065008" y="6565392"/>
            <a:ext cx="146304" cy="128016"/>
          </a:xfrm>
          <a:prstGeom prst="rect">
            <a:avLst/>
          </a:prstGeom>
          <a:solidFill>
            <a:srgbClr val="1A2810"/>
          </a:solidFill>
          <a:ln w="9525">
            <a:solidFill>
              <a:srgbClr val="F5A623"/>
            </a:solidFill>
            <a:prstDash val="solid"/>
          </a:ln>
        </p:spPr>
        <p:txBody>
          <a:bodyPr/>
          <a:lstStyle/>
          <a:p>
            <a:endParaRPr lang="en-US"/>
          </a:p>
        </p:txBody>
      </p:sp>
      <p:sp>
        <p:nvSpPr>
          <p:cNvPr id="276" name="Text 274"/>
          <p:cNvSpPr/>
          <p:nvPr/>
        </p:nvSpPr>
        <p:spPr>
          <a:xfrm>
            <a:off x="8247888" y="6556248"/>
            <a:ext cx="1737360" cy="146304"/>
          </a:xfrm>
          <a:prstGeom prst="rect">
            <a:avLst/>
          </a:prstGeom>
          <a:noFill/>
          <a:ln/>
        </p:spPr>
        <p:txBody>
          <a:bodyPr wrap="square" lIns="0" tIns="0" rIns="0" bIns="0" rtlCol="0" anchor="ctr"/>
          <a:lstStyle/>
          <a:p>
            <a:pPr marL="0" indent="0">
              <a:buNone/>
            </a:pPr>
            <a:r>
              <a:rPr lang="en-US" sz="750" dirty="0">
                <a:solidFill>
                  <a:srgbClr val="7A95B4"/>
                </a:solidFill>
                <a:latin typeface="Calibri" pitchFamily="34" charset="0"/>
                <a:ea typeface="Calibri" pitchFamily="34" charset="-122"/>
                <a:cs typeface="Calibri" pitchFamily="34" charset="-120"/>
              </a:rPr>
              <a:t>RAG Knowledge Base</a:t>
            </a:r>
            <a:endParaRPr lang="en-US" sz="750" dirty="0"/>
          </a:p>
        </p:txBody>
      </p:sp>
      <p:sp>
        <p:nvSpPr>
          <p:cNvPr id="277" name="Shape 275"/>
          <p:cNvSpPr/>
          <p:nvPr/>
        </p:nvSpPr>
        <p:spPr>
          <a:xfrm>
            <a:off x="10030968" y="6565392"/>
            <a:ext cx="146304" cy="128016"/>
          </a:xfrm>
          <a:prstGeom prst="rect">
            <a:avLst/>
          </a:prstGeom>
          <a:solidFill>
            <a:srgbClr val="FEF6E7"/>
          </a:solidFill>
          <a:ln w="9525">
            <a:solidFill>
              <a:srgbClr val="F5A623"/>
            </a:solidFill>
            <a:prstDash val="solid"/>
          </a:ln>
        </p:spPr>
        <p:txBody>
          <a:bodyPr/>
          <a:lstStyle/>
          <a:p>
            <a:endParaRPr lang="en-US"/>
          </a:p>
        </p:txBody>
      </p:sp>
      <p:sp>
        <p:nvSpPr>
          <p:cNvPr id="278" name="Text 276"/>
          <p:cNvSpPr/>
          <p:nvPr/>
        </p:nvSpPr>
        <p:spPr>
          <a:xfrm>
            <a:off x="10213848" y="6556248"/>
            <a:ext cx="1737360" cy="146304"/>
          </a:xfrm>
          <a:prstGeom prst="rect">
            <a:avLst/>
          </a:prstGeom>
          <a:noFill/>
          <a:ln/>
        </p:spPr>
        <p:txBody>
          <a:bodyPr wrap="square" lIns="0" tIns="0" rIns="0" bIns="0" rtlCol="0" anchor="ctr"/>
          <a:lstStyle/>
          <a:p>
            <a:pPr marL="0" indent="0">
              <a:buNone/>
            </a:pPr>
            <a:r>
              <a:rPr lang="en-US" sz="750" dirty="0">
                <a:solidFill>
                  <a:srgbClr val="7A95B4"/>
                </a:solidFill>
                <a:latin typeface="Calibri" pitchFamily="34" charset="0"/>
                <a:ea typeface="Calibri" pitchFamily="34" charset="-122"/>
                <a:cs typeface="Calibri" pitchFamily="34" charset="-120"/>
              </a:rPr>
              <a:t>Manual review queue</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534AB7"/>
          </a:solidFill>
          <a:ln w="12700">
            <a:solidFill>
              <a:srgbClr val="534AB7">
                <a:alpha val="0"/>
              </a:srgbClr>
            </a:solidFill>
            <a:prstDash val="solid"/>
          </a:ln>
        </p:spPr>
        <p:txBody>
          <a:bodyPr/>
          <a:lstStyle/>
          <a:p>
            <a:endParaRPr lang="en-US"/>
          </a:p>
        </p:txBody>
      </p:sp>
      <p:sp>
        <p:nvSpPr>
          <p:cNvPr id="3" name="Text 1"/>
          <p:cNvSpPr/>
          <p:nvPr/>
        </p:nvSpPr>
        <p:spPr>
          <a:xfrm>
            <a:off x="274320" y="91440"/>
            <a:ext cx="9144000" cy="256032"/>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04  ·  Pluggable agent architecture</a:t>
            </a:r>
            <a:endParaRPr lang="en-US" sz="1000" dirty="0"/>
          </a:p>
        </p:txBody>
      </p:sp>
      <p:sp>
        <p:nvSpPr>
          <p:cNvPr id="4" name="Text 2"/>
          <p:cNvSpPr/>
          <p:nvPr/>
        </p:nvSpPr>
        <p:spPr>
          <a:xfrm>
            <a:off x="274320" y="310896"/>
            <a:ext cx="11704320" cy="457200"/>
          </a:xfrm>
          <a:prstGeom prst="rect">
            <a:avLst/>
          </a:prstGeom>
          <a:noFill/>
          <a:ln/>
        </p:spPr>
        <p:txBody>
          <a:bodyPr wrap="square" lIns="0" tIns="0" rIns="0" bIns="0" rtlCol="0" anchor="ctr"/>
          <a:lstStyle/>
          <a:p>
            <a:pPr marL="0" indent="0" algn="l">
              <a:buNone/>
            </a:pPr>
            <a:r>
              <a:rPr lang="en-US" sz="2800" b="1" dirty="0">
                <a:solidFill>
                  <a:srgbClr val="FFFFFF"/>
                </a:solidFill>
                <a:latin typeface="Georgia" pitchFamily="34" charset="0"/>
                <a:ea typeface="Georgia" pitchFamily="34" charset="-122"/>
                <a:cs typeface="Georgia" pitchFamily="34" charset="-120"/>
              </a:rPr>
              <a:t>Add, remove, or swap agents. The pipeline never changes.</a:t>
            </a:r>
            <a:endParaRPr lang="en-US" sz="2800" dirty="0"/>
          </a:p>
        </p:txBody>
      </p:sp>
      <p:sp>
        <p:nvSpPr>
          <p:cNvPr id="5" name="Text 3"/>
          <p:cNvSpPr/>
          <p:nvPr/>
        </p:nvSpPr>
        <p:spPr>
          <a:xfrm>
            <a:off x="274320" y="804672"/>
            <a:ext cx="11704320" cy="256032"/>
          </a:xfrm>
          <a:prstGeom prst="rect">
            <a:avLst/>
          </a:prstGeom>
          <a:noFill/>
          <a:ln/>
        </p:spPr>
        <p:txBody>
          <a:bodyPr wrap="square" lIns="0" tIns="0" rIns="0" bIns="0" rtlCol="0" anchor="ctr"/>
          <a:lstStyle/>
          <a:p>
            <a:pPr marL="0" indent="0" algn="l">
              <a:buNone/>
            </a:pPr>
            <a:r>
              <a:rPr lang="en-US" sz="1000" i="1" dirty="0">
                <a:solidFill>
                  <a:srgbClr val="FDD17A"/>
                </a:solidFill>
                <a:latin typeface="Georgia" pitchFamily="34" charset="0"/>
                <a:ea typeface="Georgia" pitchFamily="34" charset="-122"/>
                <a:cs typeface="Georgia" pitchFamily="34" charset="-120"/>
              </a:rPr>
              <a:t>FORGE is a migration platform, not a Struts-only tool. The core pipeline is fixed infrastructure. Transform agents are interchangeable modules — loaded per framework, per phase.</a:t>
            </a:r>
            <a:endParaRPr lang="en-US" sz="1000" dirty="0"/>
          </a:p>
        </p:txBody>
      </p:sp>
      <p:sp>
        <p:nvSpPr>
          <p:cNvPr id="6" name="Shape 4"/>
          <p:cNvSpPr/>
          <p:nvPr/>
        </p:nvSpPr>
        <p:spPr>
          <a:xfrm>
            <a:off x="274320" y="1152144"/>
            <a:ext cx="11704320" cy="20117"/>
          </a:xfrm>
          <a:prstGeom prst="rect">
            <a:avLst/>
          </a:prstGeom>
          <a:solidFill>
            <a:srgbClr val="534AB7">
              <a:alpha val="60000"/>
            </a:srgbClr>
          </a:solidFill>
          <a:ln w="12700">
            <a:solidFill>
              <a:srgbClr val="534AB7">
                <a:alpha val="0"/>
              </a:srgbClr>
            </a:solidFill>
            <a:prstDash val="solid"/>
          </a:ln>
        </p:spPr>
        <p:txBody>
          <a:bodyPr/>
          <a:lstStyle/>
          <a:p>
            <a:endParaRPr lang="en-US"/>
          </a:p>
        </p:txBody>
      </p:sp>
      <p:sp>
        <p:nvSpPr>
          <p:cNvPr id="7" name="Shape 5"/>
          <p:cNvSpPr/>
          <p:nvPr/>
        </p:nvSpPr>
        <p:spPr>
          <a:xfrm>
            <a:off x="274320" y="1906524"/>
            <a:ext cx="11594592" cy="27432"/>
          </a:xfrm>
          <a:prstGeom prst="rect">
            <a:avLst/>
          </a:prstGeom>
          <a:solidFill>
            <a:srgbClr val="534AB7">
              <a:alpha val="45000"/>
            </a:srgbClr>
          </a:solidFill>
          <a:ln w="12700">
            <a:solidFill>
              <a:srgbClr val="534AB7">
                <a:alpha val="0"/>
              </a:srgbClr>
            </a:solidFill>
            <a:prstDash val="solid"/>
          </a:ln>
        </p:spPr>
        <p:txBody>
          <a:bodyPr/>
          <a:lstStyle/>
          <a:p>
            <a:endParaRPr lang="en-US"/>
          </a:p>
        </p:txBody>
      </p:sp>
      <p:sp>
        <p:nvSpPr>
          <p:cNvPr id="8" name="Shape 6"/>
          <p:cNvSpPr/>
          <p:nvPr/>
        </p:nvSpPr>
        <p:spPr>
          <a:xfrm>
            <a:off x="274320" y="1042416"/>
            <a:ext cx="11594592" cy="237744"/>
          </a:xfrm>
          <a:prstGeom prst="rect">
            <a:avLst/>
          </a:prstGeom>
          <a:solidFill>
            <a:srgbClr val="EEEDFE"/>
          </a:solidFill>
          <a:ln w="12700">
            <a:solidFill>
              <a:srgbClr val="534AB7">
                <a:alpha val="40000"/>
              </a:srgbClr>
            </a:solidFill>
            <a:prstDash val="solid"/>
          </a:ln>
        </p:spPr>
        <p:txBody>
          <a:bodyPr/>
          <a:lstStyle/>
          <a:p>
            <a:endParaRPr lang="en-US"/>
          </a:p>
        </p:txBody>
      </p:sp>
      <p:sp>
        <p:nvSpPr>
          <p:cNvPr id="9" name="Text 7"/>
          <p:cNvSpPr/>
          <p:nvPr/>
        </p:nvSpPr>
        <p:spPr>
          <a:xfrm>
            <a:off x="274320" y="1042416"/>
            <a:ext cx="11594592" cy="237744"/>
          </a:xfrm>
          <a:prstGeom prst="rect">
            <a:avLst/>
          </a:prstGeom>
          <a:noFill/>
          <a:ln/>
        </p:spPr>
        <p:txBody>
          <a:bodyPr wrap="square" lIns="0" tIns="0" rIns="0" bIns="0" rtlCol="0" anchor="ctr"/>
          <a:lstStyle/>
          <a:p>
            <a:pPr marL="0" indent="0" algn="ctr">
              <a:buNone/>
            </a:pPr>
            <a:r>
              <a:rPr lang="en-US" sz="900" b="1" dirty="0">
                <a:solidFill>
                  <a:srgbClr val="534AB7"/>
                </a:solidFill>
                <a:latin typeface="Calibri" pitchFamily="34" charset="0"/>
                <a:ea typeface="Calibri" pitchFamily="34" charset="-122"/>
                <a:cs typeface="Calibri" pitchFamily="34" charset="-120"/>
              </a:rPr>
              <a:t>FIXED CORE PIPELINE  —  never changes regardless of which agents are loaded</a:t>
            </a:r>
            <a:endParaRPr lang="en-US" sz="900" dirty="0"/>
          </a:p>
        </p:txBody>
      </p:sp>
      <p:sp>
        <p:nvSpPr>
          <p:cNvPr id="10" name="Shape 8"/>
          <p:cNvSpPr/>
          <p:nvPr/>
        </p:nvSpPr>
        <p:spPr>
          <a:xfrm>
            <a:off x="274320" y="1316736"/>
            <a:ext cx="1920240" cy="1207008"/>
          </a:xfrm>
          <a:prstGeom prst="rect">
            <a:avLst/>
          </a:prstGeom>
          <a:solidFill>
            <a:srgbClr val="FEF6E7"/>
          </a:solidFill>
          <a:ln w="1270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11" name="Shape 9"/>
          <p:cNvSpPr/>
          <p:nvPr/>
        </p:nvSpPr>
        <p:spPr>
          <a:xfrm>
            <a:off x="274320" y="1316736"/>
            <a:ext cx="1920240" cy="50292"/>
          </a:xfrm>
          <a:prstGeom prst="rect">
            <a:avLst/>
          </a:prstGeom>
          <a:solidFill>
            <a:srgbClr val="F5A623"/>
          </a:solidFill>
          <a:ln w="12700">
            <a:solidFill>
              <a:srgbClr val="F5A623">
                <a:alpha val="0"/>
              </a:srgbClr>
            </a:solidFill>
            <a:prstDash val="solid"/>
          </a:ln>
        </p:spPr>
        <p:txBody>
          <a:bodyPr/>
          <a:lstStyle/>
          <a:p>
            <a:endParaRPr lang="en-US"/>
          </a:p>
        </p:txBody>
      </p:sp>
      <p:sp>
        <p:nvSpPr>
          <p:cNvPr id="12" name="Text 10"/>
          <p:cNvSpPr/>
          <p:nvPr/>
        </p:nvSpPr>
        <p:spPr>
          <a:xfrm>
            <a:off x="274320" y="1367028"/>
            <a:ext cx="1920240" cy="274320"/>
          </a:xfrm>
          <a:prstGeom prst="rect">
            <a:avLst/>
          </a:prstGeom>
          <a:noFill/>
          <a:ln/>
        </p:spPr>
        <p:txBody>
          <a:bodyPr wrap="square" lIns="0" tIns="0" rIns="0" bIns="0" rtlCol="0" anchor="ctr"/>
          <a:lstStyle/>
          <a:p>
            <a:pPr marL="0" indent="0" algn="ctr">
              <a:buNone/>
            </a:pPr>
            <a:r>
              <a:rPr lang="en-US" sz="950" b="1" dirty="0">
                <a:solidFill>
                  <a:srgbClr val="F5A623"/>
                </a:solidFill>
                <a:latin typeface="Georgia" pitchFamily="34" charset="0"/>
                <a:ea typeface="Georgia" pitchFamily="34" charset="-122"/>
                <a:cs typeface="Georgia" pitchFamily="34" charset="-120"/>
              </a:rPr>
              <a:t>Guardrails (pre)</a:t>
            </a:r>
            <a:endParaRPr lang="en-US" sz="950" dirty="0"/>
          </a:p>
        </p:txBody>
      </p:sp>
      <p:sp>
        <p:nvSpPr>
          <p:cNvPr id="13" name="Text 11"/>
          <p:cNvSpPr/>
          <p:nvPr/>
        </p:nvSpPr>
        <p:spPr>
          <a:xfrm>
            <a:off x="365760" y="1719072"/>
            <a:ext cx="1737360" cy="219456"/>
          </a:xfrm>
          <a:prstGeom prst="rect">
            <a:avLst/>
          </a:prstGeom>
          <a:noFill/>
          <a:ln/>
        </p:spPr>
        <p:txBody>
          <a:bodyPr wrap="square" lIns="0" tIns="0" rIns="0" bIns="0" rtlCol="0" anchor="ctr"/>
          <a:lstStyle/>
          <a:p>
            <a:pPr marL="0" indent="0" algn="ctr">
              <a:buNone/>
            </a:pPr>
            <a:r>
              <a:rPr lang="en-US" sz="850" dirty="0">
                <a:solidFill>
                  <a:srgbClr val="633806"/>
                </a:solidFill>
                <a:latin typeface="Calibri" pitchFamily="34" charset="0"/>
                <a:ea typeface="Calibri" pitchFamily="34" charset="-122"/>
                <a:cs typeface="Calibri" pitchFamily="34" charset="-120"/>
              </a:rPr>
              <a:t>Secrets · Scope</a:t>
            </a:r>
            <a:endParaRPr lang="en-US" sz="850" dirty="0"/>
          </a:p>
        </p:txBody>
      </p:sp>
      <p:sp>
        <p:nvSpPr>
          <p:cNvPr id="14" name="Text 12"/>
          <p:cNvSpPr/>
          <p:nvPr/>
        </p:nvSpPr>
        <p:spPr>
          <a:xfrm>
            <a:off x="365760" y="1956816"/>
            <a:ext cx="1737360" cy="219456"/>
          </a:xfrm>
          <a:prstGeom prst="rect">
            <a:avLst/>
          </a:prstGeom>
          <a:noFill/>
          <a:ln/>
        </p:spPr>
        <p:txBody>
          <a:bodyPr wrap="square" lIns="0" tIns="0" rIns="0" bIns="0" rtlCol="0" anchor="ctr"/>
          <a:lstStyle/>
          <a:p>
            <a:pPr marL="0" indent="0" algn="ctr">
              <a:buNone/>
            </a:pPr>
            <a:r>
              <a:rPr lang="en-US" sz="850" dirty="0">
                <a:solidFill>
                  <a:srgbClr val="633806"/>
                </a:solidFill>
                <a:latin typeface="Calibri" pitchFamily="34" charset="0"/>
                <a:ea typeface="Calibri" pitchFamily="34" charset="-122"/>
                <a:cs typeface="Calibri" pitchFamily="34" charset="-120"/>
              </a:rPr>
              <a:t>PII · Complexity</a:t>
            </a:r>
            <a:endParaRPr lang="en-US" sz="850" dirty="0"/>
          </a:p>
        </p:txBody>
      </p:sp>
      <p:sp>
        <p:nvSpPr>
          <p:cNvPr id="15" name="Text 13"/>
          <p:cNvSpPr/>
          <p:nvPr/>
        </p:nvSpPr>
        <p:spPr>
          <a:xfrm>
            <a:off x="365760" y="2194560"/>
            <a:ext cx="1737360" cy="219456"/>
          </a:xfrm>
          <a:prstGeom prst="rect">
            <a:avLst/>
          </a:prstGeom>
          <a:noFill/>
          <a:ln/>
        </p:spPr>
        <p:txBody>
          <a:bodyPr wrap="square" lIns="0" tIns="0" rIns="0" bIns="0" rtlCol="0" anchor="ctr"/>
          <a:lstStyle/>
          <a:p>
            <a:pPr marL="0" indent="0" algn="ctr">
              <a:buNone/>
            </a:pPr>
            <a:r>
              <a:rPr lang="en-US" sz="850" dirty="0">
                <a:solidFill>
                  <a:srgbClr val="633806"/>
                </a:solidFill>
                <a:latin typeface="Calibri" pitchFamily="34" charset="0"/>
                <a:ea typeface="Calibri" pitchFamily="34" charset="-122"/>
                <a:cs typeface="Calibri" pitchFamily="34" charset="-120"/>
              </a:rPr>
              <a:t>BLOCK / WARN / PASS</a:t>
            </a:r>
            <a:endParaRPr lang="en-US" sz="850" dirty="0"/>
          </a:p>
        </p:txBody>
      </p:sp>
      <p:sp>
        <p:nvSpPr>
          <p:cNvPr id="16" name="Shape 14"/>
          <p:cNvSpPr/>
          <p:nvPr/>
        </p:nvSpPr>
        <p:spPr>
          <a:xfrm>
            <a:off x="1078992" y="2514600"/>
            <a:ext cx="310896" cy="310896"/>
          </a:xfrm>
          <a:prstGeom prst="ellipse">
            <a:avLst/>
          </a:prstGeom>
          <a:solidFill>
            <a:srgbClr val="F5A623">
              <a:alpha val="80000"/>
            </a:srgbClr>
          </a:solidFill>
          <a:ln w="15240">
            <a:solidFill>
              <a:srgbClr val="F5A623"/>
            </a:solidFill>
            <a:prstDash val="solid"/>
          </a:ln>
        </p:spPr>
        <p:txBody>
          <a:bodyPr/>
          <a:lstStyle/>
          <a:p>
            <a:endParaRPr lang="en-US"/>
          </a:p>
        </p:txBody>
      </p:sp>
      <p:sp>
        <p:nvSpPr>
          <p:cNvPr id="17" name="Text 15"/>
          <p:cNvSpPr/>
          <p:nvPr/>
        </p:nvSpPr>
        <p:spPr>
          <a:xfrm>
            <a:off x="1078992" y="2514600"/>
            <a:ext cx="310896" cy="310896"/>
          </a:xfrm>
          <a:prstGeom prst="rect">
            <a:avLst/>
          </a:prstGeom>
          <a:noFill/>
          <a:ln/>
        </p:spPr>
        <p:txBody>
          <a:bodyPr wrap="square" lIns="0" tIns="0" rIns="0" bIns="0" rtlCol="0" anchor="ctr"/>
          <a:lstStyle/>
          <a:p>
            <a:pPr marL="0" indent="0" algn="ctr">
              <a:buNone/>
            </a:pPr>
            <a:r>
              <a:rPr lang="en-US" sz="1000" dirty="0">
                <a:solidFill>
                  <a:srgbClr val="F5A623"/>
                </a:solidFill>
                <a:latin typeface="Calibri" pitchFamily="34" charset="0"/>
                <a:ea typeface="Calibri" pitchFamily="34" charset="-122"/>
                <a:cs typeface="Calibri" pitchFamily="34" charset="-120"/>
              </a:rPr>
              <a:t>⬡</a:t>
            </a:r>
            <a:endParaRPr lang="en-US" sz="1000" dirty="0"/>
          </a:p>
        </p:txBody>
      </p:sp>
      <p:sp>
        <p:nvSpPr>
          <p:cNvPr id="18" name="Shape 16"/>
          <p:cNvSpPr/>
          <p:nvPr/>
        </p:nvSpPr>
        <p:spPr>
          <a:xfrm>
            <a:off x="2377440" y="1316736"/>
            <a:ext cx="1920240" cy="1207008"/>
          </a:xfrm>
          <a:prstGeom prst="rect">
            <a:avLst/>
          </a:prstGeom>
          <a:solidFill>
            <a:srgbClr val="E1F5EE"/>
          </a:solidFill>
          <a:ln w="1270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19" name="Shape 17"/>
          <p:cNvSpPr/>
          <p:nvPr/>
        </p:nvSpPr>
        <p:spPr>
          <a:xfrm>
            <a:off x="2377440" y="1316736"/>
            <a:ext cx="1920240" cy="50292"/>
          </a:xfrm>
          <a:prstGeom prst="rect">
            <a:avLst/>
          </a:prstGeom>
          <a:solidFill>
            <a:srgbClr val="1D9E75"/>
          </a:solidFill>
          <a:ln w="12700">
            <a:solidFill>
              <a:srgbClr val="1D9E75">
                <a:alpha val="0"/>
              </a:srgbClr>
            </a:solidFill>
            <a:prstDash val="solid"/>
          </a:ln>
        </p:spPr>
        <p:txBody>
          <a:bodyPr/>
          <a:lstStyle/>
          <a:p>
            <a:endParaRPr lang="en-US"/>
          </a:p>
        </p:txBody>
      </p:sp>
      <p:sp>
        <p:nvSpPr>
          <p:cNvPr id="20" name="Text 18"/>
          <p:cNvSpPr/>
          <p:nvPr/>
        </p:nvSpPr>
        <p:spPr>
          <a:xfrm>
            <a:off x="2377440" y="1367028"/>
            <a:ext cx="1920240" cy="274320"/>
          </a:xfrm>
          <a:prstGeom prst="rect">
            <a:avLst/>
          </a:prstGeom>
          <a:noFill/>
          <a:ln/>
        </p:spPr>
        <p:txBody>
          <a:bodyPr wrap="square" lIns="0" tIns="0" rIns="0" bIns="0" rtlCol="0" anchor="ctr"/>
          <a:lstStyle/>
          <a:p>
            <a:pPr marL="0" indent="0" algn="ctr">
              <a:buNone/>
            </a:pPr>
            <a:r>
              <a:rPr lang="en-US" sz="950" b="1" dirty="0">
                <a:solidFill>
                  <a:srgbClr val="1D9E75"/>
                </a:solidFill>
                <a:latin typeface="Georgia" pitchFamily="34" charset="0"/>
                <a:ea typeface="Georgia" pitchFamily="34" charset="-122"/>
                <a:cs typeface="Georgia" pitchFamily="34" charset="-120"/>
              </a:rPr>
              <a:t>Leader agent</a:t>
            </a:r>
            <a:endParaRPr lang="en-US" sz="950" dirty="0"/>
          </a:p>
        </p:txBody>
      </p:sp>
      <p:sp>
        <p:nvSpPr>
          <p:cNvPr id="21" name="Text 19"/>
          <p:cNvSpPr/>
          <p:nvPr/>
        </p:nvSpPr>
        <p:spPr>
          <a:xfrm>
            <a:off x="2468880" y="1719072"/>
            <a:ext cx="1737360" cy="182880"/>
          </a:xfrm>
          <a:prstGeom prst="rect">
            <a:avLst/>
          </a:prstGeom>
          <a:noFill/>
          <a:ln/>
        </p:spPr>
        <p:txBody>
          <a:bodyPr wrap="square" lIns="0" tIns="0" rIns="0" bIns="0" rtlCol="0" anchor="ctr"/>
          <a:lstStyle/>
          <a:p>
            <a:pPr marL="0" indent="0" algn="l">
              <a:buNone/>
            </a:pPr>
            <a:r>
              <a:rPr lang="en-US" sz="850" dirty="0">
                <a:solidFill>
                  <a:srgbClr val="085041"/>
                </a:solidFill>
                <a:latin typeface="Calibri" pitchFamily="34" charset="0"/>
                <a:ea typeface="Calibri" pitchFamily="34" charset="-122"/>
                <a:cs typeface="Calibri" pitchFamily="34" charset="-120"/>
              </a:rPr>
              <a:t>Routes</a:t>
            </a:r>
            <a:endParaRPr lang="en-US" sz="850" dirty="0"/>
          </a:p>
        </p:txBody>
      </p:sp>
      <p:sp>
        <p:nvSpPr>
          <p:cNvPr id="22" name="Text 20"/>
          <p:cNvSpPr/>
          <p:nvPr/>
        </p:nvSpPr>
        <p:spPr>
          <a:xfrm>
            <a:off x="2468880" y="1920240"/>
            <a:ext cx="1737360" cy="182880"/>
          </a:xfrm>
          <a:prstGeom prst="rect">
            <a:avLst/>
          </a:prstGeom>
          <a:noFill/>
          <a:ln/>
        </p:spPr>
        <p:txBody>
          <a:bodyPr wrap="square" lIns="0" tIns="0" rIns="0" bIns="0" rtlCol="0" anchor="ctr"/>
          <a:lstStyle/>
          <a:p>
            <a:pPr marL="0" indent="0" algn="l">
              <a:buNone/>
            </a:pPr>
            <a:r>
              <a:rPr lang="en-US" sz="850" dirty="0">
                <a:solidFill>
                  <a:srgbClr val="085041"/>
                </a:solidFill>
                <a:latin typeface="Calibri" pitchFamily="34" charset="0"/>
                <a:ea typeface="Calibri" pitchFamily="34" charset="-122"/>
                <a:cs typeface="Calibri" pitchFamily="34" charset="-120"/>
              </a:rPr>
              <a:t>Retries (max 2)</a:t>
            </a:r>
            <a:endParaRPr lang="en-US" sz="850" dirty="0"/>
          </a:p>
        </p:txBody>
      </p:sp>
      <p:sp>
        <p:nvSpPr>
          <p:cNvPr id="23" name="Text 21"/>
          <p:cNvSpPr/>
          <p:nvPr/>
        </p:nvSpPr>
        <p:spPr>
          <a:xfrm>
            <a:off x="2468880" y="2121408"/>
            <a:ext cx="1737360" cy="182880"/>
          </a:xfrm>
          <a:prstGeom prst="rect">
            <a:avLst/>
          </a:prstGeom>
          <a:noFill/>
          <a:ln/>
        </p:spPr>
        <p:txBody>
          <a:bodyPr wrap="square" lIns="0" tIns="0" rIns="0" bIns="0" rtlCol="0" anchor="ctr"/>
          <a:lstStyle/>
          <a:p>
            <a:pPr marL="0" indent="0" algn="l">
              <a:buNone/>
            </a:pPr>
            <a:r>
              <a:rPr lang="en-US" sz="850" dirty="0">
                <a:solidFill>
                  <a:srgbClr val="085041"/>
                </a:solidFill>
                <a:latin typeface="Calibri" pitchFamily="34" charset="0"/>
                <a:ea typeface="Calibri" pitchFamily="34" charset="-122"/>
                <a:cs typeface="Calibri" pitchFamily="34" charset="-120"/>
              </a:rPr>
              <a:t>Injects feedback</a:t>
            </a:r>
            <a:endParaRPr lang="en-US" sz="850" dirty="0"/>
          </a:p>
        </p:txBody>
      </p:sp>
      <p:sp>
        <p:nvSpPr>
          <p:cNvPr id="24" name="Text 22"/>
          <p:cNvSpPr/>
          <p:nvPr/>
        </p:nvSpPr>
        <p:spPr>
          <a:xfrm>
            <a:off x="2468880" y="2322576"/>
            <a:ext cx="1737360" cy="182880"/>
          </a:xfrm>
          <a:prstGeom prst="rect">
            <a:avLst/>
          </a:prstGeom>
          <a:noFill/>
          <a:ln/>
        </p:spPr>
        <p:txBody>
          <a:bodyPr wrap="square" lIns="0" tIns="0" rIns="0" bIns="0" rtlCol="0" anchor="ctr"/>
          <a:lstStyle/>
          <a:p>
            <a:pPr marL="0" indent="0" algn="l">
              <a:buNone/>
            </a:pPr>
            <a:r>
              <a:rPr lang="en-US" sz="850" dirty="0">
                <a:solidFill>
                  <a:srgbClr val="085041"/>
                </a:solidFill>
                <a:latin typeface="Calibri" pitchFamily="34" charset="0"/>
                <a:ea typeface="Calibri" pitchFamily="34" charset="-122"/>
                <a:cs typeface="Calibri" pitchFamily="34" charset="-120"/>
              </a:rPr>
              <a:t>Escalates</a:t>
            </a:r>
            <a:endParaRPr lang="en-US" sz="850" dirty="0"/>
          </a:p>
        </p:txBody>
      </p:sp>
      <p:sp>
        <p:nvSpPr>
          <p:cNvPr id="25" name="Shape 23"/>
          <p:cNvSpPr/>
          <p:nvPr/>
        </p:nvSpPr>
        <p:spPr>
          <a:xfrm>
            <a:off x="3182112" y="2514600"/>
            <a:ext cx="310896" cy="310896"/>
          </a:xfrm>
          <a:prstGeom prst="ellipse">
            <a:avLst/>
          </a:prstGeom>
          <a:solidFill>
            <a:srgbClr val="1D9E75">
              <a:alpha val="80000"/>
            </a:srgbClr>
          </a:solidFill>
          <a:ln w="15240">
            <a:solidFill>
              <a:srgbClr val="1D9E75"/>
            </a:solidFill>
            <a:prstDash val="solid"/>
          </a:ln>
        </p:spPr>
        <p:txBody>
          <a:bodyPr/>
          <a:lstStyle/>
          <a:p>
            <a:endParaRPr lang="en-US"/>
          </a:p>
        </p:txBody>
      </p:sp>
      <p:sp>
        <p:nvSpPr>
          <p:cNvPr id="26" name="Text 24"/>
          <p:cNvSpPr/>
          <p:nvPr/>
        </p:nvSpPr>
        <p:spPr>
          <a:xfrm>
            <a:off x="3182112" y="2514600"/>
            <a:ext cx="310896" cy="310896"/>
          </a:xfrm>
          <a:prstGeom prst="rect">
            <a:avLst/>
          </a:prstGeom>
          <a:noFill/>
          <a:ln/>
        </p:spPr>
        <p:txBody>
          <a:bodyPr wrap="square" lIns="0" tIns="0" rIns="0" bIns="0" rtlCol="0" anchor="ctr"/>
          <a:lstStyle/>
          <a:p>
            <a:pPr marL="0" indent="0" algn="ctr">
              <a:buNone/>
            </a:pPr>
            <a:r>
              <a:rPr lang="en-US" sz="1000" dirty="0">
                <a:solidFill>
                  <a:srgbClr val="1D9E75"/>
                </a:solidFill>
                <a:latin typeface="Calibri" pitchFamily="34" charset="0"/>
                <a:ea typeface="Calibri" pitchFamily="34" charset="-122"/>
                <a:cs typeface="Calibri" pitchFamily="34" charset="-120"/>
              </a:rPr>
              <a:t>⬡</a:t>
            </a:r>
            <a:endParaRPr lang="en-US" sz="1000" dirty="0"/>
          </a:p>
        </p:txBody>
      </p:sp>
      <p:sp>
        <p:nvSpPr>
          <p:cNvPr id="27" name="Shape 25"/>
          <p:cNvSpPr/>
          <p:nvPr/>
        </p:nvSpPr>
        <p:spPr>
          <a:xfrm>
            <a:off x="4480560" y="1316736"/>
            <a:ext cx="1920240" cy="1207008"/>
          </a:xfrm>
          <a:prstGeom prst="rect">
            <a:avLst/>
          </a:prstGeom>
          <a:solidFill>
            <a:srgbClr val="EEEDFE"/>
          </a:solidFill>
          <a:ln w="1270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28" name="Shape 26"/>
          <p:cNvSpPr/>
          <p:nvPr/>
        </p:nvSpPr>
        <p:spPr>
          <a:xfrm>
            <a:off x="4480560" y="1316736"/>
            <a:ext cx="1920240" cy="50292"/>
          </a:xfrm>
          <a:prstGeom prst="rect">
            <a:avLst/>
          </a:prstGeom>
          <a:solidFill>
            <a:srgbClr val="534AB7"/>
          </a:solidFill>
          <a:ln w="12700">
            <a:solidFill>
              <a:srgbClr val="534AB7">
                <a:alpha val="0"/>
              </a:srgbClr>
            </a:solidFill>
            <a:prstDash val="solid"/>
          </a:ln>
        </p:spPr>
        <p:txBody>
          <a:bodyPr/>
          <a:lstStyle/>
          <a:p>
            <a:endParaRPr lang="en-US"/>
          </a:p>
        </p:txBody>
      </p:sp>
      <p:sp>
        <p:nvSpPr>
          <p:cNvPr id="29" name="Text 27"/>
          <p:cNvSpPr/>
          <p:nvPr/>
        </p:nvSpPr>
        <p:spPr>
          <a:xfrm>
            <a:off x="4480560" y="1367028"/>
            <a:ext cx="1920240" cy="274320"/>
          </a:xfrm>
          <a:prstGeom prst="rect">
            <a:avLst/>
          </a:prstGeom>
          <a:noFill/>
          <a:ln/>
        </p:spPr>
        <p:txBody>
          <a:bodyPr wrap="square" lIns="0" tIns="0" rIns="0" bIns="0" rtlCol="0" anchor="ctr"/>
          <a:lstStyle/>
          <a:p>
            <a:pPr marL="0" indent="0" algn="ctr">
              <a:buNone/>
            </a:pPr>
            <a:r>
              <a:rPr lang="en-US" sz="950" b="1" dirty="0">
                <a:solidFill>
                  <a:srgbClr val="534AB7"/>
                </a:solidFill>
                <a:latin typeface="Georgia" pitchFamily="34" charset="0"/>
                <a:ea typeface="Georgia" pitchFamily="34" charset="-122"/>
                <a:cs typeface="Georgia" pitchFamily="34" charset="-120"/>
              </a:rPr>
              <a:t>Review agents × 5</a:t>
            </a:r>
            <a:endParaRPr lang="en-US" sz="950" dirty="0"/>
          </a:p>
        </p:txBody>
      </p:sp>
      <p:sp>
        <p:nvSpPr>
          <p:cNvPr id="30" name="Text 28"/>
          <p:cNvSpPr/>
          <p:nvPr/>
        </p:nvSpPr>
        <p:spPr>
          <a:xfrm>
            <a:off x="4572000" y="1719072"/>
            <a:ext cx="1737360" cy="182880"/>
          </a:xfrm>
          <a:prstGeom prst="rect">
            <a:avLst/>
          </a:prstGeom>
          <a:noFill/>
          <a:ln/>
        </p:spPr>
        <p:txBody>
          <a:bodyPr wrap="square" lIns="0" tIns="0" rIns="0" bIns="0" rtlCol="0" anchor="ctr"/>
          <a:lstStyle/>
          <a:p>
            <a:pPr marL="0" indent="0" algn="ctr">
              <a:buNone/>
            </a:pPr>
            <a:r>
              <a:rPr lang="en-US" sz="850" dirty="0">
                <a:solidFill>
                  <a:srgbClr val="26215C"/>
                </a:solidFill>
                <a:latin typeface="Calibri" pitchFamily="34" charset="0"/>
                <a:ea typeface="Calibri" pitchFamily="34" charset="-122"/>
                <a:cs typeface="Calibri" pitchFamily="34" charset="-120"/>
              </a:rPr>
              <a:t>Java · Spring · Struts</a:t>
            </a:r>
            <a:endParaRPr lang="en-US" sz="850" dirty="0"/>
          </a:p>
        </p:txBody>
      </p:sp>
      <p:sp>
        <p:nvSpPr>
          <p:cNvPr id="31" name="Text 29"/>
          <p:cNvSpPr/>
          <p:nvPr/>
        </p:nvSpPr>
        <p:spPr>
          <a:xfrm>
            <a:off x="4572000" y="1920240"/>
            <a:ext cx="1737360" cy="182880"/>
          </a:xfrm>
          <a:prstGeom prst="rect">
            <a:avLst/>
          </a:prstGeom>
          <a:noFill/>
          <a:ln/>
        </p:spPr>
        <p:txBody>
          <a:bodyPr wrap="square" lIns="0" tIns="0" rIns="0" bIns="0" rtlCol="0" anchor="ctr"/>
          <a:lstStyle/>
          <a:p>
            <a:pPr marL="0" indent="0" algn="ctr">
              <a:buNone/>
            </a:pPr>
            <a:r>
              <a:rPr lang="en-US" sz="850" dirty="0">
                <a:solidFill>
                  <a:srgbClr val="26215C"/>
                </a:solidFill>
                <a:latin typeface="Calibri" pitchFamily="34" charset="0"/>
                <a:ea typeface="Calibri" pitchFamily="34" charset="-122"/>
                <a:cs typeface="Calibri" pitchFamily="34" charset="-120"/>
              </a:rPr>
              <a:t>Container · Test</a:t>
            </a:r>
            <a:endParaRPr lang="en-US" sz="850" dirty="0"/>
          </a:p>
        </p:txBody>
      </p:sp>
      <p:sp>
        <p:nvSpPr>
          <p:cNvPr id="32" name="Text 30"/>
          <p:cNvSpPr/>
          <p:nvPr/>
        </p:nvSpPr>
        <p:spPr>
          <a:xfrm>
            <a:off x="4572000" y="2121408"/>
            <a:ext cx="1737360" cy="182880"/>
          </a:xfrm>
          <a:prstGeom prst="rect">
            <a:avLst/>
          </a:prstGeom>
          <a:noFill/>
          <a:ln/>
        </p:spPr>
        <p:txBody>
          <a:bodyPr wrap="square" lIns="0" tIns="0" rIns="0" bIns="0" rtlCol="0" anchor="ctr"/>
          <a:lstStyle/>
          <a:p>
            <a:pPr marL="0" indent="0" algn="ctr">
              <a:buNone/>
            </a:pPr>
            <a:r>
              <a:rPr lang="en-US" sz="850" dirty="0">
                <a:solidFill>
                  <a:srgbClr val="26215C"/>
                </a:solidFill>
                <a:latin typeface="Calibri" pitchFamily="34" charset="0"/>
                <a:ea typeface="Calibri" pitchFamily="34" charset="-122"/>
                <a:cs typeface="Calibri" pitchFamily="34" charset="-120"/>
              </a:rPr>
              <a:t>Score 0–100</a:t>
            </a:r>
            <a:endParaRPr lang="en-US" sz="850" dirty="0"/>
          </a:p>
        </p:txBody>
      </p:sp>
      <p:sp>
        <p:nvSpPr>
          <p:cNvPr id="33" name="Text 31"/>
          <p:cNvSpPr/>
          <p:nvPr/>
        </p:nvSpPr>
        <p:spPr>
          <a:xfrm>
            <a:off x="4572000" y="2322576"/>
            <a:ext cx="1737360" cy="182880"/>
          </a:xfrm>
          <a:prstGeom prst="rect">
            <a:avLst/>
          </a:prstGeom>
          <a:noFill/>
          <a:ln/>
        </p:spPr>
        <p:txBody>
          <a:bodyPr wrap="square" lIns="0" tIns="0" rIns="0" bIns="0" rtlCol="0" anchor="ctr"/>
          <a:lstStyle/>
          <a:p>
            <a:pPr marL="0" indent="0" algn="ctr">
              <a:buNone/>
            </a:pPr>
            <a:r>
              <a:rPr lang="en-US" sz="850" dirty="0">
                <a:solidFill>
                  <a:srgbClr val="26215C"/>
                </a:solidFill>
                <a:latin typeface="Calibri" pitchFamily="34" charset="0"/>
                <a:ea typeface="Calibri" pitchFamily="34" charset="-122"/>
                <a:cs typeface="Calibri" pitchFamily="34" charset="-120"/>
              </a:rPr>
              <a:t>PASS / RETRY / MANUAL</a:t>
            </a:r>
            <a:endParaRPr lang="en-US" sz="850" dirty="0"/>
          </a:p>
        </p:txBody>
      </p:sp>
      <p:sp>
        <p:nvSpPr>
          <p:cNvPr id="34" name="Shape 32"/>
          <p:cNvSpPr/>
          <p:nvPr/>
        </p:nvSpPr>
        <p:spPr>
          <a:xfrm>
            <a:off x="5285232" y="2514600"/>
            <a:ext cx="310896" cy="310896"/>
          </a:xfrm>
          <a:prstGeom prst="ellipse">
            <a:avLst/>
          </a:prstGeom>
          <a:solidFill>
            <a:srgbClr val="534AB7">
              <a:alpha val="80000"/>
            </a:srgbClr>
          </a:solidFill>
          <a:ln w="15240">
            <a:solidFill>
              <a:srgbClr val="534AB7"/>
            </a:solidFill>
            <a:prstDash val="solid"/>
          </a:ln>
        </p:spPr>
        <p:txBody>
          <a:bodyPr/>
          <a:lstStyle/>
          <a:p>
            <a:endParaRPr lang="en-US"/>
          </a:p>
        </p:txBody>
      </p:sp>
      <p:sp>
        <p:nvSpPr>
          <p:cNvPr id="35" name="Text 33"/>
          <p:cNvSpPr/>
          <p:nvPr/>
        </p:nvSpPr>
        <p:spPr>
          <a:xfrm>
            <a:off x="5285232" y="2514600"/>
            <a:ext cx="310896" cy="310896"/>
          </a:xfrm>
          <a:prstGeom prst="rect">
            <a:avLst/>
          </a:prstGeom>
          <a:noFill/>
          <a:ln/>
        </p:spPr>
        <p:txBody>
          <a:bodyPr wrap="square" lIns="0" tIns="0" rIns="0" bIns="0" rtlCol="0" anchor="ctr"/>
          <a:lstStyle/>
          <a:p>
            <a:pPr marL="0" indent="0" algn="ctr">
              <a:buNone/>
            </a:pPr>
            <a:r>
              <a:rPr lang="en-US" sz="1000" dirty="0">
                <a:solidFill>
                  <a:srgbClr val="534AB7"/>
                </a:solidFill>
                <a:latin typeface="Calibri" pitchFamily="34" charset="0"/>
                <a:ea typeface="Calibri" pitchFamily="34" charset="-122"/>
                <a:cs typeface="Calibri" pitchFamily="34" charset="-120"/>
              </a:rPr>
              <a:t>⬡</a:t>
            </a:r>
            <a:endParaRPr lang="en-US" sz="1000" dirty="0"/>
          </a:p>
        </p:txBody>
      </p:sp>
      <p:sp>
        <p:nvSpPr>
          <p:cNvPr id="36" name="Shape 34"/>
          <p:cNvSpPr/>
          <p:nvPr/>
        </p:nvSpPr>
        <p:spPr>
          <a:xfrm>
            <a:off x="6583680" y="1316736"/>
            <a:ext cx="1920240" cy="1207008"/>
          </a:xfrm>
          <a:prstGeom prst="rect">
            <a:avLst/>
          </a:prstGeom>
          <a:solidFill>
            <a:srgbClr val="FEF6E7"/>
          </a:solidFill>
          <a:ln w="1270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37" name="Shape 35"/>
          <p:cNvSpPr/>
          <p:nvPr/>
        </p:nvSpPr>
        <p:spPr>
          <a:xfrm>
            <a:off x="6583680" y="1316736"/>
            <a:ext cx="1920240" cy="50292"/>
          </a:xfrm>
          <a:prstGeom prst="rect">
            <a:avLst/>
          </a:prstGeom>
          <a:solidFill>
            <a:srgbClr val="F5A623"/>
          </a:solidFill>
          <a:ln w="12700">
            <a:solidFill>
              <a:srgbClr val="F5A623">
                <a:alpha val="0"/>
              </a:srgbClr>
            </a:solidFill>
            <a:prstDash val="solid"/>
          </a:ln>
        </p:spPr>
        <p:txBody>
          <a:bodyPr/>
          <a:lstStyle/>
          <a:p>
            <a:endParaRPr lang="en-US"/>
          </a:p>
        </p:txBody>
      </p:sp>
      <p:sp>
        <p:nvSpPr>
          <p:cNvPr id="38" name="Text 36"/>
          <p:cNvSpPr/>
          <p:nvPr/>
        </p:nvSpPr>
        <p:spPr>
          <a:xfrm>
            <a:off x="6583680" y="1367028"/>
            <a:ext cx="1920240" cy="274320"/>
          </a:xfrm>
          <a:prstGeom prst="rect">
            <a:avLst/>
          </a:prstGeom>
          <a:noFill/>
          <a:ln/>
        </p:spPr>
        <p:txBody>
          <a:bodyPr wrap="square" lIns="0" tIns="0" rIns="0" bIns="0" rtlCol="0" anchor="ctr"/>
          <a:lstStyle/>
          <a:p>
            <a:pPr marL="0" indent="0" algn="ctr">
              <a:buNone/>
            </a:pPr>
            <a:r>
              <a:rPr lang="en-US" sz="950" b="1" dirty="0">
                <a:solidFill>
                  <a:srgbClr val="F5A623"/>
                </a:solidFill>
                <a:latin typeface="Georgia" pitchFamily="34" charset="0"/>
                <a:ea typeface="Georgia" pitchFamily="34" charset="-122"/>
                <a:cs typeface="Georgia" pitchFamily="34" charset="-120"/>
              </a:rPr>
              <a:t>Guardrails (post)</a:t>
            </a:r>
            <a:endParaRPr lang="en-US" sz="950" dirty="0"/>
          </a:p>
        </p:txBody>
      </p:sp>
      <p:sp>
        <p:nvSpPr>
          <p:cNvPr id="39" name="Text 37"/>
          <p:cNvSpPr/>
          <p:nvPr/>
        </p:nvSpPr>
        <p:spPr>
          <a:xfrm>
            <a:off x="6675120" y="1719072"/>
            <a:ext cx="1737360" cy="219456"/>
          </a:xfrm>
          <a:prstGeom prst="rect">
            <a:avLst/>
          </a:prstGeom>
          <a:noFill/>
          <a:ln/>
        </p:spPr>
        <p:txBody>
          <a:bodyPr wrap="square" lIns="0" tIns="0" rIns="0" bIns="0" rtlCol="0" anchor="ctr"/>
          <a:lstStyle/>
          <a:p>
            <a:pPr marL="0" indent="0" algn="ctr">
              <a:buNone/>
            </a:pPr>
            <a:r>
              <a:rPr lang="en-US" sz="850" dirty="0">
                <a:solidFill>
                  <a:srgbClr val="633806"/>
                </a:solidFill>
                <a:latin typeface="Calibri" pitchFamily="34" charset="0"/>
                <a:ea typeface="Calibri" pitchFamily="34" charset="-122"/>
                <a:cs typeface="Calibri" pitchFamily="34" charset="-120"/>
              </a:rPr>
              <a:t>Naming · Security</a:t>
            </a:r>
            <a:endParaRPr lang="en-US" sz="850" dirty="0"/>
          </a:p>
        </p:txBody>
      </p:sp>
      <p:sp>
        <p:nvSpPr>
          <p:cNvPr id="40" name="Text 38"/>
          <p:cNvSpPr/>
          <p:nvPr/>
        </p:nvSpPr>
        <p:spPr>
          <a:xfrm>
            <a:off x="6675120" y="1956816"/>
            <a:ext cx="1737360" cy="219456"/>
          </a:xfrm>
          <a:prstGeom prst="rect">
            <a:avLst/>
          </a:prstGeom>
          <a:noFill/>
          <a:ln/>
        </p:spPr>
        <p:txBody>
          <a:bodyPr wrap="square" lIns="0" tIns="0" rIns="0" bIns="0" rtlCol="0" anchor="ctr"/>
          <a:lstStyle/>
          <a:p>
            <a:pPr marL="0" indent="0" algn="ctr">
              <a:buNone/>
            </a:pPr>
            <a:r>
              <a:rPr lang="en-US" sz="850" dirty="0">
                <a:solidFill>
                  <a:srgbClr val="633806"/>
                </a:solidFill>
                <a:latin typeface="Calibri" pitchFamily="34" charset="0"/>
                <a:ea typeface="Calibri" pitchFamily="34" charset="-122"/>
                <a:cs typeface="Calibri" pitchFamily="34" charset="-120"/>
              </a:rPr>
              <a:t>License · No-regression</a:t>
            </a:r>
            <a:endParaRPr lang="en-US" sz="850" dirty="0"/>
          </a:p>
        </p:txBody>
      </p:sp>
      <p:sp>
        <p:nvSpPr>
          <p:cNvPr id="41" name="Text 39"/>
          <p:cNvSpPr/>
          <p:nvPr/>
        </p:nvSpPr>
        <p:spPr>
          <a:xfrm>
            <a:off x="6675120" y="2194560"/>
            <a:ext cx="1737360" cy="219456"/>
          </a:xfrm>
          <a:prstGeom prst="rect">
            <a:avLst/>
          </a:prstGeom>
          <a:noFill/>
          <a:ln/>
        </p:spPr>
        <p:txBody>
          <a:bodyPr wrap="square" lIns="0" tIns="0" rIns="0" bIns="0" rtlCol="0" anchor="ctr"/>
          <a:lstStyle/>
          <a:p>
            <a:pPr marL="0" indent="0" algn="ctr">
              <a:buNone/>
            </a:pPr>
            <a:r>
              <a:rPr lang="en-US" sz="850" dirty="0">
                <a:solidFill>
                  <a:srgbClr val="633806"/>
                </a:solidFill>
                <a:latin typeface="Calibri" pitchFamily="34" charset="0"/>
                <a:ea typeface="Calibri" pitchFamily="34" charset="-122"/>
                <a:cs typeface="Calibri" pitchFamily="34" charset="-120"/>
              </a:rPr>
              <a:t>BLOCK / WARN / PASS</a:t>
            </a:r>
            <a:endParaRPr lang="en-US" sz="850" dirty="0"/>
          </a:p>
        </p:txBody>
      </p:sp>
      <p:sp>
        <p:nvSpPr>
          <p:cNvPr id="42" name="Shape 40"/>
          <p:cNvSpPr/>
          <p:nvPr/>
        </p:nvSpPr>
        <p:spPr>
          <a:xfrm>
            <a:off x="7388352" y="2514600"/>
            <a:ext cx="310896" cy="310896"/>
          </a:xfrm>
          <a:prstGeom prst="ellipse">
            <a:avLst/>
          </a:prstGeom>
          <a:solidFill>
            <a:srgbClr val="F5A623">
              <a:alpha val="80000"/>
            </a:srgbClr>
          </a:solidFill>
          <a:ln w="15240">
            <a:solidFill>
              <a:srgbClr val="F5A623"/>
            </a:solidFill>
            <a:prstDash val="solid"/>
          </a:ln>
        </p:spPr>
        <p:txBody>
          <a:bodyPr/>
          <a:lstStyle/>
          <a:p>
            <a:endParaRPr lang="en-US"/>
          </a:p>
        </p:txBody>
      </p:sp>
      <p:sp>
        <p:nvSpPr>
          <p:cNvPr id="43" name="Text 41"/>
          <p:cNvSpPr/>
          <p:nvPr/>
        </p:nvSpPr>
        <p:spPr>
          <a:xfrm>
            <a:off x="7388352" y="2514600"/>
            <a:ext cx="310896" cy="310896"/>
          </a:xfrm>
          <a:prstGeom prst="rect">
            <a:avLst/>
          </a:prstGeom>
          <a:noFill/>
          <a:ln/>
        </p:spPr>
        <p:txBody>
          <a:bodyPr wrap="square" lIns="0" tIns="0" rIns="0" bIns="0" rtlCol="0" anchor="ctr"/>
          <a:lstStyle/>
          <a:p>
            <a:pPr marL="0" indent="0" algn="ctr">
              <a:buNone/>
            </a:pPr>
            <a:r>
              <a:rPr lang="en-US" sz="1000" dirty="0">
                <a:solidFill>
                  <a:srgbClr val="F5A623"/>
                </a:solidFill>
                <a:latin typeface="Calibri" pitchFamily="34" charset="0"/>
                <a:ea typeface="Calibri" pitchFamily="34" charset="-122"/>
                <a:cs typeface="Calibri" pitchFamily="34" charset="-120"/>
              </a:rPr>
              <a:t>⬡</a:t>
            </a:r>
            <a:endParaRPr lang="en-US" sz="1000" dirty="0"/>
          </a:p>
        </p:txBody>
      </p:sp>
      <p:sp>
        <p:nvSpPr>
          <p:cNvPr id="44" name="Shape 42"/>
          <p:cNvSpPr/>
          <p:nvPr/>
        </p:nvSpPr>
        <p:spPr>
          <a:xfrm>
            <a:off x="8686800" y="1316736"/>
            <a:ext cx="1920240" cy="1207008"/>
          </a:xfrm>
          <a:prstGeom prst="rect">
            <a:avLst/>
          </a:prstGeom>
          <a:solidFill>
            <a:srgbClr val="E1F5EE"/>
          </a:solidFill>
          <a:ln w="1270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45" name="Shape 43"/>
          <p:cNvSpPr/>
          <p:nvPr/>
        </p:nvSpPr>
        <p:spPr>
          <a:xfrm>
            <a:off x="8686800" y="1316736"/>
            <a:ext cx="1920240" cy="50292"/>
          </a:xfrm>
          <a:prstGeom prst="rect">
            <a:avLst/>
          </a:prstGeom>
          <a:solidFill>
            <a:srgbClr val="1D9E75"/>
          </a:solidFill>
          <a:ln w="12700">
            <a:solidFill>
              <a:srgbClr val="1D9E75">
                <a:alpha val="0"/>
              </a:srgbClr>
            </a:solidFill>
            <a:prstDash val="solid"/>
          </a:ln>
        </p:spPr>
        <p:txBody>
          <a:bodyPr/>
          <a:lstStyle/>
          <a:p>
            <a:endParaRPr lang="en-US"/>
          </a:p>
        </p:txBody>
      </p:sp>
      <p:sp>
        <p:nvSpPr>
          <p:cNvPr id="46" name="Text 44"/>
          <p:cNvSpPr/>
          <p:nvPr/>
        </p:nvSpPr>
        <p:spPr>
          <a:xfrm>
            <a:off x="8686800" y="1367028"/>
            <a:ext cx="1920240" cy="274320"/>
          </a:xfrm>
          <a:prstGeom prst="rect">
            <a:avLst/>
          </a:prstGeom>
          <a:noFill/>
          <a:ln/>
        </p:spPr>
        <p:txBody>
          <a:bodyPr wrap="square" lIns="0" tIns="0" rIns="0" bIns="0" rtlCol="0" anchor="ctr"/>
          <a:lstStyle/>
          <a:p>
            <a:pPr marL="0" indent="0" algn="ctr">
              <a:buNone/>
            </a:pPr>
            <a:r>
              <a:rPr lang="en-US" sz="950" b="1" dirty="0">
                <a:solidFill>
                  <a:srgbClr val="1D9E75"/>
                </a:solidFill>
                <a:latin typeface="Georgia" pitchFamily="34" charset="0"/>
                <a:ea typeface="Georgia" pitchFamily="34" charset="-122"/>
                <a:cs typeface="Georgia" pitchFamily="34" charset="-120"/>
              </a:rPr>
              <a:t>Output</a:t>
            </a:r>
            <a:endParaRPr lang="en-US" sz="950" dirty="0"/>
          </a:p>
        </p:txBody>
      </p:sp>
      <p:sp>
        <p:nvSpPr>
          <p:cNvPr id="47" name="Text 45"/>
          <p:cNvSpPr/>
          <p:nvPr/>
        </p:nvSpPr>
        <p:spPr>
          <a:xfrm>
            <a:off x="8778240" y="1719072"/>
            <a:ext cx="1737360" cy="219456"/>
          </a:xfrm>
          <a:prstGeom prst="rect">
            <a:avLst/>
          </a:prstGeom>
          <a:noFill/>
          <a:ln/>
        </p:spPr>
        <p:txBody>
          <a:bodyPr wrap="square" lIns="0" tIns="0" rIns="0" bIns="0" rtlCol="0" anchor="ctr"/>
          <a:lstStyle/>
          <a:p>
            <a:pPr marL="0" indent="0" algn="l">
              <a:buNone/>
            </a:pPr>
            <a:r>
              <a:rPr lang="en-US" sz="850" dirty="0">
                <a:solidFill>
                  <a:srgbClr val="085041"/>
                </a:solidFill>
                <a:latin typeface="Calibri" pitchFamily="34" charset="0"/>
                <a:ea typeface="Calibri" pitchFamily="34" charset="-122"/>
                <a:cs typeface="Calibri" pitchFamily="34" charset="-120"/>
              </a:rPr>
              <a:t>./migrated/</a:t>
            </a:r>
            <a:endParaRPr lang="en-US" sz="850" dirty="0"/>
          </a:p>
        </p:txBody>
      </p:sp>
      <p:sp>
        <p:nvSpPr>
          <p:cNvPr id="48" name="Text 46"/>
          <p:cNvSpPr/>
          <p:nvPr/>
        </p:nvSpPr>
        <p:spPr>
          <a:xfrm>
            <a:off x="8778240" y="1956816"/>
            <a:ext cx="1737360" cy="219456"/>
          </a:xfrm>
          <a:prstGeom prst="rect">
            <a:avLst/>
          </a:prstGeom>
          <a:noFill/>
          <a:ln/>
        </p:spPr>
        <p:txBody>
          <a:bodyPr wrap="square" lIns="0" tIns="0" rIns="0" bIns="0" rtlCol="0" anchor="ctr"/>
          <a:lstStyle/>
          <a:p>
            <a:pPr marL="0" indent="0" algn="l">
              <a:buNone/>
            </a:pPr>
            <a:r>
              <a:rPr lang="en-US" sz="850" dirty="0">
                <a:solidFill>
                  <a:srgbClr val="085041"/>
                </a:solidFill>
                <a:latin typeface="Calibri" pitchFamily="34" charset="0"/>
                <a:ea typeface="Calibri" pitchFamily="34" charset="-122"/>
                <a:cs typeface="Calibri" pitchFamily="34" charset="-120"/>
              </a:rPr>
              <a:t>migration-state.json</a:t>
            </a:r>
            <a:endParaRPr lang="en-US" sz="850" dirty="0"/>
          </a:p>
        </p:txBody>
      </p:sp>
      <p:sp>
        <p:nvSpPr>
          <p:cNvPr id="49" name="Text 47"/>
          <p:cNvSpPr/>
          <p:nvPr/>
        </p:nvSpPr>
        <p:spPr>
          <a:xfrm>
            <a:off x="8778240" y="2194560"/>
            <a:ext cx="1737360" cy="219456"/>
          </a:xfrm>
          <a:prstGeom prst="rect">
            <a:avLst/>
          </a:prstGeom>
          <a:noFill/>
          <a:ln/>
        </p:spPr>
        <p:txBody>
          <a:bodyPr wrap="square" lIns="0" tIns="0" rIns="0" bIns="0" rtlCol="0" anchor="ctr"/>
          <a:lstStyle/>
          <a:p>
            <a:pPr marL="0" indent="0" algn="l">
              <a:buNone/>
            </a:pPr>
            <a:r>
              <a:rPr lang="en-US" sz="850" dirty="0">
                <a:solidFill>
                  <a:srgbClr val="085041"/>
                </a:solidFill>
                <a:latin typeface="Calibri" pitchFamily="34" charset="0"/>
                <a:ea typeface="Calibri" pitchFamily="34" charset="-122"/>
                <a:cs typeface="Calibri" pitchFamily="34" charset="-120"/>
              </a:rPr>
              <a:t>Audit trail per file</a:t>
            </a:r>
            <a:endParaRPr lang="en-US" sz="850" dirty="0"/>
          </a:p>
        </p:txBody>
      </p:sp>
      <p:sp>
        <p:nvSpPr>
          <p:cNvPr id="50" name="Shape 48"/>
          <p:cNvSpPr/>
          <p:nvPr/>
        </p:nvSpPr>
        <p:spPr>
          <a:xfrm>
            <a:off x="9491472" y="2514600"/>
            <a:ext cx="310896" cy="310896"/>
          </a:xfrm>
          <a:prstGeom prst="ellipse">
            <a:avLst/>
          </a:prstGeom>
          <a:solidFill>
            <a:srgbClr val="1D9E75">
              <a:alpha val="80000"/>
            </a:srgbClr>
          </a:solidFill>
          <a:ln w="15240">
            <a:solidFill>
              <a:srgbClr val="1D9E75"/>
            </a:solidFill>
            <a:prstDash val="solid"/>
          </a:ln>
        </p:spPr>
        <p:txBody>
          <a:bodyPr/>
          <a:lstStyle/>
          <a:p>
            <a:endParaRPr lang="en-US"/>
          </a:p>
        </p:txBody>
      </p:sp>
      <p:sp>
        <p:nvSpPr>
          <p:cNvPr id="51" name="Text 49"/>
          <p:cNvSpPr/>
          <p:nvPr/>
        </p:nvSpPr>
        <p:spPr>
          <a:xfrm>
            <a:off x="9491472" y="2514600"/>
            <a:ext cx="310896" cy="310896"/>
          </a:xfrm>
          <a:prstGeom prst="rect">
            <a:avLst/>
          </a:prstGeom>
          <a:noFill/>
          <a:ln/>
        </p:spPr>
        <p:txBody>
          <a:bodyPr wrap="square" lIns="0" tIns="0" rIns="0" bIns="0" rtlCol="0" anchor="ctr"/>
          <a:lstStyle/>
          <a:p>
            <a:pPr marL="0" indent="0" algn="ctr">
              <a:buNone/>
            </a:pPr>
            <a:r>
              <a:rPr lang="en-US" sz="1000" dirty="0">
                <a:solidFill>
                  <a:srgbClr val="1D9E75"/>
                </a:solidFill>
                <a:latin typeface="Calibri" pitchFamily="34" charset="0"/>
                <a:ea typeface="Calibri" pitchFamily="34" charset="-122"/>
                <a:cs typeface="Calibri" pitchFamily="34" charset="-120"/>
              </a:rPr>
              <a:t>⬡</a:t>
            </a:r>
            <a:endParaRPr lang="en-US" sz="1000" dirty="0"/>
          </a:p>
        </p:txBody>
      </p:sp>
      <p:sp>
        <p:nvSpPr>
          <p:cNvPr id="52" name="Shape 50"/>
          <p:cNvSpPr/>
          <p:nvPr/>
        </p:nvSpPr>
        <p:spPr>
          <a:xfrm>
            <a:off x="274320" y="2798064"/>
            <a:ext cx="11594592" cy="237744"/>
          </a:xfrm>
          <a:prstGeom prst="rect">
            <a:avLst/>
          </a:prstGeom>
          <a:solidFill>
            <a:srgbClr val="E6F1FB"/>
          </a:solidFill>
          <a:ln w="12700">
            <a:solidFill>
              <a:srgbClr val="3B82C4">
                <a:alpha val="40000"/>
              </a:srgbClr>
            </a:solidFill>
            <a:prstDash val="solid"/>
          </a:ln>
        </p:spPr>
        <p:txBody>
          <a:bodyPr/>
          <a:lstStyle/>
          <a:p>
            <a:endParaRPr lang="en-US"/>
          </a:p>
        </p:txBody>
      </p:sp>
      <p:sp>
        <p:nvSpPr>
          <p:cNvPr id="53" name="Text 51"/>
          <p:cNvSpPr/>
          <p:nvPr/>
        </p:nvSpPr>
        <p:spPr>
          <a:xfrm>
            <a:off x="274320" y="2798064"/>
            <a:ext cx="11594592" cy="237744"/>
          </a:xfrm>
          <a:prstGeom prst="rect">
            <a:avLst/>
          </a:prstGeom>
          <a:noFill/>
          <a:ln/>
        </p:spPr>
        <p:txBody>
          <a:bodyPr wrap="square" lIns="0" tIns="0" rIns="0" bIns="0" rtlCol="0" anchor="ctr"/>
          <a:lstStyle/>
          <a:p>
            <a:pPr marL="0" indent="0" algn="ctr">
              <a:buNone/>
            </a:pPr>
            <a:r>
              <a:rPr lang="en-US" sz="900" b="1" dirty="0">
                <a:solidFill>
                  <a:srgbClr val="042C53"/>
                </a:solidFill>
                <a:latin typeface="Calibri" pitchFamily="34" charset="0"/>
                <a:ea typeface="Calibri" pitchFamily="34" charset="-122"/>
                <a:cs typeface="Calibri" pitchFamily="34" charset="-120"/>
              </a:rPr>
              <a:t>PLUGGABLE TRANSFORM AGENTS  —  loaded per migration type, per phase</a:t>
            </a:r>
            <a:endParaRPr lang="en-US" sz="900" dirty="0"/>
          </a:p>
        </p:txBody>
      </p:sp>
      <p:sp>
        <p:nvSpPr>
          <p:cNvPr id="54" name="Shape 52"/>
          <p:cNvSpPr/>
          <p:nvPr/>
        </p:nvSpPr>
        <p:spPr>
          <a:xfrm>
            <a:off x="3246120" y="2834640"/>
            <a:ext cx="18288" cy="438912"/>
          </a:xfrm>
          <a:prstGeom prst="rect">
            <a:avLst/>
          </a:prstGeom>
          <a:solidFill>
            <a:srgbClr val="3B82C4">
              <a:alpha val="70000"/>
            </a:srgbClr>
          </a:solidFill>
          <a:ln w="12700">
            <a:solidFill>
              <a:srgbClr val="3B82C4">
                <a:alpha val="0"/>
              </a:srgbClr>
            </a:solidFill>
            <a:prstDash val="solid"/>
          </a:ln>
        </p:spPr>
        <p:txBody>
          <a:bodyPr/>
          <a:lstStyle/>
          <a:p>
            <a:endParaRPr lang="en-US"/>
          </a:p>
        </p:txBody>
      </p:sp>
      <p:sp>
        <p:nvSpPr>
          <p:cNvPr id="55" name="Shape 53"/>
          <p:cNvSpPr/>
          <p:nvPr/>
        </p:nvSpPr>
        <p:spPr>
          <a:xfrm>
            <a:off x="274320" y="3090672"/>
            <a:ext cx="3858768" cy="3621024"/>
          </a:xfrm>
          <a:prstGeom prst="rect">
            <a:avLst/>
          </a:prstGeom>
          <a:solidFill>
            <a:srgbClr val="E1F5EE"/>
          </a:solidFill>
          <a:ln w="9525">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56" name="Shape 54"/>
          <p:cNvSpPr/>
          <p:nvPr/>
        </p:nvSpPr>
        <p:spPr>
          <a:xfrm>
            <a:off x="274320" y="3090672"/>
            <a:ext cx="3858768" cy="50292"/>
          </a:xfrm>
          <a:prstGeom prst="rect">
            <a:avLst/>
          </a:prstGeom>
          <a:solidFill>
            <a:srgbClr val="1D9E75"/>
          </a:solidFill>
          <a:ln w="12700">
            <a:solidFill>
              <a:srgbClr val="1D9E75">
                <a:alpha val="0"/>
              </a:srgbClr>
            </a:solidFill>
            <a:prstDash val="solid"/>
          </a:ln>
        </p:spPr>
        <p:txBody>
          <a:bodyPr/>
          <a:lstStyle/>
          <a:p>
            <a:endParaRPr lang="en-US"/>
          </a:p>
        </p:txBody>
      </p:sp>
      <p:sp>
        <p:nvSpPr>
          <p:cNvPr id="57" name="Text 55"/>
          <p:cNvSpPr/>
          <p:nvPr/>
        </p:nvSpPr>
        <p:spPr>
          <a:xfrm>
            <a:off x="365760" y="3140964"/>
            <a:ext cx="2508199" cy="237744"/>
          </a:xfrm>
          <a:prstGeom prst="rect">
            <a:avLst/>
          </a:prstGeom>
          <a:noFill/>
          <a:ln/>
        </p:spPr>
        <p:txBody>
          <a:bodyPr wrap="square" lIns="0" tIns="0" rIns="0" bIns="0" rtlCol="0" anchor="ctr"/>
          <a:lstStyle/>
          <a:p>
            <a:pPr marL="0" indent="0" algn="l">
              <a:buNone/>
            </a:pPr>
            <a:r>
              <a:rPr lang="en-US" sz="1000" b="1" dirty="0">
                <a:solidFill>
                  <a:srgbClr val="1D9E75"/>
                </a:solidFill>
                <a:latin typeface="Georgia" pitchFamily="34" charset="0"/>
                <a:ea typeface="Georgia" pitchFamily="34" charset="-122"/>
                <a:cs typeface="Georgia" pitchFamily="34" charset="-120"/>
              </a:rPr>
              <a:t>Currently loaded</a:t>
            </a:r>
            <a:endParaRPr lang="en-US" sz="1000" dirty="0"/>
          </a:p>
        </p:txBody>
      </p:sp>
      <p:sp>
        <p:nvSpPr>
          <p:cNvPr id="58" name="Shape 56"/>
          <p:cNvSpPr/>
          <p:nvPr/>
        </p:nvSpPr>
        <p:spPr>
          <a:xfrm>
            <a:off x="3127248" y="3140964"/>
            <a:ext cx="914400" cy="219456"/>
          </a:xfrm>
          <a:prstGeom prst="rect">
            <a:avLst/>
          </a:prstGeom>
          <a:solidFill>
            <a:srgbClr val="1D9E75">
              <a:alpha val="80000"/>
            </a:srgbClr>
          </a:solidFill>
          <a:ln w="12700">
            <a:solidFill>
              <a:srgbClr val="1D9E75">
                <a:alpha val="50000"/>
              </a:srgbClr>
            </a:solidFill>
            <a:prstDash val="solid"/>
          </a:ln>
        </p:spPr>
        <p:txBody>
          <a:bodyPr/>
          <a:lstStyle/>
          <a:p>
            <a:endParaRPr lang="en-US"/>
          </a:p>
        </p:txBody>
      </p:sp>
      <p:sp>
        <p:nvSpPr>
          <p:cNvPr id="59" name="Text 57"/>
          <p:cNvSpPr/>
          <p:nvPr/>
        </p:nvSpPr>
        <p:spPr>
          <a:xfrm>
            <a:off x="3127248" y="3140964"/>
            <a:ext cx="914400" cy="219456"/>
          </a:xfrm>
          <a:prstGeom prst="rect">
            <a:avLst/>
          </a:prstGeom>
          <a:noFill/>
          <a:ln/>
        </p:spPr>
        <p:txBody>
          <a:bodyPr wrap="square" lIns="0" tIns="0" rIns="0" bIns="0" rtlCol="0" anchor="ctr"/>
          <a:lstStyle/>
          <a:p>
            <a:pPr marL="0" indent="0" algn="ctr">
              <a:buNone/>
            </a:pPr>
            <a:r>
              <a:rPr lang="en-US" sz="850" b="1" dirty="0">
                <a:solidFill>
                  <a:srgbClr val="1D9E75"/>
                </a:solidFill>
                <a:latin typeface="Calibri" pitchFamily="34" charset="0"/>
                <a:ea typeface="Calibri" pitchFamily="34" charset="-122"/>
                <a:cs typeface="Calibri" pitchFamily="34" charset="-120"/>
              </a:rPr>
              <a:t>Active</a:t>
            </a:r>
            <a:endParaRPr lang="en-US" sz="850" dirty="0"/>
          </a:p>
        </p:txBody>
      </p:sp>
      <p:sp>
        <p:nvSpPr>
          <p:cNvPr id="60" name="Shape 58"/>
          <p:cNvSpPr/>
          <p:nvPr/>
        </p:nvSpPr>
        <p:spPr>
          <a:xfrm>
            <a:off x="365760" y="3419856"/>
            <a:ext cx="3675888" cy="420624"/>
          </a:xfrm>
          <a:prstGeom prst="rect">
            <a:avLst/>
          </a:prstGeom>
          <a:solidFill>
            <a:srgbClr val="0F2040"/>
          </a:solidFill>
          <a:ln w="12700">
            <a:solidFill>
              <a:srgbClr val="1D9E75">
                <a:alpha val="30000"/>
              </a:srgbClr>
            </a:solidFill>
            <a:prstDash val="solid"/>
          </a:ln>
        </p:spPr>
        <p:txBody>
          <a:bodyPr/>
          <a:lstStyle/>
          <a:p>
            <a:endParaRPr lang="en-US"/>
          </a:p>
        </p:txBody>
      </p:sp>
      <p:sp>
        <p:nvSpPr>
          <p:cNvPr id="61" name="Shape 59"/>
          <p:cNvSpPr/>
          <p:nvPr/>
        </p:nvSpPr>
        <p:spPr>
          <a:xfrm>
            <a:off x="384048" y="3520440"/>
            <a:ext cx="219456" cy="219456"/>
          </a:xfrm>
          <a:prstGeom prst="rect">
            <a:avLst/>
          </a:prstGeom>
          <a:solidFill>
            <a:srgbClr val="1D9E75">
              <a:alpha val="75000"/>
            </a:srgbClr>
          </a:solidFill>
          <a:ln w="12700">
            <a:solidFill>
              <a:srgbClr val="1D9E75">
                <a:alpha val="50000"/>
              </a:srgbClr>
            </a:solidFill>
            <a:prstDash val="solid"/>
          </a:ln>
        </p:spPr>
        <p:txBody>
          <a:bodyPr/>
          <a:lstStyle/>
          <a:p>
            <a:endParaRPr lang="en-US"/>
          </a:p>
        </p:txBody>
      </p:sp>
      <p:sp>
        <p:nvSpPr>
          <p:cNvPr id="62" name="Text 60"/>
          <p:cNvSpPr/>
          <p:nvPr/>
        </p:nvSpPr>
        <p:spPr>
          <a:xfrm>
            <a:off x="384048" y="3520440"/>
            <a:ext cx="219456" cy="219456"/>
          </a:xfrm>
          <a:prstGeom prst="rect">
            <a:avLst/>
          </a:prstGeom>
          <a:noFill/>
          <a:ln/>
        </p:spPr>
        <p:txBody>
          <a:bodyPr wrap="square" lIns="0" tIns="0" rIns="0" bIns="0" rtlCol="0" anchor="ctr"/>
          <a:lstStyle/>
          <a:p>
            <a:pPr marL="0" indent="0" algn="ctr">
              <a:buNone/>
            </a:pPr>
            <a:r>
              <a:rPr lang="en-US" sz="900" dirty="0">
                <a:solidFill>
                  <a:srgbClr val="1D9E75"/>
                </a:solidFill>
                <a:latin typeface="Calibri" pitchFamily="34" charset="0"/>
                <a:ea typeface="Calibri" pitchFamily="34" charset="-122"/>
                <a:cs typeface="Calibri" pitchFamily="34" charset="-120"/>
              </a:rPr>
              <a:t>⬡</a:t>
            </a:r>
            <a:endParaRPr lang="en-US" sz="900" dirty="0"/>
          </a:p>
        </p:txBody>
      </p:sp>
      <p:sp>
        <p:nvSpPr>
          <p:cNvPr id="63" name="Text 61"/>
          <p:cNvSpPr/>
          <p:nvPr/>
        </p:nvSpPr>
        <p:spPr>
          <a:xfrm>
            <a:off x="676656" y="3456432"/>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Discovery</a:t>
            </a:r>
            <a:endParaRPr lang="en-US" sz="1000" dirty="0"/>
          </a:p>
        </p:txBody>
      </p:sp>
      <p:sp>
        <p:nvSpPr>
          <p:cNvPr id="64" name="Text 62"/>
          <p:cNvSpPr/>
          <p:nvPr/>
        </p:nvSpPr>
        <p:spPr>
          <a:xfrm>
            <a:off x="676656" y="3648456"/>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Scans + classifies every file</a:t>
            </a:r>
            <a:endParaRPr lang="en-US" sz="850" dirty="0"/>
          </a:p>
        </p:txBody>
      </p:sp>
      <p:sp>
        <p:nvSpPr>
          <p:cNvPr id="65" name="Shape 63"/>
          <p:cNvSpPr/>
          <p:nvPr/>
        </p:nvSpPr>
        <p:spPr>
          <a:xfrm>
            <a:off x="3346704" y="3474720"/>
            <a:ext cx="676656" cy="164592"/>
          </a:xfrm>
          <a:prstGeom prst="rect">
            <a:avLst/>
          </a:prstGeom>
          <a:solidFill>
            <a:srgbClr val="1D9E75">
              <a:alpha val="60000"/>
            </a:srgbClr>
          </a:solidFill>
          <a:ln w="12700">
            <a:solidFill>
              <a:srgbClr val="1D9E75">
                <a:alpha val="40000"/>
              </a:srgbClr>
            </a:solidFill>
            <a:prstDash val="solid"/>
          </a:ln>
        </p:spPr>
        <p:txBody>
          <a:bodyPr/>
          <a:lstStyle/>
          <a:p>
            <a:endParaRPr lang="en-US"/>
          </a:p>
        </p:txBody>
      </p:sp>
      <p:sp>
        <p:nvSpPr>
          <p:cNvPr id="66" name="Text 64"/>
          <p:cNvSpPr/>
          <p:nvPr/>
        </p:nvSpPr>
        <p:spPr>
          <a:xfrm>
            <a:off x="3346704" y="3474720"/>
            <a:ext cx="676656" cy="164592"/>
          </a:xfrm>
          <a:prstGeom prst="rect">
            <a:avLst/>
          </a:prstGeom>
          <a:noFill/>
          <a:ln/>
        </p:spPr>
        <p:txBody>
          <a:bodyPr wrap="square" lIns="0" tIns="0" rIns="0" bIns="0" rtlCol="0" anchor="ctr"/>
          <a:lstStyle/>
          <a:p>
            <a:pPr marL="0" indent="0" algn="ctr">
              <a:buNone/>
            </a:pPr>
            <a:r>
              <a:rPr lang="en-US" sz="750" b="1" dirty="0">
                <a:solidFill>
                  <a:srgbClr val="1D9E75"/>
                </a:solidFill>
                <a:latin typeface="Calibri" pitchFamily="34" charset="0"/>
                <a:ea typeface="Calibri" pitchFamily="34" charset="-122"/>
                <a:cs typeface="Calibri" pitchFamily="34" charset="-120"/>
              </a:rPr>
              <a:t>Phase 0</a:t>
            </a:r>
            <a:endParaRPr lang="en-US" sz="750" dirty="0"/>
          </a:p>
        </p:txBody>
      </p:sp>
      <p:sp>
        <p:nvSpPr>
          <p:cNvPr id="67" name="Shape 65"/>
          <p:cNvSpPr/>
          <p:nvPr/>
        </p:nvSpPr>
        <p:spPr>
          <a:xfrm>
            <a:off x="365760" y="3895344"/>
            <a:ext cx="3675888" cy="420624"/>
          </a:xfrm>
          <a:prstGeom prst="rect">
            <a:avLst/>
          </a:prstGeom>
          <a:solidFill>
            <a:srgbClr val="0F2040"/>
          </a:solidFill>
          <a:ln w="12700">
            <a:solidFill>
              <a:srgbClr val="1D9E75">
                <a:alpha val="30000"/>
              </a:srgbClr>
            </a:solidFill>
            <a:prstDash val="solid"/>
          </a:ln>
        </p:spPr>
        <p:txBody>
          <a:bodyPr/>
          <a:lstStyle/>
          <a:p>
            <a:endParaRPr lang="en-US"/>
          </a:p>
        </p:txBody>
      </p:sp>
      <p:sp>
        <p:nvSpPr>
          <p:cNvPr id="68" name="Shape 66"/>
          <p:cNvSpPr/>
          <p:nvPr/>
        </p:nvSpPr>
        <p:spPr>
          <a:xfrm>
            <a:off x="384048" y="3995928"/>
            <a:ext cx="219456" cy="219456"/>
          </a:xfrm>
          <a:prstGeom prst="rect">
            <a:avLst/>
          </a:prstGeom>
          <a:solidFill>
            <a:srgbClr val="1D9E75">
              <a:alpha val="75000"/>
            </a:srgbClr>
          </a:solidFill>
          <a:ln w="12700">
            <a:solidFill>
              <a:srgbClr val="1D9E75">
                <a:alpha val="50000"/>
              </a:srgbClr>
            </a:solidFill>
            <a:prstDash val="solid"/>
          </a:ln>
        </p:spPr>
        <p:txBody>
          <a:bodyPr/>
          <a:lstStyle/>
          <a:p>
            <a:endParaRPr lang="en-US"/>
          </a:p>
        </p:txBody>
      </p:sp>
      <p:sp>
        <p:nvSpPr>
          <p:cNvPr id="69" name="Text 67"/>
          <p:cNvSpPr/>
          <p:nvPr/>
        </p:nvSpPr>
        <p:spPr>
          <a:xfrm>
            <a:off x="384048" y="3995928"/>
            <a:ext cx="219456" cy="219456"/>
          </a:xfrm>
          <a:prstGeom prst="rect">
            <a:avLst/>
          </a:prstGeom>
          <a:noFill/>
          <a:ln/>
        </p:spPr>
        <p:txBody>
          <a:bodyPr wrap="square" lIns="0" tIns="0" rIns="0" bIns="0" rtlCol="0" anchor="ctr"/>
          <a:lstStyle/>
          <a:p>
            <a:pPr marL="0" indent="0" algn="ctr">
              <a:buNone/>
            </a:pPr>
            <a:r>
              <a:rPr lang="en-US" sz="900" dirty="0">
                <a:solidFill>
                  <a:srgbClr val="1D9E75"/>
                </a:solidFill>
                <a:latin typeface="Calibri" pitchFamily="34" charset="0"/>
                <a:ea typeface="Calibri" pitchFamily="34" charset="-122"/>
                <a:cs typeface="Calibri" pitchFamily="34" charset="-120"/>
              </a:rPr>
              <a:t>⬡</a:t>
            </a:r>
            <a:endParaRPr lang="en-US" sz="900" dirty="0"/>
          </a:p>
        </p:txBody>
      </p:sp>
      <p:sp>
        <p:nvSpPr>
          <p:cNvPr id="70" name="Text 68"/>
          <p:cNvSpPr/>
          <p:nvPr/>
        </p:nvSpPr>
        <p:spPr>
          <a:xfrm>
            <a:off x="676656" y="3931920"/>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Risk Scorer</a:t>
            </a:r>
            <a:endParaRPr lang="en-US" sz="1000" dirty="0"/>
          </a:p>
        </p:txBody>
      </p:sp>
      <p:sp>
        <p:nvSpPr>
          <p:cNvPr id="71" name="Text 69"/>
          <p:cNvSpPr/>
          <p:nvPr/>
        </p:nvSpPr>
        <p:spPr>
          <a:xfrm>
            <a:off x="676656" y="4123944"/>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Scores complexity, orders work</a:t>
            </a:r>
            <a:endParaRPr lang="en-US" sz="850" dirty="0"/>
          </a:p>
        </p:txBody>
      </p:sp>
      <p:sp>
        <p:nvSpPr>
          <p:cNvPr id="72" name="Shape 70"/>
          <p:cNvSpPr/>
          <p:nvPr/>
        </p:nvSpPr>
        <p:spPr>
          <a:xfrm>
            <a:off x="3346704" y="3950208"/>
            <a:ext cx="676656" cy="164592"/>
          </a:xfrm>
          <a:prstGeom prst="rect">
            <a:avLst/>
          </a:prstGeom>
          <a:solidFill>
            <a:srgbClr val="1D9E75">
              <a:alpha val="60000"/>
            </a:srgbClr>
          </a:solidFill>
          <a:ln w="12700">
            <a:solidFill>
              <a:srgbClr val="1D9E75">
                <a:alpha val="40000"/>
              </a:srgbClr>
            </a:solidFill>
            <a:prstDash val="solid"/>
          </a:ln>
        </p:spPr>
        <p:txBody>
          <a:bodyPr/>
          <a:lstStyle/>
          <a:p>
            <a:endParaRPr lang="en-US"/>
          </a:p>
        </p:txBody>
      </p:sp>
      <p:sp>
        <p:nvSpPr>
          <p:cNvPr id="73" name="Text 71"/>
          <p:cNvSpPr/>
          <p:nvPr/>
        </p:nvSpPr>
        <p:spPr>
          <a:xfrm>
            <a:off x="3346704" y="3950208"/>
            <a:ext cx="676656" cy="164592"/>
          </a:xfrm>
          <a:prstGeom prst="rect">
            <a:avLst/>
          </a:prstGeom>
          <a:noFill/>
          <a:ln/>
        </p:spPr>
        <p:txBody>
          <a:bodyPr wrap="square" lIns="0" tIns="0" rIns="0" bIns="0" rtlCol="0" anchor="ctr"/>
          <a:lstStyle/>
          <a:p>
            <a:pPr marL="0" indent="0" algn="ctr">
              <a:buNone/>
            </a:pPr>
            <a:r>
              <a:rPr lang="en-US" sz="750" b="1" dirty="0">
                <a:solidFill>
                  <a:srgbClr val="1D9E75"/>
                </a:solidFill>
                <a:latin typeface="Calibri" pitchFamily="34" charset="0"/>
                <a:ea typeface="Calibri" pitchFamily="34" charset="-122"/>
                <a:cs typeface="Calibri" pitchFamily="34" charset="-120"/>
              </a:rPr>
              <a:t>Phase 0</a:t>
            </a:r>
            <a:endParaRPr lang="en-US" sz="750" dirty="0"/>
          </a:p>
        </p:txBody>
      </p:sp>
      <p:sp>
        <p:nvSpPr>
          <p:cNvPr id="74" name="Shape 72"/>
          <p:cNvSpPr/>
          <p:nvPr/>
        </p:nvSpPr>
        <p:spPr>
          <a:xfrm>
            <a:off x="365760" y="4370832"/>
            <a:ext cx="3675888" cy="420624"/>
          </a:xfrm>
          <a:prstGeom prst="rect">
            <a:avLst/>
          </a:prstGeom>
          <a:solidFill>
            <a:srgbClr val="0F2040"/>
          </a:solidFill>
          <a:ln w="12700">
            <a:solidFill>
              <a:srgbClr val="1D9E75">
                <a:alpha val="30000"/>
              </a:srgbClr>
            </a:solidFill>
            <a:prstDash val="solid"/>
          </a:ln>
        </p:spPr>
        <p:txBody>
          <a:bodyPr/>
          <a:lstStyle/>
          <a:p>
            <a:endParaRPr lang="en-US"/>
          </a:p>
        </p:txBody>
      </p:sp>
      <p:sp>
        <p:nvSpPr>
          <p:cNvPr id="75" name="Shape 73"/>
          <p:cNvSpPr/>
          <p:nvPr/>
        </p:nvSpPr>
        <p:spPr>
          <a:xfrm>
            <a:off x="384048" y="4471416"/>
            <a:ext cx="219456" cy="219456"/>
          </a:xfrm>
          <a:prstGeom prst="rect">
            <a:avLst/>
          </a:prstGeom>
          <a:solidFill>
            <a:srgbClr val="1D9E75">
              <a:alpha val="75000"/>
            </a:srgbClr>
          </a:solidFill>
          <a:ln w="12700">
            <a:solidFill>
              <a:srgbClr val="1D9E75">
                <a:alpha val="50000"/>
              </a:srgbClr>
            </a:solidFill>
            <a:prstDash val="solid"/>
          </a:ln>
        </p:spPr>
        <p:txBody>
          <a:bodyPr/>
          <a:lstStyle/>
          <a:p>
            <a:endParaRPr lang="en-US"/>
          </a:p>
        </p:txBody>
      </p:sp>
      <p:sp>
        <p:nvSpPr>
          <p:cNvPr id="76" name="Text 74"/>
          <p:cNvSpPr/>
          <p:nvPr/>
        </p:nvSpPr>
        <p:spPr>
          <a:xfrm>
            <a:off x="384048" y="4471416"/>
            <a:ext cx="219456" cy="219456"/>
          </a:xfrm>
          <a:prstGeom prst="rect">
            <a:avLst/>
          </a:prstGeom>
          <a:noFill/>
          <a:ln/>
        </p:spPr>
        <p:txBody>
          <a:bodyPr wrap="square" lIns="0" tIns="0" rIns="0" bIns="0" rtlCol="0" anchor="ctr"/>
          <a:lstStyle/>
          <a:p>
            <a:pPr marL="0" indent="0" algn="ctr">
              <a:buNone/>
            </a:pPr>
            <a:r>
              <a:rPr lang="en-US" sz="900" dirty="0">
                <a:solidFill>
                  <a:srgbClr val="1D9E75"/>
                </a:solidFill>
                <a:latin typeface="Calibri" pitchFamily="34" charset="0"/>
                <a:ea typeface="Calibri" pitchFamily="34" charset="-122"/>
                <a:cs typeface="Calibri" pitchFamily="34" charset="-120"/>
              </a:rPr>
              <a:t>⬡</a:t>
            </a:r>
            <a:endParaRPr lang="en-US" sz="900" dirty="0"/>
          </a:p>
        </p:txBody>
      </p:sp>
      <p:sp>
        <p:nvSpPr>
          <p:cNvPr id="77" name="Text 75"/>
          <p:cNvSpPr/>
          <p:nvPr/>
        </p:nvSpPr>
        <p:spPr>
          <a:xfrm>
            <a:off x="676656" y="4407408"/>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Java 8→21</a:t>
            </a:r>
            <a:endParaRPr lang="en-US" sz="1000" dirty="0"/>
          </a:p>
        </p:txBody>
      </p:sp>
      <p:sp>
        <p:nvSpPr>
          <p:cNvPr id="78" name="Text 76"/>
          <p:cNvSpPr/>
          <p:nvPr/>
        </p:nvSpPr>
        <p:spPr>
          <a:xfrm>
            <a:off x="676656" y="4599432"/>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Language modernisation</a:t>
            </a:r>
            <a:endParaRPr lang="en-US" sz="850" dirty="0"/>
          </a:p>
        </p:txBody>
      </p:sp>
      <p:sp>
        <p:nvSpPr>
          <p:cNvPr id="79" name="Shape 77"/>
          <p:cNvSpPr/>
          <p:nvPr/>
        </p:nvSpPr>
        <p:spPr>
          <a:xfrm>
            <a:off x="3346704" y="4425696"/>
            <a:ext cx="676656" cy="164592"/>
          </a:xfrm>
          <a:prstGeom prst="rect">
            <a:avLst/>
          </a:prstGeom>
          <a:solidFill>
            <a:srgbClr val="1D9E75">
              <a:alpha val="60000"/>
            </a:srgbClr>
          </a:solidFill>
          <a:ln w="12700">
            <a:solidFill>
              <a:srgbClr val="1D9E75">
                <a:alpha val="40000"/>
              </a:srgbClr>
            </a:solidFill>
            <a:prstDash val="solid"/>
          </a:ln>
        </p:spPr>
        <p:txBody>
          <a:bodyPr/>
          <a:lstStyle/>
          <a:p>
            <a:endParaRPr lang="en-US"/>
          </a:p>
        </p:txBody>
      </p:sp>
      <p:sp>
        <p:nvSpPr>
          <p:cNvPr id="80" name="Text 78"/>
          <p:cNvSpPr/>
          <p:nvPr/>
        </p:nvSpPr>
        <p:spPr>
          <a:xfrm>
            <a:off x="3346704" y="4425696"/>
            <a:ext cx="676656" cy="164592"/>
          </a:xfrm>
          <a:prstGeom prst="rect">
            <a:avLst/>
          </a:prstGeom>
          <a:noFill/>
          <a:ln/>
        </p:spPr>
        <p:txBody>
          <a:bodyPr wrap="square" lIns="0" tIns="0" rIns="0" bIns="0" rtlCol="0" anchor="ctr"/>
          <a:lstStyle/>
          <a:p>
            <a:pPr marL="0" indent="0" algn="ctr">
              <a:buNone/>
            </a:pPr>
            <a:r>
              <a:rPr lang="en-US" sz="750" b="1" dirty="0">
                <a:solidFill>
                  <a:srgbClr val="1D9E75"/>
                </a:solidFill>
                <a:latin typeface="Calibri" pitchFamily="34" charset="0"/>
                <a:ea typeface="Calibri" pitchFamily="34" charset="-122"/>
                <a:cs typeface="Calibri" pitchFamily="34" charset="-120"/>
              </a:rPr>
              <a:t>Phase 1</a:t>
            </a:r>
            <a:endParaRPr lang="en-US" sz="750" dirty="0"/>
          </a:p>
        </p:txBody>
      </p:sp>
      <p:sp>
        <p:nvSpPr>
          <p:cNvPr id="81" name="Shape 79"/>
          <p:cNvSpPr/>
          <p:nvPr/>
        </p:nvSpPr>
        <p:spPr>
          <a:xfrm>
            <a:off x="365760" y="4846320"/>
            <a:ext cx="3675888" cy="420624"/>
          </a:xfrm>
          <a:prstGeom prst="rect">
            <a:avLst/>
          </a:prstGeom>
          <a:solidFill>
            <a:srgbClr val="0F2040"/>
          </a:solidFill>
          <a:ln w="12700">
            <a:solidFill>
              <a:srgbClr val="1D9E75">
                <a:alpha val="30000"/>
              </a:srgbClr>
            </a:solidFill>
            <a:prstDash val="solid"/>
          </a:ln>
        </p:spPr>
        <p:txBody>
          <a:bodyPr/>
          <a:lstStyle/>
          <a:p>
            <a:endParaRPr lang="en-US"/>
          </a:p>
        </p:txBody>
      </p:sp>
      <p:sp>
        <p:nvSpPr>
          <p:cNvPr id="82" name="Shape 80"/>
          <p:cNvSpPr/>
          <p:nvPr/>
        </p:nvSpPr>
        <p:spPr>
          <a:xfrm>
            <a:off x="384048" y="4946904"/>
            <a:ext cx="219456" cy="219456"/>
          </a:xfrm>
          <a:prstGeom prst="rect">
            <a:avLst/>
          </a:prstGeom>
          <a:solidFill>
            <a:srgbClr val="1D9E75">
              <a:alpha val="75000"/>
            </a:srgbClr>
          </a:solidFill>
          <a:ln w="12700">
            <a:solidFill>
              <a:srgbClr val="1D9E75">
                <a:alpha val="50000"/>
              </a:srgbClr>
            </a:solidFill>
            <a:prstDash val="solid"/>
          </a:ln>
        </p:spPr>
        <p:txBody>
          <a:bodyPr/>
          <a:lstStyle/>
          <a:p>
            <a:endParaRPr lang="en-US"/>
          </a:p>
        </p:txBody>
      </p:sp>
      <p:sp>
        <p:nvSpPr>
          <p:cNvPr id="83" name="Text 81"/>
          <p:cNvSpPr/>
          <p:nvPr/>
        </p:nvSpPr>
        <p:spPr>
          <a:xfrm>
            <a:off x="384048" y="4946904"/>
            <a:ext cx="219456" cy="219456"/>
          </a:xfrm>
          <a:prstGeom prst="rect">
            <a:avLst/>
          </a:prstGeom>
          <a:noFill/>
          <a:ln/>
        </p:spPr>
        <p:txBody>
          <a:bodyPr wrap="square" lIns="0" tIns="0" rIns="0" bIns="0" rtlCol="0" anchor="ctr"/>
          <a:lstStyle/>
          <a:p>
            <a:pPr marL="0" indent="0" algn="ctr">
              <a:buNone/>
            </a:pPr>
            <a:r>
              <a:rPr lang="en-US" sz="900" dirty="0">
                <a:solidFill>
                  <a:srgbClr val="1D9E75"/>
                </a:solidFill>
                <a:latin typeface="Calibri" pitchFamily="34" charset="0"/>
                <a:ea typeface="Calibri" pitchFamily="34" charset="-122"/>
                <a:cs typeface="Calibri" pitchFamily="34" charset="-120"/>
              </a:rPr>
              <a:t>⬡</a:t>
            </a:r>
            <a:endParaRPr lang="en-US" sz="900" dirty="0"/>
          </a:p>
        </p:txBody>
      </p:sp>
      <p:sp>
        <p:nvSpPr>
          <p:cNvPr id="84" name="Text 82"/>
          <p:cNvSpPr/>
          <p:nvPr/>
        </p:nvSpPr>
        <p:spPr>
          <a:xfrm>
            <a:off x="676656" y="4882896"/>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Spring 5→6</a:t>
            </a:r>
            <a:endParaRPr lang="en-US" sz="1000" dirty="0"/>
          </a:p>
        </p:txBody>
      </p:sp>
      <p:sp>
        <p:nvSpPr>
          <p:cNvPr id="85" name="Text 83"/>
          <p:cNvSpPr/>
          <p:nvPr/>
        </p:nvSpPr>
        <p:spPr>
          <a:xfrm>
            <a:off x="676656" y="5074920"/>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Framework upgrade</a:t>
            </a:r>
            <a:endParaRPr lang="en-US" sz="850" dirty="0"/>
          </a:p>
        </p:txBody>
      </p:sp>
      <p:sp>
        <p:nvSpPr>
          <p:cNvPr id="86" name="Shape 84"/>
          <p:cNvSpPr/>
          <p:nvPr/>
        </p:nvSpPr>
        <p:spPr>
          <a:xfrm>
            <a:off x="3346704" y="4901184"/>
            <a:ext cx="676656" cy="164592"/>
          </a:xfrm>
          <a:prstGeom prst="rect">
            <a:avLst/>
          </a:prstGeom>
          <a:solidFill>
            <a:srgbClr val="1D9E75">
              <a:alpha val="60000"/>
            </a:srgbClr>
          </a:solidFill>
          <a:ln w="12700">
            <a:solidFill>
              <a:srgbClr val="1D9E75">
                <a:alpha val="40000"/>
              </a:srgbClr>
            </a:solidFill>
            <a:prstDash val="solid"/>
          </a:ln>
        </p:spPr>
        <p:txBody>
          <a:bodyPr/>
          <a:lstStyle/>
          <a:p>
            <a:endParaRPr lang="en-US"/>
          </a:p>
        </p:txBody>
      </p:sp>
      <p:sp>
        <p:nvSpPr>
          <p:cNvPr id="87" name="Text 85"/>
          <p:cNvSpPr/>
          <p:nvPr/>
        </p:nvSpPr>
        <p:spPr>
          <a:xfrm>
            <a:off x="3346704" y="4901184"/>
            <a:ext cx="676656" cy="164592"/>
          </a:xfrm>
          <a:prstGeom prst="rect">
            <a:avLst/>
          </a:prstGeom>
          <a:noFill/>
          <a:ln/>
        </p:spPr>
        <p:txBody>
          <a:bodyPr wrap="square" lIns="0" tIns="0" rIns="0" bIns="0" rtlCol="0" anchor="ctr"/>
          <a:lstStyle/>
          <a:p>
            <a:pPr marL="0" indent="0" algn="ctr">
              <a:buNone/>
            </a:pPr>
            <a:r>
              <a:rPr lang="en-US" sz="750" b="1" dirty="0">
                <a:solidFill>
                  <a:srgbClr val="1D9E75"/>
                </a:solidFill>
                <a:latin typeface="Calibri" pitchFamily="34" charset="0"/>
                <a:ea typeface="Calibri" pitchFamily="34" charset="-122"/>
                <a:cs typeface="Calibri" pitchFamily="34" charset="-120"/>
              </a:rPr>
              <a:t>Phase 2</a:t>
            </a:r>
            <a:endParaRPr lang="en-US" sz="750" dirty="0"/>
          </a:p>
        </p:txBody>
      </p:sp>
      <p:sp>
        <p:nvSpPr>
          <p:cNvPr id="88" name="Shape 86"/>
          <p:cNvSpPr/>
          <p:nvPr/>
        </p:nvSpPr>
        <p:spPr>
          <a:xfrm>
            <a:off x="365760" y="5321808"/>
            <a:ext cx="3675888" cy="420624"/>
          </a:xfrm>
          <a:prstGeom prst="rect">
            <a:avLst/>
          </a:prstGeom>
          <a:solidFill>
            <a:srgbClr val="0F2040"/>
          </a:solidFill>
          <a:ln w="12700">
            <a:solidFill>
              <a:srgbClr val="1D9E75">
                <a:alpha val="30000"/>
              </a:srgbClr>
            </a:solidFill>
            <a:prstDash val="solid"/>
          </a:ln>
        </p:spPr>
        <p:txBody>
          <a:bodyPr/>
          <a:lstStyle/>
          <a:p>
            <a:endParaRPr lang="en-US"/>
          </a:p>
        </p:txBody>
      </p:sp>
      <p:sp>
        <p:nvSpPr>
          <p:cNvPr id="89" name="Shape 87"/>
          <p:cNvSpPr/>
          <p:nvPr/>
        </p:nvSpPr>
        <p:spPr>
          <a:xfrm>
            <a:off x="384048" y="5422392"/>
            <a:ext cx="219456" cy="219456"/>
          </a:xfrm>
          <a:prstGeom prst="rect">
            <a:avLst/>
          </a:prstGeom>
          <a:solidFill>
            <a:srgbClr val="1D9E75">
              <a:alpha val="75000"/>
            </a:srgbClr>
          </a:solidFill>
          <a:ln w="12700">
            <a:solidFill>
              <a:srgbClr val="1D9E75">
                <a:alpha val="50000"/>
              </a:srgbClr>
            </a:solidFill>
            <a:prstDash val="solid"/>
          </a:ln>
        </p:spPr>
        <p:txBody>
          <a:bodyPr/>
          <a:lstStyle/>
          <a:p>
            <a:endParaRPr lang="en-US"/>
          </a:p>
        </p:txBody>
      </p:sp>
      <p:sp>
        <p:nvSpPr>
          <p:cNvPr id="90" name="Text 88"/>
          <p:cNvSpPr/>
          <p:nvPr/>
        </p:nvSpPr>
        <p:spPr>
          <a:xfrm>
            <a:off x="384048" y="5422392"/>
            <a:ext cx="219456" cy="219456"/>
          </a:xfrm>
          <a:prstGeom prst="rect">
            <a:avLst/>
          </a:prstGeom>
          <a:noFill/>
          <a:ln/>
        </p:spPr>
        <p:txBody>
          <a:bodyPr wrap="square" lIns="0" tIns="0" rIns="0" bIns="0" rtlCol="0" anchor="ctr"/>
          <a:lstStyle/>
          <a:p>
            <a:pPr marL="0" indent="0" algn="ctr">
              <a:buNone/>
            </a:pPr>
            <a:r>
              <a:rPr lang="en-US" sz="900" dirty="0">
                <a:solidFill>
                  <a:srgbClr val="1D9E75"/>
                </a:solidFill>
                <a:latin typeface="Calibri" pitchFamily="34" charset="0"/>
                <a:ea typeface="Calibri" pitchFamily="34" charset="-122"/>
                <a:cs typeface="Calibri" pitchFamily="34" charset="-120"/>
              </a:rPr>
              <a:t>⬡</a:t>
            </a:r>
            <a:endParaRPr lang="en-US" sz="900" dirty="0"/>
          </a:p>
        </p:txBody>
      </p:sp>
      <p:sp>
        <p:nvSpPr>
          <p:cNvPr id="91" name="Text 89"/>
          <p:cNvSpPr/>
          <p:nvPr/>
        </p:nvSpPr>
        <p:spPr>
          <a:xfrm>
            <a:off x="676656" y="5358384"/>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Struts2 → MVC</a:t>
            </a:r>
            <a:endParaRPr lang="en-US" sz="1000" dirty="0"/>
          </a:p>
        </p:txBody>
      </p:sp>
      <p:sp>
        <p:nvSpPr>
          <p:cNvPr id="92" name="Text 90"/>
          <p:cNvSpPr/>
          <p:nvPr/>
        </p:nvSpPr>
        <p:spPr>
          <a:xfrm>
            <a:off x="676656" y="5550408"/>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Struts elimination + OGNL removal</a:t>
            </a:r>
            <a:endParaRPr lang="en-US" sz="850" dirty="0"/>
          </a:p>
        </p:txBody>
      </p:sp>
      <p:sp>
        <p:nvSpPr>
          <p:cNvPr id="93" name="Shape 91"/>
          <p:cNvSpPr/>
          <p:nvPr/>
        </p:nvSpPr>
        <p:spPr>
          <a:xfrm>
            <a:off x="3346704" y="5376672"/>
            <a:ext cx="676656" cy="164592"/>
          </a:xfrm>
          <a:prstGeom prst="rect">
            <a:avLst/>
          </a:prstGeom>
          <a:solidFill>
            <a:srgbClr val="1D9E75">
              <a:alpha val="60000"/>
            </a:srgbClr>
          </a:solidFill>
          <a:ln w="12700">
            <a:solidFill>
              <a:srgbClr val="1D9E75">
                <a:alpha val="40000"/>
              </a:srgbClr>
            </a:solidFill>
            <a:prstDash val="solid"/>
          </a:ln>
        </p:spPr>
        <p:txBody>
          <a:bodyPr/>
          <a:lstStyle/>
          <a:p>
            <a:endParaRPr lang="en-US"/>
          </a:p>
        </p:txBody>
      </p:sp>
      <p:sp>
        <p:nvSpPr>
          <p:cNvPr id="94" name="Text 92"/>
          <p:cNvSpPr/>
          <p:nvPr/>
        </p:nvSpPr>
        <p:spPr>
          <a:xfrm>
            <a:off x="3346704" y="5376672"/>
            <a:ext cx="676656" cy="164592"/>
          </a:xfrm>
          <a:prstGeom prst="rect">
            <a:avLst/>
          </a:prstGeom>
          <a:noFill/>
          <a:ln/>
        </p:spPr>
        <p:txBody>
          <a:bodyPr wrap="square" lIns="0" tIns="0" rIns="0" bIns="0" rtlCol="0" anchor="ctr"/>
          <a:lstStyle/>
          <a:p>
            <a:pPr marL="0" indent="0" algn="ctr">
              <a:buNone/>
            </a:pPr>
            <a:r>
              <a:rPr lang="en-US" sz="750" b="1" dirty="0">
                <a:solidFill>
                  <a:srgbClr val="1D9E75"/>
                </a:solidFill>
                <a:latin typeface="Calibri" pitchFamily="34" charset="0"/>
                <a:ea typeface="Calibri" pitchFamily="34" charset="-122"/>
                <a:cs typeface="Calibri" pitchFamily="34" charset="-120"/>
              </a:rPr>
              <a:t>Phase 3</a:t>
            </a:r>
            <a:endParaRPr lang="en-US" sz="750" dirty="0"/>
          </a:p>
        </p:txBody>
      </p:sp>
      <p:sp>
        <p:nvSpPr>
          <p:cNvPr id="95" name="Shape 93"/>
          <p:cNvSpPr/>
          <p:nvPr/>
        </p:nvSpPr>
        <p:spPr>
          <a:xfrm>
            <a:off x="365760" y="5797296"/>
            <a:ext cx="3675888" cy="420624"/>
          </a:xfrm>
          <a:prstGeom prst="rect">
            <a:avLst/>
          </a:prstGeom>
          <a:solidFill>
            <a:srgbClr val="0F2040"/>
          </a:solidFill>
          <a:ln w="12700">
            <a:solidFill>
              <a:srgbClr val="1D9E75">
                <a:alpha val="30000"/>
              </a:srgbClr>
            </a:solidFill>
            <a:prstDash val="solid"/>
          </a:ln>
        </p:spPr>
        <p:txBody>
          <a:bodyPr/>
          <a:lstStyle/>
          <a:p>
            <a:endParaRPr lang="en-US"/>
          </a:p>
        </p:txBody>
      </p:sp>
      <p:sp>
        <p:nvSpPr>
          <p:cNvPr id="96" name="Shape 94"/>
          <p:cNvSpPr/>
          <p:nvPr/>
        </p:nvSpPr>
        <p:spPr>
          <a:xfrm>
            <a:off x="384048" y="5897880"/>
            <a:ext cx="219456" cy="219456"/>
          </a:xfrm>
          <a:prstGeom prst="rect">
            <a:avLst/>
          </a:prstGeom>
          <a:solidFill>
            <a:srgbClr val="1D9E75">
              <a:alpha val="75000"/>
            </a:srgbClr>
          </a:solidFill>
          <a:ln w="12700">
            <a:solidFill>
              <a:srgbClr val="1D9E75">
                <a:alpha val="50000"/>
              </a:srgbClr>
            </a:solidFill>
            <a:prstDash val="solid"/>
          </a:ln>
        </p:spPr>
        <p:txBody>
          <a:bodyPr/>
          <a:lstStyle/>
          <a:p>
            <a:endParaRPr lang="en-US"/>
          </a:p>
        </p:txBody>
      </p:sp>
      <p:sp>
        <p:nvSpPr>
          <p:cNvPr id="97" name="Text 95"/>
          <p:cNvSpPr/>
          <p:nvPr/>
        </p:nvSpPr>
        <p:spPr>
          <a:xfrm>
            <a:off x="384048" y="5897880"/>
            <a:ext cx="219456" cy="219456"/>
          </a:xfrm>
          <a:prstGeom prst="rect">
            <a:avLst/>
          </a:prstGeom>
          <a:noFill/>
          <a:ln/>
        </p:spPr>
        <p:txBody>
          <a:bodyPr wrap="square" lIns="0" tIns="0" rIns="0" bIns="0" rtlCol="0" anchor="ctr"/>
          <a:lstStyle/>
          <a:p>
            <a:pPr marL="0" indent="0" algn="ctr">
              <a:buNone/>
            </a:pPr>
            <a:r>
              <a:rPr lang="en-US" sz="900" dirty="0">
                <a:solidFill>
                  <a:srgbClr val="1D9E75"/>
                </a:solidFill>
                <a:latin typeface="Calibri" pitchFamily="34" charset="0"/>
                <a:ea typeface="Calibri" pitchFamily="34" charset="-122"/>
                <a:cs typeface="Calibri" pitchFamily="34" charset="-120"/>
              </a:rPr>
              <a:t>⬡</a:t>
            </a:r>
            <a:endParaRPr lang="en-US" sz="900" dirty="0"/>
          </a:p>
        </p:txBody>
      </p:sp>
      <p:sp>
        <p:nvSpPr>
          <p:cNvPr id="98" name="Text 96"/>
          <p:cNvSpPr/>
          <p:nvPr/>
        </p:nvSpPr>
        <p:spPr>
          <a:xfrm>
            <a:off x="676656" y="5833872"/>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Containerize</a:t>
            </a:r>
            <a:endParaRPr lang="en-US" sz="1000" dirty="0"/>
          </a:p>
        </p:txBody>
      </p:sp>
      <p:sp>
        <p:nvSpPr>
          <p:cNvPr id="99" name="Text 97"/>
          <p:cNvSpPr/>
          <p:nvPr/>
        </p:nvSpPr>
        <p:spPr>
          <a:xfrm>
            <a:off x="676656" y="6025896"/>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Docker + Liberty + ECS config</a:t>
            </a:r>
            <a:endParaRPr lang="en-US" sz="850" dirty="0"/>
          </a:p>
        </p:txBody>
      </p:sp>
      <p:sp>
        <p:nvSpPr>
          <p:cNvPr id="100" name="Shape 98"/>
          <p:cNvSpPr/>
          <p:nvPr/>
        </p:nvSpPr>
        <p:spPr>
          <a:xfrm>
            <a:off x="3346704" y="5852160"/>
            <a:ext cx="676656" cy="164592"/>
          </a:xfrm>
          <a:prstGeom prst="rect">
            <a:avLst/>
          </a:prstGeom>
          <a:solidFill>
            <a:srgbClr val="1D9E75">
              <a:alpha val="60000"/>
            </a:srgbClr>
          </a:solidFill>
          <a:ln w="12700">
            <a:solidFill>
              <a:srgbClr val="1D9E75">
                <a:alpha val="40000"/>
              </a:srgbClr>
            </a:solidFill>
            <a:prstDash val="solid"/>
          </a:ln>
        </p:spPr>
        <p:txBody>
          <a:bodyPr/>
          <a:lstStyle/>
          <a:p>
            <a:endParaRPr lang="en-US"/>
          </a:p>
        </p:txBody>
      </p:sp>
      <p:sp>
        <p:nvSpPr>
          <p:cNvPr id="101" name="Text 99"/>
          <p:cNvSpPr/>
          <p:nvPr/>
        </p:nvSpPr>
        <p:spPr>
          <a:xfrm>
            <a:off x="3346704" y="5852160"/>
            <a:ext cx="676656" cy="164592"/>
          </a:xfrm>
          <a:prstGeom prst="rect">
            <a:avLst/>
          </a:prstGeom>
          <a:noFill/>
          <a:ln/>
        </p:spPr>
        <p:txBody>
          <a:bodyPr wrap="square" lIns="0" tIns="0" rIns="0" bIns="0" rtlCol="0" anchor="ctr"/>
          <a:lstStyle/>
          <a:p>
            <a:pPr marL="0" indent="0" algn="ctr">
              <a:buNone/>
            </a:pPr>
            <a:r>
              <a:rPr lang="en-US" sz="750" b="1" dirty="0">
                <a:solidFill>
                  <a:srgbClr val="1D9E75"/>
                </a:solidFill>
                <a:latin typeface="Calibri" pitchFamily="34" charset="0"/>
                <a:ea typeface="Calibri" pitchFamily="34" charset="-122"/>
                <a:cs typeface="Calibri" pitchFamily="34" charset="-120"/>
              </a:rPr>
              <a:t>Phase 4</a:t>
            </a:r>
            <a:endParaRPr lang="en-US" sz="750" dirty="0"/>
          </a:p>
        </p:txBody>
      </p:sp>
      <p:sp>
        <p:nvSpPr>
          <p:cNvPr id="102" name="Shape 100"/>
          <p:cNvSpPr/>
          <p:nvPr/>
        </p:nvSpPr>
        <p:spPr>
          <a:xfrm>
            <a:off x="365760" y="6272784"/>
            <a:ext cx="3675888" cy="420624"/>
          </a:xfrm>
          <a:prstGeom prst="rect">
            <a:avLst/>
          </a:prstGeom>
          <a:solidFill>
            <a:srgbClr val="0F2040"/>
          </a:solidFill>
          <a:ln w="12700">
            <a:solidFill>
              <a:srgbClr val="1D9E75">
                <a:alpha val="30000"/>
              </a:srgbClr>
            </a:solidFill>
            <a:prstDash val="solid"/>
          </a:ln>
        </p:spPr>
        <p:txBody>
          <a:bodyPr/>
          <a:lstStyle/>
          <a:p>
            <a:endParaRPr lang="en-US"/>
          </a:p>
        </p:txBody>
      </p:sp>
      <p:sp>
        <p:nvSpPr>
          <p:cNvPr id="103" name="Shape 101"/>
          <p:cNvSpPr/>
          <p:nvPr/>
        </p:nvSpPr>
        <p:spPr>
          <a:xfrm>
            <a:off x="384048" y="6373368"/>
            <a:ext cx="219456" cy="219456"/>
          </a:xfrm>
          <a:prstGeom prst="rect">
            <a:avLst/>
          </a:prstGeom>
          <a:solidFill>
            <a:srgbClr val="1D9E75">
              <a:alpha val="75000"/>
            </a:srgbClr>
          </a:solidFill>
          <a:ln w="12700">
            <a:solidFill>
              <a:srgbClr val="1D9E75">
                <a:alpha val="50000"/>
              </a:srgbClr>
            </a:solidFill>
            <a:prstDash val="solid"/>
          </a:ln>
        </p:spPr>
        <p:txBody>
          <a:bodyPr/>
          <a:lstStyle/>
          <a:p>
            <a:endParaRPr lang="en-US"/>
          </a:p>
        </p:txBody>
      </p:sp>
      <p:sp>
        <p:nvSpPr>
          <p:cNvPr id="104" name="Text 102"/>
          <p:cNvSpPr/>
          <p:nvPr/>
        </p:nvSpPr>
        <p:spPr>
          <a:xfrm>
            <a:off x="384048" y="6373368"/>
            <a:ext cx="219456" cy="219456"/>
          </a:xfrm>
          <a:prstGeom prst="rect">
            <a:avLst/>
          </a:prstGeom>
          <a:noFill/>
          <a:ln/>
        </p:spPr>
        <p:txBody>
          <a:bodyPr wrap="square" lIns="0" tIns="0" rIns="0" bIns="0" rtlCol="0" anchor="ctr"/>
          <a:lstStyle/>
          <a:p>
            <a:pPr marL="0" indent="0" algn="ctr">
              <a:buNone/>
            </a:pPr>
            <a:r>
              <a:rPr lang="en-US" sz="900" dirty="0">
                <a:solidFill>
                  <a:srgbClr val="1D9E75"/>
                </a:solidFill>
                <a:latin typeface="Calibri" pitchFamily="34" charset="0"/>
                <a:ea typeface="Calibri" pitchFamily="34" charset="-122"/>
                <a:cs typeface="Calibri" pitchFamily="34" charset="-120"/>
              </a:rPr>
              <a:t>⬡</a:t>
            </a:r>
            <a:endParaRPr lang="en-US" sz="900" dirty="0"/>
          </a:p>
        </p:txBody>
      </p:sp>
      <p:sp>
        <p:nvSpPr>
          <p:cNvPr id="105" name="Text 103"/>
          <p:cNvSpPr/>
          <p:nvPr/>
        </p:nvSpPr>
        <p:spPr>
          <a:xfrm>
            <a:off x="676656" y="6309360"/>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Test Gen</a:t>
            </a:r>
            <a:endParaRPr lang="en-US" sz="1000" dirty="0"/>
          </a:p>
        </p:txBody>
      </p:sp>
      <p:sp>
        <p:nvSpPr>
          <p:cNvPr id="106" name="Text 104"/>
          <p:cNvSpPr/>
          <p:nvPr/>
        </p:nvSpPr>
        <p:spPr>
          <a:xfrm>
            <a:off x="676656" y="6501384"/>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JUnit 5 test generation</a:t>
            </a:r>
            <a:endParaRPr lang="en-US" sz="850" dirty="0"/>
          </a:p>
        </p:txBody>
      </p:sp>
      <p:sp>
        <p:nvSpPr>
          <p:cNvPr id="107" name="Shape 105"/>
          <p:cNvSpPr/>
          <p:nvPr/>
        </p:nvSpPr>
        <p:spPr>
          <a:xfrm>
            <a:off x="3346704" y="6327648"/>
            <a:ext cx="676656" cy="164592"/>
          </a:xfrm>
          <a:prstGeom prst="rect">
            <a:avLst/>
          </a:prstGeom>
          <a:solidFill>
            <a:srgbClr val="1D9E75">
              <a:alpha val="60000"/>
            </a:srgbClr>
          </a:solidFill>
          <a:ln w="12700">
            <a:solidFill>
              <a:srgbClr val="1D9E75">
                <a:alpha val="40000"/>
              </a:srgbClr>
            </a:solidFill>
            <a:prstDash val="solid"/>
          </a:ln>
        </p:spPr>
        <p:txBody>
          <a:bodyPr/>
          <a:lstStyle/>
          <a:p>
            <a:endParaRPr lang="en-US"/>
          </a:p>
        </p:txBody>
      </p:sp>
      <p:sp>
        <p:nvSpPr>
          <p:cNvPr id="108" name="Text 106"/>
          <p:cNvSpPr/>
          <p:nvPr/>
        </p:nvSpPr>
        <p:spPr>
          <a:xfrm>
            <a:off x="3346704" y="6327648"/>
            <a:ext cx="676656" cy="164592"/>
          </a:xfrm>
          <a:prstGeom prst="rect">
            <a:avLst/>
          </a:prstGeom>
          <a:noFill/>
          <a:ln/>
        </p:spPr>
        <p:txBody>
          <a:bodyPr wrap="square" lIns="0" tIns="0" rIns="0" bIns="0" rtlCol="0" anchor="ctr"/>
          <a:lstStyle/>
          <a:p>
            <a:pPr marL="0" indent="0" algn="ctr">
              <a:buNone/>
            </a:pPr>
            <a:r>
              <a:rPr lang="en-US" sz="750" b="1" dirty="0">
                <a:solidFill>
                  <a:srgbClr val="1D9E75"/>
                </a:solidFill>
                <a:latin typeface="Calibri" pitchFamily="34" charset="0"/>
                <a:ea typeface="Calibri" pitchFamily="34" charset="-122"/>
                <a:cs typeface="Calibri" pitchFamily="34" charset="-120"/>
              </a:rPr>
              <a:t>Phase 5</a:t>
            </a:r>
            <a:endParaRPr lang="en-US" sz="750" dirty="0"/>
          </a:p>
        </p:txBody>
      </p:sp>
      <p:sp>
        <p:nvSpPr>
          <p:cNvPr id="109" name="Shape 107"/>
          <p:cNvSpPr/>
          <p:nvPr/>
        </p:nvSpPr>
        <p:spPr>
          <a:xfrm>
            <a:off x="4334256" y="3090672"/>
            <a:ext cx="3858768" cy="3621024"/>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10" name="Shape 108"/>
          <p:cNvSpPr/>
          <p:nvPr/>
        </p:nvSpPr>
        <p:spPr>
          <a:xfrm>
            <a:off x="4334256" y="3090672"/>
            <a:ext cx="3858768" cy="50292"/>
          </a:xfrm>
          <a:prstGeom prst="rect">
            <a:avLst/>
          </a:prstGeom>
          <a:solidFill>
            <a:srgbClr val="534AB7"/>
          </a:solidFill>
          <a:ln w="12700">
            <a:solidFill>
              <a:srgbClr val="534AB7">
                <a:alpha val="0"/>
              </a:srgbClr>
            </a:solidFill>
            <a:prstDash val="solid"/>
          </a:ln>
        </p:spPr>
        <p:txBody>
          <a:bodyPr/>
          <a:lstStyle/>
          <a:p>
            <a:endParaRPr lang="en-US"/>
          </a:p>
        </p:txBody>
      </p:sp>
      <p:sp>
        <p:nvSpPr>
          <p:cNvPr id="111" name="Text 109"/>
          <p:cNvSpPr/>
          <p:nvPr/>
        </p:nvSpPr>
        <p:spPr>
          <a:xfrm>
            <a:off x="4425696" y="3140964"/>
            <a:ext cx="2508199" cy="237744"/>
          </a:xfrm>
          <a:prstGeom prst="rect">
            <a:avLst/>
          </a:prstGeom>
          <a:noFill/>
          <a:ln/>
        </p:spPr>
        <p:txBody>
          <a:bodyPr wrap="square" lIns="0" tIns="0" rIns="0" bIns="0" rtlCol="0" anchor="ctr"/>
          <a:lstStyle/>
          <a:p>
            <a:pPr marL="0" indent="0" algn="l">
              <a:buNone/>
            </a:pPr>
            <a:r>
              <a:rPr lang="en-US" sz="1000" b="1" dirty="0">
                <a:solidFill>
                  <a:srgbClr val="534AB7"/>
                </a:solidFill>
                <a:latin typeface="Georgia" pitchFamily="34" charset="0"/>
                <a:ea typeface="Georgia" pitchFamily="34" charset="-122"/>
                <a:cs typeface="Georgia" pitchFamily="34" charset="-120"/>
              </a:rPr>
              <a:t>Plug in for future migrations</a:t>
            </a:r>
            <a:endParaRPr lang="en-US" sz="1000" dirty="0"/>
          </a:p>
        </p:txBody>
      </p:sp>
      <p:sp>
        <p:nvSpPr>
          <p:cNvPr id="112" name="Shape 110"/>
          <p:cNvSpPr/>
          <p:nvPr/>
        </p:nvSpPr>
        <p:spPr>
          <a:xfrm>
            <a:off x="7187184" y="3140964"/>
            <a:ext cx="914400" cy="219456"/>
          </a:xfrm>
          <a:prstGeom prst="rect">
            <a:avLst/>
          </a:prstGeom>
          <a:solidFill>
            <a:srgbClr val="534AB7">
              <a:alpha val="80000"/>
            </a:srgbClr>
          </a:solidFill>
          <a:ln w="12700">
            <a:solidFill>
              <a:srgbClr val="534AB7">
                <a:alpha val="50000"/>
              </a:srgbClr>
            </a:solidFill>
            <a:prstDash val="solid"/>
          </a:ln>
        </p:spPr>
        <p:txBody>
          <a:bodyPr/>
          <a:lstStyle/>
          <a:p>
            <a:endParaRPr lang="en-US"/>
          </a:p>
        </p:txBody>
      </p:sp>
      <p:sp>
        <p:nvSpPr>
          <p:cNvPr id="113" name="Text 111"/>
          <p:cNvSpPr/>
          <p:nvPr/>
        </p:nvSpPr>
        <p:spPr>
          <a:xfrm>
            <a:off x="7187184" y="3140964"/>
            <a:ext cx="914400" cy="219456"/>
          </a:xfrm>
          <a:prstGeom prst="rect">
            <a:avLst/>
          </a:prstGeom>
          <a:noFill/>
          <a:ln/>
        </p:spPr>
        <p:txBody>
          <a:bodyPr wrap="square" lIns="0" tIns="0" rIns="0" bIns="0" rtlCol="0" anchor="ctr"/>
          <a:lstStyle/>
          <a:p>
            <a:pPr marL="0" indent="0" algn="ctr">
              <a:buNone/>
            </a:pPr>
            <a:r>
              <a:rPr lang="en-US" sz="850" b="1" dirty="0">
                <a:solidFill>
                  <a:srgbClr val="534AB7"/>
                </a:solidFill>
                <a:latin typeface="Calibri" pitchFamily="34" charset="0"/>
                <a:ea typeface="Calibri" pitchFamily="34" charset="-122"/>
                <a:cs typeface="Calibri" pitchFamily="34" charset="-120"/>
              </a:rPr>
              <a:t>Extensible</a:t>
            </a:r>
            <a:endParaRPr lang="en-US" sz="850" dirty="0"/>
          </a:p>
        </p:txBody>
      </p:sp>
      <p:sp>
        <p:nvSpPr>
          <p:cNvPr id="114" name="Shape 112"/>
          <p:cNvSpPr/>
          <p:nvPr/>
        </p:nvSpPr>
        <p:spPr>
          <a:xfrm>
            <a:off x="4425696" y="3419856"/>
            <a:ext cx="3675888" cy="420624"/>
          </a:xfrm>
          <a:prstGeom prst="rect">
            <a:avLst/>
          </a:prstGeom>
          <a:solidFill>
            <a:srgbClr val="0F2040"/>
          </a:solidFill>
          <a:ln w="12700">
            <a:solidFill>
              <a:srgbClr val="534AB7">
                <a:alpha val="30000"/>
              </a:srgbClr>
            </a:solidFill>
            <a:prstDash val="solid"/>
          </a:ln>
        </p:spPr>
        <p:txBody>
          <a:bodyPr/>
          <a:lstStyle/>
          <a:p>
            <a:endParaRPr lang="en-US"/>
          </a:p>
        </p:txBody>
      </p:sp>
      <p:sp>
        <p:nvSpPr>
          <p:cNvPr id="115" name="Shape 113"/>
          <p:cNvSpPr/>
          <p:nvPr/>
        </p:nvSpPr>
        <p:spPr>
          <a:xfrm>
            <a:off x="4443984" y="3520440"/>
            <a:ext cx="219456" cy="219456"/>
          </a:xfrm>
          <a:prstGeom prst="rect">
            <a:avLst/>
          </a:prstGeom>
          <a:solidFill>
            <a:srgbClr val="534AB7">
              <a:alpha val="75000"/>
            </a:srgbClr>
          </a:solidFill>
          <a:ln w="12700">
            <a:solidFill>
              <a:srgbClr val="534AB7">
                <a:alpha val="50000"/>
              </a:srgbClr>
            </a:solidFill>
            <a:prstDash val="solid"/>
          </a:ln>
        </p:spPr>
        <p:txBody>
          <a:bodyPr/>
          <a:lstStyle/>
          <a:p>
            <a:endParaRPr lang="en-US"/>
          </a:p>
        </p:txBody>
      </p:sp>
      <p:sp>
        <p:nvSpPr>
          <p:cNvPr id="116" name="Text 114"/>
          <p:cNvSpPr/>
          <p:nvPr/>
        </p:nvSpPr>
        <p:spPr>
          <a:xfrm>
            <a:off x="4443984" y="3520440"/>
            <a:ext cx="219456" cy="219456"/>
          </a:xfrm>
          <a:prstGeom prst="rect">
            <a:avLst/>
          </a:prstGeom>
          <a:noFill/>
          <a:ln/>
        </p:spPr>
        <p:txBody>
          <a:bodyPr wrap="square" lIns="0" tIns="0" rIns="0" bIns="0" rtlCol="0" anchor="ctr"/>
          <a:lstStyle/>
          <a:p>
            <a:pPr marL="0" indent="0" algn="ctr">
              <a:buNone/>
            </a:pPr>
            <a:r>
              <a:rPr lang="en-US" sz="900" dirty="0">
                <a:solidFill>
                  <a:srgbClr val="534AB7"/>
                </a:solidFill>
                <a:latin typeface="Calibri" pitchFamily="34" charset="0"/>
                <a:ea typeface="Calibri" pitchFamily="34" charset="-122"/>
                <a:cs typeface="Calibri" pitchFamily="34" charset="-120"/>
              </a:rPr>
              <a:t>⬡</a:t>
            </a:r>
            <a:endParaRPr lang="en-US" sz="900" dirty="0"/>
          </a:p>
        </p:txBody>
      </p:sp>
      <p:sp>
        <p:nvSpPr>
          <p:cNvPr id="117" name="Text 115"/>
          <p:cNvSpPr/>
          <p:nvPr/>
        </p:nvSpPr>
        <p:spPr>
          <a:xfrm>
            <a:off x="4736592" y="3456432"/>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JSF → Thymeleaf</a:t>
            </a:r>
            <a:endParaRPr lang="en-US" sz="1000" dirty="0"/>
          </a:p>
        </p:txBody>
      </p:sp>
      <p:sp>
        <p:nvSpPr>
          <p:cNvPr id="118" name="Text 116"/>
          <p:cNvSpPr/>
          <p:nvPr/>
        </p:nvSpPr>
        <p:spPr>
          <a:xfrm>
            <a:off x="4736592" y="3648456"/>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Migrate JSF views to Thymeleaf templates</a:t>
            </a:r>
            <a:endParaRPr lang="en-US" sz="850" dirty="0"/>
          </a:p>
        </p:txBody>
      </p:sp>
      <p:sp>
        <p:nvSpPr>
          <p:cNvPr id="119" name="Shape 117"/>
          <p:cNvSpPr/>
          <p:nvPr/>
        </p:nvSpPr>
        <p:spPr>
          <a:xfrm>
            <a:off x="7406640" y="3474720"/>
            <a:ext cx="676656" cy="164592"/>
          </a:xfrm>
          <a:prstGeom prst="rect">
            <a:avLst/>
          </a:prstGeom>
          <a:solidFill>
            <a:srgbClr val="534AB7">
              <a:alpha val="60000"/>
            </a:srgbClr>
          </a:solidFill>
          <a:ln w="12700">
            <a:solidFill>
              <a:srgbClr val="534AB7">
                <a:alpha val="40000"/>
              </a:srgbClr>
            </a:solidFill>
            <a:prstDash val="solid"/>
          </a:ln>
        </p:spPr>
        <p:txBody>
          <a:bodyPr/>
          <a:lstStyle/>
          <a:p>
            <a:endParaRPr lang="en-US"/>
          </a:p>
        </p:txBody>
      </p:sp>
      <p:sp>
        <p:nvSpPr>
          <p:cNvPr id="120" name="Text 118"/>
          <p:cNvSpPr/>
          <p:nvPr/>
        </p:nvSpPr>
        <p:spPr>
          <a:xfrm>
            <a:off x="7406640" y="3474720"/>
            <a:ext cx="676656" cy="164592"/>
          </a:xfrm>
          <a:prstGeom prst="rect">
            <a:avLst/>
          </a:prstGeom>
          <a:noFill/>
          <a:ln/>
        </p:spPr>
        <p:txBody>
          <a:bodyPr wrap="square" lIns="0" tIns="0" rIns="0" bIns="0" rtlCol="0" anchor="ctr"/>
          <a:lstStyle/>
          <a:p>
            <a:pPr marL="0" indent="0" algn="ctr">
              <a:buNone/>
            </a:pPr>
            <a:r>
              <a:rPr lang="en-US" sz="750" b="1" dirty="0">
                <a:solidFill>
                  <a:srgbClr val="534AB7"/>
                </a:solidFill>
                <a:latin typeface="Calibri" pitchFamily="34" charset="0"/>
                <a:ea typeface="Calibri" pitchFamily="34" charset="-122"/>
                <a:cs typeface="Calibri" pitchFamily="34" charset="-120"/>
              </a:rPr>
              <a:t>Phase 3+</a:t>
            </a:r>
            <a:endParaRPr lang="en-US" sz="750" dirty="0"/>
          </a:p>
        </p:txBody>
      </p:sp>
      <p:sp>
        <p:nvSpPr>
          <p:cNvPr id="121" name="Shape 119"/>
          <p:cNvSpPr/>
          <p:nvPr/>
        </p:nvSpPr>
        <p:spPr>
          <a:xfrm>
            <a:off x="4425696" y="3895344"/>
            <a:ext cx="3675888" cy="420624"/>
          </a:xfrm>
          <a:prstGeom prst="rect">
            <a:avLst/>
          </a:prstGeom>
          <a:solidFill>
            <a:srgbClr val="0F2040"/>
          </a:solidFill>
          <a:ln w="12700">
            <a:solidFill>
              <a:srgbClr val="534AB7">
                <a:alpha val="30000"/>
              </a:srgbClr>
            </a:solidFill>
            <a:prstDash val="solid"/>
          </a:ln>
        </p:spPr>
        <p:txBody>
          <a:bodyPr/>
          <a:lstStyle/>
          <a:p>
            <a:endParaRPr lang="en-US"/>
          </a:p>
        </p:txBody>
      </p:sp>
      <p:sp>
        <p:nvSpPr>
          <p:cNvPr id="122" name="Shape 120"/>
          <p:cNvSpPr/>
          <p:nvPr/>
        </p:nvSpPr>
        <p:spPr>
          <a:xfrm>
            <a:off x="4443984" y="3995928"/>
            <a:ext cx="219456" cy="219456"/>
          </a:xfrm>
          <a:prstGeom prst="rect">
            <a:avLst/>
          </a:prstGeom>
          <a:solidFill>
            <a:srgbClr val="534AB7">
              <a:alpha val="75000"/>
            </a:srgbClr>
          </a:solidFill>
          <a:ln w="12700">
            <a:solidFill>
              <a:srgbClr val="534AB7">
                <a:alpha val="50000"/>
              </a:srgbClr>
            </a:solidFill>
            <a:prstDash val="solid"/>
          </a:ln>
        </p:spPr>
        <p:txBody>
          <a:bodyPr/>
          <a:lstStyle/>
          <a:p>
            <a:endParaRPr lang="en-US"/>
          </a:p>
        </p:txBody>
      </p:sp>
      <p:sp>
        <p:nvSpPr>
          <p:cNvPr id="123" name="Text 121"/>
          <p:cNvSpPr/>
          <p:nvPr/>
        </p:nvSpPr>
        <p:spPr>
          <a:xfrm>
            <a:off x="4443984" y="3995928"/>
            <a:ext cx="219456" cy="219456"/>
          </a:xfrm>
          <a:prstGeom prst="rect">
            <a:avLst/>
          </a:prstGeom>
          <a:noFill/>
          <a:ln/>
        </p:spPr>
        <p:txBody>
          <a:bodyPr wrap="square" lIns="0" tIns="0" rIns="0" bIns="0" rtlCol="0" anchor="ctr"/>
          <a:lstStyle/>
          <a:p>
            <a:pPr marL="0" indent="0" algn="ctr">
              <a:buNone/>
            </a:pPr>
            <a:r>
              <a:rPr lang="en-US" sz="900" dirty="0">
                <a:solidFill>
                  <a:srgbClr val="534AB7"/>
                </a:solidFill>
                <a:latin typeface="Calibri" pitchFamily="34" charset="0"/>
                <a:ea typeface="Calibri" pitchFamily="34" charset="-122"/>
                <a:cs typeface="Calibri" pitchFamily="34" charset="-120"/>
              </a:rPr>
              <a:t>⬡</a:t>
            </a:r>
            <a:endParaRPr lang="en-US" sz="900" dirty="0"/>
          </a:p>
        </p:txBody>
      </p:sp>
      <p:sp>
        <p:nvSpPr>
          <p:cNvPr id="124" name="Text 122"/>
          <p:cNvSpPr/>
          <p:nvPr/>
        </p:nvSpPr>
        <p:spPr>
          <a:xfrm>
            <a:off x="4736592" y="3931920"/>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EJB → Spring</a:t>
            </a:r>
            <a:endParaRPr lang="en-US" sz="1000" dirty="0"/>
          </a:p>
        </p:txBody>
      </p:sp>
      <p:sp>
        <p:nvSpPr>
          <p:cNvPr id="125" name="Text 123"/>
          <p:cNvSpPr/>
          <p:nvPr/>
        </p:nvSpPr>
        <p:spPr>
          <a:xfrm>
            <a:off x="4736592" y="4123944"/>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Replace EJB session beans with @Service</a:t>
            </a:r>
            <a:endParaRPr lang="en-US" sz="850" dirty="0"/>
          </a:p>
        </p:txBody>
      </p:sp>
      <p:sp>
        <p:nvSpPr>
          <p:cNvPr id="126" name="Shape 124"/>
          <p:cNvSpPr/>
          <p:nvPr/>
        </p:nvSpPr>
        <p:spPr>
          <a:xfrm>
            <a:off x="7406640" y="3950208"/>
            <a:ext cx="676656" cy="164592"/>
          </a:xfrm>
          <a:prstGeom prst="rect">
            <a:avLst/>
          </a:prstGeom>
          <a:solidFill>
            <a:srgbClr val="534AB7">
              <a:alpha val="60000"/>
            </a:srgbClr>
          </a:solidFill>
          <a:ln w="12700">
            <a:solidFill>
              <a:srgbClr val="534AB7">
                <a:alpha val="40000"/>
              </a:srgbClr>
            </a:solidFill>
            <a:prstDash val="solid"/>
          </a:ln>
        </p:spPr>
        <p:txBody>
          <a:bodyPr/>
          <a:lstStyle/>
          <a:p>
            <a:endParaRPr lang="en-US"/>
          </a:p>
        </p:txBody>
      </p:sp>
      <p:sp>
        <p:nvSpPr>
          <p:cNvPr id="127" name="Text 125"/>
          <p:cNvSpPr/>
          <p:nvPr/>
        </p:nvSpPr>
        <p:spPr>
          <a:xfrm>
            <a:off x="7406640" y="3950208"/>
            <a:ext cx="676656" cy="164592"/>
          </a:xfrm>
          <a:prstGeom prst="rect">
            <a:avLst/>
          </a:prstGeom>
          <a:noFill/>
          <a:ln/>
        </p:spPr>
        <p:txBody>
          <a:bodyPr wrap="square" lIns="0" tIns="0" rIns="0" bIns="0" rtlCol="0" anchor="ctr"/>
          <a:lstStyle/>
          <a:p>
            <a:pPr marL="0" indent="0" algn="ctr">
              <a:buNone/>
            </a:pPr>
            <a:r>
              <a:rPr lang="en-US" sz="750" b="1" dirty="0">
                <a:solidFill>
                  <a:srgbClr val="534AB7"/>
                </a:solidFill>
                <a:latin typeface="Calibri" pitchFamily="34" charset="0"/>
                <a:ea typeface="Calibri" pitchFamily="34" charset="-122"/>
                <a:cs typeface="Calibri" pitchFamily="34" charset="-120"/>
              </a:rPr>
              <a:t>Phase 3+</a:t>
            </a:r>
            <a:endParaRPr lang="en-US" sz="750" dirty="0"/>
          </a:p>
        </p:txBody>
      </p:sp>
      <p:sp>
        <p:nvSpPr>
          <p:cNvPr id="128" name="Shape 126"/>
          <p:cNvSpPr/>
          <p:nvPr/>
        </p:nvSpPr>
        <p:spPr>
          <a:xfrm>
            <a:off x="4425696" y="4370832"/>
            <a:ext cx="3675888" cy="420624"/>
          </a:xfrm>
          <a:prstGeom prst="rect">
            <a:avLst/>
          </a:prstGeom>
          <a:solidFill>
            <a:srgbClr val="0F2040"/>
          </a:solidFill>
          <a:ln w="12700">
            <a:solidFill>
              <a:srgbClr val="534AB7">
                <a:alpha val="30000"/>
              </a:srgbClr>
            </a:solidFill>
            <a:prstDash val="solid"/>
          </a:ln>
        </p:spPr>
        <p:txBody>
          <a:bodyPr/>
          <a:lstStyle/>
          <a:p>
            <a:endParaRPr lang="en-US"/>
          </a:p>
        </p:txBody>
      </p:sp>
      <p:sp>
        <p:nvSpPr>
          <p:cNvPr id="129" name="Shape 127"/>
          <p:cNvSpPr/>
          <p:nvPr/>
        </p:nvSpPr>
        <p:spPr>
          <a:xfrm>
            <a:off x="4443984" y="4471416"/>
            <a:ext cx="219456" cy="219456"/>
          </a:xfrm>
          <a:prstGeom prst="rect">
            <a:avLst/>
          </a:prstGeom>
          <a:solidFill>
            <a:srgbClr val="534AB7">
              <a:alpha val="75000"/>
            </a:srgbClr>
          </a:solidFill>
          <a:ln w="12700">
            <a:solidFill>
              <a:srgbClr val="534AB7">
                <a:alpha val="50000"/>
              </a:srgbClr>
            </a:solidFill>
            <a:prstDash val="solid"/>
          </a:ln>
        </p:spPr>
        <p:txBody>
          <a:bodyPr/>
          <a:lstStyle/>
          <a:p>
            <a:endParaRPr lang="en-US"/>
          </a:p>
        </p:txBody>
      </p:sp>
      <p:sp>
        <p:nvSpPr>
          <p:cNvPr id="130" name="Text 128"/>
          <p:cNvSpPr/>
          <p:nvPr/>
        </p:nvSpPr>
        <p:spPr>
          <a:xfrm>
            <a:off x="4443984" y="4471416"/>
            <a:ext cx="219456" cy="219456"/>
          </a:xfrm>
          <a:prstGeom prst="rect">
            <a:avLst/>
          </a:prstGeom>
          <a:noFill/>
          <a:ln/>
        </p:spPr>
        <p:txBody>
          <a:bodyPr wrap="square" lIns="0" tIns="0" rIns="0" bIns="0" rtlCol="0" anchor="ctr"/>
          <a:lstStyle/>
          <a:p>
            <a:pPr marL="0" indent="0" algn="ctr">
              <a:buNone/>
            </a:pPr>
            <a:r>
              <a:rPr lang="en-US" sz="900" dirty="0">
                <a:solidFill>
                  <a:srgbClr val="534AB7"/>
                </a:solidFill>
                <a:latin typeface="Calibri" pitchFamily="34" charset="0"/>
                <a:ea typeface="Calibri" pitchFamily="34" charset="-122"/>
                <a:cs typeface="Calibri" pitchFamily="34" charset="-120"/>
              </a:rPr>
              <a:t>⬡</a:t>
            </a:r>
            <a:endParaRPr lang="en-US" sz="900" dirty="0"/>
          </a:p>
        </p:txBody>
      </p:sp>
      <p:sp>
        <p:nvSpPr>
          <p:cNvPr id="131" name="Text 129"/>
          <p:cNvSpPr/>
          <p:nvPr/>
        </p:nvSpPr>
        <p:spPr>
          <a:xfrm>
            <a:off x="4736592" y="4407408"/>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Hibernate 5→6</a:t>
            </a:r>
            <a:endParaRPr lang="en-US" sz="1000" dirty="0"/>
          </a:p>
        </p:txBody>
      </p:sp>
      <p:sp>
        <p:nvSpPr>
          <p:cNvPr id="132" name="Text 130"/>
          <p:cNvSpPr/>
          <p:nvPr/>
        </p:nvSpPr>
        <p:spPr>
          <a:xfrm>
            <a:off x="4736592" y="4599432"/>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ORM upgrade + Jakarta Persistence</a:t>
            </a:r>
            <a:endParaRPr lang="en-US" sz="850" dirty="0"/>
          </a:p>
        </p:txBody>
      </p:sp>
      <p:sp>
        <p:nvSpPr>
          <p:cNvPr id="133" name="Shape 131"/>
          <p:cNvSpPr/>
          <p:nvPr/>
        </p:nvSpPr>
        <p:spPr>
          <a:xfrm>
            <a:off x="7406640" y="4425696"/>
            <a:ext cx="676656" cy="164592"/>
          </a:xfrm>
          <a:prstGeom prst="rect">
            <a:avLst/>
          </a:prstGeom>
          <a:solidFill>
            <a:srgbClr val="534AB7">
              <a:alpha val="60000"/>
            </a:srgbClr>
          </a:solidFill>
          <a:ln w="12700">
            <a:solidFill>
              <a:srgbClr val="534AB7">
                <a:alpha val="40000"/>
              </a:srgbClr>
            </a:solidFill>
            <a:prstDash val="solid"/>
          </a:ln>
        </p:spPr>
        <p:txBody>
          <a:bodyPr/>
          <a:lstStyle/>
          <a:p>
            <a:endParaRPr lang="en-US"/>
          </a:p>
        </p:txBody>
      </p:sp>
      <p:sp>
        <p:nvSpPr>
          <p:cNvPr id="134" name="Text 132"/>
          <p:cNvSpPr/>
          <p:nvPr/>
        </p:nvSpPr>
        <p:spPr>
          <a:xfrm>
            <a:off x="7406640" y="4425696"/>
            <a:ext cx="676656" cy="164592"/>
          </a:xfrm>
          <a:prstGeom prst="rect">
            <a:avLst/>
          </a:prstGeom>
          <a:noFill/>
          <a:ln/>
        </p:spPr>
        <p:txBody>
          <a:bodyPr wrap="square" lIns="0" tIns="0" rIns="0" bIns="0" rtlCol="0" anchor="ctr"/>
          <a:lstStyle/>
          <a:p>
            <a:pPr marL="0" indent="0" algn="ctr">
              <a:buNone/>
            </a:pPr>
            <a:r>
              <a:rPr lang="en-US" sz="750" b="1" dirty="0">
                <a:solidFill>
                  <a:srgbClr val="534AB7"/>
                </a:solidFill>
                <a:latin typeface="Calibri" pitchFamily="34" charset="0"/>
                <a:ea typeface="Calibri" pitchFamily="34" charset="-122"/>
                <a:cs typeface="Calibri" pitchFamily="34" charset="-120"/>
              </a:rPr>
              <a:t>Phase 2+</a:t>
            </a:r>
            <a:endParaRPr lang="en-US" sz="750" dirty="0"/>
          </a:p>
        </p:txBody>
      </p:sp>
      <p:sp>
        <p:nvSpPr>
          <p:cNvPr id="135" name="Shape 133"/>
          <p:cNvSpPr/>
          <p:nvPr/>
        </p:nvSpPr>
        <p:spPr>
          <a:xfrm>
            <a:off x="4425696" y="4846320"/>
            <a:ext cx="3675888" cy="420624"/>
          </a:xfrm>
          <a:prstGeom prst="rect">
            <a:avLst/>
          </a:prstGeom>
          <a:solidFill>
            <a:srgbClr val="0F2040"/>
          </a:solidFill>
          <a:ln w="12700">
            <a:solidFill>
              <a:srgbClr val="534AB7">
                <a:alpha val="30000"/>
              </a:srgbClr>
            </a:solidFill>
            <a:prstDash val="solid"/>
          </a:ln>
        </p:spPr>
        <p:txBody>
          <a:bodyPr/>
          <a:lstStyle/>
          <a:p>
            <a:endParaRPr lang="en-US"/>
          </a:p>
        </p:txBody>
      </p:sp>
      <p:sp>
        <p:nvSpPr>
          <p:cNvPr id="136" name="Shape 134"/>
          <p:cNvSpPr/>
          <p:nvPr/>
        </p:nvSpPr>
        <p:spPr>
          <a:xfrm>
            <a:off x="4443984" y="4946904"/>
            <a:ext cx="219456" cy="219456"/>
          </a:xfrm>
          <a:prstGeom prst="rect">
            <a:avLst/>
          </a:prstGeom>
          <a:solidFill>
            <a:srgbClr val="534AB7">
              <a:alpha val="75000"/>
            </a:srgbClr>
          </a:solidFill>
          <a:ln w="12700">
            <a:solidFill>
              <a:srgbClr val="534AB7">
                <a:alpha val="50000"/>
              </a:srgbClr>
            </a:solidFill>
            <a:prstDash val="solid"/>
          </a:ln>
        </p:spPr>
        <p:txBody>
          <a:bodyPr/>
          <a:lstStyle/>
          <a:p>
            <a:endParaRPr lang="en-US"/>
          </a:p>
        </p:txBody>
      </p:sp>
      <p:sp>
        <p:nvSpPr>
          <p:cNvPr id="137" name="Text 135"/>
          <p:cNvSpPr/>
          <p:nvPr/>
        </p:nvSpPr>
        <p:spPr>
          <a:xfrm>
            <a:off x="4443984" y="4946904"/>
            <a:ext cx="219456" cy="219456"/>
          </a:xfrm>
          <a:prstGeom prst="rect">
            <a:avLst/>
          </a:prstGeom>
          <a:noFill/>
          <a:ln/>
        </p:spPr>
        <p:txBody>
          <a:bodyPr wrap="square" lIns="0" tIns="0" rIns="0" bIns="0" rtlCol="0" anchor="ctr"/>
          <a:lstStyle/>
          <a:p>
            <a:pPr marL="0" indent="0" algn="ctr">
              <a:buNone/>
            </a:pPr>
            <a:r>
              <a:rPr lang="en-US" sz="900" dirty="0">
                <a:solidFill>
                  <a:srgbClr val="534AB7"/>
                </a:solidFill>
                <a:latin typeface="Calibri" pitchFamily="34" charset="0"/>
                <a:ea typeface="Calibri" pitchFamily="34" charset="-122"/>
                <a:cs typeface="Calibri" pitchFamily="34" charset="-120"/>
              </a:rPr>
              <a:t>⬡</a:t>
            </a:r>
            <a:endParaRPr lang="en-US" sz="900" dirty="0"/>
          </a:p>
        </p:txBody>
      </p:sp>
      <p:sp>
        <p:nvSpPr>
          <p:cNvPr id="138" name="Text 136"/>
          <p:cNvSpPr/>
          <p:nvPr/>
        </p:nvSpPr>
        <p:spPr>
          <a:xfrm>
            <a:off x="4736592" y="4882896"/>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jQuery → React</a:t>
            </a:r>
            <a:endParaRPr lang="en-US" sz="1000" dirty="0"/>
          </a:p>
        </p:txBody>
      </p:sp>
      <p:sp>
        <p:nvSpPr>
          <p:cNvPr id="139" name="Text 137"/>
          <p:cNvSpPr/>
          <p:nvPr/>
        </p:nvSpPr>
        <p:spPr>
          <a:xfrm>
            <a:off x="4736592" y="5074920"/>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Frontend modernisation layer</a:t>
            </a:r>
            <a:endParaRPr lang="en-US" sz="850" dirty="0"/>
          </a:p>
        </p:txBody>
      </p:sp>
      <p:sp>
        <p:nvSpPr>
          <p:cNvPr id="140" name="Shape 138"/>
          <p:cNvSpPr/>
          <p:nvPr/>
        </p:nvSpPr>
        <p:spPr>
          <a:xfrm>
            <a:off x="7406640" y="4901184"/>
            <a:ext cx="676656" cy="164592"/>
          </a:xfrm>
          <a:prstGeom prst="rect">
            <a:avLst/>
          </a:prstGeom>
          <a:solidFill>
            <a:srgbClr val="534AB7">
              <a:alpha val="60000"/>
            </a:srgbClr>
          </a:solidFill>
          <a:ln w="12700">
            <a:solidFill>
              <a:srgbClr val="534AB7">
                <a:alpha val="40000"/>
              </a:srgbClr>
            </a:solidFill>
            <a:prstDash val="solid"/>
          </a:ln>
        </p:spPr>
        <p:txBody>
          <a:bodyPr/>
          <a:lstStyle/>
          <a:p>
            <a:endParaRPr lang="en-US"/>
          </a:p>
        </p:txBody>
      </p:sp>
      <p:sp>
        <p:nvSpPr>
          <p:cNvPr id="141" name="Text 139"/>
          <p:cNvSpPr/>
          <p:nvPr/>
        </p:nvSpPr>
        <p:spPr>
          <a:xfrm>
            <a:off x="7406640" y="4901184"/>
            <a:ext cx="676656" cy="164592"/>
          </a:xfrm>
          <a:prstGeom prst="rect">
            <a:avLst/>
          </a:prstGeom>
          <a:noFill/>
          <a:ln/>
        </p:spPr>
        <p:txBody>
          <a:bodyPr wrap="square" lIns="0" tIns="0" rIns="0" bIns="0" rtlCol="0" anchor="ctr"/>
          <a:lstStyle/>
          <a:p>
            <a:pPr marL="0" indent="0" algn="ctr">
              <a:buNone/>
            </a:pPr>
            <a:r>
              <a:rPr lang="en-US" sz="750" b="1" dirty="0">
                <a:solidFill>
                  <a:srgbClr val="534AB7"/>
                </a:solidFill>
                <a:latin typeface="Calibri" pitchFamily="34" charset="0"/>
                <a:ea typeface="Calibri" pitchFamily="34" charset="-122"/>
                <a:cs typeface="Calibri" pitchFamily="34" charset="-120"/>
              </a:rPr>
              <a:t>Phase 4+</a:t>
            </a:r>
            <a:endParaRPr lang="en-US" sz="750" dirty="0"/>
          </a:p>
        </p:txBody>
      </p:sp>
      <p:sp>
        <p:nvSpPr>
          <p:cNvPr id="142" name="Shape 140"/>
          <p:cNvSpPr/>
          <p:nvPr/>
        </p:nvSpPr>
        <p:spPr>
          <a:xfrm>
            <a:off x="4425696" y="5321808"/>
            <a:ext cx="3675888" cy="420624"/>
          </a:xfrm>
          <a:prstGeom prst="rect">
            <a:avLst/>
          </a:prstGeom>
          <a:solidFill>
            <a:srgbClr val="0F2040"/>
          </a:solidFill>
          <a:ln w="12700">
            <a:solidFill>
              <a:srgbClr val="534AB7">
                <a:alpha val="30000"/>
              </a:srgbClr>
            </a:solidFill>
            <a:prstDash val="solid"/>
          </a:ln>
        </p:spPr>
        <p:txBody>
          <a:bodyPr/>
          <a:lstStyle/>
          <a:p>
            <a:endParaRPr lang="en-US"/>
          </a:p>
        </p:txBody>
      </p:sp>
      <p:sp>
        <p:nvSpPr>
          <p:cNvPr id="143" name="Shape 141"/>
          <p:cNvSpPr/>
          <p:nvPr/>
        </p:nvSpPr>
        <p:spPr>
          <a:xfrm>
            <a:off x="4443984" y="5422392"/>
            <a:ext cx="219456" cy="219456"/>
          </a:xfrm>
          <a:prstGeom prst="rect">
            <a:avLst/>
          </a:prstGeom>
          <a:solidFill>
            <a:srgbClr val="534AB7">
              <a:alpha val="75000"/>
            </a:srgbClr>
          </a:solidFill>
          <a:ln w="12700">
            <a:solidFill>
              <a:srgbClr val="534AB7">
                <a:alpha val="50000"/>
              </a:srgbClr>
            </a:solidFill>
            <a:prstDash val="solid"/>
          </a:ln>
        </p:spPr>
        <p:txBody>
          <a:bodyPr/>
          <a:lstStyle/>
          <a:p>
            <a:endParaRPr lang="en-US"/>
          </a:p>
        </p:txBody>
      </p:sp>
      <p:sp>
        <p:nvSpPr>
          <p:cNvPr id="144" name="Text 142"/>
          <p:cNvSpPr/>
          <p:nvPr/>
        </p:nvSpPr>
        <p:spPr>
          <a:xfrm>
            <a:off x="4443984" y="5422392"/>
            <a:ext cx="219456" cy="219456"/>
          </a:xfrm>
          <a:prstGeom prst="rect">
            <a:avLst/>
          </a:prstGeom>
          <a:noFill/>
          <a:ln/>
        </p:spPr>
        <p:txBody>
          <a:bodyPr wrap="square" lIns="0" tIns="0" rIns="0" bIns="0" rtlCol="0" anchor="ctr"/>
          <a:lstStyle/>
          <a:p>
            <a:pPr marL="0" indent="0" algn="ctr">
              <a:buNone/>
            </a:pPr>
            <a:r>
              <a:rPr lang="en-US" sz="900" dirty="0">
                <a:solidFill>
                  <a:srgbClr val="534AB7"/>
                </a:solidFill>
                <a:latin typeface="Calibri" pitchFamily="34" charset="0"/>
                <a:ea typeface="Calibri" pitchFamily="34" charset="-122"/>
                <a:cs typeface="Calibri" pitchFamily="34" charset="-120"/>
              </a:rPr>
              <a:t>⬡</a:t>
            </a:r>
            <a:endParaRPr lang="en-US" sz="900" dirty="0"/>
          </a:p>
        </p:txBody>
      </p:sp>
      <p:sp>
        <p:nvSpPr>
          <p:cNvPr id="145" name="Text 143"/>
          <p:cNvSpPr/>
          <p:nvPr/>
        </p:nvSpPr>
        <p:spPr>
          <a:xfrm>
            <a:off x="4736592" y="5358384"/>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Log4j → SLF4J</a:t>
            </a:r>
            <a:endParaRPr lang="en-US" sz="1000" dirty="0"/>
          </a:p>
        </p:txBody>
      </p:sp>
      <p:sp>
        <p:nvSpPr>
          <p:cNvPr id="146" name="Text 144"/>
          <p:cNvSpPr/>
          <p:nvPr/>
        </p:nvSpPr>
        <p:spPr>
          <a:xfrm>
            <a:off x="4736592" y="5550408"/>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Logging framework migration</a:t>
            </a:r>
            <a:endParaRPr lang="en-US" sz="850" dirty="0"/>
          </a:p>
        </p:txBody>
      </p:sp>
      <p:sp>
        <p:nvSpPr>
          <p:cNvPr id="147" name="Shape 145"/>
          <p:cNvSpPr/>
          <p:nvPr/>
        </p:nvSpPr>
        <p:spPr>
          <a:xfrm>
            <a:off x="7406640" y="5376672"/>
            <a:ext cx="676656" cy="164592"/>
          </a:xfrm>
          <a:prstGeom prst="rect">
            <a:avLst/>
          </a:prstGeom>
          <a:solidFill>
            <a:srgbClr val="534AB7">
              <a:alpha val="60000"/>
            </a:srgbClr>
          </a:solidFill>
          <a:ln w="12700">
            <a:solidFill>
              <a:srgbClr val="534AB7">
                <a:alpha val="40000"/>
              </a:srgbClr>
            </a:solidFill>
            <a:prstDash val="solid"/>
          </a:ln>
        </p:spPr>
        <p:txBody>
          <a:bodyPr/>
          <a:lstStyle/>
          <a:p>
            <a:endParaRPr lang="en-US"/>
          </a:p>
        </p:txBody>
      </p:sp>
      <p:sp>
        <p:nvSpPr>
          <p:cNvPr id="148" name="Text 146"/>
          <p:cNvSpPr/>
          <p:nvPr/>
        </p:nvSpPr>
        <p:spPr>
          <a:xfrm>
            <a:off x="7406640" y="5376672"/>
            <a:ext cx="676656" cy="164592"/>
          </a:xfrm>
          <a:prstGeom prst="rect">
            <a:avLst/>
          </a:prstGeom>
          <a:noFill/>
          <a:ln/>
        </p:spPr>
        <p:txBody>
          <a:bodyPr wrap="square" lIns="0" tIns="0" rIns="0" bIns="0" rtlCol="0" anchor="ctr"/>
          <a:lstStyle/>
          <a:p>
            <a:pPr marL="0" indent="0" algn="ctr">
              <a:buNone/>
            </a:pPr>
            <a:r>
              <a:rPr lang="en-US" sz="750" b="1" dirty="0">
                <a:solidFill>
                  <a:srgbClr val="534AB7"/>
                </a:solidFill>
                <a:latin typeface="Calibri" pitchFamily="34" charset="0"/>
                <a:ea typeface="Calibri" pitchFamily="34" charset="-122"/>
                <a:cs typeface="Calibri" pitchFamily="34" charset="-120"/>
              </a:rPr>
              <a:t>Phase 1+</a:t>
            </a:r>
            <a:endParaRPr lang="en-US" sz="750" dirty="0"/>
          </a:p>
        </p:txBody>
      </p:sp>
      <p:sp>
        <p:nvSpPr>
          <p:cNvPr id="149" name="Shape 147"/>
          <p:cNvSpPr/>
          <p:nvPr/>
        </p:nvSpPr>
        <p:spPr>
          <a:xfrm>
            <a:off x="4425696" y="5797296"/>
            <a:ext cx="3675888" cy="420624"/>
          </a:xfrm>
          <a:prstGeom prst="rect">
            <a:avLst/>
          </a:prstGeom>
          <a:solidFill>
            <a:srgbClr val="0F2040"/>
          </a:solidFill>
          <a:ln w="12700">
            <a:solidFill>
              <a:srgbClr val="534AB7">
                <a:alpha val="30000"/>
              </a:srgbClr>
            </a:solidFill>
            <a:prstDash val="solid"/>
          </a:ln>
        </p:spPr>
        <p:txBody>
          <a:bodyPr/>
          <a:lstStyle/>
          <a:p>
            <a:endParaRPr lang="en-US"/>
          </a:p>
        </p:txBody>
      </p:sp>
      <p:sp>
        <p:nvSpPr>
          <p:cNvPr id="150" name="Shape 148"/>
          <p:cNvSpPr/>
          <p:nvPr/>
        </p:nvSpPr>
        <p:spPr>
          <a:xfrm>
            <a:off x="4443984" y="5897880"/>
            <a:ext cx="219456" cy="219456"/>
          </a:xfrm>
          <a:prstGeom prst="rect">
            <a:avLst/>
          </a:prstGeom>
          <a:solidFill>
            <a:srgbClr val="534AB7">
              <a:alpha val="75000"/>
            </a:srgbClr>
          </a:solidFill>
          <a:ln w="12700">
            <a:solidFill>
              <a:srgbClr val="534AB7">
                <a:alpha val="50000"/>
              </a:srgbClr>
            </a:solidFill>
            <a:prstDash val="solid"/>
          </a:ln>
        </p:spPr>
        <p:txBody>
          <a:bodyPr/>
          <a:lstStyle/>
          <a:p>
            <a:endParaRPr lang="en-US"/>
          </a:p>
        </p:txBody>
      </p:sp>
      <p:sp>
        <p:nvSpPr>
          <p:cNvPr id="151" name="Text 149"/>
          <p:cNvSpPr/>
          <p:nvPr/>
        </p:nvSpPr>
        <p:spPr>
          <a:xfrm>
            <a:off x="4443984" y="5897880"/>
            <a:ext cx="219456" cy="219456"/>
          </a:xfrm>
          <a:prstGeom prst="rect">
            <a:avLst/>
          </a:prstGeom>
          <a:noFill/>
          <a:ln/>
        </p:spPr>
        <p:txBody>
          <a:bodyPr wrap="square" lIns="0" tIns="0" rIns="0" bIns="0" rtlCol="0" anchor="ctr"/>
          <a:lstStyle/>
          <a:p>
            <a:pPr marL="0" indent="0" algn="ctr">
              <a:buNone/>
            </a:pPr>
            <a:r>
              <a:rPr lang="en-US" sz="900" dirty="0">
                <a:solidFill>
                  <a:srgbClr val="534AB7"/>
                </a:solidFill>
                <a:latin typeface="Calibri" pitchFamily="34" charset="0"/>
                <a:ea typeface="Calibri" pitchFamily="34" charset="-122"/>
                <a:cs typeface="Calibri" pitchFamily="34" charset="-120"/>
              </a:rPr>
              <a:t>⬡</a:t>
            </a:r>
            <a:endParaRPr lang="en-US" sz="900" dirty="0"/>
          </a:p>
        </p:txBody>
      </p:sp>
      <p:sp>
        <p:nvSpPr>
          <p:cNvPr id="152" name="Text 150"/>
          <p:cNvSpPr/>
          <p:nvPr/>
        </p:nvSpPr>
        <p:spPr>
          <a:xfrm>
            <a:off x="4736592" y="5833872"/>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SOAP → REST</a:t>
            </a:r>
            <a:endParaRPr lang="en-US" sz="1000" dirty="0"/>
          </a:p>
        </p:txBody>
      </p:sp>
      <p:sp>
        <p:nvSpPr>
          <p:cNvPr id="153" name="Text 151"/>
          <p:cNvSpPr/>
          <p:nvPr/>
        </p:nvSpPr>
        <p:spPr>
          <a:xfrm>
            <a:off x="4736592" y="6025896"/>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Web service protocol migration</a:t>
            </a:r>
            <a:endParaRPr lang="en-US" sz="850" dirty="0"/>
          </a:p>
        </p:txBody>
      </p:sp>
      <p:sp>
        <p:nvSpPr>
          <p:cNvPr id="154" name="Shape 152"/>
          <p:cNvSpPr/>
          <p:nvPr/>
        </p:nvSpPr>
        <p:spPr>
          <a:xfrm>
            <a:off x="7406640" y="5852160"/>
            <a:ext cx="676656" cy="164592"/>
          </a:xfrm>
          <a:prstGeom prst="rect">
            <a:avLst/>
          </a:prstGeom>
          <a:solidFill>
            <a:srgbClr val="534AB7">
              <a:alpha val="60000"/>
            </a:srgbClr>
          </a:solidFill>
          <a:ln w="12700">
            <a:solidFill>
              <a:srgbClr val="534AB7">
                <a:alpha val="40000"/>
              </a:srgbClr>
            </a:solidFill>
            <a:prstDash val="solid"/>
          </a:ln>
        </p:spPr>
        <p:txBody>
          <a:bodyPr/>
          <a:lstStyle/>
          <a:p>
            <a:endParaRPr lang="en-US"/>
          </a:p>
        </p:txBody>
      </p:sp>
      <p:sp>
        <p:nvSpPr>
          <p:cNvPr id="155" name="Text 153"/>
          <p:cNvSpPr/>
          <p:nvPr/>
        </p:nvSpPr>
        <p:spPr>
          <a:xfrm>
            <a:off x="7406640" y="5852160"/>
            <a:ext cx="676656" cy="164592"/>
          </a:xfrm>
          <a:prstGeom prst="rect">
            <a:avLst/>
          </a:prstGeom>
          <a:noFill/>
          <a:ln/>
        </p:spPr>
        <p:txBody>
          <a:bodyPr wrap="square" lIns="0" tIns="0" rIns="0" bIns="0" rtlCol="0" anchor="ctr"/>
          <a:lstStyle/>
          <a:p>
            <a:pPr marL="0" indent="0" algn="ctr">
              <a:buNone/>
            </a:pPr>
            <a:r>
              <a:rPr lang="en-US" sz="750" b="1" dirty="0">
                <a:solidFill>
                  <a:srgbClr val="534AB7"/>
                </a:solidFill>
                <a:latin typeface="Calibri" pitchFamily="34" charset="0"/>
                <a:ea typeface="Calibri" pitchFamily="34" charset="-122"/>
                <a:cs typeface="Calibri" pitchFamily="34" charset="-120"/>
              </a:rPr>
              <a:t>Phase 3+</a:t>
            </a:r>
            <a:endParaRPr lang="en-US" sz="750" dirty="0"/>
          </a:p>
        </p:txBody>
      </p:sp>
      <p:sp>
        <p:nvSpPr>
          <p:cNvPr id="156" name="Shape 154"/>
          <p:cNvSpPr/>
          <p:nvPr/>
        </p:nvSpPr>
        <p:spPr>
          <a:xfrm>
            <a:off x="4425696" y="6272784"/>
            <a:ext cx="3675888" cy="420624"/>
          </a:xfrm>
          <a:prstGeom prst="rect">
            <a:avLst/>
          </a:prstGeom>
          <a:solidFill>
            <a:srgbClr val="0F2040"/>
          </a:solidFill>
          <a:ln w="12700">
            <a:solidFill>
              <a:srgbClr val="534AB7">
                <a:alpha val="30000"/>
              </a:srgbClr>
            </a:solidFill>
            <a:prstDash val="solid"/>
          </a:ln>
        </p:spPr>
        <p:txBody>
          <a:bodyPr/>
          <a:lstStyle/>
          <a:p>
            <a:endParaRPr lang="en-US"/>
          </a:p>
        </p:txBody>
      </p:sp>
      <p:sp>
        <p:nvSpPr>
          <p:cNvPr id="157" name="Shape 155"/>
          <p:cNvSpPr/>
          <p:nvPr/>
        </p:nvSpPr>
        <p:spPr>
          <a:xfrm>
            <a:off x="4443984" y="6373368"/>
            <a:ext cx="219456" cy="219456"/>
          </a:xfrm>
          <a:prstGeom prst="rect">
            <a:avLst/>
          </a:prstGeom>
          <a:solidFill>
            <a:srgbClr val="534AB7">
              <a:alpha val="75000"/>
            </a:srgbClr>
          </a:solidFill>
          <a:ln w="12700">
            <a:solidFill>
              <a:srgbClr val="534AB7">
                <a:alpha val="50000"/>
              </a:srgbClr>
            </a:solidFill>
            <a:prstDash val="solid"/>
          </a:ln>
        </p:spPr>
        <p:txBody>
          <a:bodyPr/>
          <a:lstStyle/>
          <a:p>
            <a:endParaRPr lang="en-US"/>
          </a:p>
        </p:txBody>
      </p:sp>
      <p:sp>
        <p:nvSpPr>
          <p:cNvPr id="158" name="Text 156"/>
          <p:cNvSpPr/>
          <p:nvPr/>
        </p:nvSpPr>
        <p:spPr>
          <a:xfrm>
            <a:off x="4443984" y="6373368"/>
            <a:ext cx="219456" cy="219456"/>
          </a:xfrm>
          <a:prstGeom prst="rect">
            <a:avLst/>
          </a:prstGeom>
          <a:noFill/>
          <a:ln/>
        </p:spPr>
        <p:txBody>
          <a:bodyPr wrap="square" lIns="0" tIns="0" rIns="0" bIns="0" rtlCol="0" anchor="ctr"/>
          <a:lstStyle/>
          <a:p>
            <a:pPr marL="0" indent="0" algn="ctr">
              <a:buNone/>
            </a:pPr>
            <a:r>
              <a:rPr lang="en-US" sz="900" dirty="0">
                <a:solidFill>
                  <a:srgbClr val="534AB7"/>
                </a:solidFill>
                <a:latin typeface="Calibri" pitchFamily="34" charset="0"/>
                <a:ea typeface="Calibri" pitchFamily="34" charset="-122"/>
                <a:cs typeface="Calibri" pitchFamily="34" charset="-120"/>
              </a:rPr>
              <a:t>⬡</a:t>
            </a:r>
            <a:endParaRPr lang="en-US" sz="900" dirty="0"/>
          </a:p>
        </p:txBody>
      </p:sp>
      <p:sp>
        <p:nvSpPr>
          <p:cNvPr id="159" name="Text 157"/>
          <p:cNvSpPr/>
          <p:nvPr/>
        </p:nvSpPr>
        <p:spPr>
          <a:xfrm>
            <a:off x="4736592" y="6309360"/>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Custom agent</a:t>
            </a:r>
            <a:endParaRPr lang="en-US" sz="1000" dirty="0"/>
          </a:p>
        </p:txBody>
      </p:sp>
      <p:sp>
        <p:nvSpPr>
          <p:cNvPr id="160" name="Text 158"/>
          <p:cNvSpPr/>
          <p:nvPr/>
        </p:nvSpPr>
        <p:spPr>
          <a:xfrm>
            <a:off x="4736592" y="6501384"/>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Team-written specialist for any pattern</a:t>
            </a:r>
            <a:endParaRPr lang="en-US" sz="850" dirty="0"/>
          </a:p>
        </p:txBody>
      </p:sp>
      <p:sp>
        <p:nvSpPr>
          <p:cNvPr id="161" name="Shape 159"/>
          <p:cNvSpPr/>
          <p:nvPr/>
        </p:nvSpPr>
        <p:spPr>
          <a:xfrm>
            <a:off x="7406640" y="6327648"/>
            <a:ext cx="676656" cy="164592"/>
          </a:xfrm>
          <a:prstGeom prst="rect">
            <a:avLst/>
          </a:prstGeom>
          <a:solidFill>
            <a:srgbClr val="534AB7">
              <a:alpha val="60000"/>
            </a:srgbClr>
          </a:solidFill>
          <a:ln w="12700">
            <a:solidFill>
              <a:srgbClr val="534AB7">
                <a:alpha val="40000"/>
              </a:srgbClr>
            </a:solidFill>
            <a:prstDash val="solid"/>
          </a:ln>
        </p:spPr>
        <p:txBody>
          <a:bodyPr/>
          <a:lstStyle/>
          <a:p>
            <a:endParaRPr lang="en-US"/>
          </a:p>
        </p:txBody>
      </p:sp>
      <p:sp>
        <p:nvSpPr>
          <p:cNvPr id="162" name="Text 160"/>
          <p:cNvSpPr/>
          <p:nvPr/>
        </p:nvSpPr>
        <p:spPr>
          <a:xfrm>
            <a:off x="7406640" y="6327648"/>
            <a:ext cx="676656" cy="164592"/>
          </a:xfrm>
          <a:prstGeom prst="rect">
            <a:avLst/>
          </a:prstGeom>
          <a:noFill/>
          <a:ln/>
        </p:spPr>
        <p:txBody>
          <a:bodyPr wrap="square" lIns="0" tIns="0" rIns="0" bIns="0" rtlCol="0" anchor="ctr"/>
          <a:lstStyle/>
          <a:p>
            <a:pPr marL="0" indent="0" algn="ctr">
              <a:buNone/>
            </a:pPr>
            <a:r>
              <a:rPr lang="en-US" sz="750" b="1" dirty="0">
                <a:solidFill>
                  <a:srgbClr val="534AB7"/>
                </a:solidFill>
                <a:latin typeface="Calibri" pitchFamily="34" charset="0"/>
                <a:ea typeface="Calibri" pitchFamily="34" charset="-122"/>
                <a:cs typeface="Calibri" pitchFamily="34" charset="-120"/>
              </a:rPr>
              <a:t>Any</a:t>
            </a:r>
            <a:endParaRPr lang="en-US" sz="750" dirty="0"/>
          </a:p>
        </p:txBody>
      </p:sp>
      <p:sp>
        <p:nvSpPr>
          <p:cNvPr id="163" name="Shape 161"/>
          <p:cNvSpPr/>
          <p:nvPr/>
        </p:nvSpPr>
        <p:spPr>
          <a:xfrm>
            <a:off x="8394192" y="3090672"/>
            <a:ext cx="3858768" cy="3621024"/>
          </a:xfrm>
          <a:prstGeom prst="rect">
            <a:avLst/>
          </a:prstGeom>
          <a:solidFill>
            <a:srgbClr val="FCEBEB"/>
          </a:solidFill>
          <a:ln w="9525">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164" name="Shape 162"/>
          <p:cNvSpPr/>
          <p:nvPr/>
        </p:nvSpPr>
        <p:spPr>
          <a:xfrm>
            <a:off x="8394192" y="3090672"/>
            <a:ext cx="3858768" cy="50292"/>
          </a:xfrm>
          <a:prstGeom prst="rect">
            <a:avLst/>
          </a:prstGeom>
          <a:solidFill>
            <a:srgbClr val="E05252"/>
          </a:solidFill>
          <a:ln w="12700">
            <a:solidFill>
              <a:srgbClr val="E05252">
                <a:alpha val="0"/>
              </a:srgbClr>
            </a:solidFill>
            <a:prstDash val="solid"/>
          </a:ln>
        </p:spPr>
        <p:txBody>
          <a:bodyPr/>
          <a:lstStyle/>
          <a:p>
            <a:endParaRPr lang="en-US"/>
          </a:p>
        </p:txBody>
      </p:sp>
      <p:sp>
        <p:nvSpPr>
          <p:cNvPr id="165" name="Text 163"/>
          <p:cNvSpPr/>
          <p:nvPr/>
        </p:nvSpPr>
        <p:spPr>
          <a:xfrm>
            <a:off x="8485632" y="3140964"/>
            <a:ext cx="2508199" cy="237744"/>
          </a:xfrm>
          <a:prstGeom prst="rect">
            <a:avLst/>
          </a:prstGeom>
          <a:noFill/>
          <a:ln/>
        </p:spPr>
        <p:txBody>
          <a:bodyPr wrap="square" lIns="0" tIns="0" rIns="0" bIns="0" rtlCol="0" anchor="ctr"/>
          <a:lstStyle/>
          <a:p>
            <a:pPr marL="0" indent="0" algn="l">
              <a:buNone/>
            </a:pPr>
            <a:r>
              <a:rPr lang="en-US" sz="1000" b="1" dirty="0">
                <a:solidFill>
                  <a:srgbClr val="E05252"/>
                </a:solidFill>
                <a:latin typeface="Georgia" pitchFamily="34" charset="0"/>
                <a:ea typeface="Georgia" pitchFamily="34" charset="-122"/>
                <a:cs typeface="Georgia" pitchFamily="34" charset="-120"/>
              </a:rPr>
              <a:t>Remove if not required</a:t>
            </a:r>
            <a:endParaRPr lang="en-US" sz="1000" dirty="0"/>
          </a:p>
        </p:txBody>
      </p:sp>
      <p:sp>
        <p:nvSpPr>
          <p:cNvPr id="166" name="Shape 164"/>
          <p:cNvSpPr/>
          <p:nvPr/>
        </p:nvSpPr>
        <p:spPr>
          <a:xfrm>
            <a:off x="11247120" y="3140964"/>
            <a:ext cx="914400" cy="219456"/>
          </a:xfrm>
          <a:prstGeom prst="rect">
            <a:avLst/>
          </a:prstGeom>
          <a:solidFill>
            <a:srgbClr val="E05252">
              <a:alpha val="80000"/>
            </a:srgbClr>
          </a:solidFill>
          <a:ln w="12700">
            <a:solidFill>
              <a:srgbClr val="E05252">
                <a:alpha val="50000"/>
              </a:srgbClr>
            </a:solidFill>
            <a:prstDash val="solid"/>
          </a:ln>
        </p:spPr>
        <p:txBody>
          <a:bodyPr/>
          <a:lstStyle/>
          <a:p>
            <a:endParaRPr lang="en-US"/>
          </a:p>
        </p:txBody>
      </p:sp>
      <p:sp>
        <p:nvSpPr>
          <p:cNvPr id="167" name="Text 165"/>
          <p:cNvSpPr/>
          <p:nvPr/>
        </p:nvSpPr>
        <p:spPr>
          <a:xfrm>
            <a:off x="11247120" y="3140964"/>
            <a:ext cx="914400" cy="219456"/>
          </a:xfrm>
          <a:prstGeom prst="rect">
            <a:avLst/>
          </a:prstGeom>
          <a:noFill/>
          <a:ln/>
        </p:spPr>
        <p:txBody>
          <a:bodyPr wrap="square" lIns="0" tIns="0" rIns="0" bIns="0" rtlCol="0" anchor="ctr"/>
          <a:lstStyle/>
          <a:p>
            <a:pPr marL="0" indent="0" algn="ctr">
              <a:buNone/>
            </a:pPr>
            <a:r>
              <a:rPr lang="en-US" sz="850" b="1" dirty="0">
                <a:solidFill>
                  <a:srgbClr val="E05252"/>
                </a:solidFill>
                <a:latin typeface="Calibri" pitchFamily="34" charset="0"/>
                <a:ea typeface="Calibri" pitchFamily="34" charset="-122"/>
                <a:cs typeface="Calibri" pitchFamily="34" charset="-120"/>
              </a:rPr>
              <a:t>Optional</a:t>
            </a:r>
            <a:endParaRPr lang="en-US" sz="850" dirty="0"/>
          </a:p>
        </p:txBody>
      </p:sp>
      <p:sp>
        <p:nvSpPr>
          <p:cNvPr id="168" name="Shape 166"/>
          <p:cNvSpPr/>
          <p:nvPr/>
        </p:nvSpPr>
        <p:spPr>
          <a:xfrm>
            <a:off x="8485632" y="3419856"/>
            <a:ext cx="3675888" cy="420624"/>
          </a:xfrm>
          <a:prstGeom prst="rect">
            <a:avLst/>
          </a:prstGeom>
          <a:solidFill>
            <a:srgbClr val="0F2040"/>
          </a:solidFill>
          <a:ln w="12700">
            <a:solidFill>
              <a:srgbClr val="E05252">
                <a:alpha val="30000"/>
              </a:srgbClr>
            </a:solidFill>
            <a:prstDash val="solid"/>
          </a:ln>
        </p:spPr>
        <p:txBody>
          <a:bodyPr/>
          <a:lstStyle/>
          <a:p>
            <a:endParaRPr lang="en-US"/>
          </a:p>
        </p:txBody>
      </p:sp>
      <p:sp>
        <p:nvSpPr>
          <p:cNvPr id="169" name="Shape 167"/>
          <p:cNvSpPr/>
          <p:nvPr/>
        </p:nvSpPr>
        <p:spPr>
          <a:xfrm>
            <a:off x="8503920" y="3520440"/>
            <a:ext cx="219456" cy="219456"/>
          </a:xfrm>
          <a:prstGeom prst="rect">
            <a:avLst/>
          </a:prstGeom>
          <a:solidFill>
            <a:srgbClr val="E05252">
              <a:alpha val="75000"/>
            </a:srgbClr>
          </a:solidFill>
          <a:ln w="12700">
            <a:solidFill>
              <a:srgbClr val="E05252">
                <a:alpha val="50000"/>
              </a:srgbClr>
            </a:solidFill>
            <a:prstDash val="solid"/>
          </a:ln>
        </p:spPr>
        <p:txBody>
          <a:bodyPr/>
          <a:lstStyle/>
          <a:p>
            <a:endParaRPr lang="en-US"/>
          </a:p>
        </p:txBody>
      </p:sp>
      <p:sp>
        <p:nvSpPr>
          <p:cNvPr id="170" name="Text 168"/>
          <p:cNvSpPr/>
          <p:nvPr/>
        </p:nvSpPr>
        <p:spPr>
          <a:xfrm>
            <a:off x="8503920" y="3520440"/>
            <a:ext cx="219456" cy="219456"/>
          </a:xfrm>
          <a:prstGeom prst="rect">
            <a:avLst/>
          </a:prstGeom>
          <a:noFill/>
          <a:ln/>
        </p:spPr>
        <p:txBody>
          <a:bodyPr wrap="square" lIns="0" tIns="0" rIns="0" bIns="0" rtlCol="0" anchor="ctr"/>
          <a:lstStyle/>
          <a:p>
            <a:pPr marL="0" indent="0" algn="ctr">
              <a:buNone/>
            </a:pPr>
            <a:r>
              <a:rPr lang="en-US" sz="900" dirty="0">
                <a:solidFill>
                  <a:srgbClr val="E05252"/>
                </a:solidFill>
                <a:latin typeface="Calibri" pitchFamily="34" charset="0"/>
                <a:ea typeface="Calibri" pitchFamily="34" charset="-122"/>
                <a:cs typeface="Calibri" pitchFamily="34" charset="-120"/>
              </a:rPr>
              <a:t>⬡</a:t>
            </a:r>
            <a:endParaRPr lang="en-US" sz="900" dirty="0"/>
          </a:p>
        </p:txBody>
      </p:sp>
      <p:sp>
        <p:nvSpPr>
          <p:cNvPr id="171" name="Text 169"/>
          <p:cNvSpPr/>
          <p:nvPr/>
        </p:nvSpPr>
        <p:spPr>
          <a:xfrm>
            <a:off x="8796528" y="3456432"/>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Test Gen</a:t>
            </a:r>
            <a:endParaRPr lang="en-US" sz="1000" dirty="0"/>
          </a:p>
        </p:txBody>
      </p:sp>
      <p:sp>
        <p:nvSpPr>
          <p:cNvPr id="172" name="Text 170"/>
          <p:cNvSpPr/>
          <p:nvPr/>
        </p:nvSpPr>
        <p:spPr>
          <a:xfrm>
            <a:off x="8796528" y="3648456"/>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Skip if team writes tests manually</a:t>
            </a:r>
            <a:endParaRPr lang="en-US" sz="850" dirty="0"/>
          </a:p>
        </p:txBody>
      </p:sp>
      <p:sp>
        <p:nvSpPr>
          <p:cNvPr id="173" name="Shape 171"/>
          <p:cNvSpPr/>
          <p:nvPr/>
        </p:nvSpPr>
        <p:spPr>
          <a:xfrm>
            <a:off x="11466576" y="3474720"/>
            <a:ext cx="676656" cy="164592"/>
          </a:xfrm>
          <a:prstGeom prst="rect">
            <a:avLst/>
          </a:prstGeom>
          <a:solidFill>
            <a:srgbClr val="E05252">
              <a:alpha val="60000"/>
            </a:srgbClr>
          </a:solidFill>
          <a:ln w="12700">
            <a:solidFill>
              <a:srgbClr val="E05252">
                <a:alpha val="40000"/>
              </a:srgbClr>
            </a:solidFill>
            <a:prstDash val="solid"/>
          </a:ln>
        </p:spPr>
        <p:txBody>
          <a:bodyPr/>
          <a:lstStyle/>
          <a:p>
            <a:endParaRPr lang="en-US"/>
          </a:p>
        </p:txBody>
      </p:sp>
      <p:sp>
        <p:nvSpPr>
          <p:cNvPr id="174" name="Text 172"/>
          <p:cNvSpPr/>
          <p:nvPr/>
        </p:nvSpPr>
        <p:spPr>
          <a:xfrm>
            <a:off x="11466576" y="3474720"/>
            <a:ext cx="676656" cy="164592"/>
          </a:xfrm>
          <a:prstGeom prst="rect">
            <a:avLst/>
          </a:prstGeom>
          <a:noFill/>
          <a:ln/>
        </p:spPr>
        <p:txBody>
          <a:bodyPr wrap="square" lIns="0" tIns="0" rIns="0" bIns="0" rtlCol="0" anchor="ctr"/>
          <a:lstStyle/>
          <a:p>
            <a:pPr marL="0" indent="0" algn="ctr">
              <a:buNone/>
            </a:pPr>
            <a:r>
              <a:rPr lang="en-US" sz="750" b="1" dirty="0">
                <a:solidFill>
                  <a:srgbClr val="E05252"/>
                </a:solidFill>
                <a:latin typeface="Calibri" pitchFamily="34" charset="0"/>
                <a:ea typeface="Calibri" pitchFamily="34" charset="-122"/>
                <a:cs typeface="Calibri" pitchFamily="34" charset="-120"/>
              </a:rPr>
              <a:t>Phase 5</a:t>
            </a:r>
            <a:endParaRPr lang="en-US" sz="750" dirty="0"/>
          </a:p>
        </p:txBody>
      </p:sp>
      <p:sp>
        <p:nvSpPr>
          <p:cNvPr id="175" name="Shape 173"/>
          <p:cNvSpPr/>
          <p:nvPr/>
        </p:nvSpPr>
        <p:spPr>
          <a:xfrm>
            <a:off x="8485632" y="3895344"/>
            <a:ext cx="3675888" cy="420624"/>
          </a:xfrm>
          <a:prstGeom prst="rect">
            <a:avLst/>
          </a:prstGeom>
          <a:solidFill>
            <a:srgbClr val="0F2040"/>
          </a:solidFill>
          <a:ln w="12700">
            <a:solidFill>
              <a:srgbClr val="E05252">
                <a:alpha val="30000"/>
              </a:srgbClr>
            </a:solidFill>
            <a:prstDash val="solid"/>
          </a:ln>
        </p:spPr>
        <p:txBody>
          <a:bodyPr/>
          <a:lstStyle/>
          <a:p>
            <a:endParaRPr lang="en-US"/>
          </a:p>
        </p:txBody>
      </p:sp>
      <p:sp>
        <p:nvSpPr>
          <p:cNvPr id="176" name="Shape 174"/>
          <p:cNvSpPr/>
          <p:nvPr/>
        </p:nvSpPr>
        <p:spPr>
          <a:xfrm>
            <a:off x="8503920" y="3995928"/>
            <a:ext cx="219456" cy="219456"/>
          </a:xfrm>
          <a:prstGeom prst="rect">
            <a:avLst/>
          </a:prstGeom>
          <a:solidFill>
            <a:srgbClr val="E05252">
              <a:alpha val="75000"/>
            </a:srgbClr>
          </a:solidFill>
          <a:ln w="12700">
            <a:solidFill>
              <a:srgbClr val="E05252">
                <a:alpha val="50000"/>
              </a:srgbClr>
            </a:solidFill>
            <a:prstDash val="solid"/>
          </a:ln>
        </p:spPr>
        <p:txBody>
          <a:bodyPr/>
          <a:lstStyle/>
          <a:p>
            <a:endParaRPr lang="en-US"/>
          </a:p>
        </p:txBody>
      </p:sp>
      <p:sp>
        <p:nvSpPr>
          <p:cNvPr id="177" name="Text 175"/>
          <p:cNvSpPr/>
          <p:nvPr/>
        </p:nvSpPr>
        <p:spPr>
          <a:xfrm>
            <a:off x="8503920" y="3995928"/>
            <a:ext cx="219456" cy="219456"/>
          </a:xfrm>
          <a:prstGeom prst="rect">
            <a:avLst/>
          </a:prstGeom>
          <a:noFill/>
          <a:ln/>
        </p:spPr>
        <p:txBody>
          <a:bodyPr wrap="square" lIns="0" tIns="0" rIns="0" bIns="0" rtlCol="0" anchor="ctr"/>
          <a:lstStyle/>
          <a:p>
            <a:pPr marL="0" indent="0" algn="ctr">
              <a:buNone/>
            </a:pPr>
            <a:r>
              <a:rPr lang="en-US" sz="900" dirty="0">
                <a:solidFill>
                  <a:srgbClr val="E05252"/>
                </a:solidFill>
                <a:latin typeface="Calibri" pitchFamily="34" charset="0"/>
                <a:ea typeface="Calibri" pitchFamily="34" charset="-122"/>
                <a:cs typeface="Calibri" pitchFamily="34" charset="-120"/>
              </a:rPr>
              <a:t>⬡</a:t>
            </a:r>
            <a:endParaRPr lang="en-US" sz="900" dirty="0"/>
          </a:p>
        </p:txBody>
      </p:sp>
      <p:sp>
        <p:nvSpPr>
          <p:cNvPr id="178" name="Text 176"/>
          <p:cNvSpPr/>
          <p:nvPr/>
        </p:nvSpPr>
        <p:spPr>
          <a:xfrm>
            <a:off x="8796528" y="3931920"/>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Containerize</a:t>
            </a:r>
            <a:endParaRPr lang="en-US" sz="1000" dirty="0"/>
          </a:p>
        </p:txBody>
      </p:sp>
      <p:sp>
        <p:nvSpPr>
          <p:cNvPr id="179" name="Text 177"/>
          <p:cNvSpPr/>
          <p:nvPr/>
        </p:nvSpPr>
        <p:spPr>
          <a:xfrm>
            <a:off x="8796528" y="4123944"/>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Skip if existing Dockerfile used</a:t>
            </a:r>
            <a:endParaRPr lang="en-US" sz="850" dirty="0"/>
          </a:p>
        </p:txBody>
      </p:sp>
      <p:sp>
        <p:nvSpPr>
          <p:cNvPr id="180" name="Shape 178"/>
          <p:cNvSpPr/>
          <p:nvPr/>
        </p:nvSpPr>
        <p:spPr>
          <a:xfrm>
            <a:off x="11466576" y="3950208"/>
            <a:ext cx="676656" cy="164592"/>
          </a:xfrm>
          <a:prstGeom prst="rect">
            <a:avLst/>
          </a:prstGeom>
          <a:solidFill>
            <a:srgbClr val="E05252">
              <a:alpha val="60000"/>
            </a:srgbClr>
          </a:solidFill>
          <a:ln w="12700">
            <a:solidFill>
              <a:srgbClr val="E05252">
                <a:alpha val="40000"/>
              </a:srgbClr>
            </a:solidFill>
            <a:prstDash val="solid"/>
          </a:ln>
        </p:spPr>
        <p:txBody>
          <a:bodyPr/>
          <a:lstStyle/>
          <a:p>
            <a:endParaRPr lang="en-US"/>
          </a:p>
        </p:txBody>
      </p:sp>
      <p:sp>
        <p:nvSpPr>
          <p:cNvPr id="181" name="Text 179"/>
          <p:cNvSpPr/>
          <p:nvPr/>
        </p:nvSpPr>
        <p:spPr>
          <a:xfrm>
            <a:off x="11466576" y="3950208"/>
            <a:ext cx="676656" cy="164592"/>
          </a:xfrm>
          <a:prstGeom prst="rect">
            <a:avLst/>
          </a:prstGeom>
          <a:noFill/>
          <a:ln/>
        </p:spPr>
        <p:txBody>
          <a:bodyPr wrap="square" lIns="0" tIns="0" rIns="0" bIns="0" rtlCol="0" anchor="ctr"/>
          <a:lstStyle/>
          <a:p>
            <a:pPr marL="0" indent="0" algn="ctr">
              <a:buNone/>
            </a:pPr>
            <a:r>
              <a:rPr lang="en-US" sz="750" b="1" dirty="0">
                <a:solidFill>
                  <a:srgbClr val="E05252"/>
                </a:solidFill>
                <a:latin typeface="Calibri" pitchFamily="34" charset="0"/>
                <a:ea typeface="Calibri" pitchFamily="34" charset="-122"/>
                <a:cs typeface="Calibri" pitchFamily="34" charset="-120"/>
              </a:rPr>
              <a:t>Phase 4</a:t>
            </a:r>
            <a:endParaRPr lang="en-US" sz="750" dirty="0"/>
          </a:p>
        </p:txBody>
      </p:sp>
      <p:sp>
        <p:nvSpPr>
          <p:cNvPr id="182" name="Shape 180"/>
          <p:cNvSpPr/>
          <p:nvPr/>
        </p:nvSpPr>
        <p:spPr>
          <a:xfrm>
            <a:off x="8485632" y="4370832"/>
            <a:ext cx="3675888" cy="420624"/>
          </a:xfrm>
          <a:prstGeom prst="rect">
            <a:avLst/>
          </a:prstGeom>
          <a:solidFill>
            <a:srgbClr val="0F2040"/>
          </a:solidFill>
          <a:ln w="12700">
            <a:solidFill>
              <a:srgbClr val="E05252">
                <a:alpha val="30000"/>
              </a:srgbClr>
            </a:solidFill>
            <a:prstDash val="solid"/>
          </a:ln>
        </p:spPr>
        <p:txBody>
          <a:bodyPr/>
          <a:lstStyle/>
          <a:p>
            <a:endParaRPr lang="en-US"/>
          </a:p>
        </p:txBody>
      </p:sp>
      <p:sp>
        <p:nvSpPr>
          <p:cNvPr id="183" name="Shape 181"/>
          <p:cNvSpPr/>
          <p:nvPr/>
        </p:nvSpPr>
        <p:spPr>
          <a:xfrm>
            <a:off x="8503920" y="4471416"/>
            <a:ext cx="219456" cy="219456"/>
          </a:xfrm>
          <a:prstGeom prst="rect">
            <a:avLst/>
          </a:prstGeom>
          <a:solidFill>
            <a:srgbClr val="E05252">
              <a:alpha val="75000"/>
            </a:srgbClr>
          </a:solidFill>
          <a:ln w="12700">
            <a:solidFill>
              <a:srgbClr val="E05252">
                <a:alpha val="50000"/>
              </a:srgbClr>
            </a:solidFill>
            <a:prstDash val="solid"/>
          </a:ln>
        </p:spPr>
        <p:txBody>
          <a:bodyPr/>
          <a:lstStyle/>
          <a:p>
            <a:endParaRPr lang="en-US"/>
          </a:p>
        </p:txBody>
      </p:sp>
      <p:sp>
        <p:nvSpPr>
          <p:cNvPr id="184" name="Text 182"/>
          <p:cNvSpPr/>
          <p:nvPr/>
        </p:nvSpPr>
        <p:spPr>
          <a:xfrm>
            <a:off x="8503920" y="4471416"/>
            <a:ext cx="219456" cy="219456"/>
          </a:xfrm>
          <a:prstGeom prst="rect">
            <a:avLst/>
          </a:prstGeom>
          <a:noFill/>
          <a:ln/>
        </p:spPr>
        <p:txBody>
          <a:bodyPr wrap="square" lIns="0" tIns="0" rIns="0" bIns="0" rtlCol="0" anchor="ctr"/>
          <a:lstStyle/>
          <a:p>
            <a:pPr marL="0" indent="0" algn="ctr">
              <a:buNone/>
            </a:pPr>
            <a:r>
              <a:rPr lang="en-US" sz="900" dirty="0">
                <a:solidFill>
                  <a:srgbClr val="E05252"/>
                </a:solidFill>
                <a:latin typeface="Calibri" pitchFamily="34" charset="0"/>
                <a:ea typeface="Calibri" pitchFamily="34" charset="-122"/>
                <a:cs typeface="Calibri" pitchFamily="34" charset="-120"/>
              </a:rPr>
              <a:t>⬡</a:t>
            </a:r>
            <a:endParaRPr lang="en-US" sz="900" dirty="0"/>
          </a:p>
        </p:txBody>
      </p:sp>
      <p:sp>
        <p:nvSpPr>
          <p:cNvPr id="185" name="Text 183"/>
          <p:cNvSpPr/>
          <p:nvPr/>
        </p:nvSpPr>
        <p:spPr>
          <a:xfrm>
            <a:off x="8796528" y="4407408"/>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Risk Scorer</a:t>
            </a:r>
            <a:endParaRPr lang="en-US" sz="1000" dirty="0"/>
          </a:p>
        </p:txBody>
      </p:sp>
      <p:sp>
        <p:nvSpPr>
          <p:cNvPr id="186" name="Text 184"/>
          <p:cNvSpPr/>
          <p:nvPr/>
        </p:nvSpPr>
        <p:spPr>
          <a:xfrm>
            <a:off x="8796528" y="4599432"/>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Skip for small, well-known codebases</a:t>
            </a:r>
            <a:endParaRPr lang="en-US" sz="850" dirty="0"/>
          </a:p>
        </p:txBody>
      </p:sp>
      <p:sp>
        <p:nvSpPr>
          <p:cNvPr id="187" name="Shape 185"/>
          <p:cNvSpPr/>
          <p:nvPr/>
        </p:nvSpPr>
        <p:spPr>
          <a:xfrm>
            <a:off x="11466576" y="4425696"/>
            <a:ext cx="676656" cy="164592"/>
          </a:xfrm>
          <a:prstGeom prst="rect">
            <a:avLst/>
          </a:prstGeom>
          <a:solidFill>
            <a:srgbClr val="E05252">
              <a:alpha val="60000"/>
            </a:srgbClr>
          </a:solidFill>
          <a:ln w="12700">
            <a:solidFill>
              <a:srgbClr val="E05252">
                <a:alpha val="40000"/>
              </a:srgbClr>
            </a:solidFill>
            <a:prstDash val="solid"/>
          </a:ln>
        </p:spPr>
        <p:txBody>
          <a:bodyPr/>
          <a:lstStyle/>
          <a:p>
            <a:endParaRPr lang="en-US"/>
          </a:p>
        </p:txBody>
      </p:sp>
      <p:sp>
        <p:nvSpPr>
          <p:cNvPr id="188" name="Text 186"/>
          <p:cNvSpPr/>
          <p:nvPr/>
        </p:nvSpPr>
        <p:spPr>
          <a:xfrm>
            <a:off x="11466576" y="4425696"/>
            <a:ext cx="676656" cy="164592"/>
          </a:xfrm>
          <a:prstGeom prst="rect">
            <a:avLst/>
          </a:prstGeom>
          <a:noFill/>
          <a:ln/>
        </p:spPr>
        <p:txBody>
          <a:bodyPr wrap="square" lIns="0" tIns="0" rIns="0" bIns="0" rtlCol="0" anchor="ctr"/>
          <a:lstStyle/>
          <a:p>
            <a:pPr marL="0" indent="0" algn="ctr">
              <a:buNone/>
            </a:pPr>
            <a:r>
              <a:rPr lang="en-US" sz="750" b="1" dirty="0">
                <a:solidFill>
                  <a:srgbClr val="E05252"/>
                </a:solidFill>
                <a:latin typeface="Calibri" pitchFamily="34" charset="0"/>
                <a:ea typeface="Calibri" pitchFamily="34" charset="-122"/>
                <a:cs typeface="Calibri" pitchFamily="34" charset="-120"/>
              </a:rPr>
              <a:t>Phase 0</a:t>
            </a:r>
            <a:endParaRPr lang="en-US" sz="750" dirty="0"/>
          </a:p>
        </p:txBody>
      </p:sp>
      <p:sp>
        <p:nvSpPr>
          <p:cNvPr id="189" name="Shape 187"/>
          <p:cNvSpPr/>
          <p:nvPr/>
        </p:nvSpPr>
        <p:spPr>
          <a:xfrm>
            <a:off x="8485632" y="4846320"/>
            <a:ext cx="3675888" cy="420624"/>
          </a:xfrm>
          <a:prstGeom prst="rect">
            <a:avLst/>
          </a:prstGeom>
          <a:solidFill>
            <a:srgbClr val="0F2040"/>
          </a:solidFill>
          <a:ln w="12700">
            <a:solidFill>
              <a:srgbClr val="E05252">
                <a:alpha val="30000"/>
              </a:srgbClr>
            </a:solidFill>
            <a:prstDash val="solid"/>
          </a:ln>
        </p:spPr>
        <p:txBody>
          <a:bodyPr/>
          <a:lstStyle/>
          <a:p>
            <a:endParaRPr lang="en-US"/>
          </a:p>
        </p:txBody>
      </p:sp>
      <p:sp>
        <p:nvSpPr>
          <p:cNvPr id="190" name="Shape 188"/>
          <p:cNvSpPr/>
          <p:nvPr/>
        </p:nvSpPr>
        <p:spPr>
          <a:xfrm>
            <a:off x="8503920" y="4946904"/>
            <a:ext cx="219456" cy="219456"/>
          </a:xfrm>
          <a:prstGeom prst="rect">
            <a:avLst/>
          </a:prstGeom>
          <a:solidFill>
            <a:srgbClr val="E05252">
              <a:alpha val="75000"/>
            </a:srgbClr>
          </a:solidFill>
          <a:ln w="12700">
            <a:solidFill>
              <a:srgbClr val="E05252">
                <a:alpha val="50000"/>
              </a:srgbClr>
            </a:solidFill>
            <a:prstDash val="solid"/>
          </a:ln>
        </p:spPr>
        <p:txBody>
          <a:bodyPr/>
          <a:lstStyle/>
          <a:p>
            <a:endParaRPr lang="en-US"/>
          </a:p>
        </p:txBody>
      </p:sp>
      <p:sp>
        <p:nvSpPr>
          <p:cNvPr id="191" name="Text 189"/>
          <p:cNvSpPr/>
          <p:nvPr/>
        </p:nvSpPr>
        <p:spPr>
          <a:xfrm>
            <a:off x="8503920" y="4946904"/>
            <a:ext cx="219456" cy="219456"/>
          </a:xfrm>
          <a:prstGeom prst="rect">
            <a:avLst/>
          </a:prstGeom>
          <a:noFill/>
          <a:ln/>
        </p:spPr>
        <p:txBody>
          <a:bodyPr wrap="square" lIns="0" tIns="0" rIns="0" bIns="0" rtlCol="0" anchor="ctr"/>
          <a:lstStyle/>
          <a:p>
            <a:pPr marL="0" indent="0" algn="ctr">
              <a:buNone/>
            </a:pPr>
            <a:r>
              <a:rPr lang="en-US" sz="900" dirty="0">
                <a:solidFill>
                  <a:srgbClr val="E05252"/>
                </a:solidFill>
                <a:latin typeface="Calibri" pitchFamily="34" charset="0"/>
                <a:ea typeface="Calibri" pitchFamily="34" charset="-122"/>
                <a:cs typeface="Calibri" pitchFamily="34" charset="-120"/>
              </a:rPr>
              <a:t>⬡</a:t>
            </a:r>
            <a:endParaRPr lang="en-US" sz="900" dirty="0"/>
          </a:p>
        </p:txBody>
      </p:sp>
      <p:sp>
        <p:nvSpPr>
          <p:cNvPr id="192" name="Text 190"/>
          <p:cNvSpPr/>
          <p:nvPr/>
        </p:nvSpPr>
        <p:spPr>
          <a:xfrm>
            <a:off x="8796528" y="4882896"/>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Discovery</a:t>
            </a:r>
            <a:endParaRPr lang="en-US" sz="1000" dirty="0"/>
          </a:p>
        </p:txBody>
      </p:sp>
      <p:sp>
        <p:nvSpPr>
          <p:cNvPr id="193" name="Text 191"/>
          <p:cNvSpPr/>
          <p:nvPr/>
        </p:nvSpPr>
        <p:spPr>
          <a:xfrm>
            <a:off x="8796528" y="5074920"/>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Skip if manifest already exists</a:t>
            </a:r>
            <a:endParaRPr lang="en-US" sz="850" dirty="0"/>
          </a:p>
        </p:txBody>
      </p:sp>
      <p:sp>
        <p:nvSpPr>
          <p:cNvPr id="194" name="Shape 192"/>
          <p:cNvSpPr/>
          <p:nvPr/>
        </p:nvSpPr>
        <p:spPr>
          <a:xfrm>
            <a:off x="11466576" y="4901184"/>
            <a:ext cx="676656" cy="164592"/>
          </a:xfrm>
          <a:prstGeom prst="rect">
            <a:avLst/>
          </a:prstGeom>
          <a:solidFill>
            <a:srgbClr val="E05252">
              <a:alpha val="60000"/>
            </a:srgbClr>
          </a:solidFill>
          <a:ln w="12700">
            <a:solidFill>
              <a:srgbClr val="E05252">
                <a:alpha val="40000"/>
              </a:srgbClr>
            </a:solidFill>
            <a:prstDash val="solid"/>
          </a:ln>
        </p:spPr>
        <p:txBody>
          <a:bodyPr/>
          <a:lstStyle/>
          <a:p>
            <a:endParaRPr lang="en-US"/>
          </a:p>
        </p:txBody>
      </p:sp>
      <p:sp>
        <p:nvSpPr>
          <p:cNvPr id="195" name="Text 193"/>
          <p:cNvSpPr/>
          <p:nvPr/>
        </p:nvSpPr>
        <p:spPr>
          <a:xfrm>
            <a:off x="11466576" y="4901184"/>
            <a:ext cx="676656" cy="164592"/>
          </a:xfrm>
          <a:prstGeom prst="rect">
            <a:avLst/>
          </a:prstGeom>
          <a:noFill/>
          <a:ln/>
        </p:spPr>
        <p:txBody>
          <a:bodyPr wrap="square" lIns="0" tIns="0" rIns="0" bIns="0" rtlCol="0" anchor="ctr"/>
          <a:lstStyle/>
          <a:p>
            <a:pPr marL="0" indent="0" algn="ctr">
              <a:buNone/>
            </a:pPr>
            <a:r>
              <a:rPr lang="en-US" sz="750" b="1" dirty="0">
                <a:solidFill>
                  <a:srgbClr val="E05252"/>
                </a:solidFill>
                <a:latin typeface="Calibri" pitchFamily="34" charset="0"/>
                <a:ea typeface="Calibri" pitchFamily="34" charset="-122"/>
                <a:cs typeface="Calibri" pitchFamily="34" charset="-120"/>
              </a:rPr>
              <a:t>Phase 0</a:t>
            </a:r>
            <a:endParaRPr lang="en-US" sz="750" dirty="0"/>
          </a:p>
        </p:txBody>
      </p:sp>
      <p:sp>
        <p:nvSpPr>
          <p:cNvPr id="196" name="Shape 194"/>
          <p:cNvSpPr/>
          <p:nvPr/>
        </p:nvSpPr>
        <p:spPr>
          <a:xfrm>
            <a:off x="274320" y="6455664"/>
            <a:ext cx="11594592" cy="310896"/>
          </a:xfrm>
          <a:prstGeom prst="rect">
            <a:avLst/>
          </a:prstGeom>
          <a:solidFill>
            <a:srgbClr val="0F2040"/>
          </a:solidFill>
          <a:ln w="12700">
            <a:solidFill>
              <a:srgbClr val="534AB7">
                <a:alpha val="50000"/>
              </a:srgbClr>
            </a:solidFill>
            <a:prstDash val="solid"/>
          </a:ln>
        </p:spPr>
        <p:txBody>
          <a:bodyPr/>
          <a:lstStyle/>
          <a:p>
            <a:endParaRPr lang="en-US"/>
          </a:p>
        </p:txBody>
      </p:sp>
      <p:sp>
        <p:nvSpPr>
          <p:cNvPr id="197" name="Shape 195"/>
          <p:cNvSpPr/>
          <p:nvPr/>
        </p:nvSpPr>
        <p:spPr>
          <a:xfrm>
            <a:off x="457200" y="6492240"/>
            <a:ext cx="822960" cy="201168"/>
          </a:xfrm>
          <a:prstGeom prst="rect">
            <a:avLst/>
          </a:prstGeom>
          <a:solidFill>
            <a:srgbClr val="534AB7">
              <a:alpha val="80000"/>
            </a:srgbClr>
          </a:solidFill>
          <a:ln w="12700">
            <a:solidFill>
              <a:srgbClr val="534AB7">
                <a:alpha val="40000"/>
              </a:srgbClr>
            </a:solidFill>
            <a:prstDash val="solid"/>
          </a:ln>
        </p:spPr>
        <p:txBody>
          <a:bodyPr/>
          <a:lstStyle/>
          <a:p>
            <a:endParaRPr lang="en-US"/>
          </a:p>
        </p:txBody>
      </p:sp>
      <p:sp>
        <p:nvSpPr>
          <p:cNvPr id="198" name="Text 196"/>
          <p:cNvSpPr/>
          <p:nvPr/>
        </p:nvSpPr>
        <p:spPr>
          <a:xfrm>
            <a:off x="457200" y="6492240"/>
            <a:ext cx="822960" cy="201168"/>
          </a:xfrm>
          <a:prstGeom prst="rect">
            <a:avLst/>
          </a:prstGeom>
          <a:noFill/>
          <a:ln/>
        </p:spPr>
        <p:txBody>
          <a:bodyPr wrap="square" lIns="0" tIns="0" rIns="0" bIns="0" rtlCol="0" anchor="ctr"/>
          <a:lstStyle/>
          <a:p>
            <a:pPr marL="0" indent="0" algn="ctr">
              <a:buNone/>
            </a:pPr>
            <a:r>
              <a:rPr lang="en-US" sz="750" b="1" dirty="0">
                <a:solidFill>
                  <a:srgbClr val="26215C"/>
                </a:solidFill>
                <a:latin typeface="Calibri" pitchFamily="34" charset="0"/>
                <a:ea typeface="Calibri" pitchFamily="34" charset="-122"/>
                <a:cs typeface="Calibri" pitchFamily="34" charset="-120"/>
              </a:rPr>
              <a:t>config.yaml</a:t>
            </a:r>
            <a:endParaRPr lang="en-US" sz="750" dirty="0"/>
          </a:p>
        </p:txBody>
      </p:sp>
      <p:sp>
        <p:nvSpPr>
          <p:cNvPr id="199" name="Text 197"/>
          <p:cNvSpPr/>
          <p:nvPr/>
        </p:nvSpPr>
        <p:spPr>
          <a:xfrm>
            <a:off x="1316736" y="6492240"/>
            <a:ext cx="1920240" cy="20116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agents.yaml defines which agents load per phase</a:t>
            </a:r>
            <a:endParaRPr lang="en-US" sz="850" dirty="0"/>
          </a:p>
        </p:txBody>
      </p:sp>
      <p:sp>
        <p:nvSpPr>
          <p:cNvPr id="200" name="Shape 198"/>
          <p:cNvSpPr/>
          <p:nvPr/>
        </p:nvSpPr>
        <p:spPr>
          <a:xfrm>
            <a:off x="3346704" y="6492240"/>
            <a:ext cx="822960" cy="201168"/>
          </a:xfrm>
          <a:prstGeom prst="rect">
            <a:avLst/>
          </a:prstGeom>
          <a:solidFill>
            <a:srgbClr val="534AB7">
              <a:alpha val="80000"/>
            </a:srgbClr>
          </a:solidFill>
          <a:ln w="12700">
            <a:solidFill>
              <a:srgbClr val="534AB7">
                <a:alpha val="40000"/>
              </a:srgbClr>
            </a:solidFill>
            <a:prstDash val="solid"/>
          </a:ln>
        </p:spPr>
        <p:txBody>
          <a:bodyPr/>
          <a:lstStyle/>
          <a:p>
            <a:endParaRPr lang="en-US"/>
          </a:p>
        </p:txBody>
      </p:sp>
      <p:sp>
        <p:nvSpPr>
          <p:cNvPr id="201" name="Text 199"/>
          <p:cNvSpPr/>
          <p:nvPr/>
        </p:nvSpPr>
        <p:spPr>
          <a:xfrm>
            <a:off x="3346704" y="6492240"/>
            <a:ext cx="822960" cy="201168"/>
          </a:xfrm>
          <a:prstGeom prst="rect">
            <a:avLst/>
          </a:prstGeom>
          <a:noFill/>
          <a:ln/>
        </p:spPr>
        <p:txBody>
          <a:bodyPr wrap="square" lIns="0" tIns="0" rIns="0" bIns="0" rtlCol="0" anchor="ctr"/>
          <a:lstStyle/>
          <a:p>
            <a:pPr marL="0" indent="0" algn="ctr">
              <a:buNone/>
            </a:pPr>
            <a:r>
              <a:rPr lang="en-US" sz="750" b="1" dirty="0">
                <a:solidFill>
                  <a:srgbClr val="26215C"/>
                </a:solidFill>
                <a:latin typeface="Calibri" pitchFamily="34" charset="0"/>
                <a:ea typeface="Calibri" pitchFamily="34" charset="-122"/>
                <a:cs typeface="Calibri" pitchFamily="34" charset="-120"/>
              </a:rPr>
              <a:t>0 code change</a:t>
            </a:r>
            <a:endParaRPr lang="en-US" sz="750" dirty="0"/>
          </a:p>
        </p:txBody>
      </p:sp>
      <p:sp>
        <p:nvSpPr>
          <p:cNvPr id="202" name="Text 200"/>
          <p:cNvSpPr/>
          <p:nvPr/>
        </p:nvSpPr>
        <p:spPr>
          <a:xfrm>
            <a:off x="4206240" y="6492240"/>
            <a:ext cx="1920240" cy="20116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Adding an agent = one new Python class + register in config</a:t>
            </a:r>
            <a:endParaRPr lang="en-US" sz="850" dirty="0"/>
          </a:p>
        </p:txBody>
      </p:sp>
      <p:sp>
        <p:nvSpPr>
          <p:cNvPr id="203" name="Shape 201"/>
          <p:cNvSpPr/>
          <p:nvPr/>
        </p:nvSpPr>
        <p:spPr>
          <a:xfrm>
            <a:off x="6236208" y="6492240"/>
            <a:ext cx="822960" cy="201168"/>
          </a:xfrm>
          <a:prstGeom prst="rect">
            <a:avLst/>
          </a:prstGeom>
          <a:solidFill>
            <a:srgbClr val="534AB7">
              <a:alpha val="80000"/>
            </a:srgbClr>
          </a:solidFill>
          <a:ln w="12700">
            <a:solidFill>
              <a:srgbClr val="534AB7">
                <a:alpha val="40000"/>
              </a:srgbClr>
            </a:solidFill>
            <a:prstDash val="solid"/>
          </a:ln>
        </p:spPr>
        <p:txBody>
          <a:bodyPr/>
          <a:lstStyle/>
          <a:p>
            <a:endParaRPr lang="en-US"/>
          </a:p>
        </p:txBody>
      </p:sp>
      <p:sp>
        <p:nvSpPr>
          <p:cNvPr id="204" name="Text 202"/>
          <p:cNvSpPr/>
          <p:nvPr/>
        </p:nvSpPr>
        <p:spPr>
          <a:xfrm>
            <a:off x="6236208" y="6492240"/>
            <a:ext cx="822960" cy="201168"/>
          </a:xfrm>
          <a:prstGeom prst="rect">
            <a:avLst/>
          </a:prstGeom>
          <a:noFill/>
          <a:ln/>
        </p:spPr>
        <p:txBody>
          <a:bodyPr wrap="square" lIns="0" tIns="0" rIns="0" bIns="0" rtlCol="0" anchor="ctr"/>
          <a:lstStyle/>
          <a:p>
            <a:pPr marL="0" indent="0" algn="ctr">
              <a:buNone/>
            </a:pPr>
            <a:r>
              <a:rPr lang="en-US" sz="750" b="1" dirty="0">
                <a:solidFill>
                  <a:srgbClr val="26215C"/>
                </a:solidFill>
                <a:latin typeface="Calibri" pitchFamily="34" charset="0"/>
                <a:ea typeface="Calibri" pitchFamily="34" charset="-122"/>
                <a:cs typeface="Calibri" pitchFamily="34" charset="-120"/>
              </a:rPr>
              <a:t>zero downtime</a:t>
            </a:r>
            <a:endParaRPr lang="en-US" sz="750" dirty="0"/>
          </a:p>
        </p:txBody>
      </p:sp>
      <p:sp>
        <p:nvSpPr>
          <p:cNvPr id="205" name="Text 203"/>
          <p:cNvSpPr/>
          <p:nvPr/>
        </p:nvSpPr>
        <p:spPr>
          <a:xfrm>
            <a:off x="7095744" y="6492240"/>
            <a:ext cx="1920240" cy="20116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Remove an agent = delete from config, pipeline auto-adjusts</a:t>
            </a:r>
            <a:endParaRPr lang="en-US" sz="850" dirty="0"/>
          </a:p>
        </p:txBody>
      </p:sp>
      <p:sp>
        <p:nvSpPr>
          <p:cNvPr id="206" name="Shape 204"/>
          <p:cNvSpPr/>
          <p:nvPr/>
        </p:nvSpPr>
        <p:spPr>
          <a:xfrm>
            <a:off x="9125712" y="6492240"/>
            <a:ext cx="822960" cy="201168"/>
          </a:xfrm>
          <a:prstGeom prst="rect">
            <a:avLst/>
          </a:prstGeom>
          <a:solidFill>
            <a:srgbClr val="534AB7">
              <a:alpha val="80000"/>
            </a:srgbClr>
          </a:solidFill>
          <a:ln w="12700">
            <a:solidFill>
              <a:srgbClr val="534AB7">
                <a:alpha val="40000"/>
              </a:srgbClr>
            </a:solidFill>
            <a:prstDash val="solid"/>
          </a:ln>
        </p:spPr>
        <p:txBody>
          <a:bodyPr/>
          <a:lstStyle/>
          <a:p>
            <a:endParaRPr lang="en-US"/>
          </a:p>
        </p:txBody>
      </p:sp>
      <p:sp>
        <p:nvSpPr>
          <p:cNvPr id="207" name="Text 205"/>
          <p:cNvSpPr/>
          <p:nvPr/>
        </p:nvSpPr>
        <p:spPr>
          <a:xfrm>
            <a:off x="9125712" y="6492240"/>
            <a:ext cx="822960" cy="201168"/>
          </a:xfrm>
          <a:prstGeom prst="rect">
            <a:avLst/>
          </a:prstGeom>
          <a:noFill/>
          <a:ln/>
        </p:spPr>
        <p:txBody>
          <a:bodyPr wrap="square" lIns="0" tIns="0" rIns="0" bIns="0" rtlCol="0" anchor="ctr"/>
          <a:lstStyle/>
          <a:p>
            <a:pPr marL="0" indent="0" algn="ctr">
              <a:buNone/>
            </a:pPr>
            <a:r>
              <a:rPr lang="en-US" sz="750" b="1" dirty="0">
                <a:solidFill>
                  <a:srgbClr val="26215C"/>
                </a:solidFill>
                <a:latin typeface="Calibri" pitchFamily="34" charset="0"/>
                <a:ea typeface="Calibri" pitchFamily="34" charset="-122"/>
                <a:cs typeface="Calibri" pitchFamily="34" charset="-120"/>
              </a:rPr>
              <a:t>shared RAG</a:t>
            </a:r>
            <a:endParaRPr lang="en-US" sz="750" dirty="0"/>
          </a:p>
        </p:txBody>
      </p:sp>
      <p:sp>
        <p:nvSpPr>
          <p:cNvPr id="208" name="Text 206"/>
          <p:cNvSpPr/>
          <p:nvPr/>
        </p:nvSpPr>
        <p:spPr>
          <a:xfrm>
            <a:off x="9985248" y="6492240"/>
            <a:ext cx="1920240" cy="20116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All agents share the same Bedrock KB — add new docs for new frameworks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225296"/>
          </a:xfrm>
          <a:prstGeom prst="rect">
            <a:avLst/>
          </a:prstGeom>
          <a:solidFill>
            <a:srgbClr val="0A1628"/>
          </a:solidFill>
          <a:ln w="12700">
            <a:solidFill>
              <a:srgbClr val="0A1628">
                <a:alpha val="0"/>
              </a:srgbClr>
            </a:solidFill>
            <a:prstDash val="solid"/>
          </a:ln>
        </p:spPr>
        <p:txBody>
          <a:bodyPr/>
          <a:lstStyle/>
          <a:p>
            <a:endParaRPr lang="en-US"/>
          </a:p>
        </p:txBody>
      </p:sp>
      <p:sp>
        <p:nvSpPr>
          <p:cNvPr id="3" name="Shape 1"/>
          <p:cNvSpPr/>
          <p:nvPr/>
        </p:nvSpPr>
        <p:spPr>
          <a:xfrm>
            <a:off x="0" y="1225296"/>
            <a:ext cx="12161520" cy="50292"/>
          </a:xfrm>
          <a:prstGeom prst="rect">
            <a:avLst/>
          </a:prstGeom>
          <a:solidFill>
            <a:srgbClr val="F5A623"/>
          </a:solidFill>
          <a:ln w="12700">
            <a:solidFill>
              <a:srgbClr val="F5A623">
                <a:alpha val="0"/>
              </a:srgbClr>
            </a:solidFill>
            <a:prstDash val="solid"/>
          </a:ln>
        </p:spPr>
        <p:txBody>
          <a:bodyPr/>
          <a:lstStyle/>
          <a:p>
            <a:endParaRPr lang="en-US"/>
          </a:p>
        </p:txBody>
      </p:sp>
      <p:sp>
        <p:nvSpPr>
          <p:cNvPr id="4" name="Text 2"/>
          <p:cNvSpPr/>
          <p:nvPr/>
        </p:nvSpPr>
        <p:spPr>
          <a:xfrm>
            <a:off x="411480" y="109728"/>
            <a:ext cx="11247120" cy="256032"/>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03  ·  Agent Ecosystem</a:t>
            </a:r>
            <a:endParaRPr lang="en-US" sz="1000" dirty="0"/>
          </a:p>
        </p:txBody>
      </p:sp>
      <p:sp>
        <p:nvSpPr>
          <p:cNvPr id="5" name="Text 3"/>
          <p:cNvSpPr/>
          <p:nvPr/>
        </p:nvSpPr>
        <p:spPr>
          <a:xfrm>
            <a:off x="411480" y="347472"/>
            <a:ext cx="11247120" cy="749808"/>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15 specialised agents. 3 AI model roles. One clear outcome.</a:t>
            </a:r>
            <a:endParaRPr lang="en-US" sz="2600" dirty="0"/>
          </a:p>
        </p:txBody>
      </p:sp>
      <p:sp>
        <p:nvSpPr>
          <p:cNvPr id="6" name="Shape 4"/>
          <p:cNvSpPr/>
          <p:nvPr/>
        </p:nvSpPr>
        <p:spPr>
          <a:xfrm>
            <a:off x="365760" y="1389888"/>
            <a:ext cx="2651760" cy="237744"/>
          </a:xfrm>
          <a:prstGeom prst="rect">
            <a:avLst/>
          </a:prstGeom>
          <a:solidFill>
            <a:srgbClr val="FEF6E7"/>
          </a:solidFill>
          <a:ln w="9525">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7" name="Text 5"/>
          <p:cNvSpPr/>
          <p:nvPr/>
        </p:nvSpPr>
        <p:spPr>
          <a:xfrm>
            <a:off x="365760" y="1389888"/>
            <a:ext cx="2651760" cy="237744"/>
          </a:xfrm>
          <a:prstGeom prst="rect">
            <a:avLst/>
          </a:prstGeom>
          <a:noFill/>
          <a:ln/>
        </p:spPr>
        <p:txBody>
          <a:bodyPr wrap="square" lIns="0" tIns="0" rIns="0" bIns="0" rtlCol="0" anchor="ctr"/>
          <a:lstStyle/>
          <a:p>
            <a:pPr marL="0" indent="0" algn="ctr">
              <a:buNone/>
            </a:pPr>
            <a:r>
              <a:rPr lang="en-US" sz="900" b="1" dirty="0">
                <a:solidFill>
                  <a:srgbClr val="F5A623"/>
                </a:solidFill>
                <a:latin typeface="Calibri" pitchFamily="34" charset="0"/>
                <a:ea typeface="Calibri" pitchFamily="34" charset="-122"/>
                <a:cs typeface="Calibri" pitchFamily="34" charset="-120"/>
              </a:rPr>
              <a:t>Safety &amp; coordination</a:t>
            </a:r>
            <a:endParaRPr lang="en-US" sz="900" dirty="0"/>
          </a:p>
        </p:txBody>
      </p:sp>
      <p:sp>
        <p:nvSpPr>
          <p:cNvPr id="8" name="Shape 6"/>
          <p:cNvSpPr/>
          <p:nvPr/>
        </p:nvSpPr>
        <p:spPr>
          <a:xfrm>
            <a:off x="3200400" y="1389888"/>
            <a:ext cx="2651760" cy="237744"/>
          </a:xfrm>
          <a:prstGeom prst="rect">
            <a:avLst/>
          </a:prstGeom>
          <a:solidFill>
            <a:srgbClr val="E6F1FB"/>
          </a:solidFill>
          <a:ln w="9525">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9" name="Text 7"/>
          <p:cNvSpPr/>
          <p:nvPr/>
        </p:nvSpPr>
        <p:spPr>
          <a:xfrm>
            <a:off x="3200400" y="1389888"/>
            <a:ext cx="2651760" cy="2377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Transformation (7 agents)</a:t>
            </a:r>
            <a:endParaRPr lang="en-US" sz="900" dirty="0"/>
          </a:p>
        </p:txBody>
      </p:sp>
      <p:sp>
        <p:nvSpPr>
          <p:cNvPr id="10" name="Shape 8"/>
          <p:cNvSpPr/>
          <p:nvPr/>
        </p:nvSpPr>
        <p:spPr>
          <a:xfrm>
            <a:off x="7772400" y="1389888"/>
            <a:ext cx="2651760" cy="237744"/>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1" name="Text 9"/>
          <p:cNvSpPr/>
          <p:nvPr/>
        </p:nvSpPr>
        <p:spPr>
          <a:xfrm>
            <a:off x="7772400" y="1389888"/>
            <a:ext cx="2651760" cy="237744"/>
          </a:xfrm>
          <a:prstGeom prst="rect">
            <a:avLst/>
          </a:prstGeom>
          <a:noFill/>
          <a:ln/>
        </p:spPr>
        <p:txBody>
          <a:bodyPr wrap="square" lIns="0" tIns="0" rIns="0" bIns="0" rtlCol="0" anchor="ctr"/>
          <a:lstStyle/>
          <a:p>
            <a:pPr marL="0" indent="0" algn="ctr">
              <a:buNone/>
            </a:pPr>
            <a:r>
              <a:rPr lang="en-US" sz="900" b="1" dirty="0">
                <a:solidFill>
                  <a:srgbClr val="534AB7"/>
                </a:solidFill>
                <a:latin typeface="Calibri" pitchFamily="34" charset="0"/>
                <a:ea typeface="Calibri" pitchFamily="34" charset="-122"/>
                <a:cs typeface="Calibri" pitchFamily="34" charset="-120"/>
              </a:rPr>
              <a:t>Review (5 agents)</a:t>
            </a:r>
            <a:endParaRPr lang="en-US" sz="900" dirty="0"/>
          </a:p>
        </p:txBody>
      </p:sp>
      <p:sp>
        <p:nvSpPr>
          <p:cNvPr id="12" name="Shape 10"/>
          <p:cNvSpPr/>
          <p:nvPr/>
        </p:nvSpPr>
        <p:spPr>
          <a:xfrm>
            <a:off x="10241280" y="1389888"/>
            <a:ext cx="2651760" cy="237744"/>
          </a:xfrm>
          <a:prstGeom prst="rect">
            <a:avLst/>
          </a:prstGeom>
          <a:solidFill>
            <a:srgbClr val="E1F5EE"/>
          </a:solidFill>
          <a:ln w="9525">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13" name="Text 11"/>
          <p:cNvSpPr/>
          <p:nvPr/>
        </p:nvSpPr>
        <p:spPr>
          <a:xfrm>
            <a:off x="10241280" y="1389888"/>
            <a:ext cx="2651760" cy="237744"/>
          </a:xfrm>
          <a:prstGeom prst="rect">
            <a:avLst/>
          </a:prstGeom>
          <a:noFill/>
          <a:ln/>
        </p:spPr>
        <p:txBody>
          <a:bodyPr wrap="square" lIns="0" tIns="0" rIns="0" bIns="0" rtlCol="0" anchor="ctr"/>
          <a:lstStyle/>
          <a:p>
            <a:pPr marL="0" indent="0" algn="ctr">
              <a:buNone/>
            </a:pPr>
            <a:r>
              <a:rPr lang="en-US" sz="900" b="1" dirty="0">
                <a:solidFill>
                  <a:srgbClr val="1D9E75"/>
                </a:solidFill>
                <a:latin typeface="Calibri" pitchFamily="34" charset="0"/>
                <a:ea typeface="Calibri" pitchFamily="34" charset="-122"/>
                <a:cs typeface="Calibri" pitchFamily="34" charset="-120"/>
              </a:rPr>
              <a:t>Output</a:t>
            </a:r>
            <a:endParaRPr lang="en-US" sz="900" dirty="0"/>
          </a:p>
        </p:txBody>
      </p:sp>
      <p:sp>
        <p:nvSpPr>
          <p:cNvPr id="14" name="Shape 12"/>
          <p:cNvSpPr/>
          <p:nvPr/>
        </p:nvSpPr>
        <p:spPr>
          <a:xfrm>
            <a:off x="365760" y="1792224"/>
            <a:ext cx="2651760" cy="658368"/>
          </a:xfrm>
          <a:prstGeom prst="rect">
            <a:avLst/>
          </a:prstGeom>
          <a:solidFill>
            <a:srgbClr val="FEF6E7"/>
          </a:solidFill>
          <a:ln w="9525">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15" name="Shape 13"/>
          <p:cNvSpPr/>
          <p:nvPr/>
        </p:nvSpPr>
        <p:spPr>
          <a:xfrm>
            <a:off x="365760" y="1792224"/>
            <a:ext cx="2651760" cy="50292"/>
          </a:xfrm>
          <a:prstGeom prst="rect">
            <a:avLst/>
          </a:prstGeom>
          <a:solidFill>
            <a:srgbClr val="F5A623"/>
          </a:solidFill>
          <a:ln w="12700">
            <a:solidFill>
              <a:srgbClr val="F5A623">
                <a:alpha val="0"/>
              </a:srgbClr>
            </a:solidFill>
            <a:prstDash val="solid"/>
          </a:ln>
        </p:spPr>
        <p:txBody>
          <a:bodyPr/>
          <a:lstStyle/>
          <a:p>
            <a:endParaRPr lang="en-US"/>
          </a:p>
        </p:txBody>
      </p:sp>
      <p:sp>
        <p:nvSpPr>
          <p:cNvPr id="16" name="Text 14"/>
          <p:cNvSpPr/>
          <p:nvPr/>
        </p:nvSpPr>
        <p:spPr>
          <a:xfrm>
            <a:off x="457200" y="1856232"/>
            <a:ext cx="2468880" cy="274320"/>
          </a:xfrm>
          <a:prstGeom prst="rect">
            <a:avLst/>
          </a:prstGeom>
          <a:noFill/>
          <a:ln/>
        </p:spPr>
        <p:txBody>
          <a:bodyPr wrap="square" lIns="0" tIns="0" rIns="0" bIns="0" rtlCol="0" anchor="ctr"/>
          <a:lstStyle/>
          <a:p>
            <a:pPr marL="0" indent="0" algn="l">
              <a:buNone/>
            </a:pPr>
            <a:r>
              <a:rPr lang="en-US" sz="950" b="1" dirty="0">
                <a:solidFill>
                  <a:srgbClr val="F5A623"/>
                </a:solidFill>
                <a:latin typeface="Georgia" pitchFamily="34" charset="0"/>
                <a:ea typeface="Georgia" pitchFamily="34" charset="-122"/>
                <a:cs typeface="Georgia" pitchFamily="34" charset="-120"/>
              </a:rPr>
              <a:t>Guardrails Agent (pre-transform)</a:t>
            </a:r>
            <a:endParaRPr lang="en-US" sz="950" dirty="0"/>
          </a:p>
        </p:txBody>
      </p:sp>
      <p:sp>
        <p:nvSpPr>
          <p:cNvPr id="17" name="Text 15"/>
          <p:cNvSpPr/>
          <p:nvPr/>
        </p:nvSpPr>
        <p:spPr>
          <a:xfrm>
            <a:off x="457200" y="2139696"/>
            <a:ext cx="2468880" cy="256032"/>
          </a:xfrm>
          <a:prstGeom prst="rect">
            <a:avLst/>
          </a:prstGeom>
          <a:noFill/>
          <a:ln/>
        </p:spPr>
        <p:txBody>
          <a:bodyPr wrap="square" lIns="0" tIns="0" rIns="0" bIns="0" rtlCol="0" anchor="ctr"/>
          <a:lstStyle/>
          <a:p>
            <a:pPr marL="0" indent="0" algn="l">
              <a:buNone/>
            </a:pPr>
            <a:r>
              <a:rPr lang="en-US" sz="850" dirty="0">
                <a:solidFill>
                  <a:srgbClr val="2A3C52"/>
                </a:solidFill>
                <a:latin typeface="Calibri" pitchFamily="34" charset="0"/>
                <a:ea typeface="Calibri" pitchFamily="34" charset="-122"/>
                <a:cs typeface="Calibri" pitchFamily="34" charset="-120"/>
              </a:rPr>
              <a:t>Secret scan · Scope · PII · Complexity</a:t>
            </a:r>
            <a:endParaRPr lang="en-US" sz="850" dirty="0"/>
          </a:p>
        </p:txBody>
      </p:sp>
      <p:sp>
        <p:nvSpPr>
          <p:cNvPr id="18" name="Shape 16"/>
          <p:cNvSpPr/>
          <p:nvPr/>
        </p:nvSpPr>
        <p:spPr>
          <a:xfrm>
            <a:off x="365760" y="2542032"/>
            <a:ext cx="2651760" cy="658368"/>
          </a:xfrm>
          <a:prstGeom prst="rect">
            <a:avLst/>
          </a:prstGeom>
          <a:solidFill>
            <a:srgbClr val="E1F5EE"/>
          </a:solidFill>
          <a:ln w="9525">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19" name="Shape 17"/>
          <p:cNvSpPr/>
          <p:nvPr/>
        </p:nvSpPr>
        <p:spPr>
          <a:xfrm>
            <a:off x="365760" y="2542032"/>
            <a:ext cx="2651760" cy="50292"/>
          </a:xfrm>
          <a:prstGeom prst="rect">
            <a:avLst/>
          </a:prstGeom>
          <a:solidFill>
            <a:srgbClr val="1D9E75"/>
          </a:solidFill>
          <a:ln w="12700">
            <a:solidFill>
              <a:srgbClr val="1D9E75">
                <a:alpha val="0"/>
              </a:srgbClr>
            </a:solidFill>
            <a:prstDash val="solid"/>
          </a:ln>
        </p:spPr>
        <p:txBody>
          <a:bodyPr/>
          <a:lstStyle/>
          <a:p>
            <a:endParaRPr lang="en-US"/>
          </a:p>
        </p:txBody>
      </p:sp>
      <p:sp>
        <p:nvSpPr>
          <p:cNvPr id="20" name="Text 18"/>
          <p:cNvSpPr/>
          <p:nvPr/>
        </p:nvSpPr>
        <p:spPr>
          <a:xfrm>
            <a:off x="457200" y="2606040"/>
            <a:ext cx="2468880" cy="274320"/>
          </a:xfrm>
          <a:prstGeom prst="rect">
            <a:avLst/>
          </a:prstGeom>
          <a:noFill/>
          <a:ln/>
        </p:spPr>
        <p:txBody>
          <a:bodyPr wrap="square" lIns="0" tIns="0" rIns="0" bIns="0" rtlCol="0" anchor="ctr"/>
          <a:lstStyle/>
          <a:p>
            <a:pPr marL="0" indent="0" algn="l">
              <a:buNone/>
            </a:pPr>
            <a:r>
              <a:rPr lang="en-US" sz="950" b="1" dirty="0">
                <a:solidFill>
                  <a:srgbClr val="1D9E75"/>
                </a:solidFill>
                <a:latin typeface="Georgia" pitchFamily="34" charset="0"/>
                <a:ea typeface="Georgia" pitchFamily="34" charset="-122"/>
                <a:cs typeface="Georgia" pitchFamily="34" charset="-120"/>
              </a:rPr>
              <a:t>Leader Agent — The Conductor</a:t>
            </a:r>
            <a:endParaRPr lang="en-US" sz="950" dirty="0"/>
          </a:p>
        </p:txBody>
      </p:sp>
      <p:sp>
        <p:nvSpPr>
          <p:cNvPr id="21" name="Text 19"/>
          <p:cNvSpPr/>
          <p:nvPr/>
        </p:nvSpPr>
        <p:spPr>
          <a:xfrm>
            <a:off x="457200" y="2889504"/>
            <a:ext cx="2468880" cy="256032"/>
          </a:xfrm>
          <a:prstGeom prst="rect">
            <a:avLst/>
          </a:prstGeom>
          <a:noFill/>
          <a:ln/>
        </p:spPr>
        <p:txBody>
          <a:bodyPr wrap="square" lIns="0" tIns="0" rIns="0" bIns="0" rtlCol="0" anchor="ctr"/>
          <a:lstStyle/>
          <a:p>
            <a:pPr marL="0" indent="0" algn="l">
              <a:buNone/>
            </a:pPr>
            <a:r>
              <a:rPr lang="en-US" sz="850" dirty="0">
                <a:solidFill>
                  <a:srgbClr val="2A3C52"/>
                </a:solidFill>
                <a:latin typeface="Calibri" pitchFamily="34" charset="0"/>
                <a:ea typeface="Calibri" pitchFamily="34" charset="-122"/>
                <a:cs typeface="Calibri" pitchFamily="34" charset="-120"/>
              </a:rPr>
              <a:t>Routes · Retries · Escalates · Tracks state</a:t>
            </a:r>
            <a:endParaRPr lang="en-US" sz="850" dirty="0"/>
          </a:p>
        </p:txBody>
      </p:sp>
      <p:sp>
        <p:nvSpPr>
          <p:cNvPr id="22" name="Shape 20"/>
          <p:cNvSpPr/>
          <p:nvPr/>
        </p:nvSpPr>
        <p:spPr>
          <a:xfrm>
            <a:off x="365760" y="3291840"/>
            <a:ext cx="2651760" cy="658368"/>
          </a:xfrm>
          <a:prstGeom prst="rect">
            <a:avLst/>
          </a:prstGeom>
          <a:solidFill>
            <a:srgbClr val="FEF6E7"/>
          </a:solidFill>
          <a:ln w="9525">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23" name="Shape 21"/>
          <p:cNvSpPr/>
          <p:nvPr/>
        </p:nvSpPr>
        <p:spPr>
          <a:xfrm>
            <a:off x="365760" y="3291840"/>
            <a:ext cx="2651760" cy="50292"/>
          </a:xfrm>
          <a:prstGeom prst="rect">
            <a:avLst/>
          </a:prstGeom>
          <a:solidFill>
            <a:srgbClr val="F5A623"/>
          </a:solidFill>
          <a:ln w="12700">
            <a:solidFill>
              <a:srgbClr val="F5A623">
                <a:alpha val="0"/>
              </a:srgbClr>
            </a:solidFill>
            <a:prstDash val="solid"/>
          </a:ln>
        </p:spPr>
        <p:txBody>
          <a:bodyPr/>
          <a:lstStyle/>
          <a:p>
            <a:endParaRPr lang="en-US"/>
          </a:p>
        </p:txBody>
      </p:sp>
      <p:sp>
        <p:nvSpPr>
          <p:cNvPr id="24" name="Text 22"/>
          <p:cNvSpPr/>
          <p:nvPr/>
        </p:nvSpPr>
        <p:spPr>
          <a:xfrm>
            <a:off x="457200" y="3355848"/>
            <a:ext cx="2468880" cy="274320"/>
          </a:xfrm>
          <a:prstGeom prst="rect">
            <a:avLst/>
          </a:prstGeom>
          <a:noFill/>
          <a:ln/>
        </p:spPr>
        <p:txBody>
          <a:bodyPr wrap="square" lIns="0" tIns="0" rIns="0" bIns="0" rtlCol="0" anchor="ctr"/>
          <a:lstStyle/>
          <a:p>
            <a:pPr marL="0" indent="0" algn="l">
              <a:buNone/>
            </a:pPr>
            <a:r>
              <a:rPr lang="en-US" sz="950" b="1" dirty="0">
                <a:solidFill>
                  <a:srgbClr val="F5A623"/>
                </a:solidFill>
                <a:latin typeface="Georgia" pitchFamily="34" charset="0"/>
                <a:ea typeface="Georgia" pitchFamily="34" charset="-122"/>
                <a:cs typeface="Georgia" pitchFamily="34" charset="-120"/>
              </a:rPr>
              <a:t>Guardrails Agent (post-review)</a:t>
            </a:r>
            <a:endParaRPr lang="en-US" sz="950" dirty="0"/>
          </a:p>
        </p:txBody>
      </p:sp>
      <p:sp>
        <p:nvSpPr>
          <p:cNvPr id="25" name="Text 23"/>
          <p:cNvSpPr/>
          <p:nvPr/>
        </p:nvSpPr>
        <p:spPr>
          <a:xfrm>
            <a:off x="457200" y="3639312"/>
            <a:ext cx="2468880" cy="256032"/>
          </a:xfrm>
          <a:prstGeom prst="rect">
            <a:avLst/>
          </a:prstGeom>
          <a:noFill/>
          <a:ln/>
        </p:spPr>
        <p:txBody>
          <a:bodyPr wrap="square" lIns="0" tIns="0" rIns="0" bIns="0" rtlCol="0" anchor="ctr"/>
          <a:lstStyle/>
          <a:p>
            <a:pPr marL="0" indent="0" algn="l">
              <a:buNone/>
            </a:pPr>
            <a:r>
              <a:rPr lang="en-US" sz="850" dirty="0">
                <a:solidFill>
                  <a:srgbClr val="2A3C52"/>
                </a:solidFill>
                <a:latin typeface="Calibri" pitchFamily="34" charset="0"/>
                <a:ea typeface="Calibri" pitchFamily="34" charset="-122"/>
                <a:cs typeface="Calibri" pitchFamily="34" charset="-120"/>
              </a:rPr>
              <a:t>Naming · Security · License · No-regression</a:t>
            </a:r>
            <a:endParaRPr lang="en-US" sz="850" dirty="0"/>
          </a:p>
        </p:txBody>
      </p:sp>
      <p:sp>
        <p:nvSpPr>
          <p:cNvPr id="26" name="Text 24"/>
          <p:cNvSpPr/>
          <p:nvPr/>
        </p:nvSpPr>
        <p:spPr>
          <a:xfrm>
            <a:off x="365760" y="4069080"/>
            <a:ext cx="2651760" cy="219456"/>
          </a:xfrm>
          <a:prstGeom prst="rect">
            <a:avLst/>
          </a:prstGeom>
          <a:noFill/>
          <a:ln/>
        </p:spPr>
        <p:txBody>
          <a:bodyPr wrap="square" lIns="0" tIns="0" rIns="0" bIns="0" rtlCol="0" anchor="ctr"/>
          <a:lstStyle/>
          <a:p>
            <a:pPr marL="0" indent="0" algn="ctr">
              <a:buNone/>
            </a:pPr>
            <a:r>
              <a:rPr lang="en-US" sz="850" b="1" dirty="0">
                <a:solidFill>
                  <a:srgbClr val="633806"/>
                </a:solidFill>
                <a:latin typeface="Calibri" pitchFamily="34" charset="0"/>
                <a:ea typeface="Calibri" pitchFamily="34" charset="-122"/>
                <a:cs typeface="Calibri" pitchFamily="34" charset="-120"/>
              </a:rPr>
              <a:t>Model: Claude Sonnet 4.5</a:t>
            </a:r>
            <a:endParaRPr lang="en-US" sz="850" dirty="0"/>
          </a:p>
        </p:txBody>
      </p:sp>
      <p:sp>
        <p:nvSpPr>
          <p:cNvPr id="27" name="Text 25"/>
          <p:cNvSpPr/>
          <p:nvPr/>
        </p:nvSpPr>
        <p:spPr>
          <a:xfrm>
            <a:off x="365760" y="4315968"/>
            <a:ext cx="2651760" cy="219456"/>
          </a:xfrm>
          <a:prstGeom prst="rect">
            <a:avLst/>
          </a:prstGeom>
          <a:noFill/>
          <a:ln/>
        </p:spPr>
        <p:txBody>
          <a:bodyPr wrap="square" lIns="0" tIns="0" rIns="0" bIns="0" rtlCol="0" anchor="ctr"/>
          <a:lstStyle/>
          <a:p>
            <a:pPr marL="0" indent="0" algn="ctr">
              <a:buNone/>
            </a:pPr>
            <a:r>
              <a:rPr lang="en-US" sz="850" b="1" dirty="0">
                <a:solidFill>
                  <a:srgbClr val="085041"/>
                </a:solidFill>
                <a:latin typeface="Calibri" pitchFamily="34" charset="0"/>
                <a:ea typeface="Calibri" pitchFamily="34" charset="-122"/>
                <a:cs typeface="Calibri" pitchFamily="34" charset="-120"/>
              </a:rPr>
              <a:t>Model: Claude Sonnet 4.5</a:t>
            </a:r>
            <a:endParaRPr lang="en-US" sz="850" dirty="0"/>
          </a:p>
        </p:txBody>
      </p:sp>
      <p:sp>
        <p:nvSpPr>
          <p:cNvPr id="28" name="Shape 26"/>
          <p:cNvSpPr/>
          <p:nvPr/>
        </p:nvSpPr>
        <p:spPr>
          <a:xfrm>
            <a:off x="3200400" y="1792224"/>
            <a:ext cx="4389120" cy="512064"/>
          </a:xfrm>
          <a:prstGeom prst="rect">
            <a:avLst/>
          </a:prstGeom>
          <a:solidFill>
            <a:srgbClr val="E6F1FB"/>
          </a:solidFill>
          <a:ln w="762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29" name="Text 27"/>
          <p:cNvSpPr/>
          <p:nvPr/>
        </p:nvSpPr>
        <p:spPr>
          <a:xfrm>
            <a:off x="3310128" y="1792224"/>
            <a:ext cx="1828800" cy="512064"/>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Discovery</a:t>
            </a:r>
            <a:endParaRPr lang="en-US" sz="1000" dirty="0"/>
          </a:p>
        </p:txBody>
      </p:sp>
      <p:sp>
        <p:nvSpPr>
          <p:cNvPr id="30" name="Text 28"/>
          <p:cNvSpPr/>
          <p:nvPr/>
        </p:nvSpPr>
        <p:spPr>
          <a:xfrm>
            <a:off x="5166360" y="1792224"/>
            <a:ext cx="2286000" cy="512064"/>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Scans + classifies the codebase</a:t>
            </a:r>
            <a:endParaRPr lang="en-US" sz="900" dirty="0"/>
          </a:p>
        </p:txBody>
      </p:sp>
      <p:sp>
        <p:nvSpPr>
          <p:cNvPr id="31" name="Shape 29"/>
          <p:cNvSpPr/>
          <p:nvPr/>
        </p:nvSpPr>
        <p:spPr>
          <a:xfrm>
            <a:off x="3200400" y="2395728"/>
            <a:ext cx="4389120" cy="512064"/>
          </a:xfrm>
          <a:prstGeom prst="rect">
            <a:avLst/>
          </a:prstGeom>
          <a:solidFill>
            <a:srgbClr val="E6F1FB"/>
          </a:solidFill>
          <a:ln w="762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32" name="Text 30"/>
          <p:cNvSpPr/>
          <p:nvPr/>
        </p:nvSpPr>
        <p:spPr>
          <a:xfrm>
            <a:off x="3310128" y="2395728"/>
            <a:ext cx="1828800" cy="512064"/>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Risk Scorer</a:t>
            </a:r>
            <a:endParaRPr lang="en-US" sz="1000" dirty="0"/>
          </a:p>
        </p:txBody>
      </p:sp>
      <p:sp>
        <p:nvSpPr>
          <p:cNvPr id="33" name="Text 31"/>
          <p:cNvSpPr/>
          <p:nvPr/>
        </p:nvSpPr>
        <p:spPr>
          <a:xfrm>
            <a:off x="5166360" y="2395728"/>
            <a:ext cx="2286000" cy="512064"/>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Orders migration by complexity</a:t>
            </a:r>
            <a:endParaRPr lang="en-US" sz="900" dirty="0"/>
          </a:p>
        </p:txBody>
      </p:sp>
      <p:sp>
        <p:nvSpPr>
          <p:cNvPr id="34" name="Shape 32"/>
          <p:cNvSpPr/>
          <p:nvPr/>
        </p:nvSpPr>
        <p:spPr>
          <a:xfrm>
            <a:off x="3200400" y="2999232"/>
            <a:ext cx="4389120" cy="512064"/>
          </a:xfrm>
          <a:prstGeom prst="rect">
            <a:avLst/>
          </a:prstGeom>
          <a:solidFill>
            <a:srgbClr val="D6E8F8"/>
          </a:solidFill>
          <a:ln w="7620">
            <a:solidFill>
              <a:srgbClr val="0C447C"/>
            </a:solidFill>
            <a:prstDash val="solid"/>
          </a:ln>
          <a:effectLst>
            <a:outerShdw blurRad="101600" dist="1016" dir="8100000" algn="bl" rotWithShape="0">
              <a:srgbClr val="000000">
                <a:alpha val="9000"/>
              </a:srgbClr>
            </a:outerShdw>
          </a:effectLst>
        </p:spPr>
        <p:txBody>
          <a:bodyPr/>
          <a:lstStyle/>
          <a:p>
            <a:endParaRPr lang="en-US"/>
          </a:p>
        </p:txBody>
      </p:sp>
      <p:sp>
        <p:nvSpPr>
          <p:cNvPr id="35" name="Text 33"/>
          <p:cNvSpPr/>
          <p:nvPr/>
        </p:nvSpPr>
        <p:spPr>
          <a:xfrm>
            <a:off x="3310128" y="2999232"/>
            <a:ext cx="1828800" cy="512064"/>
          </a:xfrm>
          <a:prstGeom prst="rect">
            <a:avLst/>
          </a:prstGeom>
          <a:noFill/>
          <a:ln/>
        </p:spPr>
        <p:txBody>
          <a:bodyPr wrap="square" lIns="0" tIns="0" rIns="0" bIns="0" rtlCol="0" anchor="ctr"/>
          <a:lstStyle/>
          <a:p>
            <a:pPr marL="0" indent="0" algn="l">
              <a:buNone/>
            </a:pPr>
            <a:r>
              <a:rPr lang="en-US" sz="1000" b="1" dirty="0">
                <a:solidFill>
                  <a:srgbClr val="0C447C"/>
                </a:solidFill>
                <a:latin typeface="Georgia" pitchFamily="34" charset="0"/>
                <a:ea typeface="Georgia" pitchFamily="34" charset="-122"/>
                <a:cs typeface="Georgia" pitchFamily="34" charset="-120"/>
              </a:rPr>
              <a:t>Java X→Y</a:t>
            </a:r>
            <a:endParaRPr lang="en-US" sz="1000" dirty="0"/>
          </a:p>
        </p:txBody>
      </p:sp>
      <p:sp>
        <p:nvSpPr>
          <p:cNvPr id="36" name="Text 34"/>
          <p:cNvSpPr/>
          <p:nvPr/>
        </p:nvSpPr>
        <p:spPr>
          <a:xfrm>
            <a:off x="5166360" y="2999232"/>
            <a:ext cx="2286000" cy="512064"/>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Upgrades Java to target version</a:t>
            </a:r>
            <a:endParaRPr lang="en-US" sz="900" dirty="0"/>
          </a:p>
        </p:txBody>
      </p:sp>
      <p:sp>
        <p:nvSpPr>
          <p:cNvPr id="37" name="Shape 35"/>
          <p:cNvSpPr/>
          <p:nvPr/>
        </p:nvSpPr>
        <p:spPr>
          <a:xfrm>
            <a:off x="3200400" y="3602736"/>
            <a:ext cx="4389120" cy="512064"/>
          </a:xfrm>
          <a:prstGeom prst="rect">
            <a:avLst/>
          </a:prstGeom>
          <a:solidFill>
            <a:srgbClr val="D6E8F8"/>
          </a:solidFill>
          <a:ln w="7620">
            <a:solidFill>
              <a:srgbClr val="0C447C"/>
            </a:solidFill>
            <a:prstDash val="solid"/>
          </a:ln>
          <a:effectLst>
            <a:outerShdw blurRad="101600" dist="1016" dir="8100000" algn="bl" rotWithShape="0">
              <a:srgbClr val="000000">
                <a:alpha val="9000"/>
              </a:srgbClr>
            </a:outerShdw>
          </a:effectLst>
        </p:spPr>
        <p:txBody>
          <a:bodyPr/>
          <a:lstStyle/>
          <a:p>
            <a:endParaRPr lang="en-US"/>
          </a:p>
        </p:txBody>
      </p:sp>
      <p:sp>
        <p:nvSpPr>
          <p:cNvPr id="38" name="Text 36"/>
          <p:cNvSpPr/>
          <p:nvPr/>
        </p:nvSpPr>
        <p:spPr>
          <a:xfrm>
            <a:off x="3310128" y="3602736"/>
            <a:ext cx="1828800" cy="512064"/>
          </a:xfrm>
          <a:prstGeom prst="rect">
            <a:avLst/>
          </a:prstGeom>
          <a:noFill/>
          <a:ln/>
        </p:spPr>
        <p:txBody>
          <a:bodyPr wrap="square" lIns="0" tIns="0" rIns="0" bIns="0" rtlCol="0" anchor="ctr"/>
          <a:lstStyle/>
          <a:p>
            <a:pPr marL="0" indent="0" algn="l">
              <a:buNone/>
            </a:pPr>
            <a:r>
              <a:rPr lang="en-US" sz="1000" b="1" dirty="0">
                <a:solidFill>
                  <a:srgbClr val="0C447C"/>
                </a:solidFill>
                <a:latin typeface="Georgia" pitchFamily="34" charset="0"/>
                <a:ea typeface="Georgia" pitchFamily="34" charset="-122"/>
                <a:cs typeface="Georgia" pitchFamily="34" charset="-120"/>
              </a:rPr>
              <a:t>Spring X→Y</a:t>
            </a:r>
            <a:endParaRPr lang="en-US" sz="1000" dirty="0"/>
          </a:p>
        </p:txBody>
      </p:sp>
      <p:sp>
        <p:nvSpPr>
          <p:cNvPr id="39" name="Text 37"/>
          <p:cNvSpPr/>
          <p:nvPr/>
        </p:nvSpPr>
        <p:spPr>
          <a:xfrm>
            <a:off x="5166360" y="3602736"/>
            <a:ext cx="2286000" cy="512064"/>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Upgrades Spring to target version</a:t>
            </a:r>
            <a:endParaRPr lang="en-US" sz="900" dirty="0"/>
          </a:p>
        </p:txBody>
      </p:sp>
      <p:sp>
        <p:nvSpPr>
          <p:cNvPr id="40" name="Shape 38"/>
          <p:cNvSpPr/>
          <p:nvPr/>
        </p:nvSpPr>
        <p:spPr>
          <a:xfrm>
            <a:off x="3200400" y="4206240"/>
            <a:ext cx="4389120" cy="512064"/>
          </a:xfrm>
          <a:prstGeom prst="rect">
            <a:avLst/>
          </a:prstGeom>
          <a:solidFill>
            <a:srgbClr val="D6E8F8"/>
          </a:solidFill>
          <a:ln w="7620">
            <a:solidFill>
              <a:srgbClr val="0C447C"/>
            </a:solidFill>
            <a:prstDash val="solid"/>
          </a:ln>
          <a:effectLst>
            <a:outerShdw blurRad="101600" dist="1016" dir="8100000" algn="bl" rotWithShape="0">
              <a:srgbClr val="000000">
                <a:alpha val="9000"/>
              </a:srgbClr>
            </a:outerShdw>
          </a:effectLst>
        </p:spPr>
        <p:txBody>
          <a:bodyPr/>
          <a:lstStyle/>
          <a:p>
            <a:endParaRPr lang="en-US"/>
          </a:p>
        </p:txBody>
      </p:sp>
      <p:sp>
        <p:nvSpPr>
          <p:cNvPr id="41" name="Text 39"/>
          <p:cNvSpPr/>
          <p:nvPr/>
        </p:nvSpPr>
        <p:spPr>
          <a:xfrm>
            <a:off x="3310128" y="4206240"/>
            <a:ext cx="1828800" cy="512064"/>
          </a:xfrm>
          <a:prstGeom prst="rect">
            <a:avLst/>
          </a:prstGeom>
          <a:noFill/>
          <a:ln/>
        </p:spPr>
        <p:txBody>
          <a:bodyPr wrap="square" lIns="0" tIns="0" rIns="0" bIns="0" rtlCol="0" anchor="ctr"/>
          <a:lstStyle/>
          <a:p>
            <a:pPr marL="0" indent="0" algn="l">
              <a:buNone/>
            </a:pPr>
            <a:r>
              <a:rPr lang="en-US" sz="1000" b="1" dirty="0">
                <a:solidFill>
                  <a:srgbClr val="0C447C"/>
                </a:solidFill>
                <a:latin typeface="Georgia" pitchFamily="34" charset="0"/>
                <a:ea typeface="Georgia" pitchFamily="34" charset="-122"/>
                <a:cs typeface="Georgia" pitchFamily="34" charset="-120"/>
              </a:rPr>
              <a:t>Struts2 → MVC</a:t>
            </a:r>
            <a:endParaRPr lang="en-US" sz="1000" dirty="0"/>
          </a:p>
        </p:txBody>
      </p:sp>
      <p:sp>
        <p:nvSpPr>
          <p:cNvPr id="42" name="Text 40"/>
          <p:cNvSpPr/>
          <p:nvPr/>
        </p:nvSpPr>
        <p:spPr>
          <a:xfrm>
            <a:off x="5166360" y="4206240"/>
            <a:ext cx="2286000" cy="512064"/>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Eliminates Struts 2.x + OGNL</a:t>
            </a:r>
            <a:endParaRPr lang="en-US" sz="900" dirty="0"/>
          </a:p>
        </p:txBody>
      </p:sp>
      <p:sp>
        <p:nvSpPr>
          <p:cNvPr id="43" name="Shape 41"/>
          <p:cNvSpPr/>
          <p:nvPr/>
        </p:nvSpPr>
        <p:spPr>
          <a:xfrm>
            <a:off x="3200400" y="4809744"/>
            <a:ext cx="4389120" cy="512064"/>
          </a:xfrm>
          <a:prstGeom prst="rect">
            <a:avLst/>
          </a:prstGeom>
          <a:solidFill>
            <a:srgbClr val="E6F1FB"/>
          </a:solidFill>
          <a:ln w="762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44" name="Text 42"/>
          <p:cNvSpPr/>
          <p:nvPr/>
        </p:nvSpPr>
        <p:spPr>
          <a:xfrm>
            <a:off x="3310128" y="4809744"/>
            <a:ext cx="1828800" cy="512064"/>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Containerize</a:t>
            </a:r>
            <a:endParaRPr lang="en-US" sz="1000" dirty="0"/>
          </a:p>
        </p:txBody>
      </p:sp>
      <p:sp>
        <p:nvSpPr>
          <p:cNvPr id="45" name="Text 43"/>
          <p:cNvSpPr/>
          <p:nvPr/>
        </p:nvSpPr>
        <p:spPr>
          <a:xfrm>
            <a:off x="5166360" y="4809744"/>
            <a:ext cx="2286000" cy="512064"/>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Packages for cloud deployment</a:t>
            </a:r>
            <a:endParaRPr lang="en-US" sz="900" dirty="0"/>
          </a:p>
        </p:txBody>
      </p:sp>
      <p:sp>
        <p:nvSpPr>
          <p:cNvPr id="46" name="Shape 44"/>
          <p:cNvSpPr/>
          <p:nvPr/>
        </p:nvSpPr>
        <p:spPr>
          <a:xfrm>
            <a:off x="3200400" y="5413248"/>
            <a:ext cx="4389120" cy="512064"/>
          </a:xfrm>
          <a:prstGeom prst="rect">
            <a:avLst/>
          </a:prstGeom>
          <a:solidFill>
            <a:srgbClr val="E6F1FB"/>
          </a:solidFill>
          <a:ln w="762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47" name="Text 45"/>
          <p:cNvSpPr/>
          <p:nvPr/>
        </p:nvSpPr>
        <p:spPr>
          <a:xfrm>
            <a:off x="3310128" y="5413248"/>
            <a:ext cx="1828800" cy="512064"/>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Test Gen</a:t>
            </a:r>
            <a:endParaRPr lang="en-US" sz="1000" dirty="0"/>
          </a:p>
        </p:txBody>
      </p:sp>
      <p:sp>
        <p:nvSpPr>
          <p:cNvPr id="48" name="Text 46"/>
          <p:cNvSpPr/>
          <p:nvPr/>
        </p:nvSpPr>
        <p:spPr>
          <a:xfrm>
            <a:off x="5166360" y="5413248"/>
            <a:ext cx="2286000" cy="512064"/>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Writes automated tests</a:t>
            </a:r>
            <a:endParaRPr lang="en-US" sz="900" dirty="0"/>
          </a:p>
        </p:txBody>
      </p:sp>
      <p:sp>
        <p:nvSpPr>
          <p:cNvPr id="49" name="Text 47"/>
          <p:cNvSpPr/>
          <p:nvPr/>
        </p:nvSpPr>
        <p:spPr>
          <a:xfrm>
            <a:off x="3200400" y="6217920"/>
            <a:ext cx="4389120" cy="219456"/>
          </a:xfrm>
          <a:prstGeom prst="rect">
            <a:avLst/>
          </a:prstGeom>
          <a:noFill/>
          <a:ln/>
        </p:spPr>
        <p:txBody>
          <a:bodyPr wrap="square" lIns="0" tIns="0" rIns="0" bIns="0" rtlCol="0" anchor="ctr"/>
          <a:lstStyle/>
          <a:p>
            <a:pPr marL="0" indent="0" algn="ctr">
              <a:buNone/>
            </a:pPr>
            <a:r>
              <a:rPr lang="en-US" sz="850" b="1" dirty="0">
                <a:solidFill>
                  <a:srgbClr val="042C53"/>
                </a:solidFill>
                <a:latin typeface="Calibri" pitchFamily="34" charset="0"/>
                <a:ea typeface="Calibri" pitchFamily="34" charset="-122"/>
                <a:cs typeface="Calibri" pitchFamily="34" charset="-120"/>
              </a:rPr>
              <a:t>Model: Claude Sonnet 4.5 + RAG Knowledge Base</a:t>
            </a:r>
            <a:endParaRPr lang="en-US" sz="850" dirty="0"/>
          </a:p>
        </p:txBody>
      </p:sp>
      <p:sp>
        <p:nvSpPr>
          <p:cNvPr id="50" name="Shape 48"/>
          <p:cNvSpPr/>
          <p:nvPr/>
        </p:nvSpPr>
        <p:spPr>
          <a:xfrm>
            <a:off x="7772400" y="1792224"/>
            <a:ext cx="2286000" cy="566928"/>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51" name="Shape 49"/>
          <p:cNvSpPr/>
          <p:nvPr/>
        </p:nvSpPr>
        <p:spPr>
          <a:xfrm>
            <a:off x="7772400" y="1792224"/>
            <a:ext cx="2286000" cy="50292"/>
          </a:xfrm>
          <a:prstGeom prst="rect">
            <a:avLst/>
          </a:prstGeom>
          <a:solidFill>
            <a:srgbClr val="534AB7"/>
          </a:solidFill>
          <a:ln w="12700">
            <a:solidFill>
              <a:srgbClr val="534AB7">
                <a:alpha val="0"/>
              </a:srgbClr>
            </a:solidFill>
            <a:prstDash val="solid"/>
          </a:ln>
        </p:spPr>
        <p:txBody>
          <a:bodyPr/>
          <a:lstStyle/>
          <a:p>
            <a:endParaRPr lang="en-US"/>
          </a:p>
        </p:txBody>
      </p:sp>
      <p:sp>
        <p:nvSpPr>
          <p:cNvPr id="52" name="Text 50"/>
          <p:cNvSpPr/>
          <p:nvPr/>
        </p:nvSpPr>
        <p:spPr>
          <a:xfrm>
            <a:off x="7863840" y="1856232"/>
            <a:ext cx="2103120" cy="237744"/>
          </a:xfrm>
          <a:prstGeom prst="rect">
            <a:avLst/>
          </a:prstGeom>
          <a:noFill/>
          <a:ln/>
        </p:spPr>
        <p:txBody>
          <a:bodyPr wrap="square" lIns="0" tIns="0" rIns="0" bIns="0" rtlCol="0" anchor="ctr"/>
          <a:lstStyle/>
          <a:p>
            <a:pPr marL="0" indent="0" algn="l">
              <a:buNone/>
            </a:pPr>
            <a:r>
              <a:rPr lang="en-US" sz="1000" b="1" dirty="0">
                <a:solidFill>
                  <a:srgbClr val="534AB7"/>
                </a:solidFill>
                <a:latin typeface="Georgia" pitchFamily="34" charset="0"/>
                <a:ea typeface="Georgia" pitchFamily="34" charset="-122"/>
                <a:cs typeface="Georgia" pitchFamily="34" charset="-120"/>
              </a:rPr>
              <a:t>Java Review</a:t>
            </a:r>
            <a:endParaRPr lang="en-US" sz="1000" dirty="0"/>
          </a:p>
        </p:txBody>
      </p:sp>
      <p:sp>
        <p:nvSpPr>
          <p:cNvPr id="53" name="Text 51"/>
          <p:cNvSpPr/>
          <p:nvPr/>
        </p:nvSpPr>
        <p:spPr>
          <a:xfrm>
            <a:off x="7863840" y="2103120"/>
            <a:ext cx="2103120" cy="219456"/>
          </a:xfrm>
          <a:prstGeom prst="rect">
            <a:avLst/>
          </a:prstGeom>
          <a:noFill/>
          <a:ln/>
        </p:spPr>
        <p:txBody>
          <a:bodyPr wrap="square" lIns="0" tIns="0" rIns="0" bIns="0" rtlCol="0" anchor="ctr"/>
          <a:lstStyle/>
          <a:p>
            <a:pPr marL="0" indent="0" algn="l">
              <a:buNone/>
            </a:pPr>
            <a:r>
              <a:rPr lang="en-US" sz="850" dirty="0">
                <a:solidFill>
                  <a:srgbClr val="26215C"/>
                </a:solidFill>
                <a:latin typeface="Calibri" pitchFamily="34" charset="0"/>
                <a:ea typeface="Calibri" pitchFamily="34" charset="-122"/>
                <a:cs typeface="Calibri" pitchFamily="34" charset="-120"/>
              </a:rPr>
              <a:t>Checks Java upgrade correctness</a:t>
            </a:r>
            <a:endParaRPr lang="en-US" sz="850" dirty="0"/>
          </a:p>
        </p:txBody>
      </p:sp>
      <p:sp>
        <p:nvSpPr>
          <p:cNvPr id="54" name="Shape 52"/>
          <p:cNvSpPr/>
          <p:nvPr/>
        </p:nvSpPr>
        <p:spPr>
          <a:xfrm>
            <a:off x="7772400" y="2450592"/>
            <a:ext cx="2286000" cy="566928"/>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55" name="Shape 53"/>
          <p:cNvSpPr/>
          <p:nvPr/>
        </p:nvSpPr>
        <p:spPr>
          <a:xfrm>
            <a:off x="7772400" y="2450592"/>
            <a:ext cx="2286000" cy="50292"/>
          </a:xfrm>
          <a:prstGeom prst="rect">
            <a:avLst/>
          </a:prstGeom>
          <a:solidFill>
            <a:srgbClr val="534AB7"/>
          </a:solidFill>
          <a:ln w="12700">
            <a:solidFill>
              <a:srgbClr val="534AB7">
                <a:alpha val="0"/>
              </a:srgbClr>
            </a:solidFill>
            <a:prstDash val="solid"/>
          </a:ln>
        </p:spPr>
        <p:txBody>
          <a:bodyPr/>
          <a:lstStyle/>
          <a:p>
            <a:endParaRPr lang="en-US"/>
          </a:p>
        </p:txBody>
      </p:sp>
      <p:sp>
        <p:nvSpPr>
          <p:cNvPr id="56" name="Text 54"/>
          <p:cNvSpPr/>
          <p:nvPr/>
        </p:nvSpPr>
        <p:spPr>
          <a:xfrm>
            <a:off x="7863840" y="2514600"/>
            <a:ext cx="2103120" cy="237744"/>
          </a:xfrm>
          <a:prstGeom prst="rect">
            <a:avLst/>
          </a:prstGeom>
          <a:noFill/>
          <a:ln/>
        </p:spPr>
        <p:txBody>
          <a:bodyPr wrap="square" lIns="0" tIns="0" rIns="0" bIns="0" rtlCol="0" anchor="ctr"/>
          <a:lstStyle/>
          <a:p>
            <a:pPr marL="0" indent="0" algn="l">
              <a:buNone/>
            </a:pPr>
            <a:r>
              <a:rPr lang="en-US" sz="1000" b="1" dirty="0">
                <a:solidFill>
                  <a:srgbClr val="534AB7"/>
                </a:solidFill>
                <a:latin typeface="Georgia" pitchFamily="34" charset="0"/>
                <a:ea typeface="Georgia" pitchFamily="34" charset="-122"/>
                <a:cs typeface="Georgia" pitchFamily="34" charset="-120"/>
              </a:rPr>
              <a:t>Spring Review</a:t>
            </a:r>
            <a:endParaRPr lang="en-US" sz="1000" dirty="0"/>
          </a:p>
        </p:txBody>
      </p:sp>
      <p:sp>
        <p:nvSpPr>
          <p:cNvPr id="57" name="Text 55"/>
          <p:cNvSpPr/>
          <p:nvPr/>
        </p:nvSpPr>
        <p:spPr>
          <a:xfrm>
            <a:off x="7863840" y="2761488"/>
            <a:ext cx="2103120" cy="219456"/>
          </a:xfrm>
          <a:prstGeom prst="rect">
            <a:avLst/>
          </a:prstGeom>
          <a:noFill/>
          <a:ln/>
        </p:spPr>
        <p:txBody>
          <a:bodyPr wrap="square" lIns="0" tIns="0" rIns="0" bIns="0" rtlCol="0" anchor="ctr"/>
          <a:lstStyle/>
          <a:p>
            <a:pPr marL="0" indent="0" algn="l">
              <a:buNone/>
            </a:pPr>
            <a:r>
              <a:rPr lang="en-US" sz="850" dirty="0">
                <a:solidFill>
                  <a:srgbClr val="26215C"/>
                </a:solidFill>
                <a:latin typeface="Calibri" pitchFamily="34" charset="0"/>
                <a:ea typeface="Calibri" pitchFamily="34" charset="-122"/>
                <a:cs typeface="Calibri" pitchFamily="34" charset="-120"/>
              </a:rPr>
              <a:t>Checks Spring upgrade correctness</a:t>
            </a:r>
            <a:endParaRPr lang="en-US" sz="850" dirty="0"/>
          </a:p>
        </p:txBody>
      </p:sp>
      <p:sp>
        <p:nvSpPr>
          <p:cNvPr id="58" name="Shape 56"/>
          <p:cNvSpPr/>
          <p:nvPr/>
        </p:nvSpPr>
        <p:spPr>
          <a:xfrm>
            <a:off x="7772400" y="3108960"/>
            <a:ext cx="2286000" cy="566928"/>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59" name="Shape 57"/>
          <p:cNvSpPr/>
          <p:nvPr/>
        </p:nvSpPr>
        <p:spPr>
          <a:xfrm>
            <a:off x="7772400" y="3108960"/>
            <a:ext cx="2286000" cy="50292"/>
          </a:xfrm>
          <a:prstGeom prst="rect">
            <a:avLst/>
          </a:prstGeom>
          <a:solidFill>
            <a:srgbClr val="534AB7"/>
          </a:solidFill>
          <a:ln w="12700">
            <a:solidFill>
              <a:srgbClr val="534AB7">
                <a:alpha val="0"/>
              </a:srgbClr>
            </a:solidFill>
            <a:prstDash val="solid"/>
          </a:ln>
        </p:spPr>
        <p:txBody>
          <a:bodyPr/>
          <a:lstStyle/>
          <a:p>
            <a:endParaRPr lang="en-US"/>
          </a:p>
        </p:txBody>
      </p:sp>
      <p:sp>
        <p:nvSpPr>
          <p:cNvPr id="60" name="Text 58"/>
          <p:cNvSpPr/>
          <p:nvPr/>
        </p:nvSpPr>
        <p:spPr>
          <a:xfrm>
            <a:off x="7863840" y="3172968"/>
            <a:ext cx="2103120" cy="237744"/>
          </a:xfrm>
          <a:prstGeom prst="rect">
            <a:avLst/>
          </a:prstGeom>
          <a:noFill/>
          <a:ln/>
        </p:spPr>
        <p:txBody>
          <a:bodyPr wrap="square" lIns="0" tIns="0" rIns="0" bIns="0" rtlCol="0" anchor="ctr"/>
          <a:lstStyle/>
          <a:p>
            <a:pPr marL="0" indent="0" algn="l">
              <a:buNone/>
            </a:pPr>
            <a:r>
              <a:rPr lang="en-US" sz="1000" b="1" dirty="0">
                <a:solidFill>
                  <a:srgbClr val="534AB7"/>
                </a:solidFill>
                <a:latin typeface="Georgia" pitchFamily="34" charset="0"/>
                <a:ea typeface="Georgia" pitchFamily="34" charset="-122"/>
                <a:cs typeface="Georgia" pitchFamily="34" charset="-120"/>
              </a:rPr>
              <a:t>Struts Review</a:t>
            </a:r>
            <a:endParaRPr lang="en-US" sz="1000" dirty="0"/>
          </a:p>
        </p:txBody>
      </p:sp>
      <p:sp>
        <p:nvSpPr>
          <p:cNvPr id="61" name="Text 59"/>
          <p:cNvSpPr/>
          <p:nvPr/>
        </p:nvSpPr>
        <p:spPr>
          <a:xfrm>
            <a:off x="7863840" y="3419856"/>
            <a:ext cx="2103120" cy="219456"/>
          </a:xfrm>
          <a:prstGeom prst="rect">
            <a:avLst/>
          </a:prstGeom>
          <a:noFill/>
          <a:ln/>
        </p:spPr>
        <p:txBody>
          <a:bodyPr wrap="square" lIns="0" tIns="0" rIns="0" bIns="0" rtlCol="0" anchor="ctr"/>
          <a:lstStyle/>
          <a:p>
            <a:pPr marL="0" indent="0" algn="l">
              <a:buNone/>
            </a:pPr>
            <a:r>
              <a:rPr lang="en-US" sz="850" dirty="0">
                <a:solidFill>
                  <a:srgbClr val="26215C"/>
                </a:solidFill>
                <a:latin typeface="Calibri" pitchFamily="34" charset="0"/>
                <a:ea typeface="Calibri" pitchFamily="34" charset="-122"/>
                <a:cs typeface="Calibri" pitchFamily="34" charset="-120"/>
              </a:rPr>
              <a:t>Confirms Struts fully eliminated</a:t>
            </a:r>
            <a:endParaRPr lang="en-US" sz="850" dirty="0"/>
          </a:p>
        </p:txBody>
      </p:sp>
      <p:sp>
        <p:nvSpPr>
          <p:cNvPr id="62" name="Shape 60"/>
          <p:cNvSpPr/>
          <p:nvPr/>
        </p:nvSpPr>
        <p:spPr>
          <a:xfrm>
            <a:off x="7772400" y="3767328"/>
            <a:ext cx="2286000" cy="566928"/>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63" name="Shape 61"/>
          <p:cNvSpPr/>
          <p:nvPr/>
        </p:nvSpPr>
        <p:spPr>
          <a:xfrm>
            <a:off x="7772400" y="3767328"/>
            <a:ext cx="2286000" cy="50292"/>
          </a:xfrm>
          <a:prstGeom prst="rect">
            <a:avLst/>
          </a:prstGeom>
          <a:solidFill>
            <a:srgbClr val="534AB7"/>
          </a:solidFill>
          <a:ln w="12700">
            <a:solidFill>
              <a:srgbClr val="534AB7">
                <a:alpha val="0"/>
              </a:srgbClr>
            </a:solidFill>
            <a:prstDash val="solid"/>
          </a:ln>
        </p:spPr>
        <p:txBody>
          <a:bodyPr/>
          <a:lstStyle/>
          <a:p>
            <a:endParaRPr lang="en-US"/>
          </a:p>
        </p:txBody>
      </p:sp>
      <p:sp>
        <p:nvSpPr>
          <p:cNvPr id="64" name="Text 62"/>
          <p:cNvSpPr/>
          <p:nvPr/>
        </p:nvSpPr>
        <p:spPr>
          <a:xfrm>
            <a:off x="7863840" y="3831336"/>
            <a:ext cx="2103120" cy="237744"/>
          </a:xfrm>
          <a:prstGeom prst="rect">
            <a:avLst/>
          </a:prstGeom>
          <a:noFill/>
          <a:ln/>
        </p:spPr>
        <p:txBody>
          <a:bodyPr wrap="square" lIns="0" tIns="0" rIns="0" bIns="0" rtlCol="0" anchor="ctr"/>
          <a:lstStyle/>
          <a:p>
            <a:pPr marL="0" indent="0" algn="l">
              <a:buNone/>
            </a:pPr>
            <a:r>
              <a:rPr lang="en-US" sz="1000" b="1" dirty="0">
                <a:solidFill>
                  <a:srgbClr val="534AB7"/>
                </a:solidFill>
                <a:latin typeface="Georgia" pitchFamily="34" charset="0"/>
                <a:ea typeface="Georgia" pitchFamily="34" charset="-122"/>
                <a:cs typeface="Georgia" pitchFamily="34" charset="-120"/>
              </a:rPr>
              <a:t>Container Review</a:t>
            </a:r>
            <a:endParaRPr lang="en-US" sz="1000" dirty="0"/>
          </a:p>
        </p:txBody>
      </p:sp>
      <p:sp>
        <p:nvSpPr>
          <p:cNvPr id="65" name="Text 63"/>
          <p:cNvSpPr/>
          <p:nvPr/>
        </p:nvSpPr>
        <p:spPr>
          <a:xfrm>
            <a:off x="7863840" y="4078224"/>
            <a:ext cx="2103120" cy="219456"/>
          </a:xfrm>
          <a:prstGeom prst="rect">
            <a:avLst/>
          </a:prstGeom>
          <a:noFill/>
          <a:ln/>
        </p:spPr>
        <p:txBody>
          <a:bodyPr wrap="square" lIns="0" tIns="0" rIns="0" bIns="0" rtlCol="0" anchor="ctr"/>
          <a:lstStyle/>
          <a:p>
            <a:pPr marL="0" indent="0" algn="l">
              <a:buNone/>
            </a:pPr>
            <a:r>
              <a:rPr lang="en-US" sz="850" dirty="0">
                <a:solidFill>
                  <a:srgbClr val="26215C"/>
                </a:solidFill>
                <a:latin typeface="Calibri" pitchFamily="34" charset="0"/>
                <a:ea typeface="Calibri" pitchFamily="34" charset="-122"/>
                <a:cs typeface="Calibri" pitchFamily="34" charset="-120"/>
              </a:rPr>
              <a:t>Validates deployment config</a:t>
            </a:r>
            <a:endParaRPr lang="en-US" sz="850" dirty="0"/>
          </a:p>
        </p:txBody>
      </p:sp>
      <p:sp>
        <p:nvSpPr>
          <p:cNvPr id="66" name="Shape 64"/>
          <p:cNvSpPr/>
          <p:nvPr/>
        </p:nvSpPr>
        <p:spPr>
          <a:xfrm>
            <a:off x="7772400" y="4425696"/>
            <a:ext cx="2286000" cy="566928"/>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67" name="Shape 65"/>
          <p:cNvSpPr/>
          <p:nvPr/>
        </p:nvSpPr>
        <p:spPr>
          <a:xfrm>
            <a:off x="7772400" y="4425696"/>
            <a:ext cx="2286000" cy="50292"/>
          </a:xfrm>
          <a:prstGeom prst="rect">
            <a:avLst/>
          </a:prstGeom>
          <a:solidFill>
            <a:srgbClr val="534AB7"/>
          </a:solidFill>
          <a:ln w="12700">
            <a:solidFill>
              <a:srgbClr val="534AB7">
                <a:alpha val="0"/>
              </a:srgbClr>
            </a:solidFill>
            <a:prstDash val="solid"/>
          </a:ln>
        </p:spPr>
        <p:txBody>
          <a:bodyPr/>
          <a:lstStyle/>
          <a:p>
            <a:endParaRPr lang="en-US"/>
          </a:p>
        </p:txBody>
      </p:sp>
      <p:sp>
        <p:nvSpPr>
          <p:cNvPr id="68" name="Text 66"/>
          <p:cNvSpPr/>
          <p:nvPr/>
        </p:nvSpPr>
        <p:spPr>
          <a:xfrm>
            <a:off x="7863840" y="4489704"/>
            <a:ext cx="2103120" cy="237744"/>
          </a:xfrm>
          <a:prstGeom prst="rect">
            <a:avLst/>
          </a:prstGeom>
          <a:noFill/>
          <a:ln/>
        </p:spPr>
        <p:txBody>
          <a:bodyPr wrap="square" lIns="0" tIns="0" rIns="0" bIns="0" rtlCol="0" anchor="ctr"/>
          <a:lstStyle/>
          <a:p>
            <a:pPr marL="0" indent="0" algn="l">
              <a:buNone/>
            </a:pPr>
            <a:r>
              <a:rPr lang="en-US" sz="1000" b="1" dirty="0">
                <a:solidFill>
                  <a:srgbClr val="534AB7"/>
                </a:solidFill>
                <a:latin typeface="Georgia" pitchFamily="34" charset="0"/>
                <a:ea typeface="Georgia" pitchFamily="34" charset="-122"/>
                <a:cs typeface="Georgia" pitchFamily="34" charset="-120"/>
              </a:rPr>
              <a:t>Test Review</a:t>
            </a:r>
            <a:endParaRPr lang="en-US" sz="1000" dirty="0"/>
          </a:p>
        </p:txBody>
      </p:sp>
      <p:sp>
        <p:nvSpPr>
          <p:cNvPr id="69" name="Text 67"/>
          <p:cNvSpPr/>
          <p:nvPr/>
        </p:nvSpPr>
        <p:spPr>
          <a:xfrm>
            <a:off x="7863840" y="4736592"/>
            <a:ext cx="2103120" cy="219456"/>
          </a:xfrm>
          <a:prstGeom prst="rect">
            <a:avLst/>
          </a:prstGeom>
          <a:noFill/>
          <a:ln/>
        </p:spPr>
        <p:txBody>
          <a:bodyPr wrap="square" lIns="0" tIns="0" rIns="0" bIns="0" rtlCol="0" anchor="ctr"/>
          <a:lstStyle/>
          <a:p>
            <a:pPr marL="0" indent="0" algn="l">
              <a:buNone/>
            </a:pPr>
            <a:r>
              <a:rPr lang="en-US" sz="850" dirty="0">
                <a:solidFill>
                  <a:srgbClr val="26215C"/>
                </a:solidFill>
                <a:latin typeface="Calibri" pitchFamily="34" charset="0"/>
                <a:ea typeface="Calibri" pitchFamily="34" charset="-122"/>
                <a:cs typeface="Calibri" pitchFamily="34" charset="-120"/>
              </a:rPr>
              <a:t>Checks test quality + coverage</a:t>
            </a:r>
            <a:endParaRPr lang="en-US" sz="850" dirty="0"/>
          </a:p>
        </p:txBody>
      </p:sp>
      <p:sp>
        <p:nvSpPr>
          <p:cNvPr id="70" name="Text 68"/>
          <p:cNvSpPr/>
          <p:nvPr/>
        </p:nvSpPr>
        <p:spPr>
          <a:xfrm>
            <a:off x="7772400" y="6217920"/>
            <a:ext cx="2286000" cy="219456"/>
          </a:xfrm>
          <a:prstGeom prst="rect">
            <a:avLst/>
          </a:prstGeom>
          <a:noFill/>
          <a:ln/>
        </p:spPr>
        <p:txBody>
          <a:bodyPr wrap="square" lIns="0" tIns="0" rIns="0" bIns="0" rtlCol="0" anchor="ctr"/>
          <a:lstStyle/>
          <a:p>
            <a:pPr marL="0" indent="0" algn="ctr">
              <a:buNone/>
            </a:pPr>
            <a:r>
              <a:rPr lang="en-US" sz="850" b="1" dirty="0">
                <a:solidFill>
                  <a:srgbClr val="26215C"/>
                </a:solidFill>
                <a:latin typeface="Calibri" pitchFamily="34" charset="0"/>
                <a:ea typeface="Calibri" pitchFamily="34" charset="-122"/>
                <a:cs typeface="Calibri" pitchFamily="34" charset="-120"/>
              </a:rPr>
              <a:t>Model: Amazon Nova Pro + RAG</a:t>
            </a:r>
            <a:endParaRPr lang="en-US" sz="850" dirty="0"/>
          </a:p>
        </p:txBody>
      </p:sp>
      <p:sp>
        <p:nvSpPr>
          <p:cNvPr id="71" name="Text 69"/>
          <p:cNvSpPr/>
          <p:nvPr/>
        </p:nvSpPr>
        <p:spPr>
          <a:xfrm>
            <a:off x="7772400" y="6455664"/>
            <a:ext cx="2286000" cy="237744"/>
          </a:xfrm>
          <a:prstGeom prst="rect">
            <a:avLst/>
          </a:prstGeom>
          <a:noFill/>
          <a:ln/>
        </p:spPr>
        <p:txBody>
          <a:bodyPr wrap="square" lIns="0" tIns="0" rIns="0" bIns="0" rtlCol="0" anchor="ctr"/>
          <a:lstStyle/>
          <a:p>
            <a:pPr marL="0" indent="0" algn="ctr">
              <a:buNone/>
            </a:pPr>
            <a:r>
              <a:rPr lang="en-US" sz="800" dirty="0">
                <a:solidFill>
                  <a:srgbClr val="534AB7"/>
                </a:solidFill>
                <a:latin typeface="Calibri" pitchFamily="34" charset="0"/>
                <a:ea typeface="Calibri" pitchFamily="34" charset="-122"/>
                <a:cs typeface="Calibri" pitchFamily="34" charset="-120"/>
              </a:rPr>
              <a:t>★ Different model family from transform agents — genuine cross-validation</a:t>
            </a:r>
            <a:endParaRPr lang="en-US" sz="800" dirty="0"/>
          </a:p>
        </p:txBody>
      </p:sp>
      <p:sp>
        <p:nvSpPr>
          <p:cNvPr id="72" name="Shape 70"/>
          <p:cNvSpPr/>
          <p:nvPr/>
        </p:nvSpPr>
        <p:spPr>
          <a:xfrm>
            <a:off x="10241280" y="1792224"/>
            <a:ext cx="1737360" cy="4114800"/>
          </a:xfrm>
          <a:prstGeom prst="rect">
            <a:avLst/>
          </a:prstGeom>
          <a:solidFill>
            <a:srgbClr val="E1F5EE"/>
          </a:solidFill>
          <a:ln w="1270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73" name="Shape 71"/>
          <p:cNvSpPr/>
          <p:nvPr/>
        </p:nvSpPr>
        <p:spPr>
          <a:xfrm>
            <a:off x="10241280" y="1792224"/>
            <a:ext cx="1737360" cy="50292"/>
          </a:xfrm>
          <a:prstGeom prst="rect">
            <a:avLst/>
          </a:prstGeom>
          <a:solidFill>
            <a:srgbClr val="1D9E75"/>
          </a:solidFill>
          <a:ln w="12700">
            <a:solidFill>
              <a:srgbClr val="1D9E75">
                <a:alpha val="0"/>
              </a:srgbClr>
            </a:solidFill>
            <a:prstDash val="solid"/>
          </a:ln>
        </p:spPr>
        <p:txBody>
          <a:bodyPr/>
          <a:lstStyle/>
          <a:p>
            <a:endParaRPr lang="en-US"/>
          </a:p>
        </p:txBody>
      </p:sp>
      <p:sp>
        <p:nvSpPr>
          <p:cNvPr id="74" name="Text 72"/>
          <p:cNvSpPr/>
          <p:nvPr/>
        </p:nvSpPr>
        <p:spPr>
          <a:xfrm>
            <a:off x="10241280" y="1842516"/>
            <a:ext cx="1737360" cy="256032"/>
          </a:xfrm>
          <a:prstGeom prst="rect">
            <a:avLst/>
          </a:prstGeom>
          <a:noFill/>
          <a:ln/>
        </p:spPr>
        <p:txBody>
          <a:bodyPr wrap="square" lIns="0" tIns="0" rIns="0" bIns="0" rtlCol="0" anchor="ctr"/>
          <a:lstStyle/>
          <a:p>
            <a:pPr marL="0" indent="0" algn="ctr">
              <a:buNone/>
            </a:pPr>
            <a:r>
              <a:rPr lang="en-US" sz="900" b="1" dirty="0">
                <a:solidFill>
                  <a:srgbClr val="085041"/>
                </a:solidFill>
                <a:latin typeface="Georgia" pitchFamily="34" charset="0"/>
                <a:ea typeface="Georgia" pitchFamily="34" charset="-122"/>
                <a:cs typeface="Georgia" pitchFamily="34" charset="-120"/>
              </a:rPr>
              <a:t>Target Output</a:t>
            </a:r>
            <a:endParaRPr lang="en-US" sz="900" dirty="0"/>
          </a:p>
        </p:txBody>
      </p:sp>
      <p:sp>
        <p:nvSpPr>
          <p:cNvPr id="75" name="Shape 73"/>
          <p:cNvSpPr/>
          <p:nvPr/>
        </p:nvSpPr>
        <p:spPr>
          <a:xfrm>
            <a:off x="10332720" y="2148840"/>
            <a:ext cx="1554480" cy="384048"/>
          </a:xfrm>
          <a:prstGeom prst="rect">
            <a:avLst/>
          </a:prstGeom>
          <a:solidFill>
            <a:srgbClr val="C7EAD8"/>
          </a:solidFill>
          <a:ln w="6350">
            <a:solidFill>
              <a:srgbClr val="C7EAD8"/>
            </a:solidFill>
            <a:prstDash val="solid"/>
          </a:ln>
          <a:effectLst>
            <a:outerShdw blurRad="101600" dist="1016" dir="8100000" algn="bl" rotWithShape="0">
              <a:srgbClr val="000000">
                <a:alpha val="9000"/>
              </a:srgbClr>
            </a:outerShdw>
          </a:effectLst>
        </p:spPr>
        <p:txBody>
          <a:bodyPr/>
          <a:lstStyle/>
          <a:p>
            <a:endParaRPr lang="en-US"/>
          </a:p>
        </p:txBody>
      </p:sp>
      <p:sp>
        <p:nvSpPr>
          <p:cNvPr id="76" name="Text 74"/>
          <p:cNvSpPr/>
          <p:nvPr/>
        </p:nvSpPr>
        <p:spPr>
          <a:xfrm>
            <a:off x="10332720" y="2148840"/>
            <a:ext cx="1554480" cy="384048"/>
          </a:xfrm>
          <a:prstGeom prst="rect">
            <a:avLst/>
          </a:prstGeom>
          <a:noFill/>
          <a:ln/>
        </p:spPr>
        <p:txBody>
          <a:bodyPr wrap="square" lIns="0" tIns="0" rIns="0" bIns="0" rtlCol="0" anchor="ctr"/>
          <a:lstStyle/>
          <a:p>
            <a:pPr marL="0" indent="0" algn="ctr">
              <a:buNone/>
            </a:pPr>
            <a:r>
              <a:rPr lang="en-US" sz="850" b="1" dirty="0">
                <a:solidFill>
                  <a:srgbClr val="085041"/>
                </a:solidFill>
                <a:latin typeface="Calibri" pitchFamily="34" charset="0"/>
                <a:ea typeface="Calibri" pitchFamily="34" charset="-122"/>
                <a:cs typeface="Calibri" pitchFamily="34" charset="-120"/>
              </a:rPr>
              <a:t>@Controller</a:t>
            </a:r>
            <a:endParaRPr lang="en-US" sz="850" dirty="0"/>
          </a:p>
        </p:txBody>
      </p:sp>
      <p:sp>
        <p:nvSpPr>
          <p:cNvPr id="77" name="Shape 75"/>
          <p:cNvSpPr/>
          <p:nvPr/>
        </p:nvSpPr>
        <p:spPr>
          <a:xfrm>
            <a:off x="10332720" y="2642616"/>
            <a:ext cx="1554480" cy="384048"/>
          </a:xfrm>
          <a:prstGeom prst="rect">
            <a:avLst/>
          </a:prstGeom>
          <a:solidFill>
            <a:srgbClr val="C7EAD8"/>
          </a:solidFill>
          <a:ln w="6350">
            <a:solidFill>
              <a:srgbClr val="C7EAD8"/>
            </a:solidFill>
            <a:prstDash val="solid"/>
          </a:ln>
          <a:effectLst>
            <a:outerShdw blurRad="101600" dist="1016" dir="8100000" algn="bl" rotWithShape="0">
              <a:srgbClr val="000000">
                <a:alpha val="9000"/>
              </a:srgbClr>
            </a:outerShdw>
          </a:effectLst>
        </p:spPr>
        <p:txBody>
          <a:bodyPr/>
          <a:lstStyle/>
          <a:p>
            <a:endParaRPr lang="en-US"/>
          </a:p>
        </p:txBody>
      </p:sp>
      <p:sp>
        <p:nvSpPr>
          <p:cNvPr id="78" name="Text 76"/>
          <p:cNvSpPr/>
          <p:nvPr/>
        </p:nvSpPr>
        <p:spPr>
          <a:xfrm>
            <a:off x="10332720" y="2642616"/>
            <a:ext cx="1554480" cy="384048"/>
          </a:xfrm>
          <a:prstGeom prst="rect">
            <a:avLst/>
          </a:prstGeom>
          <a:noFill/>
          <a:ln/>
        </p:spPr>
        <p:txBody>
          <a:bodyPr wrap="square" lIns="0" tIns="0" rIns="0" bIns="0" rtlCol="0" anchor="ctr"/>
          <a:lstStyle/>
          <a:p>
            <a:pPr marL="0" indent="0" algn="ctr">
              <a:buNone/>
            </a:pPr>
            <a:r>
              <a:rPr lang="en-US" sz="850" b="1" dirty="0">
                <a:solidFill>
                  <a:srgbClr val="085041"/>
                </a:solidFill>
                <a:latin typeface="Calibri" pitchFamily="34" charset="0"/>
                <a:ea typeface="Calibri" pitchFamily="34" charset="-122"/>
                <a:cs typeface="Calibri" pitchFamily="34" charset="-120"/>
              </a:rPr>
              <a:t>@RequestMapping</a:t>
            </a:r>
            <a:endParaRPr lang="en-US" sz="850" dirty="0"/>
          </a:p>
        </p:txBody>
      </p:sp>
      <p:sp>
        <p:nvSpPr>
          <p:cNvPr id="79" name="Shape 77"/>
          <p:cNvSpPr/>
          <p:nvPr/>
        </p:nvSpPr>
        <p:spPr>
          <a:xfrm>
            <a:off x="10332720" y="3136392"/>
            <a:ext cx="1554480" cy="384048"/>
          </a:xfrm>
          <a:prstGeom prst="rect">
            <a:avLst/>
          </a:prstGeom>
          <a:solidFill>
            <a:srgbClr val="C7EAD8"/>
          </a:solidFill>
          <a:ln w="6350">
            <a:solidFill>
              <a:srgbClr val="C7EAD8"/>
            </a:solidFill>
            <a:prstDash val="solid"/>
          </a:ln>
          <a:effectLst>
            <a:outerShdw blurRad="101600" dist="1016" dir="8100000" algn="bl" rotWithShape="0">
              <a:srgbClr val="000000">
                <a:alpha val="9000"/>
              </a:srgbClr>
            </a:outerShdw>
          </a:effectLst>
        </p:spPr>
        <p:txBody>
          <a:bodyPr/>
          <a:lstStyle/>
          <a:p>
            <a:endParaRPr lang="en-US"/>
          </a:p>
        </p:txBody>
      </p:sp>
      <p:sp>
        <p:nvSpPr>
          <p:cNvPr id="80" name="Text 78"/>
          <p:cNvSpPr/>
          <p:nvPr/>
        </p:nvSpPr>
        <p:spPr>
          <a:xfrm>
            <a:off x="10332720" y="3136392"/>
            <a:ext cx="1554480" cy="384048"/>
          </a:xfrm>
          <a:prstGeom prst="rect">
            <a:avLst/>
          </a:prstGeom>
          <a:noFill/>
          <a:ln/>
        </p:spPr>
        <p:txBody>
          <a:bodyPr wrap="square" lIns="0" tIns="0" rIns="0" bIns="0" rtlCol="0" anchor="ctr"/>
          <a:lstStyle/>
          <a:p>
            <a:pPr marL="0" indent="0" algn="ctr">
              <a:buNone/>
            </a:pPr>
            <a:r>
              <a:rPr lang="en-US" sz="850" b="1" dirty="0">
                <a:solidFill>
                  <a:srgbClr val="085041"/>
                </a:solidFill>
                <a:latin typeface="Calibri" pitchFamily="34" charset="0"/>
                <a:ea typeface="Calibri" pitchFamily="34" charset="-122"/>
                <a:cs typeface="Calibri" pitchFamily="34" charset="-120"/>
              </a:rPr>
              <a:t>@ModelAttribute</a:t>
            </a:r>
            <a:endParaRPr lang="en-US" sz="850" dirty="0"/>
          </a:p>
        </p:txBody>
      </p:sp>
      <p:sp>
        <p:nvSpPr>
          <p:cNvPr id="81" name="Shape 79"/>
          <p:cNvSpPr/>
          <p:nvPr/>
        </p:nvSpPr>
        <p:spPr>
          <a:xfrm>
            <a:off x="10332720" y="3630168"/>
            <a:ext cx="1554480" cy="384048"/>
          </a:xfrm>
          <a:prstGeom prst="rect">
            <a:avLst/>
          </a:prstGeom>
          <a:solidFill>
            <a:srgbClr val="C7EAD8"/>
          </a:solidFill>
          <a:ln w="6350">
            <a:solidFill>
              <a:srgbClr val="C7EAD8"/>
            </a:solidFill>
            <a:prstDash val="solid"/>
          </a:ln>
          <a:effectLst>
            <a:outerShdw blurRad="101600" dist="1016" dir="8100000" algn="bl" rotWithShape="0">
              <a:srgbClr val="000000">
                <a:alpha val="9000"/>
              </a:srgbClr>
            </a:outerShdw>
          </a:effectLst>
        </p:spPr>
        <p:txBody>
          <a:bodyPr/>
          <a:lstStyle/>
          <a:p>
            <a:endParaRPr lang="en-US"/>
          </a:p>
        </p:txBody>
      </p:sp>
      <p:sp>
        <p:nvSpPr>
          <p:cNvPr id="82" name="Text 80"/>
          <p:cNvSpPr/>
          <p:nvPr/>
        </p:nvSpPr>
        <p:spPr>
          <a:xfrm>
            <a:off x="10332720" y="3630168"/>
            <a:ext cx="1554480" cy="384048"/>
          </a:xfrm>
          <a:prstGeom prst="rect">
            <a:avLst/>
          </a:prstGeom>
          <a:noFill/>
          <a:ln/>
        </p:spPr>
        <p:txBody>
          <a:bodyPr wrap="square" lIns="0" tIns="0" rIns="0" bIns="0" rtlCol="0" anchor="ctr"/>
          <a:lstStyle/>
          <a:p>
            <a:pPr marL="0" indent="0" algn="ctr">
              <a:buNone/>
            </a:pPr>
            <a:r>
              <a:rPr lang="en-US" sz="850" b="1" dirty="0">
                <a:solidFill>
                  <a:srgbClr val="085041"/>
                </a:solidFill>
                <a:latin typeface="Calibri" pitchFamily="34" charset="0"/>
                <a:ea typeface="Calibri" pitchFamily="34" charset="-122"/>
                <a:cs typeface="Calibri" pitchFamily="34" charset="-120"/>
              </a:rPr>
              <a:t>HandlerInterceptor</a:t>
            </a:r>
            <a:endParaRPr lang="en-US" sz="850" dirty="0"/>
          </a:p>
        </p:txBody>
      </p:sp>
      <p:sp>
        <p:nvSpPr>
          <p:cNvPr id="83" name="Shape 81"/>
          <p:cNvSpPr/>
          <p:nvPr/>
        </p:nvSpPr>
        <p:spPr>
          <a:xfrm>
            <a:off x="10332720" y="4123944"/>
            <a:ext cx="1554480" cy="384048"/>
          </a:xfrm>
          <a:prstGeom prst="rect">
            <a:avLst/>
          </a:prstGeom>
          <a:solidFill>
            <a:srgbClr val="C7EAD8"/>
          </a:solidFill>
          <a:ln w="6350">
            <a:solidFill>
              <a:srgbClr val="C7EAD8"/>
            </a:solidFill>
            <a:prstDash val="solid"/>
          </a:ln>
          <a:effectLst>
            <a:outerShdw blurRad="101600" dist="1016" dir="8100000" algn="bl" rotWithShape="0">
              <a:srgbClr val="000000">
                <a:alpha val="9000"/>
              </a:srgbClr>
            </a:outerShdw>
          </a:effectLst>
        </p:spPr>
        <p:txBody>
          <a:bodyPr/>
          <a:lstStyle/>
          <a:p>
            <a:endParaRPr lang="en-US"/>
          </a:p>
        </p:txBody>
      </p:sp>
      <p:sp>
        <p:nvSpPr>
          <p:cNvPr id="84" name="Text 82"/>
          <p:cNvSpPr/>
          <p:nvPr/>
        </p:nvSpPr>
        <p:spPr>
          <a:xfrm>
            <a:off x="10332720" y="4123944"/>
            <a:ext cx="1554480" cy="384048"/>
          </a:xfrm>
          <a:prstGeom prst="rect">
            <a:avLst/>
          </a:prstGeom>
          <a:noFill/>
          <a:ln/>
        </p:spPr>
        <p:txBody>
          <a:bodyPr wrap="square" lIns="0" tIns="0" rIns="0" bIns="0" rtlCol="0" anchor="ctr"/>
          <a:lstStyle/>
          <a:p>
            <a:pPr marL="0" indent="0" algn="ctr">
              <a:buNone/>
            </a:pPr>
            <a:r>
              <a:rPr lang="en-US" sz="850" b="1" dirty="0">
                <a:solidFill>
                  <a:srgbClr val="085041"/>
                </a:solidFill>
                <a:latin typeface="Calibri" pitchFamily="34" charset="0"/>
                <a:ea typeface="Calibri" pitchFamily="34" charset="-122"/>
                <a:cs typeface="Calibri" pitchFamily="34" charset="-120"/>
              </a:rPr>
              <a:t>JSTL / form:</a:t>
            </a:r>
            <a:endParaRPr lang="en-US" sz="850" dirty="0"/>
          </a:p>
        </p:txBody>
      </p:sp>
      <p:sp>
        <p:nvSpPr>
          <p:cNvPr id="85" name="Shape 83"/>
          <p:cNvSpPr/>
          <p:nvPr/>
        </p:nvSpPr>
        <p:spPr>
          <a:xfrm>
            <a:off x="10332720" y="4617720"/>
            <a:ext cx="1554480" cy="384048"/>
          </a:xfrm>
          <a:prstGeom prst="rect">
            <a:avLst/>
          </a:prstGeom>
          <a:solidFill>
            <a:srgbClr val="C7EAD8"/>
          </a:solidFill>
          <a:ln w="6350">
            <a:solidFill>
              <a:srgbClr val="C7EAD8"/>
            </a:solidFill>
            <a:prstDash val="solid"/>
          </a:ln>
          <a:effectLst>
            <a:outerShdw blurRad="101600" dist="1016" dir="8100000" algn="bl" rotWithShape="0">
              <a:srgbClr val="000000">
                <a:alpha val="9000"/>
              </a:srgbClr>
            </a:outerShdw>
          </a:effectLst>
        </p:spPr>
        <p:txBody>
          <a:bodyPr/>
          <a:lstStyle/>
          <a:p>
            <a:endParaRPr lang="en-US"/>
          </a:p>
        </p:txBody>
      </p:sp>
      <p:sp>
        <p:nvSpPr>
          <p:cNvPr id="86" name="Text 84"/>
          <p:cNvSpPr/>
          <p:nvPr/>
        </p:nvSpPr>
        <p:spPr>
          <a:xfrm>
            <a:off x="10332720" y="4617720"/>
            <a:ext cx="1554480" cy="384048"/>
          </a:xfrm>
          <a:prstGeom prst="rect">
            <a:avLst/>
          </a:prstGeom>
          <a:noFill/>
          <a:ln/>
        </p:spPr>
        <p:txBody>
          <a:bodyPr wrap="square" lIns="0" tIns="0" rIns="0" bIns="0" rtlCol="0" anchor="ctr"/>
          <a:lstStyle/>
          <a:p>
            <a:pPr marL="0" indent="0" algn="ctr">
              <a:buNone/>
            </a:pPr>
            <a:r>
              <a:rPr lang="en-US" sz="850" b="1" dirty="0">
                <a:solidFill>
                  <a:srgbClr val="085041"/>
                </a:solidFill>
                <a:latin typeface="Calibri" pitchFamily="34" charset="0"/>
                <a:ea typeface="Calibri" pitchFamily="34" charset="-122"/>
                <a:cs typeface="Calibri" pitchFamily="34" charset="-120"/>
              </a:rPr>
              <a:t>JUnit 5 tests</a:t>
            </a:r>
            <a:endParaRPr lang="en-US" sz="850" dirty="0"/>
          </a:p>
        </p:txBody>
      </p:sp>
      <p:sp>
        <p:nvSpPr>
          <p:cNvPr id="87" name="Shape 85"/>
          <p:cNvSpPr/>
          <p:nvPr/>
        </p:nvSpPr>
        <p:spPr>
          <a:xfrm>
            <a:off x="10241280" y="5212080"/>
            <a:ext cx="1737360" cy="475488"/>
          </a:xfrm>
          <a:prstGeom prst="rect">
            <a:avLst/>
          </a:prstGeom>
          <a:solidFill>
            <a:srgbClr val="E05252"/>
          </a:solidFill>
          <a:ln w="1524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88" name="Text 86"/>
          <p:cNvSpPr/>
          <p:nvPr/>
        </p:nvSpPr>
        <p:spPr>
          <a:xfrm>
            <a:off x="10241280" y="5212080"/>
            <a:ext cx="1737360"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NO STRUTS</a:t>
            </a:r>
            <a:endParaRPr lang="en-US" sz="1000" dirty="0"/>
          </a:p>
          <a:p>
            <a:pPr marL="0" indent="0" algn="ctr">
              <a:buNone/>
            </a:pPr>
            <a:r>
              <a:rPr lang="en-US" sz="1000" b="1" dirty="0">
                <a:solidFill>
                  <a:srgbClr val="FFFFFF"/>
                </a:solidFill>
                <a:latin typeface="Georgia" pitchFamily="34" charset="0"/>
                <a:ea typeface="Georgia" pitchFamily="34" charset="-122"/>
                <a:cs typeface="Georgia" pitchFamily="34" charset="-120"/>
              </a:rPr>
              <a:t>IN OUTPUT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A623"/>
          </a:solidFill>
          <a:ln w="12700">
            <a:solidFill>
              <a:srgbClr val="F5A623">
                <a:alpha val="0"/>
              </a:srgbClr>
            </a:solidFill>
            <a:prstDash val="solid"/>
          </a:ln>
        </p:spPr>
        <p:txBody>
          <a:bodyPr/>
          <a:lstStyle/>
          <a:p>
            <a:endParaRPr lang="en-US"/>
          </a:p>
        </p:txBody>
      </p:sp>
      <p:sp>
        <p:nvSpPr>
          <p:cNvPr id="3" name="Text 1"/>
          <p:cNvSpPr/>
          <p:nvPr/>
        </p:nvSpPr>
        <p:spPr>
          <a:xfrm>
            <a:off x="219456" y="128016"/>
            <a:ext cx="457200" cy="274320"/>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04  ·</a:t>
            </a:r>
            <a:endParaRPr lang="en-US" sz="1000" dirty="0"/>
          </a:p>
        </p:txBody>
      </p:sp>
      <p:sp>
        <p:nvSpPr>
          <p:cNvPr id="4" name="Text 2"/>
          <p:cNvSpPr/>
          <p:nvPr/>
        </p:nvSpPr>
        <p:spPr>
          <a:xfrm>
            <a:off x="219456" y="100584"/>
            <a:ext cx="11704320" cy="475488"/>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The Guardrails Agent</a:t>
            </a:r>
            <a:endParaRPr lang="en-US" sz="3000" dirty="0"/>
          </a:p>
        </p:txBody>
      </p:sp>
      <p:sp>
        <p:nvSpPr>
          <p:cNvPr id="5" name="Text 3"/>
          <p:cNvSpPr/>
          <p:nvPr/>
        </p:nvSpPr>
        <p:spPr>
          <a:xfrm>
            <a:off x="219456" y="603504"/>
            <a:ext cx="10789920" cy="310896"/>
          </a:xfrm>
          <a:prstGeom prst="rect">
            <a:avLst/>
          </a:prstGeom>
          <a:noFill/>
          <a:ln/>
        </p:spPr>
        <p:txBody>
          <a:bodyPr wrap="square" lIns="0" tIns="0" rIns="0" bIns="0" rtlCol="0" anchor="ctr"/>
          <a:lstStyle/>
          <a:p>
            <a:pPr marL="0" indent="0" algn="l">
              <a:buNone/>
            </a:pPr>
            <a:r>
              <a:rPr lang="en-US" sz="1300" i="1" dirty="0">
                <a:solidFill>
                  <a:srgbClr val="FDD17A"/>
                </a:solidFill>
                <a:latin typeface="Georgia" pitchFamily="34" charset="0"/>
                <a:ea typeface="Georgia" pitchFamily="34" charset="-122"/>
                <a:cs typeface="Georgia" pitchFamily="34" charset="-120"/>
              </a:rPr>
              <a:t>The safety net — checks every file before transformation and again before it is written to disk.</a:t>
            </a:r>
            <a:endParaRPr lang="en-US" sz="1300" dirty="0"/>
          </a:p>
        </p:txBody>
      </p:sp>
      <p:sp>
        <p:nvSpPr>
          <p:cNvPr id="6" name="Shape 4"/>
          <p:cNvSpPr/>
          <p:nvPr/>
        </p:nvSpPr>
        <p:spPr>
          <a:xfrm>
            <a:off x="219456" y="969264"/>
            <a:ext cx="11704320" cy="22860"/>
          </a:xfrm>
          <a:prstGeom prst="rect">
            <a:avLst/>
          </a:prstGeom>
          <a:solidFill>
            <a:srgbClr val="F5A623">
              <a:alpha val="45000"/>
            </a:srgbClr>
          </a:solidFill>
          <a:ln w="12700">
            <a:solidFill>
              <a:srgbClr val="F5A623">
                <a:alpha val="0"/>
              </a:srgbClr>
            </a:solidFill>
            <a:prstDash val="solid"/>
          </a:ln>
        </p:spPr>
        <p:txBody>
          <a:bodyPr/>
          <a:lstStyle/>
          <a:p>
            <a:endParaRPr lang="en-US"/>
          </a:p>
        </p:txBody>
      </p:sp>
      <p:sp>
        <p:nvSpPr>
          <p:cNvPr id="7" name="Shape 5"/>
          <p:cNvSpPr/>
          <p:nvPr/>
        </p:nvSpPr>
        <p:spPr>
          <a:xfrm>
            <a:off x="219456" y="1042416"/>
            <a:ext cx="5833872" cy="365760"/>
          </a:xfrm>
          <a:prstGeom prst="rect">
            <a:avLst/>
          </a:prstGeom>
          <a:solidFill>
            <a:srgbClr val="0F2040"/>
          </a:solidFill>
          <a:ln w="1270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8" name="Text 6"/>
          <p:cNvSpPr/>
          <p:nvPr/>
        </p:nvSpPr>
        <p:spPr>
          <a:xfrm>
            <a:off x="310896" y="1042416"/>
            <a:ext cx="5650992" cy="365760"/>
          </a:xfrm>
          <a:prstGeom prst="rect">
            <a:avLst/>
          </a:prstGeom>
          <a:noFill/>
          <a:ln/>
        </p:spPr>
        <p:txBody>
          <a:bodyPr wrap="square" lIns="0" tIns="0" rIns="0" bIns="0" rtlCol="0" anchor="ctr"/>
          <a:lstStyle/>
          <a:p>
            <a:pPr marL="0" indent="0" algn="l">
              <a:buNone/>
            </a:pPr>
            <a:r>
              <a:rPr lang="en-US" sz="1000" b="1" dirty="0">
                <a:solidFill>
                  <a:srgbClr val="F5A623"/>
                </a:solidFill>
                <a:latin typeface="Georgia" pitchFamily="34" charset="0"/>
                <a:ea typeface="Georgia" pitchFamily="34" charset="-122"/>
                <a:cs typeface="Georgia" pitchFamily="34" charset="-120"/>
              </a:rPr>
              <a:t>Checkpoint 1  —  BEFORE transformation</a:t>
            </a:r>
            <a:endParaRPr lang="en-US" sz="1000" dirty="0"/>
          </a:p>
        </p:txBody>
      </p:sp>
      <p:sp>
        <p:nvSpPr>
          <p:cNvPr id="9" name="Text 7"/>
          <p:cNvSpPr/>
          <p:nvPr/>
        </p:nvSpPr>
        <p:spPr>
          <a:xfrm>
            <a:off x="219456" y="1481328"/>
            <a:ext cx="5833872" cy="310896"/>
          </a:xfrm>
          <a:prstGeom prst="rect">
            <a:avLst/>
          </a:prstGeom>
          <a:noFill/>
          <a:ln/>
        </p:spPr>
        <p:txBody>
          <a:bodyPr wrap="square" lIns="0" tIns="0" rIns="0" bIns="0" rtlCol="0" anchor="ctr"/>
          <a:lstStyle/>
          <a:p>
            <a:pPr marL="0" indent="0" algn="l">
              <a:buNone/>
            </a:pPr>
            <a:r>
              <a:rPr lang="en-US" sz="1000" i="1" dirty="0">
                <a:solidFill>
                  <a:srgbClr val="2A3C52"/>
                </a:solidFill>
                <a:latin typeface="Georgia" pitchFamily="34" charset="0"/>
                <a:ea typeface="Georgia" pitchFamily="34" charset="-122"/>
                <a:cs typeface="Georgia" pitchFamily="34" charset="-120"/>
              </a:rPr>
              <a:t>Think of it as airport security — no file boards the plane without passing these checks.</a:t>
            </a:r>
            <a:endParaRPr lang="en-US" sz="1000" dirty="0"/>
          </a:p>
        </p:txBody>
      </p:sp>
      <p:sp>
        <p:nvSpPr>
          <p:cNvPr id="10" name="Shape 8"/>
          <p:cNvSpPr/>
          <p:nvPr/>
        </p:nvSpPr>
        <p:spPr>
          <a:xfrm>
            <a:off x="219456" y="1865376"/>
            <a:ext cx="5833872" cy="1005840"/>
          </a:xfrm>
          <a:prstGeom prst="rect">
            <a:avLst/>
          </a:prstGeom>
          <a:solidFill>
            <a:srgbClr val="FEF6E7"/>
          </a:solidFill>
          <a:ln w="762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11" name="Shape 9"/>
          <p:cNvSpPr/>
          <p:nvPr/>
        </p:nvSpPr>
        <p:spPr>
          <a:xfrm>
            <a:off x="310896" y="2139696"/>
            <a:ext cx="411480" cy="411480"/>
          </a:xfrm>
          <a:prstGeom prst="ellipse">
            <a:avLst/>
          </a:prstGeom>
          <a:solidFill>
            <a:srgbClr val="F5A623"/>
          </a:solidFill>
          <a:ln w="12700">
            <a:solidFill>
              <a:srgbClr val="F5A623">
                <a:alpha val="0"/>
              </a:srgbClr>
            </a:solidFill>
            <a:prstDash val="solid"/>
          </a:ln>
        </p:spPr>
        <p:txBody>
          <a:bodyPr/>
          <a:lstStyle/>
          <a:p>
            <a:endParaRPr lang="en-US"/>
          </a:p>
        </p:txBody>
      </p:sp>
      <p:sp>
        <p:nvSpPr>
          <p:cNvPr id="12" name="Text 10"/>
          <p:cNvSpPr/>
          <p:nvPr/>
        </p:nvSpPr>
        <p:spPr>
          <a:xfrm>
            <a:off x="310896" y="21396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3" name="Text 11"/>
          <p:cNvSpPr/>
          <p:nvPr/>
        </p:nvSpPr>
        <p:spPr>
          <a:xfrm>
            <a:off x="813816" y="1938528"/>
            <a:ext cx="5148072" cy="274320"/>
          </a:xfrm>
          <a:prstGeom prst="rect">
            <a:avLst/>
          </a:prstGeom>
          <a:noFill/>
          <a:ln/>
        </p:spPr>
        <p:txBody>
          <a:bodyPr wrap="square" lIns="0" tIns="0" rIns="0" bIns="0" rtlCol="0" anchor="ctr"/>
          <a:lstStyle/>
          <a:p>
            <a:pPr marL="0" indent="0" algn="l">
              <a:buNone/>
            </a:pPr>
            <a:r>
              <a:rPr lang="en-US" sz="1100" b="1" dirty="0">
                <a:solidFill>
                  <a:srgbClr val="F5A623"/>
                </a:solidFill>
                <a:latin typeface="Georgia" pitchFamily="34" charset="0"/>
                <a:ea typeface="Georgia" pitchFamily="34" charset="-122"/>
                <a:cs typeface="Georgia" pitchFamily="34" charset="-120"/>
              </a:rPr>
              <a:t>Secret scanner</a:t>
            </a:r>
            <a:endParaRPr lang="en-US" sz="1100" dirty="0"/>
          </a:p>
        </p:txBody>
      </p:sp>
      <p:sp>
        <p:nvSpPr>
          <p:cNvPr id="14" name="Text 12"/>
          <p:cNvSpPr/>
          <p:nvPr/>
        </p:nvSpPr>
        <p:spPr>
          <a:xfrm>
            <a:off x="813816" y="2231136"/>
            <a:ext cx="5148072" cy="585216"/>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Scans every line for embedded passwords, AWS keys, API tokens, or database credentials. If found, the file is immediately BLOCKED and logged — a file containing secrets must never be auto-transformed.</a:t>
            </a:r>
            <a:endParaRPr lang="en-US" sz="950" dirty="0"/>
          </a:p>
        </p:txBody>
      </p:sp>
      <p:sp>
        <p:nvSpPr>
          <p:cNvPr id="15" name="Shape 13"/>
          <p:cNvSpPr/>
          <p:nvPr/>
        </p:nvSpPr>
        <p:spPr>
          <a:xfrm>
            <a:off x="219456" y="2944368"/>
            <a:ext cx="5833872" cy="1005840"/>
          </a:xfrm>
          <a:prstGeom prst="rect">
            <a:avLst/>
          </a:prstGeom>
          <a:solidFill>
            <a:srgbClr val="FEF6E7"/>
          </a:solidFill>
          <a:ln w="762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16" name="Shape 14"/>
          <p:cNvSpPr/>
          <p:nvPr/>
        </p:nvSpPr>
        <p:spPr>
          <a:xfrm>
            <a:off x="310896" y="3218688"/>
            <a:ext cx="411480" cy="411480"/>
          </a:xfrm>
          <a:prstGeom prst="ellipse">
            <a:avLst/>
          </a:prstGeom>
          <a:solidFill>
            <a:srgbClr val="F5A623"/>
          </a:solidFill>
          <a:ln w="12700">
            <a:solidFill>
              <a:srgbClr val="F5A623">
                <a:alpha val="0"/>
              </a:srgbClr>
            </a:solidFill>
            <a:prstDash val="solid"/>
          </a:ln>
        </p:spPr>
        <p:txBody>
          <a:bodyPr/>
          <a:lstStyle/>
          <a:p>
            <a:endParaRPr lang="en-US"/>
          </a:p>
        </p:txBody>
      </p:sp>
      <p:sp>
        <p:nvSpPr>
          <p:cNvPr id="17" name="Text 15"/>
          <p:cNvSpPr/>
          <p:nvPr/>
        </p:nvSpPr>
        <p:spPr>
          <a:xfrm>
            <a:off x="310896" y="321868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8" name="Text 16"/>
          <p:cNvSpPr/>
          <p:nvPr/>
        </p:nvSpPr>
        <p:spPr>
          <a:xfrm>
            <a:off x="813816" y="3017520"/>
            <a:ext cx="5148072" cy="274320"/>
          </a:xfrm>
          <a:prstGeom prst="rect">
            <a:avLst/>
          </a:prstGeom>
          <a:noFill/>
          <a:ln/>
        </p:spPr>
        <p:txBody>
          <a:bodyPr wrap="square" lIns="0" tIns="0" rIns="0" bIns="0" rtlCol="0" anchor="ctr"/>
          <a:lstStyle/>
          <a:p>
            <a:pPr marL="0" indent="0" algn="l">
              <a:buNone/>
            </a:pPr>
            <a:r>
              <a:rPr lang="en-US" sz="1100" b="1" dirty="0">
                <a:solidFill>
                  <a:srgbClr val="F5A623"/>
                </a:solidFill>
                <a:latin typeface="Georgia" pitchFamily="34" charset="0"/>
                <a:ea typeface="Georgia" pitchFamily="34" charset="-122"/>
                <a:cs typeface="Georgia" pitchFamily="34" charset="-120"/>
              </a:rPr>
              <a:t>Scope validator</a:t>
            </a:r>
            <a:endParaRPr lang="en-US" sz="1100" dirty="0"/>
          </a:p>
        </p:txBody>
      </p:sp>
      <p:sp>
        <p:nvSpPr>
          <p:cNvPr id="19" name="Text 17"/>
          <p:cNvSpPr/>
          <p:nvPr/>
        </p:nvSpPr>
        <p:spPr>
          <a:xfrm>
            <a:off x="813816" y="3310128"/>
            <a:ext cx="5148072" cy="585216"/>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Confirms this file belongs within the agreed migration scope (correct package name, correct app). Files outside scope are skipped — the agent never touches what it wasn't asked to touch.</a:t>
            </a:r>
            <a:endParaRPr lang="en-US" sz="950" dirty="0"/>
          </a:p>
        </p:txBody>
      </p:sp>
      <p:sp>
        <p:nvSpPr>
          <p:cNvPr id="20" name="Shape 18"/>
          <p:cNvSpPr/>
          <p:nvPr/>
        </p:nvSpPr>
        <p:spPr>
          <a:xfrm>
            <a:off x="219456" y="4023360"/>
            <a:ext cx="5833872" cy="1005840"/>
          </a:xfrm>
          <a:prstGeom prst="rect">
            <a:avLst/>
          </a:prstGeom>
          <a:solidFill>
            <a:srgbClr val="FEF6E7"/>
          </a:solidFill>
          <a:ln w="762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21" name="Shape 19"/>
          <p:cNvSpPr/>
          <p:nvPr/>
        </p:nvSpPr>
        <p:spPr>
          <a:xfrm>
            <a:off x="310896" y="4297680"/>
            <a:ext cx="411480" cy="411480"/>
          </a:xfrm>
          <a:prstGeom prst="ellipse">
            <a:avLst/>
          </a:prstGeom>
          <a:solidFill>
            <a:srgbClr val="F5A623"/>
          </a:solidFill>
          <a:ln w="12700">
            <a:solidFill>
              <a:srgbClr val="F5A623">
                <a:alpha val="0"/>
              </a:srgbClr>
            </a:solidFill>
            <a:prstDash val="solid"/>
          </a:ln>
        </p:spPr>
        <p:txBody>
          <a:bodyPr/>
          <a:lstStyle/>
          <a:p>
            <a:endParaRPr lang="en-US"/>
          </a:p>
        </p:txBody>
      </p:sp>
      <p:sp>
        <p:nvSpPr>
          <p:cNvPr id="22" name="Text 20"/>
          <p:cNvSpPr/>
          <p:nvPr/>
        </p:nvSpPr>
        <p:spPr>
          <a:xfrm>
            <a:off x="310896" y="42976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3" name="Text 21"/>
          <p:cNvSpPr/>
          <p:nvPr/>
        </p:nvSpPr>
        <p:spPr>
          <a:xfrm>
            <a:off x="813816" y="4096512"/>
            <a:ext cx="5148072" cy="274320"/>
          </a:xfrm>
          <a:prstGeom prst="rect">
            <a:avLst/>
          </a:prstGeom>
          <a:noFill/>
          <a:ln/>
        </p:spPr>
        <p:txBody>
          <a:bodyPr wrap="square" lIns="0" tIns="0" rIns="0" bIns="0" rtlCol="0" anchor="ctr"/>
          <a:lstStyle/>
          <a:p>
            <a:pPr marL="0" indent="0" algn="l">
              <a:buNone/>
            </a:pPr>
            <a:r>
              <a:rPr lang="en-US" sz="1100" b="1" dirty="0">
                <a:solidFill>
                  <a:srgbClr val="F5A623"/>
                </a:solidFill>
                <a:latin typeface="Georgia" pitchFamily="34" charset="0"/>
                <a:ea typeface="Georgia" pitchFamily="34" charset="-122"/>
                <a:cs typeface="Georgia" pitchFamily="34" charset="-120"/>
              </a:rPr>
              <a:t>PII detector</a:t>
            </a:r>
            <a:endParaRPr lang="en-US" sz="1100" dirty="0"/>
          </a:p>
        </p:txBody>
      </p:sp>
      <p:sp>
        <p:nvSpPr>
          <p:cNvPr id="24" name="Text 22"/>
          <p:cNvSpPr/>
          <p:nvPr/>
        </p:nvSpPr>
        <p:spPr>
          <a:xfrm>
            <a:off x="813816" y="4389120"/>
            <a:ext cx="5148072" cy="585216"/>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Looks for personally identifiable information — email patterns, ID numbers, names in code comments. These are flagged with a WARNING so the team can review them, but the migration is not stopped.</a:t>
            </a:r>
            <a:endParaRPr lang="en-US" sz="950" dirty="0"/>
          </a:p>
        </p:txBody>
      </p:sp>
      <p:sp>
        <p:nvSpPr>
          <p:cNvPr id="25" name="Shape 23"/>
          <p:cNvSpPr/>
          <p:nvPr/>
        </p:nvSpPr>
        <p:spPr>
          <a:xfrm>
            <a:off x="219456" y="5102352"/>
            <a:ext cx="5833872" cy="1005840"/>
          </a:xfrm>
          <a:prstGeom prst="rect">
            <a:avLst/>
          </a:prstGeom>
          <a:solidFill>
            <a:srgbClr val="FEF6E7"/>
          </a:solidFill>
          <a:ln w="762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26" name="Shape 24"/>
          <p:cNvSpPr/>
          <p:nvPr/>
        </p:nvSpPr>
        <p:spPr>
          <a:xfrm>
            <a:off x="310896" y="5376672"/>
            <a:ext cx="411480" cy="411480"/>
          </a:xfrm>
          <a:prstGeom prst="ellipse">
            <a:avLst/>
          </a:prstGeom>
          <a:solidFill>
            <a:srgbClr val="F5A623"/>
          </a:solidFill>
          <a:ln w="12700">
            <a:solidFill>
              <a:srgbClr val="F5A623">
                <a:alpha val="0"/>
              </a:srgbClr>
            </a:solidFill>
            <a:prstDash val="solid"/>
          </a:ln>
        </p:spPr>
        <p:txBody>
          <a:bodyPr/>
          <a:lstStyle/>
          <a:p>
            <a:endParaRPr lang="en-US"/>
          </a:p>
        </p:txBody>
      </p:sp>
      <p:sp>
        <p:nvSpPr>
          <p:cNvPr id="27" name="Text 25"/>
          <p:cNvSpPr/>
          <p:nvPr/>
        </p:nvSpPr>
        <p:spPr>
          <a:xfrm>
            <a:off x="310896" y="537667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8" name="Text 26"/>
          <p:cNvSpPr/>
          <p:nvPr/>
        </p:nvSpPr>
        <p:spPr>
          <a:xfrm>
            <a:off x="813816" y="5175504"/>
            <a:ext cx="5148072" cy="274320"/>
          </a:xfrm>
          <a:prstGeom prst="rect">
            <a:avLst/>
          </a:prstGeom>
          <a:noFill/>
          <a:ln/>
        </p:spPr>
        <p:txBody>
          <a:bodyPr wrap="square" lIns="0" tIns="0" rIns="0" bIns="0" rtlCol="0" anchor="ctr"/>
          <a:lstStyle/>
          <a:p>
            <a:pPr marL="0" indent="0" algn="l">
              <a:buNone/>
            </a:pPr>
            <a:r>
              <a:rPr lang="en-US" sz="1100" b="1" dirty="0">
                <a:solidFill>
                  <a:srgbClr val="F5A623"/>
                </a:solidFill>
                <a:latin typeface="Georgia" pitchFamily="34" charset="0"/>
                <a:ea typeface="Georgia" pitchFamily="34" charset="-122"/>
                <a:cs typeface="Georgia" pitchFamily="34" charset="-120"/>
              </a:rPr>
              <a:t>Complexity gate</a:t>
            </a:r>
            <a:endParaRPr lang="en-US" sz="1100" dirty="0"/>
          </a:p>
        </p:txBody>
      </p:sp>
      <p:sp>
        <p:nvSpPr>
          <p:cNvPr id="29" name="Text 27"/>
          <p:cNvSpPr/>
          <p:nvPr/>
        </p:nvSpPr>
        <p:spPr>
          <a:xfrm>
            <a:off x="813816" y="5468112"/>
            <a:ext cx="5148072" cy="585216"/>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Measures file size and complexity. A 3,000-line file with 50+ EJB calls is too risky to auto-transform. These go straight to the human review queue, saving wasted AI processing on files that will never pass review.</a:t>
            </a:r>
            <a:endParaRPr lang="en-US" sz="950" dirty="0"/>
          </a:p>
        </p:txBody>
      </p:sp>
      <p:sp>
        <p:nvSpPr>
          <p:cNvPr id="30" name="Shape 28"/>
          <p:cNvSpPr/>
          <p:nvPr/>
        </p:nvSpPr>
        <p:spPr>
          <a:xfrm>
            <a:off x="6217920" y="1042416"/>
            <a:ext cx="5833872" cy="365760"/>
          </a:xfrm>
          <a:prstGeom prst="rect">
            <a:avLst/>
          </a:prstGeom>
          <a:solidFill>
            <a:srgbClr val="0F2040"/>
          </a:solidFill>
          <a:ln w="1270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31" name="Text 29"/>
          <p:cNvSpPr/>
          <p:nvPr/>
        </p:nvSpPr>
        <p:spPr>
          <a:xfrm>
            <a:off x="6309360" y="1042416"/>
            <a:ext cx="5650992" cy="365760"/>
          </a:xfrm>
          <a:prstGeom prst="rect">
            <a:avLst/>
          </a:prstGeom>
          <a:noFill/>
          <a:ln/>
        </p:spPr>
        <p:txBody>
          <a:bodyPr wrap="square" lIns="0" tIns="0" rIns="0" bIns="0" rtlCol="0" anchor="ctr"/>
          <a:lstStyle/>
          <a:p>
            <a:pPr marL="0" indent="0" algn="l">
              <a:buNone/>
            </a:pPr>
            <a:r>
              <a:rPr lang="en-US" sz="1000" b="1" dirty="0">
                <a:solidFill>
                  <a:srgbClr val="1D9E75"/>
                </a:solidFill>
                <a:latin typeface="Georgia" pitchFamily="34" charset="0"/>
                <a:ea typeface="Georgia" pitchFamily="34" charset="-122"/>
                <a:cs typeface="Georgia" pitchFamily="34" charset="-120"/>
              </a:rPr>
              <a:t>Checkpoint 2  —  AFTER review passes</a:t>
            </a:r>
            <a:endParaRPr lang="en-US" sz="1000" dirty="0"/>
          </a:p>
        </p:txBody>
      </p:sp>
      <p:sp>
        <p:nvSpPr>
          <p:cNvPr id="32" name="Text 30"/>
          <p:cNvSpPr/>
          <p:nvPr/>
        </p:nvSpPr>
        <p:spPr>
          <a:xfrm>
            <a:off x="6217920" y="1481328"/>
            <a:ext cx="5833872" cy="310896"/>
          </a:xfrm>
          <a:prstGeom prst="rect">
            <a:avLst/>
          </a:prstGeom>
          <a:noFill/>
          <a:ln/>
        </p:spPr>
        <p:txBody>
          <a:bodyPr wrap="square" lIns="0" tIns="0" rIns="0" bIns="0" rtlCol="0" anchor="ctr"/>
          <a:lstStyle/>
          <a:p>
            <a:pPr marL="0" indent="0" algn="l">
              <a:buNone/>
            </a:pPr>
            <a:r>
              <a:rPr lang="en-US" sz="1000" i="1" dirty="0">
                <a:solidFill>
                  <a:srgbClr val="2A3C52"/>
                </a:solidFill>
                <a:latin typeface="Georgia" pitchFamily="34" charset="0"/>
                <a:ea typeface="Georgia" pitchFamily="34" charset="-122"/>
                <a:cs typeface="Georgia" pitchFamily="34" charset="-120"/>
              </a:rPr>
              <a:t>Think of it as a final quality stamp before the product ships to the warehouse.</a:t>
            </a:r>
            <a:endParaRPr lang="en-US" sz="1000" dirty="0"/>
          </a:p>
        </p:txBody>
      </p:sp>
      <p:sp>
        <p:nvSpPr>
          <p:cNvPr id="33" name="Shape 31"/>
          <p:cNvSpPr/>
          <p:nvPr/>
        </p:nvSpPr>
        <p:spPr>
          <a:xfrm>
            <a:off x="6217920" y="1865376"/>
            <a:ext cx="5833872" cy="1005840"/>
          </a:xfrm>
          <a:prstGeom prst="rect">
            <a:avLst/>
          </a:prstGeom>
          <a:solidFill>
            <a:srgbClr val="E1F5EE"/>
          </a:solidFill>
          <a:ln w="762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34" name="Shape 32"/>
          <p:cNvSpPr/>
          <p:nvPr/>
        </p:nvSpPr>
        <p:spPr>
          <a:xfrm>
            <a:off x="6309360" y="2139696"/>
            <a:ext cx="411480" cy="411480"/>
          </a:xfrm>
          <a:prstGeom prst="ellipse">
            <a:avLst/>
          </a:prstGeom>
          <a:solidFill>
            <a:srgbClr val="1D9E75"/>
          </a:solidFill>
          <a:ln w="12700">
            <a:solidFill>
              <a:srgbClr val="1D9E75">
                <a:alpha val="0"/>
              </a:srgbClr>
            </a:solidFill>
            <a:prstDash val="solid"/>
          </a:ln>
        </p:spPr>
        <p:txBody>
          <a:bodyPr/>
          <a:lstStyle/>
          <a:p>
            <a:endParaRPr lang="en-US"/>
          </a:p>
        </p:txBody>
      </p:sp>
      <p:sp>
        <p:nvSpPr>
          <p:cNvPr id="35" name="Text 33"/>
          <p:cNvSpPr/>
          <p:nvPr/>
        </p:nvSpPr>
        <p:spPr>
          <a:xfrm>
            <a:off x="6309360" y="21396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36" name="Text 34"/>
          <p:cNvSpPr/>
          <p:nvPr/>
        </p:nvSpPr>
        <p:spPr>
          <a:xfrm>
            <a:off x="6812280" y="1938528"/>
            <a:ext cx="5148072" cy="274320"/>
          </a:xfrm>
          <a:prstGeom prst="rect">
            <a:avLst/>
          </a:prstGeom>
          <a:noFill/>
          <a:ln/>
        </p:spPr>
        <p:txBody>
          <a:bodyPr wrap="square" lIns="0" tIns="0" rIns="0" bIns="0" rtlCol="0" anchor="ctr"/>
          <a:lstStyle/>
          <a:p>
            <a:pPr marL="0" indent="0" algn="l">
              <a:buNone/>
            </a:pPr>
            <a:r>
              <a:rPr lang="en-US" sz="1100" b="1" dirty="0">
                <a:solidFill>
                  <a:srgbClr val="1D9E75"/>
                </a:solidFill>
                <a:latin typeface="Georgia" pitchFamily="34" charset="0"/>
                <a:ea typeface="Georgia" pitchFamily="34" charset="-122"/>
                <a:cs typeface="Georgia" pitchFamily="34" charset="-120"/>
              </a:rPr>
              <a:t>Enterprise naming enforcer</a:t>
            </a:r>
            <a:endParaRPr lang="en-US" sz="1100" dirty="0"/>
          </a:p>
        </p:txBody>
      </p:sp>
      <p:sp>
        <p:nvSpPr>
          <p:cNvPr id="37" name="Text 35"/>
          <p:cNvSpPr/>
          <p:nvPr/>
        </p:nvSpPr>
        <p:spPr>
          <a:xfrm>
            <a:off x="6812280" y="2231136"/>
            <a:ext cx="5148072" cy="585216"/>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Confirms the transformed code uses your company's exact package naming conventions, class naming rules, and controller suffixes. If the AI invented its own convention, this blocks and sends back for correction.</a:t>
            </a:r>
            <a:endParaRPr lang="en-US" sz="950" dirty="0"/>
          </a:p>
        </p:txBody>
      </p:sp>
      <p:sp>
        <p:nvSpPr>
          <p:cNvPr id="38" name="Shape 36"/>
          <p:cNvSpPr/>
          <p:nvPr/>
        </p:nvSpPr>
        <p:spPr>
          <a:xfrm>
            <a:off x="6217920" y="2944368"/>
            <a:ext cx="5833872" cy="1005840"/>
          </a:xfrm>
          <a:prstGeom prst="rect">
            <a:avLst/>
          </a:prstGeom>
          <a:solidFill>
            <a:srgbClr val="E1F5EE"/>
          </a:solidFill>
          <a:ln w="762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39" name="Shape 37"/>
          <p:cNvSpPr/>
          <p:nvPr/>
        </p:nvSpPr>
        <p:spPr>
          <a:xfrm>
            <a:off x="6309360" y="3218688"/>
            <a:ext cx="411480" cy="411480"/>
          </a:xfrm>
          <a:prstGeom prst="ellipse">
            <a:avLst/>
          </a:prstGeom>
          <a:solidFill>
            <a:srgbClr val="1D9E75"/>
          </a:solidFill>
          <a:ln w="12700">
            <a:solidFill>
              <a:srgbClr val="1D9E75">
                <a:alpha val="0"/>
              </a:srgbClr>
            </a:solidFill>
            <a:prstDash val="solid"/>
          </a:ln>
        </p:spPr>
        <p:txBody>
          <a:bodyPr/>
          <a:lstStyle/>
          <a:p>
            <a:endParaRPr lang="en-US"/>
          </a:p>
        </p:txBody>
      </p:sp>
      <p:sp>
        <p:nvSpPr>
          <p:cNvPr id="40" name="Text 38"/>
          <p:cNvSpPr/>
          <p:nvPr/>
        </p:nvSpPr>
        <p:spPr>
          <a:xfrm>
            <a:off x="6309360" y="321868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41" name="Text 39"/>
          <p:cNvSpPr/>
          <p:nvPr/>
        </p:nvSpPr>
        <p:spPr>
          <a:xfrm>
            <a:off x="6812280" y="3017520"/>
            <a:ext cx="5148072" cy="274320"/>
          </a:xfrm>
          <a:prstGeom prst="rect">
            <a:avLst/>
          </a:prstGeom>
          <a:noFill/>
          <a:ln/>
        </p:spPr>
        <p:txBody>
          <a:bodyPr wrap="square" lIns="0" tIns="0" rIns="0" bIns="0" rtlCol="0" anchor="ctr"/>
          <a:lstStyle/>
          <a:p>
            <a:pPr marL="0" indent="0" algn="l">
              <a:buNone/>
            </a:pPr>
            <a:r>
              <a:rPr lang="en-US" sz="1100" b="1" dirty="0">
                <a:solidFill>
                  <a:srgbClr val="1D9E75"/>
                </a:solidFill>
                <a:latin typeface="Georgia" pitchFamily="34" charset="0"/>
                <a:ea typeface="Georgia" pitchFamily="34" charset="-122"/>
                <a:cs typeface="Georgia" pitchFamily="34" charset="-120"/>
              </a:rPr>
              <a:t>Security pattern checker</a:t>
            </a:r>
            <a:endParaRPr lang="en-US" sz="1100" dirty="0"/>
          </a:p>
        </p:txBody>
      </p:sp>
      <p:sp>
        <p:nvSpPr>
          <p:cNvPr id="42" name="Text 40"/>
          <p:cNvSpPr/>
          <p:nvPr/>
        </p:nvSpPr>
        <p:spPr>
          <a:xfrm>
            <a:off x="6812280" y="3310128"/>
            <a:ext cx="5148072" cy="585216"/>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Checks for common security vulnerabilities in the output — missing input validation, exposed error messages, SQL patterns, missing CSRF protection. Critical findings block the file; minor ones are annotated in the report.</a:t>
            </a:r>
            <a:endParaRPr lang="en-US" sz="950" dirty="0"/>
          </a:p>
        </p:txBody>
      </p:sp>
      <p:sp>
        <p:nvSpPr>
          <p:cNvPr id="43" name="Shape 41"/>
          <p:cNvSpPr/>
          <p:nvPr/>
        </p:nvSpPr>
        <p:spPr>
          <a:xfrm>
            <a:off x="6217920" y="4023360"/>
            <a:ext cx="5833872" cy="1005840"/>
          </a:xfrm>
          <a:prstGeom prst="rect">
            <a:avLst/>
          </a:prstGeom>
          <a:solidFill>
            <a:srgbClr val="E1F5EE"/>
          </a:solidFill>
          <a:ln w="762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44" name="Shape 42"/>
          <p:cNvSpPr/>
          <p:nvPr/>
        </p:nvSpPr>
        <p:spPr>
          <a:xfrm>
            <a:off x="6309360" y="4297680"/>
            <a:ext cx="411480" cy="411480"/>
          </a:xfrm>
          <a:prstGeom prst="ellipse">
            <a:avLst/>
          </a:prstGeom>
          <a:solidFill>
            <a:srgbClr val="1D9E75"/>
          </a:solidFill>
          <a:ln w="12700">
            <a:solidFill>
              <a:srgbClr val="1D9E75">
                <a:alpha val="0"/>
              </a:srgbClr>
            </a:solidFill>
            <a:prstDash val="solid"/>
          </a:ln>
        </p:spPr>
        <p:txBody>
          <a:bodyPr/>
          <a:lstStyle/>
          <a:p>
            <a:endParaRPr lang="en-US"/>
          </a:p>
        </p:txBody>
      </p:sp>
      <p:sp>
        <p:nvSpPr>
          <p:cNvPr id="45" name="Text 43"/>
          <p:cNvSpPr/>
          <p:nvPr/>
        </p:nvSpPr>
        <p:spPr>
          <a:xfrm>
            <a:off x="6309360" y="42976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46" name="Text 44"/>
          <p:cNvSpPr/>
          <p:nvPr/>
        </p:nvSpPr>
        <p:spPr>
          <a:xfrm>
            <a:off x="6812280" y="4096512"/>
            <a:ext cx="5148072" cy="274320"/>
          </a:xfrm>
          <a:prstGeom prst="rect">
            <a:avLst/>
          </a:prstGeom>
          <a:noFill/>
          <a:ln/>
        </p:spPr>
        <p:txBody>
          <a:bodyPr wrap="square" lIns="0" tIns="0" rIns="0" bIns="0" rtlCol="0" anchor="ctr"/>
          <a:lstStyle/>
          <a:p>
            <a:pPr marL="0" indent="0" algn="l">
              <a:buNone/>
            </a:pPr>
            <a:r>
              <a:rPr lang="en-US" sz="1100" b="1" dirty="0">
                <a:solidFill>
                  <a:srgbClr val="1D9E75"/>
                </a:solidFill>
                <a:latin typeface="Georgia" pitchFamily="34" charset="0"/>
                <a:ea typeface="Georgia" pitchFamily="34" charset="-122"/>
                <a:cs typeface="Georgia" pitchFamily="34" charset="-120"/>
              </a:rPr>
              <a:t>License header injector</a:t>
            </a:r>
            <a:endParaRPr lang="en-US" sz="1100" dirty="0"/>
          </a:p>
        </p:txBody>
      </p:sp>
      <p:sp>
        <p:nvSpPr>
          <p:cNvPr id="47" name="Text 45"/>
          <p:cNvSpPr/>
          <p:nvPr/>
        </p:nvSpPr>
        <p:spPr>
          <a:xfrm>
            <a:off x="6812280" y="4389120"/>
            <a:ext cx="5148072" cy="585216"/>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Every transformed .java file must carry your enterprise copyright header. If it's missing, this check adds it automatically — no human intervention needed, no blocker.</a:t>
            </a:r>
            <a:endParaRPr lang="en-US" sz="950" dirty="0"/>
          </a:p>
        </p:txBody>
      </p:sp>
      <p:sp>
        <p:nvSpPr>
          <p:cNvPr id="48" name="Shape 46"/>
          <p:cNvSpPr/>
          <p:nvPr/>
        </p:nvSpPr>
        <p:spPr>
          <a:xfrm>
            <a:off x="6217920" y="5102352"/>
            <a:ext cx="5833872" cy="1005840"/>
          </a:xfrm>
          <a:prstGeom prst="rect">
            <a:avLst/>
          </a:prstGeom>
          <a:solidFill>
            <a:srgbClr val="E1F5EE"/>
          </a:solidFill>
          <a:ln w="762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49" name="Shape 47"/>
          <p:cNvSpPr/>
          <p:nvPr/>
        </p:nvSpPr>
        <p:spPr>
          <a:xfrm>
            <a:off x="6309360" y="5376672"/>
            <a:ext cx="411480" cy="411480"/>
          </a:xfrm>
          <a:prstGeom prst="ellipse">
            <a:avLst/>
          </a:prstGeom>
          <a:solidFill>
            <a:srgbClr val="1D9E75"/>
          </a:solidFill>
          <a:ln w="12700">
            <a:solidFill>
              <a:srgbClr val="1D9E75">
                <a:alpha val="0"/>
              </a:srgbClr>
            </a:solidFill>
            <a:prstDash val="solid"/>
          </a:ln>
        </p:spPr>
        <p:txBody>
          <a:bodyPr/>
          <a:lstStyle/>
          <a:p>
            <a:endParaRPr lang="en-US"/>
          </a:p>
        </p:txBody>
      </p:sp>
      <p:sp>
        <p:nvSpPr>
          <p:cNvPr id="50" name="Text 48"/>
          <p:cNvSpPr/>
          <p:nvPr/>
        </p:nvSpPr>
        <p:spPr>
          <a:xfrm>
            <a:off x="6309360" y="537667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51" name="Text 49"/>
          <p:cNvSpPr/>
          <p:nvPr/>
        </p:nvSpPr>
        <p:spPr>
          <a:xfrm>
            <a:off x="6812280" y="5175504"/>
            <a:ext cx="5148072" cy="274320"/>
          </a:xfrm>
          <a:prstGeom prst="rect">
            <a:avLst/>
          </a:prstGeom>
          <a:noFill/>
          <a:ln/>
        </p:spPr>
        <p:txBody>
          <a:bodyPr wrap="square" lIns="0" tIns="0" rIns="0" bIns="0" rtlCol="0" anchor="ctr"/>
          <a:lstStyle/>
          <a:p>
            <a:pPr marL="0" indent="0" algn="l">
              <a:buNone/>
            </a:pPr>
            <a:r>
              <a:rPr lang="en-US" sz="1100" b="1" dirty="0">
                <a:solidFill>
                  <a:srgbClr val="1D9E75"/>
                </a:solidFill>
                <a:latin typeface="Georgia" pitchFamily="34" charset="0"/>
                <a:ea typeface="Georgia" pitchFamily="34" charset="-122"/>
                <a:cs typeface="Georgia" pitchFamily="34" charset="-120"/>
              </a:rPr>
              <a:t>No-regression checker</a:t>
            </a:r>
            <a:endParaRPr lang="en-US" sz="1100" dirty="0"/>
          </a:p>
        </p:txBody>
      </p:sp>
      <p:sp>
        <p:nvSpPr>
          <p:cNvPr id="52" name="Text 50"/>
          <p:cNvSpPr/>
          <p:nvPr/>
        </p:nvSpPr>
        <p:spPr>
          <a:xfrm>
            <a:off x="6812280" y="5468112"/>
            <a:ext cx="5148072" cy="585216"/>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Compares the original file against the transformed output to ensure nothing was accidentally removed — error handlers, logging, null checks. If something was stripped that was in the original, this flags it.</a:t>
            </a:r>
            <a:endParaRPr lang="en-US" sz="950" dirty="0"/>
          </a:p>
        </p:txBody>
      </p:sp>
      <p:sp>
        <p:nvSpPr>
          <p:cNvPr id="53" name="Shape 51"/>
          <p:cNvSpPr/>
          <p:nvPr/>
        </p:nvSpPr>
        <p:spPr>
          <a:xfrm>
            <a:off x="219456" y="6126480"/>
            <a:ext cx="3840480" cy="58521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54" name="Text 52"/>
          <p:cNvSpPr/>
          <p:nvPr/>
        </p:nvSpPr>
        <p:spPr>
          <a:xfrm>
            <a:off x="310896" y="6126480"/>
            <a:ext cx="914400" cy="585216"/>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BLOCK</a:t>
            </a:r>
            <a:endParaRPr lang="en-US" sz="1600" dirty="0"/>
          </a:p>
        </p:txBody>
      </p:sp>
      <p:sp>
        <p:nvSpPr>
          <p:cNvPr id="55" name="Text 53"/>
          <p:cNvSpPr/>
          <p:nvPr/>
        </p:nvSpPr>
        <p:spPr>
          <a:xfrm>
            <a:off x="1316736" y="6126480"/>
            <a:ext cx="2651760" cy="585216"/>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File stopped. Logged. Team notified.</a:t>
            </a:r>
            <a:endParaRPr lang="en-US" sz="950" dirty="0"/>
          </a:p>
        </p:txBody>
      </p:sp>
      <p:sp>
        <p:nvSpPr>
          <p:cNvPr id="56" name="Shape 54"/>
          <p:cNvSpPr/>
          <p:nvPr/>
        </p:nvSpPr>
        <p:spPr>
          <a:xfrm>
            <a:off x="4187952" y="6126480"/>
            <a:ext cx="3840480" cy="585216"/>
          </a:xfrm>
          <a:prstGeom prst="rect">
            <a:avLst/>
          </a:prstGeom>
          <a:solidFill>
            <a:srgbClr val="F5A623"/>
          </a:solidFill>
          <a:ln w="635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57" name="Text 55"/>
          <p:cNvSpPr/>
          <p:nvPr/>
        </p:nvSpPr>
        <p:spPr>
          <a:xfrm>
            <a:off x="4279392" y="6126480"/>
            <a:ext cx="914400" cy="585216"/>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WARN</a:t>
            </a:r>
            <a:endParaRPr lang="en-US" sz="1600" dirty="0"/>
          </a:p>
        </p:txBody>
      </p:sp>
      <p:sp>
        <p:nvSpPr>
          <p:cNvPr id="58" name="Text 56"/>
          <p:cNvSpPr/>
          <p:nvPr/>
        </p:nvSpPr>
        <p:spPr>
          <a:xfrm>
            <a:off x="5285232" y="6126480"/>
            <a:ext cx="2651760" cy="585216"/>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File proceeds. Issue noted in the migration report.</a:t>
            </a:r>
            <a:endParaRPr lang="en-US" sz="950" dirty="0"/>
          </a:p>
        </p:txBody>
      </p:sp>
      <p:sp>
        <p:nvSpPr>
          <p:cNvPr id="59" name="Shape 57"/>
          <p:cNvSpPr/>
          <p:nvPr/>
        </p:nvSpPr>
        <p:spPr>
          <a:xfrm>
            <a:off x="8156448" y="6126480"/>
            <a:ext cx="3840480" cy="585216"/>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60" name="Text 58"/>
          <p:cNvSpPr/>
          <p:nvPr/>
        </p:nvSpPr>
        <p:spPr>
          <a:xfrm>
            <a:off x="8247888" y="6126480"/>
            <a:ext cx="914400" cy="585216"/>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PASS</a:t>
            </a:r>
            <a:endParaRPr lang="en-US" sz="1600" dirty="0"/>
          </a:p>
        </p:txBody>
      </p:sp>
      <p:sp>
        <p:nvSpPr>
          <p:cNvPr id="61" name="Text 59"/>
          <p:cNvSpPr/>
          <p:nvPr/>
        </p:nvSpPr>
        <p:spPr>
          <a:xfrm>
            <a:off x="9253728" y="6126480"/>
            <a:ext cx="2651760" cy="585216"/>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File clears this checkpoint. Pipeline continues.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A623"/>
          </a:solidFill>
          <a:ln w="12700">
            <a:solidFill>
              <a:srgbClr val="F5A623">
                <a:alpha val="0"/>
              </a:srgbClr>
            </a:solidFill>
            <a:prstDash val="solid"/>
          </a:ln>
        </p:spPr>
        <p:txBody>
          <a:bodyPr/>
          <a:lstStyle/>
          <a:p>
            <a:endParaRPr lang="en-US"/>
          </a:p>
        </p:txBody>
      </p:sp>
      <p:sp>
        <p:nvSpPr>
          <p:cNvPr id="3" name="Text 1"/>
          <p:cNvSpPr/>
          <p:nvPr/>
        </p:nvSpPr>
        <p:spPr>
          <a:xfrm>
            <a:off x="219456" y="128016"/>
            <a:ext cx="457200" cy="274320"/>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05  ·</a:t>
            </a:r>
            <a:endParaRPr lang="en-US" sz="1000" dirty="0"/>
          </a:p>
        </p:txBody>
      </p:sp>
      <p:sp>
        <p:nvSpPr>
          <p:cNvPr id="4" name="Text 2"/>
          <p:cNvSpPr/>
          <p:nvPr/>
        </p:nvSpPr>
        <p:spPr>
          <a:xfrm>
            <a:off x="219456" y="100584"/>
            <a:ext cx="11704320" cy="475488"/>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The Leader Agent</a:t>
            </a:r>
            <a:endParaRPr lang="en-US" sz="3000" dirty="0"/>
          </a:p>
        </p:txBody>
      </p:sp>
      <p:sp>
        <p:nvSpPr>
          <p:cNvPr id="5" name="Text 3"/>
          <p:cNvSpPr/>
          <p:nvPr/>
        </p:nvSpPr>
        <p:spPr>
          <a:xfrm>
            <a:off x="219456" y="603504"/>
            <a:ext cx="10789920" cy="310896"/>
          </a:xfrm>
          <a:prstGeom prst="rect">
            <a:avLst/>
          </a:prstGeom>
          <a:noFill/>
          <a:ln/>
        </p:spPr>
        <p:txBody>
          <a:bodyPr wrap="square" lIns="0" tIns="0" rIns="0" bIns="0" rtlCol="0" anchor="ctr"/>
          <a:lstStyle/>
          <a:p>
            <a:pPr marL="0" indent="0" algn="l">
              <a:buNone/>
            </a:pPr>
            <a:r>
              <a:rPr lang="en-US" sz="1300" i="1" dirty="0">
                <a:solidFill>
                  <a:srgbClr val="FDD17A"/>
                </a:solidFill>
                <a:latin typeface="Georgia" pitchFamily="34" charset="0"/>
                <a:ea typeface="Georgia" pitchFamily="34" charset="-122"/>
                <a:cs typeface="Georgia" pitchFamily="34" charset="-120"/>
              </a:rPr>
              <a:t>The conductor of the orchestra — never transforms code itself, only coordinates the specialists.</a:t>
            </a:r>
            <a:endParaRPr lang="en-US" sz="1300" dirty="0"/>
          </a:p>
        </p:txBody>
      </p:sp>
      <p:sp>
        <p:nvSpPr>
          <p:cNvPr id="6" name="Shape 4"/>
          <p:cNvSpPr/>
          <p:nvPr/>
        </p:nvSpPr>
        <p:spPr>
          <a:xfrm>
            <a:off x="219456" y="969264"/>
            <a:ext cx="11704320" cy="22860"/>
          </a:xfrm>
          <a:prstGeom prst="rect">
            <a:avLst/>
          </a:prstGeom>
          <a:solidFill>
            <a:srgbClr val="F5A623">
              <a:alpha val="45000"/>
            </a:srgbClr>
          </a:solidFill>
          <a:ln w="12700">
            <a:solidFill>
              <a:srgbClr val="F5A623">
                <a:alpha val="0"/>
              </a:srgbClr>
            </a:solidFill>
            <a:prstDash val="solid"/>
          </a:ln>
        </p:spPr>
        <p:txBody>
          <a:bodyPr/>
          <a:lstStyle/>
          <a:p>
            <a:endParaRPr lang="en-US"/>
          </a:p>
        </p:txBody>
      </p:sp>
      <p:sp>
        <p:nvSpPr>
          <p:cNvPr id="7" name="Shape 5"/>
          <p:cNvSpPr/>
          <p:nvPr/>
        </p:nvSpPr>
        <p:spPr>
          <a:xfrm>
            <a:off x="128016" y="0"/>
            <a:ext cx="91440" cy="6858000"/>
          </a:xfrm>
          <a:prstGeom prst="rect">
            <a:avLst/>
          </a:prstGeom>
          <a:solidFill>
            <a:srgbClr val="1D9E75"/>
          </a:solidFill>
          <a:ln w="12700">
            <a:solidFill>
              <a:srgbClr val="1D9E75">
                <a:alpha val="0"/>
              </a:srgbClr>
            </a:solidFill>
            <a:prstDash val="solid"/>
          </a:ln>
        </p:spPr>
        <p:txBody>
          <a:bodyPr/>
          <a:lstStyle/>
          <a:p>
            <a:endParaRPr lang="en-US"/>
          </a:p>
        </p:txBody>
      </p:sp>
      <p:sp>
        <p:nvSpPr>
          <p:cNvPr id="8" name="Text 6"/>
          <p:cNvSpPr/>
          <p:nvPr/>
        </p:nvSpPr>
        <p:spPr>
          <a:xfrm>
            <a:off x="219456" y="1042416"/>
            <a:ext cx="11704320" cy="502920"/>
          </a:xfrm>
          <a:prstGeom prst="rect">
            <a:avLst/>
          </a:prstGeom>
          <a:noFill/>
          <a:ln/>
        </p:spPr>
        <p:txBody>
          <a:bodyPr wrap="square" lIns="0" tIns="0" rIns="0" bIns="0" rtlCol="0" anchor="ctr"/>
          <a:lstStyle/>
          <a:p>
            <a:pPr marL="0" indent="0" algn="l">
              <a:buNone/>
            </a:pPr>
            <a:r>
              <a:rPr lang="en-US" sz="1150" i="1" dirty="0">
                <a:solidFill>
                  <a:srgbClr val="E8EDF4"/>
                </a:solidFill>
                <a:latin typeface="Georgia" pitchFamily="34" charset="0"/>
                <a:ea typeface="Georgia" pitchFamily="34" charset="-122"/>
                <a:cs typeface="Georgia" pitchFamily="34" charset="-120"/>
              </a:rPr>
              <a:t>Analogy: Think of the Leader Agent as a senior project manager. It reads the workload, assigns the right specialist, checks the result, decides whether to approve or send back for revision, and escalates to human review when needed. It never writes a line of code itself — it orchestrates.</a:t>
            </a:r>
            <a:endParaRPr lang="en-US" sz="1150" dirty="0"/>
          </a:p>
        </p:txBody>
      </p:sp>
      <p:sp>
        <p:nvSpPr>
          <p:cNvPr id="9" name="Shape 7"/>
          <p:cNvSpPr/>
          <p:nvPr/>
        </p:nvSpPr>
        <p:spPr>
          <a:xfrm>
            <a:off x="219456" y="1682496"/>
            <a:ext cx="5833872" cy="1444752"/>
          </a:xfrm>
          <a:prstGeom prst="rect">
            <a:avLst/>
          </a:prstGeom>
          <a:solidFill>
            <a:srgbClr val="E1F5EE"/>
          </a:solidFill>
          <a:ln w="1016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10" name="Shape 8"/>
          <p:cNvSpPr/>
          <p:nvPr/>
        </p:nvSpPr>
        <p:spPr>
          <a:xfrm>
            <a:off x="347472" y="2185416"/>
            <a:ext cx="475488" cy="475488"/>
          </a:xfrm>
          <a:prstGeom prst="ellipse">
            <a:avLst/>
          </a:prstGeom>
          <a:solidFill>
            <a:srgbClr val="1D9E75"/>
          </a:solidFill>
          <a:ln w="12700">
            <a:solidFill>
              <a:srgbClr val="1D9E75">
                <a:alpha val="0"/>
              </a:srgbClr>
            </a:solidFill>
            <a:prstDash val="solid"/>
          </a:ln>
        </p:spPr>
        <p:txBody>
          <a:bodyPr/>
          <a:lstStyle/>
          <a:p>
            <a:endParaRPr lang="en-US"/>
          </a:p>
        </p:txBody>
      </p:sp>
      <p:sp>
        <p:nvSpPr>
          <p:cNvPr id="11" name="Text 9"/>
          <p:cNvSpPr/>
          <p:nvPr/>
        </p:nvSpPr>
        <p:spPr>
          <a:xfrm>
            <a:off x="347472" y="2185416"/>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12" name="Text 10"/>
          <p:cNvSpPr/>
          <p:nvPr/>
        </p:nvSpPr>
        <p:spPr>
          <a:xfrm>
            <a:off x="950976" y="1773936"/>
            <a:ext cx="4992624" cy="329184"/>
          </a:xfrm>
          <a:prstGeom prst="rect">
            <a:avLst/>
          </a:prstGeom>
          <a:noFill/>
          <a:ln/>
        </p:spPr>
        <p:txBody>
          <a:bodyPr wrap="square" lIns="0" tIns="0" rIns="0" bIns="0" rtlCol="0" anchor="ctr"/>
          <a:lstStyle/>
          <a:p>
            <a:pPr marL="0" indent="0" algn="l">
              <a:buNone/>
            </a:pPr>
            <a:r>
              <a:rPr lang="en-US" sz="1200" b="1" dirty="0">
                <a:solidFill>
                  <a:srgbClr val="1D9E75"/>
                </a:solidFill>
                <a:latin typeface="Georgia" pitchFamily="34" charset="0"/>
                <a:ea typeface="Georgia" pitchFamily="34" charset="-122"/>
                <a:cs typeface="Georgia" pitchFamily="34" charset="-120"/>
              </a:rPr>
              <a:t>Read the project log</a:t>
            </a:r>
            <a:endParaRPr lang="en-US" sz="1200" dirty="0"/>
          </a:p>
        </p:txBody>
      </p:sp>
      <p:sp>
        <p:nvSpPr>
          <p:cNvPr id="13" name="Text 11"/>
          <p:cNvSpPr/>
          <p:nvPr/>
        </p:nvSpPr>
        <p:spPr>
          <a:xfrm>
            <a:off x="950976" y="2103120"/>
            <a:ext cx="4992624" cy="914400"/>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Opens migration-state.json — the live record of every file and its current status. Finds the next file with status PENDING and picks it up for processing.</a:t>
            </a:r>
            <a:endParaRPr lang="en-US" sz="950" dirty="0"/>
          </a:p>
        </p:txBody>
      </p:sp>
      <p:sp>
        <p:nvSpPr>
          <p:cNvPr id="14" name="Shape 12"/>
          <p:cNvSpPr/>
          <p:nvPr/>
        </p:nvSpPr>
        <p:spPr>
          <a:xfrm>
            <a:off x="219456" y="3255264"/>
            <a:ext cx="5833872" cy="1444752"/>
          </a:xfrm>
          <a:prstGeom prst="rect">
            <a:avLst/>
          </a:prstGeom>
          <a:solidFill>
            <a:srgbClr val="E6F1FB"/>
          </a:solidFill>
          <a:ln w="1016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15" name="Shape 13"/>
          <p:cNvSpPr/>
          <p:nvPr/>
        </p:nvSpPr>
        <p:spPr>
          <a:xfrm>
            <a:off x="347472" y="3758184"/>
            <a:ext cx="475488" cy="475488"/>
          </a:xfrm>
          <a:prstGeom prst="ellipse">
            <a:avLst/>
          </a:prstGeom>
          <a:solidFill>
            <a:srgbClr val="3B82C4"/>
          </a:solidFill>
          <a:ln w="12700">
            <a:solidFill>
              <a:srgbClr val="3B82C4">
                <a:alpha val="0"/>
              </a:srgbClr>
            </a:solidFill>
            <a:prstDash val="solid"/>
          </a:ln>
        </p:spPr>
        <p:txBody>
          <a:bodyPr/>
          <a:lstStyle/>
          <a:p>
            <a:endParaRPr lang="en-US"/>
          </a:p>
        </p:txBody>
      </p:sp>
      <p:sp>
        <p:nvSpPr>
          <p:cNvPr id="16" name="Text 14"/>
          <p:cNvSpPr/>
          <p:nvPr/>
        </p:nvSpPr>
        <p:spPr>
          <a:xfrm>
            <a:off x="347472" y="3758184"/>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7" name="Text 15"/>
          <p:cNvSpPr/>
          <p:nvPr/>
        </p:nvSpPr>
        <p:spPr>
          <a:xfrm>
            <a:off x="950976" y="3346704"/>
            <a:ext cx="4992624" cy="329184"/>
          </a:xfrm>
          <a:prstGeom prst="rect">
            <a:avLst/>
          </a:prstGeom>
          <a:noFill/>
          <a:ln/>
        </p:spPr>
        <p:txBody>
          <a:bodyPr wrap="square" lIns="0" tIns="0" rIns="0" bIns="0" rtlCol="0" anchor="ctr"/>
          <a:lstStyle/>
          <a:p>
            <a:pPr marL="0" indent="0" algn="l">
              <a:buNone/>
            </a:pPr>
            <a:r>
              <a:rPr lang="en-US" sz="1200" b="1" dirty="0">
                <a:solidFill>
                  <a:srgbClr val="3B82C4"/>
                </a:solidFill>
                <a:latin typeface="Georgia" pitchFamily="34" charset="0"/>
                <a:ea typeface="Georgia" pitchFamily="34" charset="-122"/>
                <a:cs typeface="Georgia" pitchFamily="34" charset="-120"/>
              </a:rPr>
              <a:t>Select the right specialist</a:t>
            </a:r>
            <a:endParaRPr lang="en-US" sz="1200" dirty="0"/>
          </a:p>
        </p:txBody>
      </p:sp>
      <p:sp>
        <p:nvSpPr>
          <p:cNvPr id="18" name="Text 16"/>
          <p:cNvSpPr/>
          <p:nvPr/>
        </p:nvSpPr>
        <p:spPr>
          <a:xfrm>
            <a:off x="950976" y="3675888"/>
            <a:ext cx="4992624" cy="914400"/>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Looks at the file type, phase, and content to decide which of the 7 transform agents should handle it. A JSP file goes to the Struts2→MVC agent. A Java config file goes to the Spring X→Y agent.</a:t>
            </a:r>
            <a:endParaRPr lang="en-US" sz="950" dirty="0"/>
          </a:p>
        </p:txBody>
      </p:sp>
      <p:sp>
        <p:nvSpPr>
          <p:cNvPr id="19" name="Shape 17"/>
          <p:cNvSpPr/>
          <p:nvPr/>
        </p:nvSpPr>
        <p:spPr>
          <a:xfrm>
            <a:off x="219456" y="4828032"/>
            <a:ext cx="5833872" cy="1444752"/>
          </a:xfrm>
          <a:prstGeom prst="rect">
            <a:avLst/>
          </a:prstGeom>
          <a:solidFill>
            <a:srgbClr val="E6F1FB"/>
          </a:solidFill>
          <a:ln w="1016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20" name="Shape 18"/>
          <p:cNvSpPr/>
          <p:nvPr/>
        </p:nvSpPr>
        <p:spPr>
          <a:xfrm>
            <a:off x="347472" y="5330952"/>
            <a:ext cx="475488" cy="475488"/>
          </a:xfrm>
          <a:prstGeom prst="ellipse">
            <a:avLst/>
          </a:prstGeom>
          <a:solidFill>
            <a:srgbClr val="3B82C4"/>
          </a:solidFill>
          <a:ln w="12700">
            <a:solidFill>
              <a:srgbClr val="3B82C4">
                <a:alpha val="0"/>
              </a:srgbClr>
            </a:solidFill>
            <a:prstDash val="solid"/>
          </a:ln>
        </p:spPr>
        <p:txBody>
          <a:bodyPr/>
          <a:lstStyle/>
          <a:p>
            <a:endParaRPr lang="en-US"/>
          </a:p>
        </p:txBody>
      </p:sp>
      <p:sp>
        <p:nvSpPr>
          <p:cNvPr id="21" name="Text 19"/>
          <p:cNvSpPr/>
          <p:nvPr/>
        </p:nvSpPr>
        <p:spPr>
          <a:xfrm>
            <a:off x="347472" y="5330952"/>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22" name="Text 20"/>
          <p:cNvSpPr/>
          <p:nvPr/>
        </p:nvSpPr>
        <p:spPr>
          <a:xfrm>
            <a:off x="950976" y="4919472"/>
            <a:ext cx="4992624" cy="329184"/>
          </a:xfrm>
          <a:prstGeom prst="rect">
            <a:avLst/>
          </a:prstGeom>
          <a:noFill/>
          <a:ln/>
        </p:spPr>
        <p:txBody>
          <a:bodyPr wrap="square" lIns="0" tIns="0" rIns="0" bIns="0" rtlCol="0" anchor="ctr"/>
          <a:lstStyle/>
          <a:p>
            <a:pPr marL="0" indent="0" algn="l">
              <a:buNone/>
            </a:pPr>
            <a:r>
              <a:rPr lang="en-US" sz="1200" b="1" dirty="0">
                <a:solidFill>
                  <a:srgbClr val="3B82C4"/>
                </a:solidFill>
                <a:latin typeface="Georgia" pitchFamily="34" charset="0"/>
                <a:ea typeface="Georgia" pitchFamily="34" charset="-122"/>
                <a:cs typeface="Georgia" pitchFamily="34" charset="-120"/>
              </a:rPr>
              <a:t>Send file to transform agent</a:t>
            </a:r>
            <a:endParaRPr lang="en-US" sz="1200" dirty="0"/>
          </a:p>
        </p:txBody>
      </p:sp>
      <p:sp>
        <p:nvSpPr>
          <p:cNvPr id="23" name="Text 21"/>
          <p:cNvSpPr/>
          <p:nvPr/>
        </p:nvSpPr>
        <p:spPr>
          <a:xfrm>
            <a:off x="950976" y="5248656"/>
            <a:ext cx="4992624" cy="914400"/>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Passes the file content, any relevant RAG context, and clear instructions to the chosen specialist agent. On a retry, it also includes the specific feedback from the review agent so the specialist knows exactly what to fix.</a:t>
            </a:r>
            <a:endParaRPr lang="en-US" sz="950" dirty="0"/>
          </a:p>
        </p:txBody>
      </p:sp>
      <p:sp>
        <p:nvSpPr>
          <p:cNvPr id="24" name="Shape 22"/>
          <p:cNvSpPr/>
          <p:nvPr/>
        </p:nvSpPr>
        <p:spPr>
          <a:xfrm>
            <a:off x="6208776" y="1682496"/>
            <a:ext cx="5833872" cy="1444752"/>
          </a:xfrm>
          <a:prstGeom prst="rect">
            <a:avLst/>
          </a:prstGeom>
          <a:solidFill>
            <a:srgbClr val="EEEDFE"/>
          </a:solidFill>
          <a:ln w="1016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25" name="Shape 23"/>
          <p:cNvSpPr/>
          <p:nvPr/>
        </p:nvSpPr>
        <p:spPr>
          <a:xfrm>
            <a:off x="6336792" y="2185416"/>
            <a:ext cx="475488" cy="475488"/>
          </a:xfrm>
          <a:prstGeom prst="ellipse">
            <a:avLst/>
          </a:prstGeom>
          <a:solidFill>
            <a:srgbClr val="534AB7"/>
          </a:solidFill>
          <a:ln w="12700">
            <a:solidFill>
              <a:srgbClr val="534AB7">
                <a:alpha val="0"/>
              </a:srgbClr>
            </a:solidFill>
            <a:prstDash val="solid"/>
          </a:ln>
        </p:spPr>
        <p:txBody>
          <a:bodyPr/>
          <a:lstStyle/>
          <a:p>
            <a:endParaRPr lang="en-US"/>
          </a:p>
        </p:txBody>
      </p:sp>
      <p:sp>
        <p:nvSpPr>
          <p:cNvPr id="26" name="Text 24"/>
          <p:cNvSpPr/>
          <p:nvPr/>
        </p:nvSpPr>
        <p:spPr>
          <a:xfrm>
            <a:off x="6336792" y="2185416"/>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27" name="Text 25"/>
          <p:cNvSpPr/>
          <p:nvPr/>
        </p:nvSpPr>
        <p:spPr>
          <a:xfrm>
            <a:off x="6940296" y="1773936"/>
            <a:ext cx="4992624" cy="329184"/>
          </a:xfrm>
          <a:prstGeom prst="rect">
            <a:avLst/>
          </a:prstGeom>
          <a:noFill/>
          <a:ln/>
        </p:spPr>
        <p:txBody>
          <a:bodyPr wrap="square" lIns="0" tIns="0" rIns="0" bIns="0" rtlCol="0" anchor="ctr"/>
          <a:lstStyle/>
          <a:p>
            <a:pPr marL="0" indent="0" algn="l">
              <a:buNone/>
            </a:pPr>
            <a:r>
              <a:rPr lang="en-US" sz="1200" b="1" dirty="0">
                <a:solidFill>
                  <a:srgbClr val="534AB7"/>
                </a:solidFill>
                <a:latin typeface="Georgia" pitchFamily="34" charset="0"/>
                <a:ea typeface="Georgia" pitchFamily="34" charset="-122"/>
                <a:cs typeface="Georgia" pitchFamily="34" charset="-120"/>
              </a:rPr>
              <a:t>Read the review verdict</a:t>
            </a:r>
            <a:endParaRPr lang="en-US" sz="1200" dirty="0"/>
          </a:p>
        </p:txBody>
      </p:sp>
      <p:sp>
        <p:nvSpPr>
          <p:cNvPr id="28" name="Text 26"/>
          <p:cNvSpPr/>
          <p:nvPr/>
        </p:nvSpPr>
        <p:spPr>
          <a:xfrm>
            <a:off x="6940296" y="2103120"/>
            <a:ext cx="4992624" cy="914400"/>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After the transform agent finishes, the Leader sends the result to the review agent. It then reads the verdict: PASS (score ≥80), RETRY (score 50–79), or MANUAL (score &lt;50).</a:t>
            </a:r>
            <a:endParaRPr lang="en-US" sz="950" dirty="0"/>
          </a:p>
        </p:txBody>
      </p:sp>
      <p:sp>
        <p:nvSpPr>
          <p:cNvPr id="29" name="Shape 27"/>
          <p:cNvSpPr/>
          <p:nvPr/>
        </p:nvSpPr>
        <p:spPr>
          <a:xfrm>
            <a:off x="6208776" y="3255264"/>
            <a:ext cx="5833872" cy="1444752"/>
          </a:xfrm>
          <a:prstGeom prst="rect">
            <a:avLst/>
          </a:prstGeom>
          <a:solidFill>
            <a:srgbClr val="FEF6E7"/>
          </a:solidFill>
          <a:ln w="1016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30" name="Shape 28"/>
          <p:cNvSpPr/>
          <p:nvPr/>
        </p:nvSpPr>
        <p:spPr>
          <a:xfrm>
            <a:off x="6336792" y="3758184"/>
            <a:ext cx="475488" cy="475488"/>
          </a:xfrm>
          <a:prstGeom prst="ellipse">
            <a:avLst/>
          </a:prstGeom>
          <a:solidFill>
            <a:srgbClr val="F5A623"/>
          </a:solidFill>
          <a:ln w="12700">
            <a:solidFill>
              <a:srgbClr val="F5A623">
                <a:alpha val="0"/>
              </a:srgbClr>
            </a:solidFill>
            <a:prstDash val="solid"/>
          </a:ln>
        </p:spPr>
        <p:txBody>
          <a:bodyPr/>
          <a:lstStyle/>
          <a:p>
            <a:endParaRPr lang="en-US"/>
          </a:p>
        </p:txBody>
      </p:sp>
      <p:sp>
        <p:nvSpPr>
          <p:cNvPr id="31" name="Text 29"/>
          <p:cNvSpPr/>
          <p:nvPr/>
        </p:nvSpPr>
        <p:spPr>
          <a:xfrm>
            <a:off x="6336792" y="3758184"/>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5</a:t>
            </a:r>
            <a:endParaRPr lang="en-US" sz="2000" dirty="0"/>
          </a:p>
        </p:txBody>
      </p:sp>
      <p:sp>
        <p:nvSpPr>
          <p:cNvPr id="32" name="Text 30"/>
          <p:cNvSpPr/>
          <p:nvPr/>
        </p:nvSpPr>
        <p:spPr>
          <a:xfrm>
            <a:off x="6940296" y="3346704"/>
            <a:ext cx="4992624" cy="329184"/>
          </a:xfrm>
          <a:prstGeom prst="rect">
            <a:avLst/>
          </a:prstGeom>
          <a:noFill/>
          <a:ln/>
        </p:spPr>
        <p:txBody>
          <a:bodyPr wrap="square" lIns="0" tIns="0" rIns="0" bIns="0" rtlCol="0" anchor="ctr"/>
          <a:lstStyle/>
          <a:p>
            <a:pPr marL="0" indent="0" algn="l">
              <a:buNone/>
            </a:pPr>
            <a:r>
              <a:rPr lang="en-US" sz="1200" b="1" dirty="0">
                <a:solidFill>
                  <a:srgbClr val="F5A623"/>
                </a:solidFill>
                <a:latin typeface="Georgia" pitchFamily="34" charset="0"/>
                <a:ea typeface="Georgia" pitchFamily="34" charset="-122"/>
                <a:cs typeface="Georgia" pitchFamily="34" charset="-120"/>
              </a:rPr>
              <a:t>Decide: approve, retry, or escalate</a:t>
            </a:r>
            <a:endParaRPr lang="en-US" sz="1200" dirty="0"/>
          </a:p>
        </p:txBody>
      </p:sp>
      <p:sp>
        <p:nvSpPr>
          <p:cNvPr id="33" name="Text 31"/>
          <p:cNvSpPr/>
          <p:nvPr/>
        </p:nvSpPr>
        <p:spPr>
          <a:xfrm>
            <a:off x="6940296" y="3675888"/>
            <a:ext cx="4992624" cy="914400"/>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PASS → writes the file to ./migrated/. RETRY → sends back to the transform agent with review feedback injected (max 2 retries). MANUAL or retry limit exceeded → pushes to the human review queue with full context.</a:t>
            </a:r>
            <a:endParaRPr lang="en-US" sz="950" dirty="0"/>
          </a:p>
        </p:txBody>
      </p:sp>
      <p:sp>
        <p:nvSpPr>
          <p:cNvPr id="34" name="Shape 32"/>
          <p:cNvSpPr/>
          <p:nvPr/>
        </p:nvSpPr>
        <p:spPr>
          <a:xfrm>
            <a:off x="6208776" y="4828032"/>
            <a:ext cx="5833872" cy="1444752"/>
          </a:xfrm>
          <a:prstGeom prst="rect">
            <a:avLst/>
          </a:prstGeom>
          <a:solidFill>
            <a:srgbClr val="E1F5EE"/>
          </a:solidFill>
          <a:ln w="1016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35" name="Shape 33"/>
          <p:cNvSpPr/>
          <p:nvPr/>
        </p:nvSpPr>
        <p:spPr>
          <a:xfrm>
            <a:off x="6336792" y="5330952"/>
            <a:ext cx="475488" cy="475488"/>
          </a:xfrm>
          <a:prstGeom prst="ellipse">
            <a:avLst/>
          </a:prstGeom>
          <a:solidFill>
            <a:srgbClr val="1D9E75"/>
          </a:solidFill>
          <a:ln w="12700">
            <a:solidFill>
              <a:srgbClr val="1D9E75">
                <a:alpha val="0"/>
              </a:srgbClr>
            </a:solidFill>
            <a:prstDash val="solid"/>
          </a:ln>
        </p:spPr>
        <p:txBody>
          <a:bodyPr/>
          <a:lstStyle/>
          <a:p>
            <a:endParaRPr lang="en-US"/>
          </a:p>
        </p:txBody>
      </p:sp>
      <p:sp>
        <p:nvSpPr>
          <p:cNvPr id="36" name="Text 34"/>
          <p:cNvSpPr/>
          <p:nvPr/>
        </p:nvSpPr>
        <p:spPr>
          <a:xfrm>
            <a:off x="6336792" y="5330952"/>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6</a:t>
            </a:r>
            <a:endParaRPr lang="en-US" sz="2000" dirty="0"/>
          </a:p>
        </p:txBody>
      </p:sp>
      <p:sp>
        <p:nvSpPr>
          <p:cNvPr id="37" name="Text 35"/>
          <p:cNvSpPr/>
          <p:nvPr/>
        </p:nvSpPr>
        <p:spPr>
          <a:xfrm>
            <a:off x="6940296" y="4919472"/>
            <a:ext cx="4992624" cy="329184"/>
          </a:xfrm>
          <a:prstGeom prst="rect">
            <a:avLst/>
          </a:prstGeom>
          <a:noFill/>
          <a:ln/>
        </p:spPr>
        <p:txBody>
          <a:bodyPr wrap="square" lIns="0" tIns="0" rIns="0" bIns="0" rtlCol="0" anchor="ctr"/>
          <a:lstStyle/>
          <a:p>
            <a:pPr marL="0" indent="0" algn="l">
              <a:buNone/>
            </a:pPr>
            <a:r>
              <a:rPr lang="en-US" sz="1200" b="1" dirty="0">
                <a:solidFill>
                  <a:srgbClr val="1D9E75"/>
                </a:solidFill>
                <a:latin typeface="Georgia" pitchFamily="34" charset="0"/>
                <a:ea typeface="Georgia" pitchFamily="34" charset="-122"/>
                <a:cs typeface="Georgia" pitchFamily="34" charset="-120"/>
              </a:rPr>
              <a:t>Update the project log</a:t>
            </a:r>
            <a:endParaRPr lang="en-US" sz="1200" dirty="0"/>
          </a:p>
        </p:txBody>
      </p:sp>
      <p:sp>
        <p:nvSpPr>
          <p:cNvPr id="38" name="Text 36"/>
          <p:cNvSpPr/>
          <p:nvPr/>
        </p:nvSpPr>
        <p:spPr>
          <a:xfrm>
            <a:off x="6940296" y="5248656"/>
            <a:ext cx="4992624" cy="914400"/>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Updates migration-state.json with the final outcome — status, review score, model pair used, retry count, and any guardrail findings. Every decision is recorded. Nothing is a black box.</a:t>
            </a:r>
            <a:endParaRPr lang="en-US" sz="950" dirty="0"/>
          </a:p>
        </p:txBody>
      </p:sp>
      <p:sp>
        <p:nvSpPr>
          <p:cNvPr id="39" name="Shape 37"/>
          <p:cNvSpPr/>
          <p:nvPr/>
        </p:nvSpPr>
        <p:spPr>
          <a:xfrm>
            <a:off x="219456" y="6382512"/>
            <a:ext cx="11704320" cy="384048"/>
          </a:xfrm>
          <a:prstGeom prst="rect">
            <a:avLst/>
          </a:prstGeom>
          <a:solidFill>
            <a:srgbClr val="C47E0F"/>
          </a:solidFill>
          <a:ln w="12700">
            <a:solidFill>
              <a:srgbClr val="C47E0F">
                <a:alpha val="0"/>
              </a:srgbClr>
            </a:solidFill>
            <a:prstDash val="solid"/>
          </a:ln>
        </p:spPr>
        <p:txBody>
          <a:bodyPr/>
          <a:lstStyle/>
          <a:p>
            <a:endParaRPr lang="en-US"/>
          </a:p>
        </p:txBody>
      </p:sp>
      <p:sp>
        <p:nvSpPr>
          <p:cNvPr id="40" name="Text 38"/>
          <p:cNvSpPr/>
          <p:nvPr/>
        </p:nvSpPr>
        <p:spPr>
          <a:xfrm>
            <a:off x="347472" y="6382512"/>
            <a:ext cx="11521440" cy="384048"/>
          </a:xfrm>
          <a:prstGeom prst="rect">
            <a:avLst/>
          </a:prstGeom>
          <a:noFill/>
          <a:ln/>
        </p:spPr>
        <p:txBody>
          <a:bodyPr wrap="square" lIns="0" tIns="0" rIns="0" bIns="0" rtlCol="0" anchor="ctr"/>
          <a:lstStyle/>
          <a:p>
            <a:pPr marL="0" indent="0" algn="l">
              <a:buNone/>
            </a:pPr>
            <a:r>
              <a:rPr lang="en-US" sz="1050" b="1" dirty="0">
                <a:solidFill>
                  <a:srgbClr val="FFFFFF"/>
                </a:solidFill>
                <a:latin typeface="Georgia" pitchFamily="34" charset="0"/>
                <a:ea typeface="Georgia" pitchFamily="34" charset="-122"/>
                <a:cs typeface="Georgia" pitchFamily="34" charset="-120"/>
              </a:rPr>
              <a:t>Business impact: The Leader Agent is why FORGE never needs human intervention for routine files. It handles retry logic, feedback injection, and escalation automatically — humans only see the genuinely complex cases.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225296"/>
          </a:xfrm>
          <a:prstGeom prst="rect">
            <a:avLst/>
          </a:prstGeom>
          <a:solidFill>
            <a:srgbClr val="0A1628"/>
          </a:solidFill>
          <a:ln w="12700">
            <a:solidFill>
              <a:srgbClr val="0A1628">
                <a:alpha val="0"/>
              </a:srgbClr>
            </a:solidFill>
            <a:prstDash val="solid"/>
          </a:ln>
        </p:spPr>
        <p:txBody>
          <a:bodyPr/>
          <a:lstStyle/>
          <a:p>
            <a:endParaRPr lang="en-US"/>
          </a:p>
        </p:txBody>
      </p:sp>
      <p:sp>
        <p:nvSpPr>
          <p:cNvPr id="3" name="Shape 1"/>
          <p:cNvSpPr/>
          <p:nvPr/>
        </p:nvSpPr>
        <p:spPr>
          <a:xfrm>
            <a:off x="0" y="1225296"/>
            <a:ext cx="12161520" cy="50292"/>
          </a:xfrm>
          <a:prstGeom prst="rect">
            <a:avLst/>
          </a:prstGeom>
          <a:solidFill>
            <a:srgbClr val="F5A623"/>
          </a:solidFill>
          <a:ln w="12700">
            <a:solidFill>
              <a:srgbClr val="F5A623">
                <a:alpha val="0"/>
              </a:srgbClr>
            </a:solidFill>
            <a:prstDash val="solid"/>
          </a:ln>
        </p:spPr>
        <p:txBody>
          <a:bodyPr/>
          <a:lstStyle/>
          <a:p>
            <a:endParaRPr lang="en-US"/>
          </a:p>
        </p:txBody>
      </p:sp>
      <p:sp>
        <p:nvSpPr>
          <p:cNvPr id="4" name="Text 2"/>
          <p:cNvSpPr/>
          <p:nvPr/>
        </p:nvSpPr>
        <p:spPr>
          <a:xfrm>
            <a:off x="411480" y="109728"/>
            <a:ext cx="11247120" cy="256032"/>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06  ·  Discovery + Risk Agents</a:t>
            </a:r>
            <a:endParaRPr lang="en-US" sz="1000" dirty="0"/>
          </a:p>
        </p:txBody>
      </p:sp>
      <p:sp>
        <p:nvSpPr>
          <p:cNvPr id="5" name="Text 3"/>
          <p:cNvSpPr/>
          <p:nvPr/>
        </p:nvSpPr>
        <p:spPr>
          <a:xfrm>
            <a:off x="411480" y="347472"/>
            <a:ext cx="11247120" cy="749808"/>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The reconnaissance team — maps the codebase completely before any transformation begins.</a:t>
            </a:r>
            <a:endParaRPr lang="en-US" sz="2600" dirty="0"/>
          </a:p>
        </p:txBody>
      </p:sp>
      <p:sp>
        <p:nvSpPr>
          <p:cNvPr id="6" name="Shape 4"/>
          <p:cNvSpPr/>
          <p:nvPr/>
        </p:nvSpPr>
        <p:spPr>
          <a:xfrm>
            <a:off x="365760" y="1389888"/>
            <a:ext cx="5669280" cy="475488"/>
          </a:xfrm>
          <a:prstGeom prst="rect">
            <a:avLst/>
          </a:prstGeom>
          <a:solidFill>
            <a:srgbClr val="0A1628"/>
          </a:solidFill>
          <a:ln w="1270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7" name="Text 5"/>
          <p:cNvSpPr/>
          <p:nvPr/>
        </p:nvSpPr>
        <p:spPr>
          <a:xfrm>
            <a:off x="457200" y="1389888"/>
            <a:ext cx="2834640" cy="475488"/>
          </a:xfrm>
          <a:prstGeom prst="rect">
            <a:avLst/>
          </a:prstGeom>
          <a:noFill/>
          <a:ln/>
        </p:spPr>
        <p:txBody>
          <a:bodyPr wrap="square" lIns="0" tIns="0" rIns="0" bIns="0" rtlCol="0" anchor="ctr"/>
          <a:lstStyle/>
          <a:p>
            <a:pPr marL="0" indent="0" algn="l">
              <a:buNone/>
            </a:pPr>
            <a:r>
              <a:rPr lang="en-US" sz="1400" b="1" dirty="0">
                <a:solidFill>
                  <a:srgbClr val="FFFFFF"/>
                </a:solidFill>
                <a:latin typeface="Georgia" pitchFamily="34" charset="0"/>
                <a:ea typeface="Georgia" pitchFamily="34" charset="-122"/>
                <a:cs typeface="Georgia" pitchFamily="34" charset="-120"/>
              </a:rPr>
              <a:t>Discovery Agent</a:t>
            </a:r>
            <a:endParaRPr lang="en-US" sz="1400" dirty="0"/>
          </a:p>
        </p:txBody>
      </p:sp>
      <p:sp>
        <p:nvSpPr>
          <p:cNvPr id="8" name="Text 6"/>
          <p:cNvSpPr/>
          <p:nvPr/>
        </p:nvSpPr>
        <p:spPr>
          <a:xfrm>
            <a:off x="3200400" y="1389888"/>
            <a:ext cx="2743200" cy="475488"/>
          </a:xfrm>
          <a:prstGeom prst="rect">
            <a:avLst/>
          </a:prstGeom>
          <a:noFill/>
          <a:ln/>
        </p:spPr>
        <p:txBody>
          <a:bodyPr wrap="square" lIns="0" tIns="0" rIns="0" bIns="0" rtlCol="0" anchor="ctr"/>
          <a:lstStyle/>
          <a:p>
            <a:pPr marL="0" indent="0" algn="r">
              <a:buNone/>
            </a:pPr>
            <a:r>
              <a:rPr lang="en-US" sz="1100" i="1" dirty="0">
                <a:solidFill>
                  <a:srgbClr val="3B82C4"/>
                </a:solidFill>
                <a:latin typeface="Georgia" pitchFamily="34" charset="0"/>
                <a:ea typeface="Georgia" pitchFamily="34" charset="-122"/>
                <a:cs typeface="Georgia" pitchFamily="34" charset="-120"/>
              </a:rPr>
              <a:t>"The Cartographer"</a:t>
            </a:r>
            <a:endParaRPr lang="en-US" sz="1100" dirty="0"/>
          </a:p>
        </p:txBody>
      </p:sp>
      <p:sp>
        <p:nvSpPr>
          <p:cNvPr id="9" name="Shape 7"/>
          <p:cNvSpPr/>
          <p:nvPr/>
        </p:nvSpPr>
        <p:spPr>
          <a:xfrm>
            <a:off x="365760" y="1920240"/>
            <a:ext cx="5669280" cy="457200"/>
          </a:xfrm>
          <a:prstGeom prst="rect">
            <a:avLst/>
          </a:prstGeom>
          <a:solidFill>
            <a:srgbClr val="0F2040"/>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10" name="Text 8"/>
          <p:cNvSpPr/>
          <p:nvPr/>
        </p:nvSpPr>
        <p:spPr>
          <a:xfrm>
            <a:off x="457200" y="1920240"/>
            <a:ext cx="5486400" cy="457200"/>
          </a:xfrm>
          <a:prstGeom prst="rect">
            <a:avLst/>
          </a:prstGeom>
          <a:noFill/>
          <a:ln/>
        </p:spPr>
        <p:txBody>
          <a:bodyPr wrap="square" lIns="0" tIns="0" rIns="0" bIns="0" rtlCol="0" anchor="ctr"/>
          <a:lstStyle/>
          <a:p>
            <a:pPr marL="0" indent="0" algn="l">
              <a:buNone/>
            </a:pPr>
            <a:r>
              <a:rPr lang="en-US" sz="950" i="1" dirty="0">
                <a:solidFill>
                  <a:srgbClr val="E8EDF4"/>
                </a:solidFill>
                <a:latin typeface="Georgia" pitchFamily="34" charset="0"/>
                <a:ea typeface="Georgia" pitchFamily="34" charset="-122"/>
                <a:cs typeface="Georgia" pitchFamily="34" charset="-120"/>
              </a:rPr>
              <a:t>Before any builder breaks ground, a surveyor maps the land. The Discovery Agent does the same for your codebase — a complete map before a single line is changed.</a:t>
            </a:r>
            <a:endParaRPr lang="en-US" sz="950" dirty="0"/>
          </a:p>
        </p:txBody>
      </p:sp>
      <p:sp>
        <p:nvSpPr>
          <p:cNvPr id="11" name="Shape 9"/>
          <p:cNvSpPr/>
          <p:nvPr/>
        </p:nvSpPr>
        <p:spPr>
          <a:xfrm>
            <a:off x="365760" y="2450592"/>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12" name="Shape 10"/>
          <p:cNvSpPr/>
          <p:nvPr/>
        </p:nvSpPr>
        <p:spPr>
          <a:xfrm>
            <a:off x="457200" y="2688336"/>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13" name="Text 11"/>
          <p:cNvSpPr/>
          <p:nvPr/>
        </p:nvSpPr>
        <p:spPr>
          <a:xfrm>
            <a:off x="457200" y="268833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4" name="Text 12"/>
          <p:cNvSpPr/>
          <p:nvPr/>
        </p:nvSpPr>
        <p:spPr>
          <a:xfrm>
            <a:off x="932688" y="2505456"/>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Scan every directory</a:t>
            </a:r>
            <a:endParaRPr lang="en-US" sz="1000" dirty="0"/>
          </a:p>
        </p:txBody>
      </p:sp>
      <p:sp>
        <p:nvSpPr>
          <p:cNvPr id="15" name="Text 13"/>
          <p:cNvSpPr/>
          <p:nvPr/>
        </p:nvSpPr>
        <p:spPr>
          <a:xfrm>
            <a:off x="932688" y="2779776"/>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Walks the entire repository tree and catalogues every file — .java, .jsp, .xml, .properties. Builds a complete inventory in minutes, not days.</a:t>
            </a:r>
            <a:endParaRPr lang="en-US" sz="900" dirty="0"/>
          </a:p>
        </p:txBody>
      </p:sp>
      <p:sp>
        <p:nvSpPr>
          <p:cNvPr id="16" name="Shape 14"/>
          <p:cNvSpPr/>
          <p:nvPr/>
        </p:nvSpPr>
        <p:spPr>
          <a:xfrm>
            <a:off x="365760" y="3511296"/>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17" name="Shape 15"/>
          <p:cNvSpPr/>
          <p:nvPr/>
        </p:nvSpPr>
        <p:spPr>
          <a:xfrm>
            <a:off x="457200" y="3749040"/>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18" name="Text 16"/>
          <p:cNvSpPr/>
          <p:nvPr/>
        </p:nvSpPr>
        <p:spPr>
          <a:xfrm>
            <a:off x="457200" y="37490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9" name="Text 17"/>
          <p:cNvSpPr/>
          <p:nvPr/>
        </p:nvSpPr>
        <p:spPr>
          <a:xfrm>
            <a:off x="932688" y="3566160"/>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Classify each file</a:t>
            </a:r>
            <a:endParaRPr lang="en-US" sz="1000" dirty="0"/>
          </a:p>
        </p:txBody>
      </p:sp>
      <p:sp>
        <p:nvSpPr>
          <p:cNvPr id="20" name="Text 18"/>
          <p:cNvSpPr/>
          <p:nvPr/>
        </p:nvSpPr>
        <p:spPr>
          <a:xfrm>
            <a:off x="932688" y="3840480"/>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Determines what each file is: an action class, a form bean, a JSP view, a config file, a test, or something to skip (generated code, binary, out of scope).</a:t>
            </a:r>
            <a:endParaRPr lang="en-US" sz="900" dirty="0"/>
          </a:p>
        </p:txBody>
      </p:sp>
      <p:sp>
        <p:nvSpPr>
          <p:cNvPr id="21" name="Shape 19"/>
          <p:cNvSpPr/>
          <p:nvPr/>
        </p:nvSpPr>
        <p:spPr>
          <a:xfrm>
            <a:off x="365760" y="4572000"/>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22" name="Shape 20"/>
          <p:cNvSpPr/>
          <p:nvPr/>
        </p:nvSpPr>
        <p:spPr>
          <a:xfrm>
            <a:off x="457200" y="4809744"/>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23" name="Text 21"/>
          <p:cNvSpPr/>
          <p:nvPr/>
        </p:nvSpPr>
        <p:spPr>
          <a:xfrm>
            <a:off x="457200" y="480974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4" name="Text 22"/>
          <p:cNvSpPr/>
          <p:nvPr/>
        </p:nvSpPr>
        <p:spPr>
          <a:xfrm>
            <a:off x="932688" y="4626864"/>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Identify dependencies</a:t>
            </a:r>
            <a:endParaRPr lang="en-US" sz="1000" dirty="0"/>
          </a:p>
        </p:txBody>
      </p:sp>
      <p:sp>
        <p:nvSpPr>
          <p:cNvPr id="25" name="Text 23"/>
          <p:cNvSpPr/>
          <p:nvPr/>
        </p:nvSpPr>
        <p:spPr>
          <a:xfrm>
            <a:off x="932688" y="4901184"/>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Maps which files depend on which others. An action class that uses a service must be migrated before the service test. The agent determines the correct processing order.</a:t>
            </a:r>
            <a:endParaRPr lang="en-US" sz="900" dirty="0"/>
          </a:p>
        </p:txBody>
      </p:sp>
      <p:sp>
        <p:nvSpPr>
          <p:cNvPr id="26" name="Shape 24"/>
          <p:cNvSpPr/>
          <p:nvPr/>
        </p:nvSpPr>
        <p:spPr>
          <a:xfrm>
            <a:off x="365760" y="5632704"/>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27" name="Shape 25"/>
          <p:cNvSpPr/>
          <p:nvPr/>
        </p:nvSpPr>
        <p:spPr>
          <a:xfrm>
            <a:off x="457200" y="5870448"/>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28" name="Text 26"/>
          <p:cNvSpPr/>
          <p:nvPr/>
        </p:nvSpPr>
        <p:spPr>
          <a:xfrm>
            <a:off x="457200" y="5870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9" name="Text 27"/>
          <p:cNvSpPr/>
          <p:nvPr/>
        </p:nvSpPr>
        <p:spPr>
          <a:xfrm>
            <a:off x="932688" y="5687568"/>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Produce the migration manifest</a:t>
            </a:r>
            <a:endParaRPr lang="en-US" sz="1000" dirty="0"/>
          </a:p>
        </p:txBody>
      </p:sp>
      <p:sp>
        <p:nvSpPr>
          <p:cNvPr id="30" name="Text 28"/>
          <p:cNvSpPr/>
          <p:nvPr/>
        </p:nvSpPr>
        <p:spPr>
          <a:xfrm>
            <a:off x="932688" y="5961888"/>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Outputs a structured manifest: total file count, type breakdown, dependency graph, and the processing order. This is what the Leader Agent uses to queue work.</a:t>
            </a:r>
            <a:endParaRPr lang="en-US" sz="900" dirty="0"/>
          </a:p>
        </p:txBody>
      </p:sp>
      <p:sp>
        <p:nvSpPr>
          <p:cNvPr id="31" name="Shape 29"/>
          <p:cNvSpPr/>
          <p:nvPr/>
        </p:nvSpPr>
        <p:spPr>
          <a:xfrm>
            <a:off x="4069080" y="6528816"/>
            <a:ext cx="1920240" cy="237744"/>
          </a:xfrm>
          <a:prstGeom prst="rect">
            <a:avLst/>
          </a:prstGeom>
          <a:solidFill>
            <a:srgbClr val="E6F1FB"/>
          </a:solidFill>
          <a:ln w="9525">
            <a:solidFill>
              <a:srgbClr val="3B82C4"/>
            </a:solidFill>
            <a:prstDash val="solid"/>
          </a:ln>
        </p:spPr>
        <p:txBody>
          <a:bodyPr/>
          <a:lstStyle/>
          <a:p>
            <a:endParaRPr lang="en-US"/>
          </a:p>
        </p:txBody>
      </p:sp>
      <p:sp>
        <p:nvSpPr>
          <p:cNvPr id="32" name="Text 30"/>
          <p:cNvSpPr/>
          <p:nvPr/>
        </p:nvSpPr>
        <p:spPr>
          <a:xfrm>
            <a:off x="4069080" y="6528816"/>
            <a:ext cx="1920240" cy="237744"/>
          </a:xfrm>
          <a:prstGeom prst="rect">
            <a:avLst/>
          </a:prstGeom>
          <a:noFill/>
          <a:ln/>
        </p:spPr>
        <p:txBody>
          <a:bodyPr wrap="square" lIns="0" tIns="0" rIns="0" bIns="0" rtlCol="0" anchor="ctr"/>
          <a:lstStyle/>
          <a:p>
            <a:pPr marL="0" indent="0" algn="ctr">
              <a:buNone/>
            </a:pPr>
            <a:r>
              <a:rPr lang="en-US" sz="900" b="1" dirty="0">
                <a:solidFill>
                  <a:srgbClr val="042C53"/>
                </a:solidFill>
                <a:latin typeface="Calibri" pitchFamily="34" charset="0"/>
                <a:ea typeface="Calibri" pitchFamily="34" charset="-122"/>
                <a:cs typeface="Calibri" pitchFamily="34" charset="-120"/>
              </a:rPr>
              <a:t>Claude Sonnet 4.5</a:t>
            </a:r>
            <a:endParaRPr lang="en-US" sz="900" dirty="0"/>
          </a:p>
        </p:txBody>
      </p:sp>
      <p:sp>
        <p:nvSpPr>
          <p:cNvPr id="33" name="Shape 31"/>
          <p:cNvSpPr/>
          <p:nvPr/>
        </p:nvSpPr>
        <p:spPr>
          <a:xfrm>
            <a:off x="6217920" y="1389888"/>
            <a:ext cx="5669280" cy="475488"/>
          </a:xfrm>
          <a:prstGeom prst="rect">
            <a:avLst/>
          </a:prstGeom>
          <a:solidFill>
            <a:srgbClr val="0A1628"/>
          </a:solidFill>
          <a:ln w="1270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34" name="Text 32"/>
          <p:cNvSpPr/>
          <p:nvPr/>
        </p:nvSpPr>
        <p:spPr>
          <a:xfrm>
            <a:off x="6309360" y="1389888"/>
            <a:ext cx="2834640" cy="475488"/>
          </a:xfrm>
          <a:prstGeom prst="rect">
            <a:avLst/>
          </a:prstGeom>
          <a:noFill/>
          <a:ln/>
        </p:spPr>
        <p:txBody>
          <a:bodyPr wrap="square" lIns="0" tIns="0" rIns="0" bIns="0" rtlCol="0" anchor="ctr"/>
          <a:lstStyle/>
          <a:p>
            <a:pPr marL="0" indent="0" algn="l">
              <a:buNone/>
            </a:pPr>
            <a:r>
              <a:rPr lang="en-US" sz="1400" b="1" dirty="0">
                <a:solidFill>
                  <a:srgbClr val="FFFFFF"/>
                </a:solidFill>
                <a:latin typeface="Georgia" pitchFamily="34" charset="0"/>
                <a:ea typeface="Georgia" pitchFamily="34" charset="-122"/>
                <a:cs typeface="Georgia" pitchFamily="34" charset="-120"/>
              </a:rPr>
              <a:t>Risk Scorer Agent</a:t>
            </a:r>
            <a:endParaRPr lang="en-US" sz="1400" dirty="0"/>
          </a:p>
        </p:txBody>
      </p:sp>
      <p:sp>
        <p:nvSpPr>
          <p:cNvPr id="35" name="Text 33"/>
          <p:cNvSpPr/>
          <p:nvPr/>
        </p:nvSpPr>
        <p:spPr>
          <a:xfrm>
            <a:off x="9052560" y="1389888"/>
            <a:ext cx="2743200" cy="475488"/>
          </a:xfrm>
          <a:prstGeom prst="rect">
            <a:avLst/>
          </a:prstGeom>
          <a:noFill/>
          <a:ln/>
        </p:spPr>
        <p:txBody>
          <a:bodyPr wrap="square" lIns="0" tIns="0" rIns="0" bIns="0" rtlCol="0" anchor="ctr"/>
          <a:lstStyle/>
          <a:p>
            <a:pPr marL="0" indent="0" algn="r">
              <a:buNone/>
            </a:pPr>
            <a:r>
              <a:rPr lang="en-US" sz="1100" i="1" dirty="0">
                <a:solidFill>
                  <a:srgbClr val="534AB7"/>
                </a:solidFill>
                <a:latin typeface="Georgia" pitchFamily="34" charset="0"/>
                <a:ea typeface="Georgia" pitchFamily="34" charset="-122"/>
                <a:cs typeface="Georgia" pitchFamily="34" charset="-120"/>
              </a:rPr>
              <a:t>"The Risk Assessor"</a:t>
            </a:r>
            <a:endParaRPr lang="en-US" sz="1100" dirty="0"/>
          </a:p>
        </p:txBody>
      </p:sp>
      <p:sp>
        <p:nvSpPr>
          <p:cNvPr id="36" name="Shape 34"/>
          <p:cNvSpPr/>
          <p:nvPr/>
        </p:nvSpPr>
        <p:spPr>
          <a:xfrm>
            <a:off x="6217920" y="1920240"/>
            <a:ext cx="5669280" cy="457200"/>
          </a:xfrm>
          <a:prstGeom prst="rect">
            <a:avLst/>
          </a:prstGeom>
          <a:solidFill>
            <a:srgbClr val="0F2040"/>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37" name="Text 35"/>
          <p:cNvSpPr/>
          <p:nvPr/>
        </p:nvSpPr>
        <p:spPr>
          <a:xfrm>
            <a:off x="6309360" y="1920240"/>
            <a:ext cx="5486400" cy="457200"/>
          </a:xfrm>
          <a:prstGeom prst="rect">
            <a:avLst/>
          </a:prstGeom>
          <a:noFill/>
          <a:ln/>
        </p:spPr>
        <p:txBody>
          <a:bodyPr wrap="square" lIns="0" tIns="0" rIns="0" bIns="0" rtlCol="0" anchor="ctr"/>
          <a:lstStyle/>
          <a:p>
            <a:pPr marL="0" indent="0" algn="l">
              <a:buNone/>
            </a:pPr>
            <a:r>
              <a:rPr lang="en-US" sz="950" i="1" dirty="0">
                <a:solidFill>
                  <a:srgbClr val="E8EDF4"/>
                </a:solidFill>
                <a:latin typeface="Georgia" pitchFamily="34" charset="0"/>
                <a:ea typeface="Georgia" pitchFamily="34" charset="-122"/>
                <a:cs typeface="Georgia" pitchFamily="34" charset="-120"/>
              </a:rPr>
              <a:t>Not all files are equally complex. The Risk Scorer reads the discovery manifest and scores each module — giving the team clarity on where the easy wins are and where the land mines are buried.</a:t>
            </a:r>
            <a:endParaRPr lang="en-US" sz="950" dirty="0"/>
          </a:p>
        </p:txBody>
      </p:sp>
      <p:sp>
        <p:nvSpPr>
          <p:cNvPr id="38" name="Shape 36"/>
          <p:cNvSpPr/>
          <p:nvPr/>
        </p:nvSpPr>
        <p:spPr>
          <a:xfrm>
            <a:off x="6217920" y="2450592"/>
            <a:ext cx="5669280" cy="969264"/>
          </a:xfrm>
          <a:prstGeom prst="rect">
            <a:avLst/>
          </a:prstGeom>
          <a:solidFill>
            <a:srgbClr val="EEEDFE"/>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39" name="Shape 37"/>
          <p:cNvSpPr/>
          <p:nvPr/>
        </p:nvSpPr>
        <p:spPr>
          <a:xfrm>
            <a:off x="6309360" y="2688336"/>
            <a:ext cx="384048" cy="384048"/>
          </a:xfrm>
          <a:prstGeom prst="ellipse">
            <a:avLst/>
          </a:prstGeom>
          <a:solidFill>
            <a:srgbClr val="534AB7"/>
          </a:solidFill>
          <a:ln w="12700">
            <a:solidFill>
              <a:srgbClr val="534AB7">
                <a:alpha val="0"/>
              </a:srgbClr>
            </a:solidFill>
            <a:prstDash val="solid"/>
          </a:ln>
        </p:spPr>
        <p:txBody>
          <a:bodyPr/>
          <a:lstStyle/>
          <a:p>
            <a:endParaRPr lang="en-US"/>
          </a:p>
        </p:txBody>
      </p:sp>
      <p:sp>
        <p:nvSpPr>
          <p:cNvPr id="40" name="Text 38"/>
          <p:cNvSpPr/>
          <p:nvPr/>
        </p:nvSpPr>
        <p:spPr>
          <a:xfrm>
            <a:off x="6309360" y="268833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41" name="Text 39"/>
          <p:cNvSpPr/>
          <p:nvPr/>
        </p:nvSpPr>
        <p:spPr>
          <a:xfrm>
            <a:off x="6784848" y="2505456"/>
            <a:ext cx="5010912" cy="256032"/>
          </a:xfrm>
          <a:prstGeom prst="rect">
            <a:avLst/>
          </a:prstGeom>
          <a:noFill/>
          <a:ln/>
        </p:spPr>
        <p:txBody>
          <a:bodyPr wrap="square" lIns="0" tIns="0" rIns="0" bIns="0" rtlCol="0" anchor="ctr"/>
          <a:lstStyle/>
          <a:p>
            <a:pPr marL="0" indent="0" algn="l">
              <a:buNone/>
            </a:pPr>
            <a:r>
              <a:rPr lang="en-US" sz="1000" b="1" dirty="0">
                <a:solidFill>
                  <a:srgbClr val="534AB7"/>
                </a:solidFill>
                <a:latin typeface="Georgia" pitchFamily="34" charset="0"/>
                <a:ea typeface="Georgia" pitchFamily="34" charset="-122"/>
                <a:cs typeface="Georgia" pitchFamily="34" charset="-120"/>
              </a:rPr>
              <a:t>Score each module</a:t>
            </a:r>
            <a:endParaRPr lang="en-US" sz="1000" dirty="0"/>
          </a:p>
        </p:txBody>
      </p:sp>
      <p:sp>
        <p:nvSpPr>
          <p:cNvPr id="42" name="Text 40"/>
          <p:cNvSpPr/>
          <p:nvPr/>
        </p:nvSpPr>
        <p:spPr>
          <a:xfrm>
            <a:off x="6784848" y="2779776"/>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Reads each file and assigns a complexity score based on: number of OGNL expressions, number of custom interceptors, EJB dependency count, file size, and number of action methods.</a:t>
            </a:r>
            <a:endParaRPr lang="en-US" sz="900" dirty="0"/>
          </a:p>
        </p:txBody>
      </p:sp>
      <p:sp>
        <p:nvSpPr>
          <p:cNvPr id="43" name="Shape 41"/>
          <p:cNvSpPr/>
          <p:nvPr/>
        </p:nvSpPr>
        <p:spPr>
          <a:xfrm>
            <a:off x="6217920" y="3511296"/>
            <a:ext cx="5669280" cy="969264"/>
          </a:xfrm>
          <a:prstGeom prst="rect">
            <a:avLst/>
          </a:prstGeom>
          <a:solidFill>
            <a:srgbClr val="EEEDFE"/>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44" name="Shape 42"/>
          <p:cNvSpPr/>
          <p:nvPr/>
        </p:nvSpPr>
        <p:spPr>
          <a:xfrm>
            <a:off x="6309360" y="3749040"/>
            <a:ext cx="384048" cy="384048"/>
          </a:xfrm>
          <a:prstGeom prst="ellipse">
            <a:avLst/>
          </a:prstGeom>
          <a:solidFill>
            <a:srgbClr val="534AB7"/>
          </a:solidFill>
          <a:ln w="12700">
            <a:solidFill>
              <a:srgbClr val="534AB7">
                <a:alpha val="0"/>
              </a:srgbClr>
            </a:solidFill>
            <a:prstDash val="solid"/>
          </a:ln>
        </p:spPr>
        <p:txBody>
          <a:bodyPr/>
          <a:lstStyle/>
          <a:p>
            <a:endParaRPr lang="en-US"/>
          </a:p>
        </p:txBody>
      </p:sp>
      <p:sp>
        <p:nvSpPr>
          <p:cNvPr id="45" name="Text 43"/>
          <p:cNvSpPr/>
          <p:nvPr/>
        </p:nvSpPr>
        <p:spPr>
          <a:xfrm>
            <a:off x="6309360" y="37490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46" name="Text 44"/>
          <p:cNvSpPr/>
          <p:nvPr/>
        </p:nvSpPr>
        <p:spPr>
          <a:xfrm>
            <a:off x="6784848" y="3566160"/>
            <a:ext cx="5010912" cy="256032"/>
          </a:xfrm>
          <a:prstGeom prst="rect">
            <a:avLst/>
          </a:prstGeom>
          <a:noFill/>
          <a:ln/>
        </p:spPr>
        <p:txBody>
          <a:bodyPr wrap="square" lIns="0" tIns="0" rIns="0" bIns="0" rtlCol="0" anchor="ctr"/>
          <a:lstStyle/>
          <a:p>
            <a:pPr marL="0" indent="0" algn="l">
              <a:buNone/>
            </a:pPr>
            <a:r>
              <a:rPr lang="en-US" sz="1000" b="1" dirty="0">
                <a:solidFill>
                  <a:srgbClr val="534AB7"/>
                </a:solidFill>
                <a:latin typeface="Georgia" pitchFamily="34" charset="0"/>
                <a:ea typeface="Georgia" pitchFamily="34" charset="-122"/>
                <a:cs typeface="Georgia" pitchFamily="34" charset="-120"/>
              </a:rPr>
              <a:t>Assign risk tier</a:t>
            </a:r>
            <a:endParaRPr lang="en-US" sz="1000" dirty="0"/>
          </a:p>
        </p:txBody>
      </p:sp>
      <p:sp>
        <p:nvSpPr>
          <p:cNvPr id="47" name="Text 45"/>
          <p:cNvSpPr/>
          <p:nvPr/>
        </p:nvSpPr>
        <p:spPr>
          <a:xfrm>
            <a:off x="6784848" y="3840480"/>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LOW risk: standard action class, simple results, no OGNL projections — high confidence the transform agent will pass first time. MEDIUM: ModelDriven pattern or complex validation. HIGH: EJB coupling, OGNL projections, custom result types.</a:t>
            </a:r>
            <a:endParaRPr lang="en-US" sz="900" dirty="0"/>
          </a:p>
        </p:txBody>
      </p:sp>
      <p:sp>
        <p:nvSpPr>
          <p:cNvPr id="48" name="Shape 46"/>
          <p:cNvSpPr/>
          <p:nvPr/>
        </p:nvSpPr>
        <p:spPr>
          <a:xfrm>
            <a:off x="6217920" y="4572000"/>
            <a:ext cx="5669280" cy="969264"/>
          </a:xfrm>
          <a:prstGeom prst="rect">
            <a:avLst/>
          </a:prstGeom>
          <a:solidFill>
            <a:srgbClr val="EEEDFE"/>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49" name="Shape 47"/>
          <p:cNvSpPr/>
          <p:nvPr/>
        </p:nvSpPr>
        <p:spPr>
          <a:xfrm>
            <a:off x="6309360" y="4809744"/>
            <a:ext cx="384048" cy="384048"/>
          </a:xfrm>
          <a:prstGeom prst="ellipse">
            <a:avLst/>
          </a:prstGeom>
          <a:solidFill>
            <a:srgbClr val="534AB7"/>
          </a:solidFill>
          <a:ln w="12700">
            <a:solidFill>
              <a:srgbClr val="534AB7">
                <a:alpha val="0"/>
              </a:srgbClr>
            </a:solidFill>
            <a:prstDash val="solid"/>
          </a:ln>
        </p:spPr>
        <p:txBody>
          <a:bodyPr/>
          <a:lstStyle/>
          <a:p>
            <a:endParaRPr lang="en-US"/>
          </a:p>
        </p:txBody>
      </p:sp>
      <p:sp>
        <p:nvSpPr>
          <p:cNvPr id="50" name="Text 48"/>
          <p:cNvSpPr/>
          <p:nvPr/>
        </p:nvSpPr>
        <p:spPr>
          <a:xfrm>
            <a:off x="6309360" y="480974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51" name="Text 49"/>
          <p:cNvSpPr/>
          <p:nvPr/>
        </p:nvSpPr>
        <p:spPr>
          <a:xfrm>
            <a:off x="6784848" y="4626864"/>
            <a:ext cx="5010912" cy="256032"/>
          </a:xfrm>
          <a:prstGeom prst="rect">
            <a:avLst/>
          </a:prstGeom>
          <a:noFill/>
          <a:ln/>
        </p:spPr>
        <p:txBody>
          <a:bodyPr wrap="square" lIns="0" tIns="0" rIns="0" bIns="0" rtlCol="0" anchor="ctr"/>
          <a:lstStyle/>
          <a:p>
            <a:pPr marL="0" indent="0" algn="l">
              <a:buNone/>
            </a:pPr>
            <a:r>
              <a:rPr lang="en-US" sz="1000" b="1" dirty="0">
                <a:solidFill>
                  <a:srgbClr val="534AB7"/>
                </a:solidFill>
                <a:latin typeface="Georgia" pitchFamily="34" charset="0"/>
                <a:ea typeface="Georgia" pitchFamily="34" charset="-122"/>
                <a:cs typeface="Georgia" pitchFamily="34" charset="-120"/>
              </a:rPr>
              <a:t>Order the migration</a:t>
            </a:r>
            <a:endParaRPr lang="en-US" sz="1000" dirty="0"/>
          </a:p>
        </p:txBody>
      </p:sp>
      <p:sp>
        <p:nvSpPr>
          <p:cNvPr id="52" name="Text 50"/>
          <p:cNvSpPr/>
          <p:nvPr/>
        </p:nvSpPr>
        <p:spPr>
          <a:xfrm>
            <a:off x="6784848" y="4901184"/>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Sequences files: LOW risk first (builds team confidence, calibrates the agents), HIGH risk last (by then the agents have been fine-tuned on real output from your codebase).</a:t>
            </a:r>
            <a:endParaRPr lang="en-US" sz="900" dirty="0"/>
          </a:p>
        </p:txBody>
      </p:sp>
      <p:sp>
        <p:nvSpPr>
          <p:cNvPr id="53" name="Shape 51"/>
          <p:cNvSpPr/>
          <p:nvPr/>
        </p:nvSpPr>
        <p:spPr>
          <a:xfrm>
            <a:off x="6217920" y="5632704"/>
            <a:ext cx="5669280" cy="969264"/>
          </a:xfrm>
          <a:prstGeom prst="rect">
            <a:avLst/>
          </a:prstGeom>
          <a:solidFill>
            <a:srgbClr val="EEEDFE"/>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54" name="Shape 52"/>
          <p:cNvSpPr/>
          <p:nvPr/>
        </p:nvSpPr>
        <p:spPr>
          <a:xfrm>
            <a:off x="6309360" y="5870448"/>
            <a:ext cx="384048" cy="384048"/>
          </a:xfrm>
          <a:prstGeom prst="ellipse">
            <a:avLst/>
          </a:prstGeom>
          <a:solidFill>
            <a:srgbClr val="534AB7"/>
          </a:solidFill>
          <a:ln w="12700">
            <a:solidFill>
              <a:srgbClr val="534AB7">
                <a:alpha val="0"/>
              </a:srgbClr>
            </a:solidFill>
            <a:prstDash val="solid"/>
          </a:ln>
        </p:spPr>
        <p:txBody>
          <a:bodyPr/>
          <a:lstStyle/>
          <a:p>
            <a:endParaRPr lang="en-US"/>
          </a:p>
        </p:txBody>
      </p:sp>
      <p:sp>
        <p:nvSpPr>
          <p:cNvPr id="55" name="Text 53"/>
          <p:cNvSpPr/>
          <p:nvPr/>
        </p:nvSpPr>
        <p:spPr>
          <a:xfrm>
            <a:off x="6309360" y="5870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56" name="Text 54"/>
          <p:cNvSpPr/>
          <p:nvPr/>
        </p:nvSpPr>
        <p:spPr>
          <a:xfrm>
            <a:off x="6784848" y="5687568"/>
            <a:ext cx="5010912" cy="256032"/>
          </a:xfrm>
          <a:prstGeom prst="rect">
            <a:avLst/>
          </a:prstGeom>
          <a:noFill/>
          <a:ln/>
        </p:spPr>
        <p:txBody>
          <a:bodyPr wrap="square" lIns="0" tIns="0" rIns="0" bIns="0" rtlCol="0" anchor="ctr"/>
          <a:lstStyle/>
          <a:p>
            <a:pPr marL="0" indent="0" algn="l">
              <a:buNone/>
            </a:pPr>
            <a:r>
              <a:rPr lang="en-US" sz="1000" b="1" dirty="0">
                <a:solidFill>
                  <a:srgbClr val="534AB7"/>
                </a:solidFill>
                <a:latin typeface="Georgia" pitchFamily="34" charset="0"/>
                <a:ea typeface="Georgia" pitchFamily="34" charset="-122"/>
                <a:cs typeface="Georgia" pitchFamily="34" charset="-120"/>
              </a:rPr>
              <a:t>Flag pre-emptive manual items</a:t>
            </a:r>
            <a:endParaRPr lang="en-US" sz="1000" dirty="0"/>
          </a:p>
        </p:txBody>
      </p:sp>
      <p:sp>
        <p:nvSpPr>
          <p:cNvPr id="57" name="Text 55"/>
          <p:cNvSpPr/>
          <p:nvPr/>
        </p:nvSpPr>
        <p:spPr>
          <a:xfrm>
            <a:off x="6784848" y="5961888"/>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Any file scoring above a maximum threshold goes directly to the human review queue before transformation is even attempted — saving wasted Bedrock API calls on files that are certain to fail.</a:t>
            </a:r>
            <a:endParaRPr lang="en-US" sz="900" dirty="0"/>
          </a:p>
        </p:txBody>
      </p:sp>
      <p:sp>
        <p:nvSpPr>
          <p:cNvPr id="58" name="Shape 56"/>
          <p:cNvSpPr/>
          <p:nvPr/>
        </p:nvSpPr>
        <p:spPr>
          <a:xfrm>
            <a:off x="9921240" y="6528816"/>
            <a:ext cx="1920240" cy="237744"/>
          </a:xfrm>
          <a:prstGeom prst="rect">
            <a:avLst/>
          </a:prstGeom>
          <a:solidFill>
            <a:srgbClr val="E6F1FB"/>
          </a:solidFill>
          <a:ln w="9525">
            <a:solidFill>
              <a:srgbClr val="3B82C4"/>
            </a:solidFill>
            <a:prstDash val="solid"/>
          </a:ln>
        </p:spPr>
        <p:txBody>
          <a:bodyPr/>
          <a:lstStyle/>
          <a:p>
            <a:endParaRPr lang="en-US"/>
          </a:p>
        </p:txBody>
      </p:sp>
      <p:sp>
        <p:nvSpPr>
          <p:cNvPr id="59" name="Text 57"/>
          <p:cNvSpPr/>
          <p:nvPr/>
        </p:nvSpPr>
        <p:spPr>
          <a:xfrm>
            <a:off x="9921240" y="6528816"/>
            <a:ext cx="1920240" cy="237744"/>
          </a:xfrm>
          <a:prstGeom prst="rect">
            <a:avLst/>
          </a:prstGeom>
          <a:noFill/>
          <a:ln/>
        </p:spPr>
        <p:txBody>
          <a:bodyPr wrap="square" lIns="0" tIns="0" rIns="0" bIns="0" rtlCol="0" anchor="ctr"/>
          <a:lstStyle/>
          <a:p>
            <a:pPr marL="0" indent="0" algn="ctr">
              <a:buNone/>
            </a:pPr>
            <a:r>
              <a:rPr lang="en-US" sz="900" b="1" dirty="0">
                <a:solidFill>
                  <a:srgbClr val="042C53"/>
                </a:solidFill>
                <a:latin typeface="Calibri" pitchFamily="34" charset="0"/>
                <a:ea typeface="Calibri" pitchFamily="34" charset="-122"/>
                <a:cs typeface="Calibri" pitchFamily="34" charset="-120"/>
              </a:rPr>
              <a:t>Claude Sonnet 4.5</a:t>
            </a:r>
            <a:endParaRPr lang="en-US" sz="900" dirty="0"/>
          </a:p>
        </p:txBody>
      </p:sp>
      <p:sp>
        <p:nvSpPr>
          <p:cNvPr id="60" name="Shape 58"/>
          <p:cNvSpPr/>
          <p:nvPr/>
        </p:nvSpPr>
        <p:spPr>
          <a:xfrm>
            <a:off x="219456" y="6382512"/>
            <a:ext cx="11704320" cy="384048"/>
          </a:xfrm>
          <a:prstGeom prst="rect">
            <a:avLst/>
          </a:prstGeom>
          <a:solidFill>
            <a:srgbClr val="C47E0F"/>
          </a:solidFill>
          <a:ln w="12700">
            <a:solidFill>
              <a:srgbClr val="C47E0F">
                <a:alpha val="0"/>
              </a:srgbClr>
            </a:solidFill>
            <a:prstDash val="solid"/>
          </a:ln>
        </p:spPr>
        <p:txBody>
          <a:bodyPr/>
          <a:lstStyle/>
          <a:p>
            <a:endParaRPr lang="en-US"/>
          </a:p>
        </p:txBody>
      </p:sp>
      <p:sp>
        <p:nvSpPr>
          <p:cNvPr id="61" name="Text 59"/>
          <p:cNvSpPr/>
          <p:nvPr/>
        </p:nvSpPr>
        <p:spPr>
          <a:xfrm>
            <a:off x="347472" y="6382512"/>
            <a:ext cx="11521440" cy="384048"/>
          </a:xfrm>
          <a:prstGeom prst="rect">
            <a:avLst/>
          </a:prstGeom>
          <a:noFill/>
          <a:ln/>
        </p:spPr>
        <p:txBody>
          <a:bodyPr wrap="square" lIns="0" tIns="0" rIns="0" bIns="0" rtlCol="0" anchor="ctr"/>
          <a:lstStyle/>
          <a:p>
            <a:pPr marL="0" indent="0" algn="l">
              <a:buNone/>
            </a:pPr>
            <a:r>
              <a:rPr lang="en-US" sz="1050" b="1" dirty="0">
                <a:solidFill>
                  <a:srgbClr val="FFFFFF"/>
                </a:solidFill>
                <a:latin typeface="Georgia" pitchFamily="34" charset="0"/>
                <a:ea typeface="Georgia" pitchFamily="34" charset="-122"/>
                <a:cs typeface="Georgia" pitchFamily="34" charset="-120"/>
              </a:rPr>
              <a:t>Business impact: These two agents are run once before migration begins. Together they save weeks of manual analysis and prevent the team from spending AI budget on files that should go straight to human review.</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225296"/>
          </a:xfrm>
          <a:prstGeom prst="rect">
            <a:avLst/>
          </a:prstGeom>
          <a:solidFill>
            <a:srgbClr val="0A1628"/>
          </a:solidFill>
          <a:ln w="12700">
            <a:solidFill>
              <a:srgbClr val="0A1628">
                <a:alpha val="0"/>
              </a:srgbClr>
            </a:solidFill>
            <a:prstDash val="solid"/>
          </a:ln>
        </p:spPr>
        <p:txBody>
          <a:bodyPr/>
          <a:lstStyle/>
          <a:p>
            <a:endParaRPr lang="en-US"/>
          </a:p>
        </p:txBody>
      </p:sp>
      <p:sp>
        <p:nvSpPr>
          <p:cNvPr id="3" name="Shape 1"/>
          <p:cNvSpPr/>
          <p:nvPr/>
        </p:nvSpPr>
        <p:spPr>
          <a:xfrm>
            <a:off x="0" y="1225296"/>
            <a:ext cx="12161520" cy="50292"/>
          </a:xfrm>
          <a:prstGeom prst="rect">
            <a:avLst/>
          </a:prstGeom>
          <a:solidFill>
            <a:srgbClr val="F5A623"/>
          </a:solidFill>
          <a:ln w="12700">
            <a:solidFill>
              <a:srgbClr val="F5A623">
                <a:alpha val="0"/>
              </a:srgbClr>
            </a:solidFill>
            <a:prstDash val="solid"/>
          </a:ln>
        </p:spPr>
        <p:txBody>
          <a:bodyPr/>
          <a:lstStyle/>
          <a:p>
            <a:endParaRPr lang="en-US"/>
          </a:p>
        </p:txBody>
      </p:sp>
      <p:sp>
        <p:nvSpPr>
          <p:cNvPr id="4" name="Text 2"/>
          <p:cNvSpPr/>
          <p:nvPr/>
        </p:nvSpPr>
        <p:spPr>
          <a:xfrm>
            <a:off x="411480" y="109728"/>
            <a:ext cx="11247120" cy="256032"/>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07  ·  Java + Spring Transform Agents</a:t>
            </a:r>
            <a:endParaRPr lang="en-US" sz="1000" dirty="0"/>
          </a:p>
        </p:txBody>
      </p:sp>
      <p:sp>
        <p:nvSpPr>
          <p:cNvPr id="5" name="Text 3"/>
          <p:cNvSpPr/>
          <p:nvPr/>
        </p:nvSpPr>
        <p:spPr>
          <a:xfrm>
            <a:off x="411480" y="347472"/>
            <a:ext cx="11247120" cy="749808"/>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The language and framework modernisers — updating the foundation before eliminating Struts.</a:t>
            </a:r>
            <a:endParaRPr lang="en-US" sz="2600" dirty="0"/>
          </a:p>
        </p:txBody>
      </p:sp>
      <p:sp>
        <p:nvSpPr>
          <p:cNvPr id="6" name="Shape 4"/>
          <p:cNvSpPr/>
          <p:nvPr/>
        </p:nvSpPr>
        <p:spPr>
          <a:xfrm>
            <a:off x="365760" y="1389888"/>
            <a:ext cx="5669280" cy="475488"/>
          </a:xfrm>
          <a:prstGeom prst="rect">
            <a:avLst/>
          </a:prstGeom>
          <a:solidFill>
            <a:srgbClr val="0A1628"/>
          </a:solidFill>
          <a:ln w="1270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7" name="Text 5"/>
          <p:cNvSpPr/>
          <p:nvPr/>
        </p:nvSpPr>
        <p:spPr>
          <a:xfrm>
            <a:off x="457200" y="1389888"/>
            <a:ext cx="2834640" cy="475488"/>
          </a:xfrm>
          <a:prstGeom prst="rect">
            <a:avLst/>
          </a:prstGeom>
          <a:noFill/>
          <a:ln/>
        </p:spPr>
        <p:txBody>
          <a:bodyPr wrap="square" lIns="0" tIns="0" rIns="0" bIns="0" rtlCol="0" anchor="ctr"/>
          <a:lstStyle/>
          <a:p>
            <a:pPr marL="0" indent="0" algn="l">
              <a:buNone/>
            </a:pPr>
            <a:r>
              <a:rPr lang="en-US" sz="1400" b="1" dirty="0">
                <a:solidFill>
                  <a:srgbClr val="FFFFFF"/>
                </a:solidFill>
                <a:latin typeface="Georgia" pitchFamily="34" charset="0"/>
                <a:ea typeface="Georgia" pitchFamily="34" charset="-122"/>
                <a:cs typeface="Georgia" pitchFamily="34" charset="-120"/>
              </a:rPr>
              <a:t>Java Upgrade Agent</a:t>
            </a:r>
            <a:endParaRPr lang="en-US" sz="1400" dirty="0"/>
          </a:p>
        </p:txBody>
      </p:sp>
      <p:sp>
        <p:nvSpPr>
          <p:cNvPr id="8" name="Text 6"/>
          <p:cNvSpPr/>
          <p:nvPr/>
        </p:nvSpPr>
        <p:spPr>
          <a:xfrm>
            <a:off x="3200400" y="1389888"/>
            <a:ext cx="2743200" cy="475488"/>
          </a:xfrm>
          <a:prstGeom prst="rect">
            <a:avLst/>
          </a:prstGeom>
          <a:noFill/>
          <a:ln/>
        </p:spPr>
        <p:txBody>
          <a:bodyPr wrap="square" lIns="0" tIns="0" rIns="0" bIns="0" rtlCol="0" anchor="ctr"/>
          <a:lstStyle/>
          <a:p>
            <a:pPr marL="0" indent="0" algn="r">
              <a:buNone/>
            </a:pPr>
            <a:r>
              <a:rPr lang="en-US" sz="1100" i="1" dirty="0">
                <a:solidFill>
                  <a:srgbClr val="FDD17A"/>
                </a:solidFill>
                <a:latin typeface="Georgia" pitchFamily="34" charset="0"/>
                <a:ea typeface="Georgia" pitchFamily="34" charset="-122"/>
                <a:cs typeface="Georgia" pitchFamily="34" charset="-120"/>
              </a:rPr>
              <a:t>"The Language Moderniser"</a:t>
            </a:r>
            <a:endParaRPr lang="en-US" sz="1100" dirty="0"/>
          </a:p>
        </p:txBody>
      </p:sp>
      <p:sp>
        <p:nvSpPr>
          <p:cNvPr id="9" name="Shape 7"/>
          <p:cNvSpPr/>
          <p:nvPr/>
        </p:nvSpPr>
        <p:spPr>
          <a:xfrm>
            <a:off x="365760" y="1920240"/>
            <a:ext cx="5669280" cy="457200"/>
          </a:xfrm>
          <a:prstGeom prst="rect">
            <a:avLst/>
          </a:prstGeom>
          <a:solidFill>
            <a:srgbClr val="0F2040"/>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10" name="Text 8"/>
          <p:cNvSpPr/>
          <p:nvPr/>
        </p:nvSpPr>
        <p:spPr>
          <a:xfrm>
            <a:off x="457200" y="1920240"/>
            <a:ext cx="5486400" cy="457200"/>
          </a:xfrm>
          <a:prstGeom prst="rect">
            <a:avLst/>
          </a:prstGeom>
          <a:noFill/>
          <a:ln/>
        </p:spPr>
        <p:txBody>
          <a:bodyPr wrap="square" lIns="0" tIns="0" rIns="0" bIns="0" rtlCol="0" anchor="ctr"/>
          <a:lstStyle/>
          <a:p>
            <a:pPr marL="0" indent="0" algn="l">
              <a:buNone/>
            </a:pPr>
            <a:r>
              <a:rPr lang="en-US" sz="950" i="1" dirty="0">
                <a:solidFill>
                  <a:srgbClr val="E8EDF4"/>
                </a:solidFill>
                <a:latin typeface="Georgia" pitchFamily="34" charset="0"/>
                <a:ea typeface="Georgia" pitchFamily="34" charset="-122"/>
                <a:cs typeface="Georgia" pitchFamily="34" charset="-120"/>
              </a:rPr>
              <a:t>Imagine a copyeditor updating a 15-year-old legal document — every outdated clause replaced with the modern equivalent, nothing removed without cause.</a:t>
            </a:r>
            <a:endParaRPr lang="en-US" sz="950" dirty="0"/>
          </a:p>
        </p:txBody>
      </p:sp>
      <p:sp>
        <p:nvSpPr>
          <p:cNvPr id="11" name="Shape 9"/>
          <p:cNvSpPr/>
          <p:nvPr/>
        </p:nvSpPr>
        <p:spPr>
          <a:xfrm>
            <a:off x="365760" y="2450592"/>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12" name="Shape 10"/>
          <p:cNvSpPr/>
          <p:nvPr/>
        </p:nvSpPr>
        <p:spPr>
          <a:xfrm>
            <a:off x="457200" y="2688336"/>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13" name="Text 11"/>
          <p:cNvSpPr/>
          <p:nvPr/>
        </p:nvSpPr>
        <p:spPr>
          <a:xfrm>
            <a:off x="457200" y="268833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4" name="Text 12"/>
          <p:cNvSpPr/>
          <p:nvPr/>
        </p:nvSpPr>
        <p:spPr>
          <a:xfrm>
            <a:off x="932688" y="2505456"/>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Detect deprecated Java patterns</a:t>
            </a:r>
            <a:endParaRPr lang="en-US" sz="1000" dirty="0"/>
          </a:p>
        </p:txBody>
      </p:sp>
      <p:sp>
        <p:nvSpPr>
          <p:cNvPr id="15" name="Text 13"/>
          <p:cNvSpPr/>
          <p:nvPr/>
        </p:nvSpPr>
        <p:spPr>
          <a:xfrm>
            <a:off x="932688" y="2779776"/>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Scans for every deprecated Java construct targeted for upgrade: outdated namespace imports, deprecated API calls, reflection patterns, and language features that must change in the target version. Produces a complete list before changing anything.</a:t>
            </a:r>
            <a:endParaRPr lang="en-US" sz="900" dirty="0"/>
          </a:p>
        </p:txBody>
      </p:sp>
      <p:sp>
        <p:nvSpPr>
          <p:cNvPr id="16" name="Shape 14"/>
          <p:cNvSpPr/>
          <p:nvPr/>
        </p:nvSpPr>
        <p:spPr>
          <a:xfrm>
            <a:off x="365760" y="3511296"/>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17" name="Shape 15"/>
          <p:cNvSpPr/>
          <p:nvPr/>
        </p:nvSpPr>
        <p:spPr>
          <a:xfrm>
            <a:off x="457200" y="3749040"/>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18" name="Text 16"/>
          <p:cNvSpPr/>
          <p:nvPr/>
        </p:nvSpPr>
        <p:spPr>
          <a:xfrm>
            <a:off x="457200" y="37490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9" name="Text 17"/>
          <p:cNvSpPr/>
          <p:nvPr/>
        </p:nvSpPr>
        <p:spPr>
          <a:xfrm>
            <a:off x="932688" y="3566160"/>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Update namespace and API imports</a:t>
            </a:r>
            <a:endParaRPr lang="en-US" sz="1000" dirty="0"/>
          </a:p>
        </p:txBody>
      </p:sp>
      <p:sp>
        <p:nvSpPr>
          <p:cNvPr id="20" name="Text 18"/>
          <p:cNvSpPr/>
          <p:nvPr/>
        </p:nvSpPr>
        <p:spPr>
          <a:xfrm>
            <a:off x="932688" y="3840480"/>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Rewrites every deprecated namespace import to its modern target equivalent. One file can have dozens of these. The agent handles them all systematically, ensuring no stale imports remain in the output.</a:t>
            </a:r>
            <a:endParaRPr lang="en-US" sz="900" dirty="0"/>
          </a:p>
        </p:txBody>
      </p:sp>
      <p:sp>
        <p:nvSpPr>
          <p:cNvPr id="21" name="Shape 19"/>
          <p:cNvSpPr/>
          <p:nvPr/>
        </p:nvSpPr>
        <p:spPr>
          <a:xfrm>
            <a:off x="365760" y="4572000"/>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22" name="Shape 20"/>
          <p:cNvSpPr/>
          <p:nvPr/>
        </p:nvSpPr>
        <p:spPr>
          <a:xfrm>
            <a:off x="457200" y="4809744"/>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23" name="Text 21"/>
          <p:cNvSpPr/>
          <p:nvPr/>
        </p:nvSpPr>
        <p:spPr>
          <a:xfrm>
            <a:off x="457200" y="480974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4" name="Text 22"/>
          <p:cNvSpPr/>
          <p:nvPr/>
        </p:nvSpPr>
        <p:spPr>
          <a:xfrm>
            <a:off x="932688" y="4626864"/>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Replace deprecated API calls</a:t>
            </a:r>
            <a:endParaRPr lang="en-US" sz="1000" dirty="0"/>
          </a:p>
        </p:txBody>
      </p:sp>
      <p:sp>
        <p:nvSpPr>
          <p:cNvPr id="25" name="Text 23"/>
          <p:cNvSpPr/>
          <p:nvPr/>
        </p:nvSpPr>
        <p:spPr>
          <a:xfrm>
            <a:off x="932688" y="4901184"/>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Substitutes every deprecated API call with the recommended modern replacement. For example, the old Date class replaced with java.time equivalents. No deprecated patterns remain in the output.</a:t>
            </a:r>
            <a:endParaRPr lang="en-US" sz="900" dirty="0"/>
          </a:p>
        </p:txBody>
      </p:sp>
      <p:sp>
        <p:nvSpPr>
          <p:cNvPr id="26" name="Shape 24"/>
          <p:cNvSpPr/>
          <p:nvPr/>
        </p:nvSpPr>
        <p:spPr>
          <a:xfrm>
            <a:off x="365760" y="5632704"/>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27" name="Shape 25"/>
          <p:cNvSpPr/>
          <p:nvPr/>
        </p:nvSpPr>
        <p:spPr>
          <a:xfrm>
            <a:off x="457200" y="5870448"/>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28" name="Text 26"/>
          <p:cNvSpPr/>
          <p:nvPr/>
        </p:nvSpPr>
        <p:spPr>
          <a:xfrm>
            <a:off x="457200" y="5870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9" name="Text 27"/>
          <p:cNvSpPr/>
          <p:nvPr/>
        </p:nvSpPr>
        <p:spPr>
          <a:xfrm>
            <a:off x="932688" y="5687568"/>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Apply modern Java features</a:t>
            </a:r>
            <a:endParaRPr lang="en-US" sz="1000" dirty="0"/>
          </a:p>
        </p:txBody>
      </p:sp>
      <p:sp>
        <p:nvSpPr>
          <p:cNvPr id="30" name="Text 28"/>
          <p:cNvSpPr/>
          <p:nvPr/>
        </p:nvSpPr>
        <p:spPr>
          <a:xfrm>
            <a:off x="932688" y="5961888"/>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Where it is safe to do so, introduces modern Java syntax: the 'var' keyword for local variables, text blocks for multi-line strings. Flags any file where records could replace a class — but does not auto-apply records.</a:t>
            </a:r>
            <a:endParaRPr lang="en-US" sz="900" dirty="0"/>
          </a:p>
        </p:txBody>
      </p:sp>
      <p:sp>
        <p:nvSpPr>
          <p:cNvPr id="31" name="Shape 29"/>
          <p:cNvSpPr/>
          <p:nvPr/>
        </p:nvSpPr>
        <p:spPr>
          <a:xfrm>
            <a:off x="4069080" y="6528816"/>
            <a:ext cx="1920240" cy="237744"/>
          </a:xfrm>
          <a:prstGeom prst="rect">
            <a:avLst/>
          </a:prstGeom>
          <a:solidFill>
            <a:srgbClr val="E6F1FB"/>
          </a:solidFill>
          <a:ln w="9525">
            <a:solidFill>
              <a:srgbClr val="3B82C4"/>
            </a:solidFill>
            <a:prstDash val="solid"/>
          </a:ln>
        </p:spPr>
        <p:txBody>
          <a:bodyPr/>
          <a:lstStyle/>
          <a:p>
            <a:endParaRPr lang="en-US"/>
          </a:p>
        </p:txBody>
      </p:sp>
      <p:sp>
        <p:nvSpPr>
          <p:cNvPr id="32" name="Text 30"/>
          <p:cNvSpPr/>
          <p:nvPr/>
        </p:nvSpPr>
        <p:spPr>
          <a:xfrm>
            <a:off x="4069080" y="6528816"/>
            <a:ext cx="1920240" cy="237744"/>
          </a:xfrm>
          <a:prstGeom prst="rect">
            <a:avLst/>
          </a:prstGeom>
          <a:noFill/>
          <a:ln/>
        </p:spPr>
        <p:txBody>
          <a:bodyPr wrap="square" lIns="0" tIns="0" rIns="0" bIns="0" rtlCol="0" anchor="ctr"/>
          <a:lstStyle/>
          <a:p>
            <a:pPr marL="0" indent="0" algn="ctr">
              <a:buNone/>
            </a:pPr>
            <a:r>
              <a:rPr lang="en-US" sz="900" b="1" dirty="0">
                <a:solidFill>
                  <a:srgbClr val="042C53"/>
                </a:solidFill>
                <a:latin typeface="Calibri" pitchFamily="34" charset="0"/>
                <a:ea typeface="Calibri" pitchFamily="34" charset="-122"/>
                <a:cs typeface="Calibri" pitchFamily="34" charset="-120"/>
              </a:rPr>
              <a:t>Claude Sonnet 4.5 + RAG</a:t>
            </a:r>
            <a:endParaRPr lang="en-US" sz="900" dirty="0"/>
          </a:p>
        </p:txBody>
      </p:sp>
      <p:sp>
        <p:nvSpPr>
          <p:cNvPr id="33" name="Shape 31"/>
          <p:cNvSpPr/>
          <p:nvPr/>
        </p:nvSpPr>
        <p:spPr>
          <a:xfrm>
            <a:off x="6309360" y="1389888"/>
            <a:ext cx="5669280" cy="475488"/>
          </a:xfrm>
          <a:prstGeom prst="rect">
            <a:avLst/>
          </a:prstGeom>
          <a:solidFill>
            <a:srgbClr val="0A1628"/>
          </a:solidFill>
          <a:ln w="12700">
            <a:solidFill>
              <a:srgbClr val="028090"/>
            </a:solidFill>
            <a:prstDash val="solid"/>
          </a:ln>
          <a:effectLst>
            <a:outerShdw blurRad="101600" dist="1016" dir="8100000" algn="bl" rotWithShape="0">
              <a:srgbClr val="000000">
                <a:alpha val="9000"/>
              </a:srgbClr>
            </a:outerShdw>
          </a:effectLst>
        </p:spPr>
        <p:txBody>
          <a:bodyPr/>
          <a:lstStyle/>
          <a:p>
            <a:endParaRPr lang="en-US"/>
          </a:p>
        </p:txBody>
      </p:sp>
      <p:sp>
        <p:nvSpPr>
          <p:cNvPr id="34" name="Text 32"/>
          <p:cNvSpPr/>
          <p:nvPr/>
        </p:nvSpPr>
        <p:spPr>
          <a:xfrm>
            <a:off x="6400800" y="1389888"/>
            <a:ext cx="2834640" cy="475488"/>
          </a:xfrm>
          <a:prstGeom prst="rect">
            <a:avLst/>
          </a:prstGeom>
          <a:noFill/>
          <a:ln/>
        </p:spPr>
        <p:txBody>
          <a:bodyPr wrap="square" lIns="0" tIns="0" rIns="0" bIns="0" rtlCol="0" anchor="ctr"/>
          <a:lstStyle/>
          <a:p>
            <a:pPr marL="0" indent="0" algn="l">
              <a:buNone/>
            </a:pPr>
            <a:r>
              <a:rPr lang="en-US" sz="1400" b="1" dirty="0">
                <a:solidFill>
                  <a:srgbClr val="FFFFFF"/>
                </a:solidFill>
                <a:latin typeface="Georgia" pitchFamily="34" charset="0"/>
                <a:ea typeface="Georgia" pitchFamily="34" charset="-122"/>
                <a:cs typeface="Georgia" pitchFamily="34" charset="-120"/>
              </a:rPr>
              <a:t>Spring Upgrade Agent</a:t>
            </a:r>
            <a:endParaRPr lang="en-US" sz="1400" dirty="0"/>
          </a:p>
        </p:txBody>
      </p:sp>
      <p:sp>
        <p:nvSpPr>
          <p:cNvPr id="35" name="Text 33"/>
          <p:cNvSpPr/>
          <p:nvPr/>
        </p:nvSpPr>
        <p:spPr>
          <a:xfrm>
            <a:off x="9144000" y="1389888"/>
            <a:ext cx="2743200" cy="475488"/>
          </a:xfrm>
          <a:prstGeom prst="rect">
            <a:avLst/>
          </a:prstGeom>
          <a:noFill/>
          <a:ln/>
        </p:spPr>
        <p:txBody>
          <a:bodyPr wrap="square" lIns="0" tIns="0" rIns="0" bIns="0" rtlCol="0" anchor="ctr"/>
          <a:lstStyle/>
          <a:p>
            <a:pPr marL="0" indent="0" algn="r">
              <a:buNone/>
            </a:pPr>
            <a:r>
              <a:rPr lang="en-US" sz="1100" i="1" dirty="0">
                <a:solidFill>
                  <a:srgbClr val="FDD17A"/>
                </a:solidFill>
                <a:latin typeface="Georgia" pitchFamily="34" charset="0"/>
                <a:ea typeface="Georgia" pitchFamily="34" charset="-122"/>
                <a:cs typeface="Georgia" pitchFamily="34" charset="-120"/>
              </a:rPr>
              <a:t>"The Framework Upgrader"</a:t>
            </a:r>
            <a:endParaRPr lang="en-US" sz="1100" dirty="0"/>
          </a:p>
        </p:txBody>
      </p:sp>
      <p:sp>
        <p:nvSpPr>
          <p:cNvPr id="36" name="Shape 34"/>
          <p:cNvSpPr/>
          <p:nvPr/>
        </p:nvSpPr>
        <p:spPr>
          <a:xfrm>
            <a:off x="6309360" y="1920240"/>
            <a:ext cx="5669280" cy="457200"/>
          </a:xfrm>
          <a:prstGeom prst="rect">
            <a:avLst/>
          </a:prstGeom>
          <a:solidFill>
            <a:srgbClr val="0F2040"/>
          </a:solidFill>
          <a:ln w="6350">
            <a:solidFill>
              <a:srgbClr val="028090"/>
            </a:solidFill>
            <a:prstDash val="solid"/>
          </a:ln>
          <a:effectLst>
            <a:outerShdw blurRad="101600" dist="1016" dir="8100000" algn="bl" rotWithShape="0">
              <a:srgbClr val="000000">
                <a:alpha val="9000"/>
              </a:srgbClr>
            </a:outerShdw>
          </a:effectLst>
        </p:spPr>
        <p:txBody>
          <a:bodyPr/>
          <a:lstStyle/>
          <a:p>
            <a:endParaRPr lang="en-US"/>
          </a:p>
        </p:txBody>
      </p:sp>
      <p:sp>
        <p:nvSpPr>
          <p:cNvPr id="37" name="Text 35"/>
          <p:cNvSpPr/>
          <p:nvPr/>
        </p:nvSpPr>
        <p:spPr>
          <a:xfrm>
            <a:off x="6400800" y="1920240"/>
            <a:ext cx="5486400" cy="457200"/>
          </a:xfrm>
          <a:prstGeom prst="rect">
            <a:avLst/>
          </a:prstGeom>
          <a:noFill/>
          <a:ln/>
        </p:spPr>
        <p:txBody>
          <a:bodyPr wrap="square" lIns="0" tIns="0" rIns="0" bIns="0" rtlCol="0" anchor="ctr"/>
          <a:lstStyle/>
          <a:p>
            <a:pPr marL="0" indent="0" algn="l">
              <a:buNone/>
            </a:pPr>
            <a:r>
              <a:rPr lang="en-US" sz="950" i="1" dirty="0">
                <a:solidFill>
                  <a:srgbClr val="E8EDF4"/>
                </a:solidFill>
                <a:latin typeface="Georgia" pitchFamily="34" charset="0"/>
                <a:ea typeface="Georgia" pitchFamily="34" charset="-122"/>
                <a:cs typeface="Georgia" pitchFamily="34" charset="-120"/>
              </a:rPr>
              <a:t>Like a building inspector updating a structure to meet the new code — the building stays standing throughout, but every non-compliant element is replaced.</a:t>
            </a:r>
            <a:endParaRPr lang="en-US" sz="950" dirty="0"/>
          </a:p>
        </p:txBody>
      </p:sp>
      <p:sp>
        <p:nvSpPr>
          <p:cNvPr id="38" name="Shape 36"/>
          <p:cNvSpPr/>
          <p:nvPr/>
        </p:nvSpPr>
        <p:spPr>
          <a:xfrm>
            <a:off x="6309360" y="2450592"/>
            <a:ext cx="5669280" cy="969264"/>
          </a:xfrm>
          <a:prstGeom prst="rect">
            <a:avLst/>
          </a:prstGeom>
          <a:solidFill>
            <a:srgbClr val="E1F5EE"/>
          </a:solidFill>
          <a:ln w="6350">
            <a:solidFill>
              <a:srgbClr val="028090"/>
            </a:solidFill>
            <a:prstDash val="solid"/>
          </a:ln>
          <a:effectLst>
            <a:outerShdw blurRad="101600" dist="1016" dir="8100000" algn="bl" rotWithShape="0">
              <a:srgbClr val="000000">
                <a:alpha val="9000"/>
              </a:srgbClr>
            </a:outerShdw>
          </a:effectLst>
        </p:spPr>
        <p:txBody>
          <a:bodyPr/>
          <a:lstStyle/>
          <a:p>
            <a:endParaRPr lang="en-US"/>
          </a:p>
        </p:txBody>
      </p:sp>
      <p:sp>
        <p:nvSpPr>
          <p:cNvPr id="39" name="Shape 37"/>
          <p:cNvSpPr/>
          <p:nvPr/>
        </p:nvSpPr>
        <p:spPr>
          <a:xfrm>
            <a:off x="6400800" y="2688336"/>
            <a:ext cx="384048" cy="384048"/>
          </a:xfrm>
          <a:prstGeom prst="ellipse">
            <a:avLst/>
          </a:prstGeom>
          <a:solidFill>
            <a:srgbClr val="028090"/>
          </a:solidFill>
          <a:ln w="12700">
            <a:solidFill>
              <a:srgbClr val="028090">
                <a:alpha val="0"/>
              </a:srgbClr>
            </a:solidFill>
            <a:prstDash val="solid"/>
          </a:ln>
        </p:spPr>
        <p:txBody>
          <a:bodyPr/>
          <a:lstStyle/>
          <a:p>
            <a:endParaRPr lang="en-US"/>
          </a:p>
        </p:txBody>
      </p:sp>
      <p:sp>
        <p:nvSpPr>
          <p:cNvPr id="40" name="Text 38"/>
          <p:cNvSpPr/>
          <p:nvPr/>
        </p:nvSpPr>
        <p:spPr>
          <a:xfrm>
            <a:off x="6400800" y="268833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41" name="Text 39"/>
          <p:cNvSpPr/>
          <p:nvPr/>
        </p:nvSpPr>
        <p:spPr>
          <a:xfrm>
            <a:off x="6876288" y="2505456"/>
            <a:ext cx="5010912" cy="256032"/>
          </a:xfrm>
          <a:prstGeom prst="rect">
            <a:avLst/>
          </a:prstGeom>
          <a:noFill/>
          <a:ln/>
        </p:spPr>
        <p:txBody>
          <a:bodyPr wrap="square" lIns="0" tIns="0" rIns="0" bIns="0" rtlCol="0" anchor="ctr"/>
          <a:lstStyle/>
          <a:p>
            <a:pPr marL="0" indent="0" algn="l">
              <a:buNone/>
            </a:pPr>
            <a:r>
              <a:rPr lang="en-US" sz="1000" b="1" dirty="0">
                <a:solidFill>
                  <a:srgbClr val="028090"/>
                </a:solidFill>
                <a:latin typeface="Georgia" pitchFamily="34" charset="0"/>
                <a:ea typeface="Georgia" pitchFamily="34" charset="-122"/>
                <a:cs typeface="Georgia" pitchFamily="34" charset="-120"/>
              </a:rPr>
              <a:t>Detect deprecated Spring security patterns</a:t>
            </a:r>
            <a:endParaRPr lang="en-US" sz="1000" dirty="0"/>
          </a:p>
        </p:txBody>
      </p:sp>
      <p:sp>
        <p:nvSpPr>
          <p:cNvPr id="42" name="Text 40"/>
          <p:cNvSpPr/>
          <p:nvPr/>
        </p:nvSpPr>
        <p:spPr>
          <a:xfrm>
            <a:off x="6876288" y="2779776"/>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Finds every deprecated Spring Security configuration pattern — class-extension approaches, deprecated matcher methods, and any patterns that the target Spring version no longer supports.</a:t>
            </a:r>
            <a:endParaRPr lang="en-US" sz="900" dirty="0"/>
          </a:p>
        </p:txBody>
      </p:sp>
      <p:sp>
        <p:nvSpPr>
          <p:cNvPr id="43" name="Shape 41"/>
          <p:cNvSpPr/>
          <p:nvPr/>
        </p:nvSpPr>
        <p:spPr>
          <a:xfrm>
            <a:off x="6309360" y="3511296"/>
            <a:ext cx="5669280" cy="969264"/>
          </a:xfrm>
          <a:prstGeom prst="rect">
            <a:avLst/>
          </a:prstGeom>
          <a:solidFill>
            <a:srgbClr val="E1F5EE"/>
          </a:solidFill>
          <a:ln w="6350">
            <a:solidFill>
              <a:srgbClr val="028090"/>
            </a:solidFill>
            <a:prstDash val="solid"/>
          </a:ln>
          <a:effectLst>
            <a:outerShdw blurRad="101600" dist="1016" dir="8100000" algn="bl" rotWithShape="0">
              <a:srgbClr val="000000">
                <a:alpha val="9000"/>
              </a:srgbClr>
            </a:outerShdw>
          </a:effectLst>
        </p:spPr>
        <p:txBody>
          <a:bodyPr/>
          <a:lstStyle/>
          <a:p>
            <a:endParaRPr lang="en-US"/>
          </a:p>
        </p:txBody>
      </p:sp>
      <p:sp>
        <p:nvSpPr>
          <p:cNvPr id="44" name="Shape 42"/>
          <p:cNvSpPr/>
          <p:nvPr/>
        </p:nvSpPr>
        <p:spPr>
          <a:xfrm>
            <a:off x="6400800" y="3749040"/>
            <a:ext cx="384048" cy="384048"/>
          </a:xfrm>
          <a:prstGeom prst="ellipse">
            <a:avLst/>
          </a:prstGeom>
          <a:solidFill>
            <a:srgbClr val="028090"/>
          </a:solidFill>
          <a:ln w="12700">
            <a:solidFill>
              <a:srgbClr val="028090">
                <a:alpha val="0"/>
              </a:srgbClr>
            </a:solidFill>
            <a:prstDash val="solid"/>
          </a:ln>
        </p:spPr>
        <p:txBody>
          <a:bodyPr/>
          <a:lstStyle/>
          <a:p>
            <a:endParaRPr lang="en-US"/>
          </a:p>
        </p:txBody>
      </p:sp>
      <p:sp>
        <p:nvSpPr>
          <p:cNvPr id="45" name="Text 43"/>
          <p:cNvSpPr/>
          <p:nvPr/>
        </p:nvSpPr>
        <p:spPr>
          <a:xfrm>
            <a:off x="6400800" y="37490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46" name="Text 44"/>
          <p:cNvSpPr/>
          <p:nvPr/>
        </p:nvSpPr>
        <p:spPr>
          <a:xfrm>
            <a:off x="6876288" y="3566160"/>
            <a:ext cx="5010912" cy="256032"/>
          </a:xfrm>
          <a:prstGeom prst="rect">
            <a:avLst/>
          </a:prstGeom>
          <a:noFill/>
          <a:ln/>
        </p:spPr>
        <p:txBody>
          <a:bodyPr wrap="square" lIns="0" tIns="0" rIns="0" bIns="0" rtlCol="0" anchor="ctr"/>
          <a:lstStyle/>
          <a:p>
            <a:pPr marL="0" indent="0" algn="l">
              <a:buNone/>
            </a:pPr>
            <a:r>
              <a:rPr lang="en-US" sz="1000" b="1" dirty="0">
                <a:solidFill>
                  <a:srgbClr val="028090"/>
                </a:solidFill>
                <a:latin typeface="Georgia" pitchFamily="34" charset="0"/>
                <a:ea typeface="Georgia" pitchFamily="34" charset="-122"/>
                <a:cs typeface="Georgia" pitchFamily="34" charset="-120"/>
              </a:rPr>
              <a:t>Rewrite security configuration</a:t>
            </a:r>
            <a:endParaRPr lang="en-US" sz="1000" dirty="0"/>
          </a:p>
        </p:txBody>
      </p:sp>
      <p:sp>
        <p:nvSpPr>
          <p:cNvPr id="47" name="Text 45"/>
          <p:cNvSpPr/>
          <p:nvPr/>
        </p:nvSpPr>
        <p:spPr>
          <a:xfrm>
            <a:off x="6876288" y="3840480"/>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Replaces deprecated security configuration with the target Spring version equivalent — @Bean-based SecurityFilterChain, updated matcher methods. The security rules are preserved; only the mechanism changes.</a:t>
            </a:r>
            <a:endParaRPr lang="en-US" sz="900" dirty="0"/>
          </a:p>
        </p:txBody>
      </p:sp>
      <p:sp>
        <p:nvSpPr>
          <p:cNvPr id="48" name="Shape 46"/>
          <p:cNvSpPr/>
          <p:nvPr/>
        </p:nvSpPr>
        <p:spPr>
          <a:xfrm>
            <a:off x="6309360" y="4572000"/>
            <a:ext cx="5669280" cy="969264"/>
          </a:xfrm>
          <a:prstGeom prst="rect">
            <a:avLst/>
          </a:prstGeom>
          <a:solidFill>
            <a:srgbClr val="E1F5EE"/>
          </a:solidFill>
          <a:ln w="6350">
            <a:solidFill>
              <a:srgbClr val="028090"/>
            </a:solidFill>
            <a:prstDash val="solid"/>
          </a:ln>
          <a:effectLst>
            <a:outerShdw blurRad="101600" dist="1016" dir="8100000" algn="bl" rotWithShape="0">
              <a:srgbClr val="000000">
                <a:alpha val="9000"/>
              </a:srgbClr>
            </a:outerShdw>
          </a:effectLst>
        </p:spPr>
        <p:txBody>
          <a:bodyPr/>
          <a:lstStyle/>
          <a:p>
            <a:endParaRPr lang="en-US"/>
          </a:p>
        </p:txBody>
      </p:sp>
      <p:sp>
        <p:nvSpPr>
          <p:cNvPr id="49" name="Shape 47"/>
          <p:cNvSpPr/>
          <p:nvPr/>
        </p:nvSpPr>
        <p:spPr>
          <a:xfrm>
            <a:off x="6400800" y="4809744"/>
            <a:ext cx="384048" cy="384048"/>
          </a:xfrm>
          <a:prstGeom prst="ellipse">
            <a:avLst/>
          </a:prstGeom>
          <a:solidFill>
            <a:srgbClr val="028090"/>
          </a:solidFill>
          <a:ln w="12700">
            <a:solidFill>
              <a:srgbClr val="028090">
                <a:alpha val="0"/>
              </a:srgbClr>
            </a:solidFill>
            <a:prstDash val="solid"/>
          </a:ln>
        </p:spPr>
        <p:txBody>
          <a:bodyPr/>
          <a:lstStyle/>
          <a:p>
            <a:endParaRPr lang="en-US"/>
          </a:p>
        </p:txBody>
      </p:sp>
      <p:sp>
        <p:nvSpPr>
          <p:cNvPr id="50" name="Text 48"/>
          <p:cNvSpPr/>
          <p:nvPr/>
        </p:nvSpPr>
        <p:spPr>
          <a:xfrm>
            <a:off x="6400800" y="480974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51" name="Text 49"/>
          <p:cNvSpPr/>
          <p:nvPr/>
        </p:nvSpPr>
        <p:spPr>
          <a:xfrm>
            <a:off x="6876288" y="4626864"/>
            <a:ext cx="5010912" cy="256032"/>
          </a:xfrm>
          <a:prstGeom prst="rect">
            <a:avLst/>
          </a:prstGeom>
          <a:noFill/>
          <a:ln/>
        </p:spPr>
        <p:txBody>
          <a:bodyPr wrap="square" lIns="0" tIns="0" rIns="0" bIns="0" rtlCol="0" anchor="ctr"/>
          <a:lstStyle/>
          <a:p>
            <a:pPr marL="0" indent="0" algn="l">
              <a:buNone/>
            </a:pPr>
            <a:r>
              <a:rPr lang="en-US" sz="1000" b="1" dirty="0">
                <a:solidFill>
                  <a:srgbClr val="028090"/>
                </a:solidFill>
                <a:latin typeface="Georgia" pitchFamily="34" charset="0"/>
                <a:ea typeface="Georgia" pitchFamily="34" charset="-122"/>
                <a:cs typeface="Georgia" pitchFamily="34" charset="-120"/>
              </a:rPr>
              <a:t>Update serialisation patterns</a:t>
            </a:r>
            <a:endParaRPr lang="en-US" sz="1000" dirty="0"/>
          </a:p>
        </p:txBody>
      </p:sp>
      <p:sp>
        <p:nvSpPr>
          <p:cNvPr id="52" name="Text 50"/>
          <p:cNvSpPr/>
          <p:nvPr/>
        </p:nvSpPr>
        <p:spPr>
          <a:xfrm>
            <a:off x="6876288" y="4901184"/>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Detects and updates serialisation patterns that changed between Spring versions — JSON library handling, type conversion, and response formatting. The agent ensures correct behaviour under the target Spring version.</a:t>
            </a:r>
            <a:endParaRPr lang="en-US" sz="900" dirty="0"/>
          </a:p>
        </p:txBody>
      </p:sp>
      <p:sp>
        <p:nvSpPr>
          <p:cNvPr id="53" name="Shape 51"/>
          <p:cNvSpPr/>
          <p:nvPr/>
        </p:nvSpPr>
        <p:spPr>
          <a:xfrm>
            <a:off x="6309360" y="5632704"/>
            <a:ext cx="5669280" cy="969264"/>
          </a:xfrm>
          <a:prstGeom prst="rect">
            <a:avLst/>
          </a:prstGeom>
          <a:solidFill>
            <a:srgbClr val="E1F5EE"/>
          </a:solidFill>
          <a:ln w="6350">
            <a:solidFill>
              <a:srgbClr val="028090"/>
            </a:solidFill>
            <a:prstDash val="solid"/>
          </a:ln>
          <a:effectLst>
            <a:outerShdw blurRad="101600" dist="1016" dir="8100000" algn="bl" rotWithShape="0">
              <a:srgbClr val="000000">
                <a:alpha val="9000"/>
              </a:srgbClr>
            </a:outerShdw>
          </a:effectLst>
        </p:spPr>
        <p:txBody>
          <a:bodyPr/>
          <a:lstStyle/>
          <a:p>
            <a:endParaRPr lang="en-US"/>
          </a:p>
        </p:txBody>
      </p:sp>
      <p:sp>
        <p:nvSpPr>
          <p:cNvPr id="54" name="Shape 52"/>
          <p:cNvSpPr/>
          <p:nvPr/>
        </p:nvSpPr>
        <p:spPr>
          <a:xfrm>
            <a:off x="6400800" y="5870448"/>
            <a:ext cx="384048" cy="384048"/>
          </a:xfrm>
          <a:prstGeom prst="ellipse">
            <a:avLst/>
          </a:prstGeom>
          <a:solidFill>
            <a:srgbClr val="028090"/>
          </a:solidFill>
          <a:ln w="12700">
            <a:solidFill>
              <a:srgbClr val="028090">
                <a:alpha val="0"/>
              </a:srgbClr>
            </a:solidFill>
            <a:prstDash val="solid"/>
          </a:ln>
        </p:spPr>
        <p:txBody>
          <a:bodyPr/>
          <a:lstStyle/>
          <a:p>
            <a:endParaRPr lang="en-US"/>
          </a:p>
        </p:txBody>
      </p:sp>
      <p:sp>
        <p:nvSpPr>
          <p:cNvPr id="55" name="Text 53"/>
          <p:cNvSpPr/>
          <p:nvPr/>
        </p:nvSpPr>
        <p:spPr>
          <a:xfrm>
            <a:off x="6400800" y="5870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56" name="Text 54"/>
          <p:cNvSpPr/>
          <p:nvPr/>
        </p:nvSpPr>
        <p:spPr>
          <a:xfrm>
            <a:off x="6876288" y="5687568"/>
            <a:ext cx="5010912" cy="256032"/>
          </a:xfrm>
          <a:prstGeom prst="rect">
            <a:avLst/>
          </a:prstGeom>
          <a:noFill/>
          <a:ln/>
        </p:spPr>
        <p:txBody>
          <a:bodyPr wrap="square" lIns="0" tIns="0" rIns="0" bIns="0" rtlCol="0" anchor="ctr"/>
          <a:lstStyle/>
          <a:p>
            <a:pPr marL="0" indent="0" algn="l">
              <a:buNone/>
            </a:pPr>
            <a:r>
              <a:rPr lang="en-US" sz="1000" b="1" dirty="0">
                <a:solidFill>
                  <a:srgbClr val="028090"/>
                </a:solidFill>
                <a:latin typeface="Georgia" pitchFamily="34" charset="0"/>
                <a:ea typeface="Georgia" pitchFamily="34" charset="-122"/>
                <a:cs typeface="Georgia" pitchFamily="34" charset="-120"/>
              </a:rPr>
              <a:t>Validate the build file</a:t>
            </a:r>
            <a:endParaRPr lang="en-US" sz="1000" dirty="0"/>
          </a:p>
        </p:txBody>
      </p:sp>
      <p:sp>
        <p:nvSpPr>
          <p:cNvPr id="57" name="Text 55"/>
          <p:cNvSpPr/>
          <p:nvPr/>
        </p:nvSpPr>
        <p:spPr>
          <a:xfrm>
            <a:off x="6876288" y="5961888"/>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Checks pom.xml to confirm the Spring Boot version matches the target Spring requirements. Flags any dependency version mismatches that could cause the application to fail to compile after migration.</a:t>
            </a:r>
            <a:endParaRPr lang="en-US" sz="900" dirty="0"/>
          </a:p>
        </p:txBody>
      </p:sp>
      <p:sp>
        <p:nvSpPr>
          <p:cNvPr id="58" name="Shape 56"/>
          <p:cNvSpPr/>
          <p:nvPr/>
        </p:nvSpPr>
        <p:spPr>
          <a:xfrm>
            <a:off x="10012680" y="6528816"/>
            <a:ext cx="1920240" cy="237744"/>
          </a:xfrm>
          <a:prstGeom prst="rect">
            <a:avLst/>
          </a:prstGeom>
          <a:solidFill>
            <a:srgbClr val="E6F1FB"/>
          </a:solidFill>
          <a:ln w="9525">
            <a:solidFill>
              <a:srgbClr val="3B82C4"/>
            </a:solidFill>
            <a:prstDash val="solid"/>
          </a:ln>
        </p:spPr>
        <p:txBody>
          <a:bodyPr/>
          <a:lstStyle/>
          <a:p>
            <a:endParaRPr lang="en-US"/>
          </a:p>
        </p:txBody>
      </p:sp>
      <p:sp>
        <p:nvSpPr>
          <p:cNvPr id="59" name="Text 57"/>
          <p:cNvSpPr/>
          <p:nvPr/>
        </p:nvSpPr>
        <p:spPr>
          <a:xfrm>
            <a:off x="10012680" y="6528816"/>
            <a:ext cx="1920240" cy="237744"/>
          </a:xfrm>
          <a:prstGeom prst="rect">
            <a:avLst/>
          </a:prstGeom>
          <a:noFill/>
          <a:ln/>
        </p:spPr>
        <p:txBody>
          <a:bodyPr wrap="square" lIns="0" tIns="0" rIns="0" bIns="0" rtlCol="0" anchor="ctr"/>
          <a:lstStyle/>
          <a:p>
            <a:pPr marL="0" indent="0" algn="ctr">
              <a:buNone/>
            </a:pPr>
            <a:r>
              <a:rPr lang="en-US" sz="900" b="1" dirty="0">
                <a:solidFill>
                  <a:srgbClr val="042C53"/>
                </a:solidFill>
                <a:latin typeface="Calibri" pitchFamily="34" charset="0"/>
                <a:ea typeface="Calibri" pitchFamily="34" charset="-122"/>
                <a:cs typeface="Calibri" pitchFamily="34" charset="-120"/>
              </a:rPr>
              <a:t>Claude Sonnet 4.5 + RAG</a:t>
            </a:r>
            <a:endParaRPr lang="en-US" sz="900" dirty="0"/>
          </a:p>
        </p:txBody>
      </p:sp>
      <p:sp>
        <p:nvSpPr>
          <p:cNvPr id="60" name="Shape 58"/>
          <p:cNvSpPr/>
          <p:nvPr/>
        </p:nvSpPr>
        <p:spPr>
          <a:xfrm>
            <a:off x="219456" y="6382512"/>
            <a:ext cx="11704320" cy="384048"/>
          </a:xfrm>
          <a:prstGeom prst="rect">
            <a:avLst/>
          </a:prstGeom>
          <a:solidFill>
            <a:srgbClr val="C47E0F"/>
          </a:solidFill>
          <a:ln w="12700">
            <a:solidFill>
              <a:srgbClr val="C47E0F">
                <a:alpha val="0"/>
              </a:srgbClr>
            </a:solidFill>
            <a:prstDash val="solid"/>
          </a:ln>
        </p:spPr>
        <p:txBody>
          <a:bodyPr/>
          <a:lstStyle/>
          <a:p>
            <a:endParaRPr lang="en-US"/>
          </a:p>
        </p:txBody>
      </p:sp>
      <p:sp>
        <p:nvSpPr>
          <p:cNvPr id="61" name="Text 59"/>
          <p:cNvSpPr/>
          <p:nvPr/>
        </p:nvSpPr>
        <p:spPr>
          <a:xfrm>
            <a:off x="347472" y="6382512"/>
            <a:ext cx="11521440" cy="384048"/>
          </a:xfrm>
          <a:prstGeom prst="rect">
            <a:avLst/>
          </a:prstGeom>
          <a:noFill/>
          <a:ln/>
        </p:spPr>
        <p:txBody>
          <a:bodyPr wrap="square" lIns="0" tIns="0" rIns="0" bIns="0" rtlCol="0" anchor="ctr"/>
          <a:lstStyle/>
          <a:p>
            <a:pPr marL="0" indent="0" algn="l">
              <a:buNone/>
            </a:pPr>
            <a:r>
              <a:rPr lang="en-US" sz="1050" b="1" dirty="0">
                <a:solidFill>
                  <a:srgbClr val="FFFFFF"/>
                </a:solidFill>
                <a:latin typeface="Georgia" pitchFamily="34" charset="0"/>
                <a:ea typeface="Georgia" pitchFamily="34" charset="-122"/>
                <a:cs typeface="Georgia" pitchFamily="34" charset="-120"/>
              </a:rPr>
              <a:t>Business impact: These two agents run first on every file. By the time the Struts elimination agent runs, the Java language and Spring framework are already fully upgraded — making the Struts migration cleaner and more reliable.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E05252"/>
          </a:solidFill>
          <a:ln w="12700">
            <a:solidFill>
              <a:srgbClr val="E05252">
                <a:alpha val="0"/>
              </a:srgbClr>
            </a:solidFill>
            <a:prstDash val="solid"/>
          </a:ln>
        </p:spPr>
        <p:txBody>
          <a:bodyPr/>
          <a:lstStyle/>
          <a:p>
            <a:endParaRPr lang="en-US"/>
          </a:p>
        </p:txBody>
      </p:sp>
      <p:sp>
        <p:nvSpPr>
          <p:cNvPr id="3" name="Text 1"/>
          <p:cNvSpPr/>
          <p:nvPr/>
        </p:nvSpPr>
        <p:spPr>
          <a:xfrm>
            <a:off x="219456" y="128016"/>
            <a:ext cx="457200" cy="274320"/>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07  ·</a:t>
            </a:r>
            <a:endParaRPr lang="en-US" sz="1000" dirty="0"/>
          </a:p>
        </p:txBody>
      </p:sp>
      <p:sp>
        <p:nvSpPr>
          <p:cNvPr id="4" name="Text 2"/>
          <p:cNvSpPr/>
          <p:nvPr/>
        </p:nvSpPr>
        <p:spPr>
          <a:xfrm>
            <a:off x="219456" y="100584"/>
            <a:ext cx="1170432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Georgia" pitchFamily="34" charset="0"/>
                <a:ea typeface="Georgia" pitchFamily="34" charset="-122"/>
                <a:cs typeface="Georgia" pitchFamily="34" charset="-120"/>
              </a:rPr>
              <a:t>The Struts Elimination Agent</a:t>
            </a:r>
            <a:endParaRPr lang="en-US" sz="2800" dirty="0"/>
          </a:p>
        </p:txBody>
      </p:sp>
      <p:sp>
        <p:nvSpPr>
          <p:cNvPr id="5" name="Text 3"/>
          <p:cNvSpPr/>
          <p:nvPr/>
        </p:nvSpPr>
        <p:spPr>
          <a:xfrm>
            <a:off x="219456" y="603504"/>
            <a:ext cx="10789920" cy="329184"/>
          </a:xfrm>
          <a:prstGeom prst="rect">
            <a:avLst/>
          </a:prstGeom>
          <a:noFill/>
          <a:ln/>
        </p:spPr>
        <p:txBody>
          <a:bodyPr wrap="square" lIns="0" tIns="0" rIns="0" bIns="0" rtlCol="0" anchor="ctr"/>
          <a:lstStyle/>
          <a:p>
            <a:pPr marL="0" indent="0" algn="l">
              <a:buNone/>
            </a:pPr>
            <a:r>
              <a:rPr lang="en-US" sz="1300" i="1" dirty="0">
                <a:solidFill>
                  <a:srgbClr val="FDD17A"/>
                </a:solidFill>
                <a:latin typeface="Georgia" pitchFamily="34" charset="0"/>
                <a:ea typeface="Georgia" pitchFamily="34" charset="-122"/>
                <a:cs typeface="Georgia" pitchFamily="34" charset="-120"/>
              </a:rPr>
              <a:t>The core mission — permanently removing Struts 2.x from the codebase and replacing it with pure Spring MVC.</a:t>
            </a:r>
            <a:endParaRPr lang="en-US" sz="1300" dirty="0"/>
          </a:p>
        </p:txBody>
      </p:sp>
      <p:sp>
        <p:nvSpPr>
          <p:cNvPr id="6" name="Shape 4"/>
          <p:cNvSpPr/>
          <p:nvPr/>
        </p:nvSpPr>
        <p:spPr>
          <a:xfrm>
            <a:off x="219456" y="969264"/>
            <a:ext cx="11704320" cy="22860"/>
          </a:xfrm>
          <a:prstGeom prst="rect">
            <a:avLst/>
          </a:prstGeom>
          <a:solidFill>
            <a:srgbClr val="E05252">
              <a:alpha val="60000"/>
            </a:srgbClr>
          </a:solidFill>
          <a:ln w="12700">
            <a:solidFill>
              <a:srgbClr val="E05252">
                <a:alpha val="0"/>
              </a:srgbClr>
            </a:solidFill>
            <a:prstDash val="solid"/>
          </a:ln>
        </p:spPr>
        <p:txBody>
          <a:bodyPr/>
          <a:lstStyle/>
          <a:p>
            <a:endParaRPr lang="en-US"/>
          </a:p>
        </p:txBody>
      </p:sp>
      <p:sp>
        <p:nvSpPr>
          <p:cNvPr id="7" name="Shape 5"/>
          <p:cNvSpPr/>
          <p:nvPr/>
        </p:nvSpPr>
        <p:spPr>
          <a:xfrm>
            <a:off x="219456" y="1042416"/>
            <a:ext cx="11704320" cy="475488"/>
          </a:xfrm>
          <a:prstGeom prst="rect">
            <a:avLst/>
          </a:prstGeom>
          <a:solidFill>
            <a:srgbClr val="0F2040"/>
          </a:solidFill>
          <a:ln w="9525">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8" name="Text 6"/>
          <p:cNvSpPr/>
          <p:nvPr/>
        </p:nvSpPr>
        <p:spPr>
          <a:xfrm>
            <a:off x="347472" y="1042416"/>
            <a:ext cx="11521440" cy="475488"/>
          </a:xfrm>
          <a:prstGeom prst="rect">
            <a:avLst/>
          </a:prstGeom>
          <a:noFill/>
          <a:ln/>
        </p:spPr>
        <p:txBody>
          <a:bodyPr wrap="square" lIns="0" tIns="0" rIns="0" bIns="0" rtlCol="0" anchor="ctr"/>
          <a:lstStyle/>
          <a:p>
            <a:pPr marL="0" indent="0" algn="l">
              <a:buNone/>
            </a:pPr>
            <a:r>
              <a:rPr lang="en-US" sz="1100" i="1" dirty="0">
                <a:solidFill>
                  <a:srgbClr val="E8EDF4"/>
                </a:solidFill>
                <a:latin typeface="Georgia" pitchFamily="34" charset="0"/>
                <a:ea typeface="Georgia" pitchFamily="34" charset="-122"/>
                <a:cs typeface="Georgia" pitchFamily="34" charset="-120"/>
              </a:rPr>
              <a:t>After this agent runs: zero Struts classes, zero struts.xml routing, zero OGNL expressions, zero &lt;s:&gt; JSP tags. The output is pure Spring MVC. If anything Struts remains, the Guardrails Agent blocks the file.</a:t>
            </a:r>
            <a:endParaRPr lang="en-US" sz="1100" dirty="0"/>
          </a:p>
        </p:txBody>
      </p:sp>
      <p:sp>
        <p:nvSpPr>
          <p:cNvPr id="9" name="Shape 7"/>
          <p:cNvSpPr/>
          <p:nvPr/>
        </p:nvSpPr>
        <p:spPr>
          <a:xfrm>
            <a:off x="219456" y="1609344"/>
            <a:ext cx="11704320" cy="475488"/>
          </a:xfrm>
          <a:prstGeom prst="rect">
            <a:avLst/>
          </a:prstGeom>
          <a:solidFill>
            <a:srgbClr val="FCEBEB"/>
          </a:solidFill>
          <a:ln w="9525">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10" name="Text 8"/>
          <p:cNvSpPr/>
          <p:nvPr/>
        </p:nvSpPr>
        <p:spPr>
          <a:xfrm>
            <a:off x="347472" y="1609344"/>
            <a:ext cx="2286000" cy="475488"/>
          </a:xfrm>
          <a:prstGeom prst="rect">
            <a:avLst/>
          </a:prstGeom>
          <a:noFill/>
          <a:ln/>
        </p:spPr>
        <p:txBody>
          <a:bodyPr wrap="square" lIns="0" tIns="0" rIns="0" bIns="0" rtlCol="0" anchor="ctr"/>
          <a:lstStyle/>
          <a:p>
            <a:pPr marL="0" indent="0" algn="l">
              <a:buNone/>
            </a:pPr>
            <a:r>
              <a:rPr lang="en-US" sz="1000" b="1" dirty="0">
                <a:solidFill>
                  <a:srgbClr val="E05252"/>
                </a:solidFill>
                <a:latin typeface="Georgia" pitchFamily="34" charset="0"/>
                <a:ea typeface="Georgia" pitchFamily="34" charset="-122"/>
                <a:cs typeface="Georgia" pitchFamily="34" charset="-120"/>
              </a:rPr>
              <a:t>What is Struts 2.x?</a:t>
            </a:r>
            <a:endParaRPr lang="en-US" sz="1000" dirty="0"/>
          </a:p>
        </p:txBody>
      </p:sp>
      <p:sp>
        <p:nvSpPr>
          <p:cNvPr id="11" name="Text 9"/>
          <p:cNvSpPr/>
          <p:nvPr/>
        </p:nvSpPr>
        <p:spPr>
          <a:xfrm>
            <a:off x="347472" y="1609344"/>
            <a:ext cx="11612880" cy="475488"/>
          </a:xfrm>
          <a:prstGeom prst="rect">
            <a:avLst/>
          </a:prstGeom>
          <a:noFill/>
          <a:ln/>
        </p:spPr>
        <p:txBody>
          <a:bodyPr wrap="square" lIns="25400" tIns="25400" rIns="25400" bIns="25400" rtlCol="0" anchor="ctr"/>
          <a:lstStyle/>
          <a:p>
            <a:pPr marL="0" indent="0" algn="l">
              <a:buNone/>
            </a:pPr>
            <a:r>
              <a:rPr lang="en-US" sz="950" dirty="0">
                <a:solidFill>
                  <a:srgbClr val="501313"/>
                </a:solidFill>
                <a:latin typeface="Calibri" pitchFamily="34" charset="0"/>
                <a:ea typeface="Calibri" pitchFamily="34" charset="-122"/>
                <a:cs typeface="Calibri" pitchFamily="34" charset="-120"/>
              </a:rPr>
              <a:t>Struts 2.x introduced OGNL (Object-Graph Navigation Language) — a runtime expression evaluator embedded in JSPs and action classes. It is both the framework's most flexible feature and its greatest liability: the same OGNL engine was responsible for the Equifax breach (CVE-2017-5638). This agent removes every trace of it.</a:t>
            </a:r>
            <a:endParaRPr lang="en-US" sz="950" dirty="0"/>
          </a:p>
        </p:txBody>
      </p:sp>
      <p:sp>
        <p:nvSpPr>
          <p:cNvPr id="12" name="Shape 10"/>
          <p:cNvSpPr/>
          <p:nvPr/>
        </p:nvSpPr>
        <p:spPr>
          <a:xfrm>
            <a:off x="219456" y="2176272"/>
            <a:ext cx="5833872" cy="1810512"/>
          </a:xfrm>
          <a:prstGeom prst="rect">
            <a:avLst/>
          </a:prstGeom>
          <a:solidFill>
            <a:srgbClr val="FCEBEB"/>
          </a:solidFill>
          <a:ln w="9525">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13" name="Shape 11"/>
          <p:cNvSpPr/>
          <p:nvPr/>
        </p:nvSpPr>
        <p:spPr>
          <a:xfrm>
            <a:off x="347472" y="2779776"/>
            <a:ext cx="475488" cy="475488"/>
          </a:xfrm>
          <a:prstGeom prst="ellipse">
            <a:avLst/>
          </a:prstGeom>
          <a:solidFill>
            <a:srgbClr val="E05252"/>
          </a:solidFill>
          <a:ln w="12700">
            <a:solidFill>
              <a:srgbClr val="E05252">
                <a:alpha val="0"/>
              </a:srgbClr>
            </a:solidFill>
            <a:prstDash val="solid"/>
          </a:ln>
        </p:spPr>
        <p:txBody>
          <a:bodyPr/>
          <a:lstStyle/>
          <a:p>
            <a:endParaRPr lang="en-US"/>
          </a:p>
        </p:txBody>
      </p:sp>
      <p:sp>
        <p:nvSpPr>
          <p:cNvPr id="14" name="Text 12"/>
          <p:cNvSpPr/>
          <p:nvPr/>
        </p:nvSpPr>
        <p:spPr>
          <a:xfrm>
            <a:off x="347472" y="2779776"/>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15" name="Text 13"/>
          <p:cNvSpPr/>
          <p:nvPr/>
        </p:nvSpPr>
        <p:spPr>
          <a:xfrm>
            <a:off x="950976" y="2267712"/>
            <a:ext cx="4992624" cy="329184"/>
          </a:xfrm>
          <a:prstGeom prst="rect">
            <a:avLst/>
          </a:prstGeom>
          <a:noFill/>
          <a:ln/>
        </p:spPr>
        <p:txBody>
          <a:bodyPr wrap="square" lIns="0" tIns="0" rIns="0" bIns="0" rtlCol="0" anchor="ctr"/>
          <a:lstStyle/>
          <a:p>
            <a:pPr marL="0" indent="0" algn="l">
              <a:buNone/>
            </a:pPr>
            <a:r>
              <a:rPr lang="en-US" sz="1200" b="1" dirty="0">
                <a:solidFill>
                  <a:srgbClr val="E05252"/>
                </a:solidFill>
                <a:latin typeface="Georgia" pitchFamily="34" charset="0"/>
                <a:ea typeface="Georgia" pitchFamily="34" charset="-122"/>
                <a:cs typeface="Georgia" pitchFamily="34" charset="-120"/>
              </a:rPr>
              <a:t>Parse struts.xml routing config</a:t>
            </a:r>
            <a:endParaRPr lang="en-US" sz="1200" dirty="0"/>
          </a:p>
        </p:txBody>
      </p:sp>
      <p:sp>
        <p:nvSpPr>
          <p:cNvPr id="16" name="Text 14"/>
          <p:cNvSpPr/>
          <p:nvPr/>
        </p:nvSpPr>
        <p:spPr>
          <a:xfrm>
            <a:off x="950976" y="2633472"/>
            <a:ext cx="4992624" cy="1280160"/>
          </a:xfrm>
          <a:prstGeom prst="rect">
            <a:avLst/>
          </a:prstGeom>
          <a:noFill/>
          <a:ln/>
        </p:spPr>
        <p:txBody>
          <a:bodyPr wrap="square" lIns="0" tIns="0" rIns="0" bIns="0" rtlCol="0" anchor="ctr"/>
          <a:lstStyle/>
          <a:p>
            <a:pPr marL="0" indent="0" algn="l">
              <a:buNone/>
            </a:pPr>
            <a:r>
              <a:rPr lang="en-US" sz="1000" dirty="0">
                <a:solidFill>
                  <a:srgbClr val="2A3C52"/>
                </a:solidFill>
                <a:latin typeface="Calibri" pitchFamily="34" charset="0"/>
                <a:ea typeface="Calibri" pitchFamily="34" charset="-122"/>
                <a:cs typeface="Calibri" pitchFamily="34" charset="-120"/>
              </a:rPr>
              <a:t>Reads every @Namespace, every @Action, every result mapping, and every interceptor reference from struts.xml. Converts the entire routing configuration into a structured map that drives every @RequestMapping annotation the agent will generate — ensuring no route is missed.</a:t>
            </a:r>
            <a:endParaRPr lang="en-US" sz="1000" dirty="0"/>
          </a:p>
        </p:txBody>
      </p:sp>
      <p:sp>
        <p:nvSpPr>
          <p:cNvPr id="17" name="Shape 15"/>
          <p:cNvSpPr/>
          <p:nvPr/>
        </p:nvSpPr>
        <p:spPr>
          <a:xfrm>
            <a:off x="6217920" y="2176272"/>
            <a:ext cx="5833872" cy="1810512"/>
          </a:xfrm>
          <a:prstGeom prst="rect">
            <a:avLst/>
          </a:prstGeom>
          <a:solidFill>
            <a:srgbClr val="FCEBEB"/>
          </a:solidFill>
          <a:ln w="9525">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18" name="Shape 16"/>
          <p:cNvSpPr/>
          <p:nvPr/>
        </p:nvSpPr>
        <p:spPr>
          <a:xfrm>
            <a:off x="6345936" y="2779776"/>
            <a:ext cx="475488" cy="475488"/>
          </a:xfrm>
          <a:prstGeom prst="ellipse">
            <a:avLst/>
          </a:prstGeom>
          <a:solidFill>
            <a:srgbClr val="E05252"/>
          </a:solidFill>
          <a:ln w="12700">
            <a:solidFill>
              <a:srgbClr val="E05252">
                <a:alpha val="0"/>
              </a:srgbClr>
            </a:solidFill>
            <a:prstDash val="solid"/>
          </a:ln>
        </p:spPr>
        <p:txBody>
          <a:bodyPr/>
          <a:lstStyle/>
          <a:p>
            <a:endParaRPr lang="en-US"/>
          </a:p>
        </p:txBody>
      </p:sp>
      <p:sp>
        <p:nvSpPr>
          <p:cNvPr id="19" name="Text 17"/>
          <p:cNvSpPr/>
          <p:nvPr/>
        </p:nvSpPr>
        <p:spPr>
          <a:xfrm>
            <a:off x="6345936" y="2779776"/>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20" name="Text 18"/>
          <p:cNvSpPr/>
          <p:nvPr/>
        </p:nvSpPr>
        <p:spPr>
          <a:xfrm>
            <a:off x="6949440" y="2267712"/>
            <a:ext cx="4992624" cy="329184"/>
          </a:xfrm>
          <a:prstGeom prst="rect">
            <a:avLst/>
          </a:prstGeom>
          <a:noFill/>
          <a:ln/>
        </p:spPr>
        <p:txBody>
          <a:bodyPr wrap="square" lIns="0" tIns="0" rIns="0" bIns="0" rtlCol="0" anchor="ctr"/>
          <a:lstStyle/>
          <a:p>
            <a:pPr marL="0" indent="0" algn="l">
              <a:buNone/>
            </a:pPr>
            <a:r>
              <a:rPr lang="en-US" sz="1200" b="1" dirty="0">
                <a:solidFill>
                  <a:srgbClr val="E05252"/>
                </a:solidFill>
                <a:latin typeface="Georgia" pitchFamily="34" charset="0"/>
                <a:ea typeface="Georgia" pitchFamily="34" charset="-122"/>
                <a:cs typeface="Georgia" pitchFamily="34" charset="-120"/>
              </a:rPr>
              <a:t>Convert ActionSupport class → @Controller</a:t>
            </a:r>
            <a:endParaRPr lang="en-US" sz="1200" dirty="0"/>
          </a:p>
        </p:txBody>
      </p:sp>
      <p:sp>
        <p:nvSpPr>
          <p:cNvPr id="21" name="Text 19"/>
          <p:cNvSpPr/>
          <p:nvPr/>
        </p:nvSpPr>
        <p:spPr>
          <a:xfrm>
            <a:off x="6949440" y="2633472"/>
            <a:ext cx="4992624" cy="1280160"/>
          </a:xfrm>
          <a:prstGeom prst="rect">
            <a:avLst/>
          </a:prstGeom>
          <a:noFill/>
          <a:ln/>
        </p:spPr>
        <p:txBody>
          <a:bodyPr wrap="square" lIns="0" tIns="0" rIns="0" bIns="0" rtlCol="0" anchor="ctr"/>
          <a:lstStyle/>
          <a:p>
            <a:pPr marL="0" indent="0" algn="l">
              <a:buNone/>
            </a:pPr>
            <a:r>
              <a:rPr lang="en-US" sz="1000" dirty="0">
                <a:solidFill>
                  <a:srgbClr val="2A3C52"/>
                </a:solidFill>
                <a:latin typeface="Calibri" pitchFamily="34" charset="0"/>
                <a:ea typeface="Calibri" pitchFamily="34" charset="-122"/>
                <a:cs typeface="Calibri" pitchFamily="34" charset="-120"/>
              </a:rPr>
              <a:t>Every class extending ActionSupport becomes a Spring @Controller. The ModelDriven interface — where the action class and the model object were merged into one — is cleanly split into a proper @Controller and a separate @ModelAttribute DTO class. The original ActionSupport class is then deleted.</a:t>
            </a:r>
            <a:endParaRPr lang="en-US" sz="1000" dirty="0"/>
          </a:p>
        </p:txBody>
      </p:sp>
      <p:sp>
        <p:nvSpPr>
          <p:cNvPr id="22" name="Shape 20"/>
          <p:cNvSpPr/>
          <p:nvPr/>
        </p:nvSpPr>
        <p:spPr>
          <a:xfrm>
            <a:off x="219456" y="4114800"/>
            <a:ext cx="5833872" cy="1810512"/>
          </a:xfrm>
          <a:prstGeom prst="rect">
            <a:avLst/>
          </a:prstGeom>
          <a:solidFill>
            <a:srgbClr val="FCEBEB"/>
          </a:solidFill>
          <a:ln w="9525">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23" name="Shape 21"/>
          <p:cNvSpPr/>
          <p:nvPr/>
        </p:nvSpPr>
        <p:spPr>
          <a:xfrm>
            <a:off x="347472" y="4718304"/>
            <a:ext cx="475488" cy="475488"/>
          </a:xfrm>
          <a:prstGeom prst="ellipse">
            <a:avLst/>
          </a:prstGeom>
          <a:solidFill>
            <a:srgbClr val="E05252"/>
          </a:solidFill>
          <a:ln w="12700">
            <a:solidFill>
              <a:srgbClr val="E05252">
                <a:alpha val="0"/>
              </a:srgbClr>
            </a:solidFill>
            <a:prstDash val="solid"/>
          </a:ln>
        </p:spPr>
        <p:txBody>
          <a:bodyPr/>
          <a:lstStyle/>
          <a:p>
            <a:endParaRPr lang="en-US"/>
          </a:p>
        </p:txBody>
      </p:sp>
      <p:sp>
        <p:nvSpPr>
          <p:cNvPr id="24" name="Text 22"/>
          <p:cNvSpPr/>
          <p:nvPr/>
        </p:nvSpPr>
        <p:spPr>
          <a:xfrm>
            <a:off x="347472" y="4718304"/>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25" name="Text 23"/>
          <p:cNvSpPr/>
          <p:nvPr/>
        </p:nvSpPr>
        <p:spPr>
          <a:xfrm>
            <a:off x="950976" y="4206240"/>
            <a:ext cx="4992624" cy="329184"/>
          </a:xfrm>
          <a:prstGeom prst="rect">
            <a:avLst/>
          </a:prstGeom>
          <a:noFill/>
          <a:ln/>
        </p:spPr>
        <p:txBody>
          <a:bodyPr wrap="square" lIns="0" tIns="0" rIns="0" bIns="0" rtlCol="0" anchor="ctr"/>
          <a:lstStyle/>
          <a:p>
            <a:pPr marL="0" indent="0" algn="l">
              <a:buNone/>
            </a:pPr>
            <a:r>
              <a:rPr lang="en-US" sz="1200" b="1" dirty="0">
                <a:solidFill>
                  <a:srgbClr val="E05252"/>
                </a:solidFill>
                <a:latin typeface="Georgia" pitchFamily="34" charset="0"/>
                <a:ea typeface="Georgia" pitchFamily="34" charset="-122"/>
                <a:cs typeface="Georgia" pitchFamily="34" charset="-120"/>
              </a:rPr>
              <a:t>Eliminate OGNL entirely from JSP views</a:t>
            </a:r>
            <a:endParaRPr lang="en-US" sz="1200" dirty="0"/>
          </a:p>
        </p:txBody>
      </p:sp>
      <p:sp>
        <p:nvSpPr>
          <p:cNvPr id="26" name="Text 24"/>
          <p:cNvSpPr/>
          <p:nvPr/>
        </p:nvSpPr>
        <p:spPr>
          <a:xfrm>
            <a:off x="950976" y="4572000"/>
            <a:ext cx="4992624" cy="1280160"/>
          </a:xfrm>
          <a:prstGeom prst="rect">
            <a:avLst/>
          </a:prstGeom>
          <a:noFill/>
          <a:ln/>
        </p:spPr>
        <p:txBody>
          <a:bodyPr wrap="square" lIns="0" tIns="0" rIns="0" bIns="0" rtlCol="0" anchor="ctr"/>
          <a:lstStyle/>
          <a:p>
            <a:pPr marL="0" indent="0" algn="l">
              <a:buNone/>
            </a:pPr>
            <a:r>
              <a:rPr lang="en-US" sz="1000" dirty="0">
                <a:solidFill>
                  <a:srgbClr val="2A3C52"/>
                </a:solidFill>
                <a:latin typeface="Calibri" pitchFamily="34" charset="0"/>
                <a:ea typeface="Calibri" pitchFamily="34" charset="-122"/>
                <a:cs typeface="Calibri" pitchFamily="34" charset="-120"/>
              </a:rPr>
              <a:t>Replaces all OGNL expressions (%{fieldName}) with standard EL expressions (${fieldName}). The three OGNL patterns with no EL equivalent — static method calls, list projections, and list selections — are flagged and routed to human review. Zero OGNL remains in the output.</a:t>
            </a:r>
            <a:endParaRPr lang="en-US" sz="1000" dirty="0"/>
          </a:p>
        </p:txBody>
      </p:sp>
      <p:sp>
        <p:nvSpPr>
          <p:cNvPr id="27" name="Shape 25"/>
          <p:cNvSpPr/>
          <p:nvPr/>
        </p:nvSpPr>
        <p:spPr>
          <a:xfrm>
            <a:off x="6217920" y="4114800"/>
            <a:ext cx="5833872" cy="1810512"/>
          </a:xfrm>
          <a:prstGeom prst="rect">
            <a:avLst/>
          </a:prstGeom>
          <a:solidFill>
            <a:srgbClr val="FCEBEB"/>
          </a:solidFill>
          <a:ln w="9525">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28" name="Shape 26"/>
          <p:cNvSpPr/>
          <p:nvPr/>
        </p:nvSpPr>
        <p:spPr>
          <a:xfrm>
            <a:off x="6345936" y="4718304"/>
            <a:ext cx="475488" cy="475488"/>
          </a:xfrm>
          <a:prstGeom prst="ellipse">
            <a:avLst/>
          </a:prstGeom>
          <a:solidFill>
            <a:srgbClr val="E05252"/>
          </a:solidFill>
          <a:ln w="12700">
            <a:solidFill>
              <a:srgbClr val="E05252">
                <a:alpha val="0"/>
              </a:srgbClr>
            </a:solidFill>
            <a:prstDash val="solid"/>
          </a:ln>
        </p:spPr>
        <p:txBody>
          <a:bodyPr/>
          <a:lstStyle/>
          <a:p>
            <a:endParaRPr lang="en-US"/>
          </a:p>
        </p:txBody>
      </p:sp>
      <p:sp>
        <p:nvSpPr>
          <p:cNvPr id="29" name="Text 27"/>
          <p:cNvSpPr/>
          <p:nvPr/>
        </p:nvSpPr>
        <p:spPr>
          <a:xfrm>
            <a:off x="6345936" y="4718304"/>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30" name="Text 28"/>
          <p:cNvSpPr/>
          <p:nvPr/>
        </p:nvSpPr>
        <p:spPr>
          <a:xfrm>
            <a:off x="6949440" y="4206240"/>
            <a:ext cx="4992624" cy="329184"/>
          </a:xfrm>
          <a:prstGeom prst="rect">
            <a:avLst/>
          </a:prstGeom>
          <a:noFill/>
          <a:ln/>
        </p:spPr>
        <p:txBody>
          <a:bodyPr wrap="square" lIns="0" tIns="0" rIns="0" bIns="0" rtlCol="0" anchor="ctr"/>
          <a:lstStyle/>
          <a:p>
            <a:pPr marL="0" indent="0" algn="l">
              <a:buNone/>
            </a:pPr>
            <a:r>
              <a:rPr lang="en-US" sz="1200" b="1" dirty="0">
                <a:solidFill>
                  <a:srgbClr val="E05252"/>
                </a:solidFill>
                <a:latin typeface="Georgia" pitchFamily="34" charset="0"/>
                <a:ea typeface="Georgia" pitchFamily="34" charset="-122"/>
                <a:cs typeface="Georgia" pitchFamily="34" charset="-120"/>
              </a:rPr>
              <a:t>Convert Struts 2 interceptors → HandlerInterceptors</a:t>
            </a:r>
            <a:endParaRPr lang="en-US" sz="1200" dirty="0"/>
          </a:p>
        </p:txBody>
      </p:sp>
      <p:sp>
        <p:nvSpPr>
          <p:cNvPr id="31" name="Text 29"/>
          <p:cNvSpPr/>
          <p:nvPr/>
        </p:nvSpPr>
        <p:spPr>
          <a:xfrm>
            <a:off x="6949440" y="4572000"/>
            <a:ext cx="4992624" cy="1280160"/>
          </a:xfrm>
          <a:prstGeom prst="rect">
            <a:avLst/>
          </a:prstGeom>
          <a:noFill/>
          <a:ln/>
        </p:spPr>
        <p:txBody>
          <a:bodyPr wrap="square" lIns="0" tIns="0" rIns="0" bIns="0" rtlCol="0" anchor="ctr"/>
          <a:lstStyle/>
          <a:p>
            <a:pPr marL="0" indent="0" algn="l">
              <a:buNone/>
            </a:pPr>
            <a:r>
              <a:rPr lang="en-US" sz="1000" dirty="0">
                <a:solidFill>
                  <a:srgbClr val="2A3C52"/>
                </a:solidFill>
                <a:latin typeface="Calibri" pitchFamily="34" charset="0"/>
                <a:ea typeface="Calibri" pitchFamily="34" charset="-122"/>
                <a:cs typeface="Calibri" pitchFamily="34" charset="-120"/>
              </a:rPr>
              <a:t>Maps every Struts 2 interceptor reference to a Spring HandlerInterceptor implementation. Custom interceptors that access the Struts ActionInvocation object directly cannot be automatically converted — these are flagged for human migration with a detailed explanation of the required Spring equivalent.</a:t>
            </a:r>
            <a:endParaRPr lang="en-US" sz="1000" dirty="0"/>
          </a:p>
        </p:txBody>
      </p:sp>
      <p:sp>
        <p:nvSpPr>
          <p:cNvPr id="32" name="Shape 30"/>
          <p:cNvSpPr/>
          <p:nvPr/>
        </p:nvSpPr>
        <p:spPr>
          <a:xfrm>
            <a:off x="219456" y="6053328"/>
            <a:ext cx="11704320" cy="256032"/>
          </a:xfrm>
          <a:prstGeom prst="rect">
            <a:avLst/>
          </a:prstGeom>
          <a:solidFill>
            <a:srgbClr val="0F2040"/>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33" name="Text 31"/>
          <p:cNvSpPr/>
          <p:nvPr/>
        </p:nvSpPr>
        <p:spPr>
          <a:xfrm>
            <a:off x="347472" y="6053328"/>
            <a:ext cx="822960" cy="237744"/>
          </a:xfrm>
          <a:prstGeom prst="rect">
            <a:avLst/>
          </a:prstGeom>
          <a:noFill/>
          <a:ln/>
        </p:spPr>
        <p:txBody>
          <a:bodyPr wrap="square" lIns="0" tIns="0" rIns="0" bIns="0" rtlCol="0" anchor="ctr"/>
          <a:lstStyle/>
          <a:p>
            <a:pPr marL="0" indent="0" algn="l">
              <a:buNone/>
            </a:pPr>
            <a:r>
              <a:rPr lang="en-US" sz="900" b="1" dirty="0">
                <a:solidFill>
                  <a:srgbClr val="E05252"/>
                </a:solidFill>
                <a:latin typeface="Calibri" pitchFamily="34" charset="0"/>
                <a:ea typeface="Calibri" pitchFamily="34" charset="-122"/>
                <a:cs typeface="Calibri" pitchFamily="34" charset="-120"/>
              </a:rPr>
              <a:t>Removed:</a:t>
            </a:r>
            <a:endParaRPr lang="en-US" sz="900" dirty="0"/>
          </a:p>
        </p:txBody>
      </p:sp>
      <p:sp>
        <p:nvSpPr>
          <p:cNvPr id="34" name="Text 32"/>
          <p:cNvSpPr/>
          <p:nvPr/>
        </p:nvSpPr>
        <p:spPr>
          <a:xfrm>
            <a:off x="1207008" y="6053328"/>
            <a:ext cx="2011680" cy="237744"/>
          </a:xfrm>
          <a:prstGeom prst="rect">
            <a:avLst/>
          </a:prstGeom>
          <a:noFill/>
          <a:ln/>
        </p:spPr>
        <p:txBody>
          <a:bodyPr wrap="square" lIns="0" tIns="0" rIns="0" bIns="0" rtlCol="0" anchor="ctr"/>
          <a:lstStyle/>
          <a:p>
            <a:pPr marL="0" indent="0" algn="l">
              <a:buNone/>
            </a:pPr>
            <a:r>
              <a:rPr lang="en-US" sz="850" dirty="0">
                <a:solidFill>
                  <a:srgbClr val="E05252"/>
                </a:solidFill>
                <a:latin typeface="Calibri" pitchFamily="34" charset="0"/>
                <a:ea typeface="Calibri" pitchFamily="34" charset="-122"/>
                <a:cs typeface="Calibri" pitchFamily="34" charset="-120"/>
              </a:rPr>
              <a:t>✕  ActionSupport classes</a:t>
            </a:r>
            <a:endParaRPr lang="en-US" sz="850" dirty="0"/>
          </a:p>
        </p:txBody>
      </p:sp>
      <p:sp>
        <p:nvSpPr>
          <p:cNvPr id="35" name="Text 33"/>
          <p:cNvSpPr/>
          <p:nvPr/>
        </p:nvSpPr>
        <p:spPr>
          <a:xfrm>
            <a:off x="3328416" y="6053328"/>
            <a:ext cx="2011680" cy="237744"/>
          </a:xfrm>
          <a:prstGeom prst="rect">
            <a:avLst/>
          </a:prstGeom>
          <a:noFill/>
          <a:ln/>
        </p:spPr>
        <p:txBody>
          <a:bodyPr wrap="square" lIns="0" tIns="0" rIns="0" bIns="0" rtlCol="0" anchor="ctr"/>
          <a:lstStyle/>
          <a:p>
            <a:pPr marL="0" indent="0" algn="l">
              <a:buNone/>
            </a:pPr>
            <a:r>
              <a:rPr lang="en-US" sz="850" dirty="0">
                <a:solidFill>
                  <a:srgbClr val="E05252"/>
                </a:solidFill>
                <a:latin typeface="Calibri" pitchFamily="34" charset="0"/>
                <a:ea typeface="Calibri" pitchFamily="34" charset="-122"/>
                <a:cs typeface="Calibri" pitchFamily="34" charset="-120"/>
              </a:rPr>
              <a:t>✕  struts.xml routing</a:t>
            </a:r>
            <a:endParaRPr lang="en-US" sz="850" dirty="0"/>
          </a:p>
        </p:txBody>
      </p:sp>
      <p:sp>
        <p:nvSpPr>
          <p:cNvPr id="36" name="Text 34"/>
          <p:cNvSpPr/>
          <p:nvPr/>
        </p:nvSpPr>
        <p:spPr>
          <a:xfrm>
            <a:off x="5449824" y="6053328"/>
            <a:ext cx="2011680" cy="237744"/>
          </a:xfrm>
          <a:prstGeom prst="rect">
            <a:avLst/>
          </a:prstGeom>
          <a:noFill/>
          <a:ln/>
        </p:spPr>
        <p:txBody>
          <a:bodyPr wrap="square" lIns="0" tIns="0" rIns="0" bIns="0" rtlCol="0" anchor="ctr"/>
          <a:lstStyle/>
          <a:p>
            <a:pPr marL="0" indent="0" algn="l">
              <a:buNone/>
            </a:pPr>
            <a:r>
              <a:rPr lang="en-US" sz="850" dirty="0">
                <a:solidFill>
                  <a:srgbClr val="E05252"/>
                </a:solidFill>
                <a:latin typeface="Calibri" pitchFamily="34" charset="0"/>
                <a:ea typeface="Calibri" pitchFamily="34" charset="-122"/>
                <a:cs typeface="Calibri" pitchFamily="34" charset="-120"/>
              </a:rPr>
              <a:t>✕  OGNL %{...} expressions</a:t>
            </a:r>
            <a:endParaRPr lang="en-US" sz="850" dirty="0"/>
          </a:p>
        </p:txBody>
      </p:sp>
      <p:sp>
        <p:nvSpPr>
          <p:cNvPr id="37" name="Text 35"/>
          <p:cNvSpPr/>
          <p:nvPr/>
        </p:nvSpPr>
        <p:spPr>
          <a:xfrm>
            <a:off x="7571232" y="6053328"/>
            <a:ext cx="2011680" cy="237744"/>
          </a:xfrm>
          <a:prstGeom prst="rect">
            <a:avLst/>
          </a:prstGeom>
          <a:noFill/>
          <a:ln/>
        </p:spPr>
        <p:txBody>
          <a:bodyPr wrap="square" lIns="0" tIns="0" rIns="0" bIns="0" rtlCol="0" anchor="ctr"/>
          <a:lstStyle/>
          <a:p>
            <a:pPr marL="0" indent="0" algn="l">
              <a:buNone/>
            </a:pPr>
            <a:r>
              <a:rPr lang="en-US" sz="850" dirty="0">
                <a:solidFill>
                  <a:srgbClr val="E05252"/>
                </a:solidFill>
                <a:latin typeface="Calibri" pitchFamily="34" charset="0"/>
                <a:ea typeface="Calibri" pitchFamily="34" charset="-122"/>
                <a:cs typeface="Calibri" pitchFamily="34" charset="-120"/>
              </a:rPr>
              <a:t>✕  &lt;s:&gt; JSP tags</a:t>
            </a:r>
            <a:endParaRPr lang="en-US" sz="850" dirty="0"/>
          </a:p>
        </p:txBody>
      </p:sp>
      <p:sp>
        <p:nvSpPr>
          <p:cNvPr id="38" name="Text 36"/>
          <p:cNvSpPr/>
          <p:nvPr/>
        </p:nvSpPr>
        <p:spPr>
          <a:xfrm>
            <a:off x="9692640" y="6053328"/>
            <a:ext cx="2011680" cy="237744"/>
          </a:xfrm>
          <a:prstGeom prst="rect">
            <a:avLst/>
          </a:prstGeom>
          <a:noFill/>
          <a:ln/>
        </p:spPr>
        <p:txBody>
          <a:bodyPr wrap="square" lIns="0" tIns="0" rIns="0" bIns="0" rtlCol="0" anchor="ctr"/>
          <a:lstStyle/>
          <a:p>
            <a:pPr marL="0" indent="0" algn="l">
              <a:buNone/>
            </a:pPr>
            <a:r>
              <a:rPr lang="en-US" sz="850" dirty="0">
                <a:solidFill>
                  <a:srgbClr val="E05252"/>
                </a:solidFill>
                <a:latin typeface="Calibri" pitchFamily="34" charset="0"/>
                <a:ea typeface="Calibri" pitchFamily="34" charset="-122"/>
                <a:cs typeface="Calibri" pitchFamily="34" charset="-120"/>
              </a:rPr>
              <a:t>✕  struts2-core dependency</a:t>
            </a:r>
            <a:endParaRPr lang="en-US" sz="850" dirty="0"/>
          </a:p>
        </p:txBody>
      </p:sp>
      <p:sp>
        <p:nvSpPr>
          <p:cNvPr id="39" name="Shape 37"/>
          <p:cNvSpPr/>
          <p:nvPr/>
        </p:nvSpPr>
        <p:spPr>
          <a:xfrm>
            <a:off x="219456" y="6309360"/>
            <a:ext cx="11704320" cy="402336"/>
          </a:xfrm>
          <a:prstGeom prst="rect">
            <a:avLst/>
          </a:prstGeom>
          <a:solidFill>
            <a:srgbClr val="E1F5EE"/>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40" name="Text 38"/>
          <p:cNvSpPr/>
          <p:nvPr/>
        </p:nvSpPr>
        <p:spPr>
          <a:xfrm>
            <a:off x="347472" y="6309360"/>
            <a:ext cx="822960" cy="201168"/>
          </a:xfrm>
          <a:prstGeom prst="rect">
            <a:avLst/>
          </a:prstGeom>
          <a:noFill/>
          <a:ln/>
        </p:spPr>
        <p:txBody>
          <a:bodyPr wrap="square" lIns="0" tIns="0" rIns="0" bIns="0" rtlCol="0" anchor="ctr"/>
          <a:lstStyle/>
          <a:p>
            <a:pPr marL="0" indent="0" algn="l">
              <a:buNone/>
            </a:pPr>
            <a:r>
              <a:rPr lang="en-US" sz="900" b="1" dirty="0">
                <a:solidFill>
                  <a:srgbClr val="1D9E75"/>
                </a:solidFill>
                <a:latin typeface="Calibri" pitchFamily="34" charset="0"/>
                <a:ea typeface="Calibri" pitchFamily="34" charset="-122"/>
                <a:cs typeface="Calibri" pitchFamily="34" charset="-120"/>
              </a:rPr>
              <a:t>Added:</a:t>
            </a:r>
            <a:endParaRPr lang="en-US" sz="900" dirty="0"/>
          </a:p>
        </p:txBody>
      </p:sp>
      <p:sp>
        <p:nvSpPr>
          <p:cNvPr id="41" name="Text 39"/>
          <p:cNvSpPr/>
          <p:nvPr/>
        </p:nvSpPr>
        <p:spPr>
          <a:xfrm>
            <a:off x="1207008" y="6309360"/>
            <a:ext cx="2011680" cy="402336"/>
          </a:xfrm>
          <a:prstGeom prst="rect">
            <a:avLst/>
          </a:prstGeom>
          <a:noFill/>
          <a:ln/>
        </p:spPr>
        <p:txBody>
          <a:bodyPr wrap="square" lIns="0" tIns="0" rIns="0" bIns="0" rtlCol="0" anchor="ctr"/>
          <a:lstStyle/>
          <a:p>
            <a:pPr marL="0" indent="0" algn="l">
              <a:buNone/>
            </a:pPr>
            <a:r>
              <a:rPr lang="en-US" sz="850" dirty="0">
                <a:solidFill>
                  <a:srgbClr val="1D9E75"/>
                </a:solidFill>
                <a:latin typeface="Calibri" pitchFamily="34" charset="0"/>
                <a:ea typeface="Calibri" pitchFamily="34" charset="-122"/>
                <a:cs typeface="Calibri" pitchFamily="34" charset="-120"/>
              </a:rPr>
              <a:t>✓  @Controller + @RequestMapping</a:t>
            </a:r>
            <a:endParaRPr lang="en-US" sz="850" dirty="0"/>
          </a:p>
        </p:txBody>
      </p:sp>
      <p:sp>
        <p:nvSpPr>
          <p:cNvPr id="42" name="Text 40"/>
          <p:cNvSpPr/>
          <p:nvPr/>
        </p:nvSpPr>
        <p:spPr>
          <a:xfrm>
            <a:off x="3328416" y="6309360"/>
            <a:ext cx="2011680" cy="402336"/>
          </a:xfrm>
          <a:prstGeom prst="rect">
            <a:avLst/>
          </a:prstGeom>
          <a:noFill/>
          <a:ln/>
        </p:spPr>
        <p:txBody>
          <a:bodyPr wrap="square" lIns="0" tIns="0" rIns="0" bIns="0" rtlCol="0" anchor="ctr"/>
          <a:lstStyle/>
          <a:p>
            <a:pPr marL="0" indent="0" algn="l">
              <a:buNone/>
            </a:pPr>
            <a:r>
              <a:rPr lang="en-US" sz="850" dirty="0">
                <a:solidFill>
                  <a:srgbClr val="1D9E75"/>
                </a:solidFill>
                <a:latin typeface="Calibri" pitchFamily="34" charset="0"/>
                <a:ea typeface="Calibri" pitchFamily="34" charset="-122"/>
                <a:cs typeface="Calibri" pitchFamily="34" charset="-120"/>
              </a:rPr>
              <a:t>✓  Spring MVC DispatcherServlet</a:t>
            </a:r>
            <a:endParaRPr lang="en-US" sz="850" dirty="0"/>
          </a:p>
        </p:txBody>
      </p:sp>
      <p:sp>
        <p:nvSpPr>
          <p:cNvPr id="43" name="Text 41"/>
          <p:cNvSpPr/>
          <p:nvPr/>
        </p:nvSpPr>
        <p:spPr>
          <a:xfrm>
            <a:off x="5449824" y="6309360"/>
            <a:ext cx="2011680" cy="402336"/>
          </a:xfrm>
          <a:prstGeom prst="rect">
            <a:avLst/>
          </a:prstGeom>
          <a:noFill/>
          <a:ln/>
        </p:spPr>
        <p:txBody>
          <a:bodyPr wrap="square" lIns="0" tIns="0" rIns="0" bIns="0" rtlCol="0" anchor="ctr"/>
          <a:lstStyle/>
          <a:p>
            <a:pPr marL="0" indent="0" algn="l">
              <a:buNone/>
            </a:pPr>
            <a:r>
              <a:rPr lang="en-US" sz="850" dirty="0">
                <a:solidFill>
                  <a:srgbClr val="1D9E75"/>
                </a:solidFill>
                <a:latin typeface="Calibri" pitchFamily="34" charset="0"/>
                <a:ea typeface="Calibri" pitchFamily="34" charset="-122"/>
                <a:cs typeface="Calibri" pitchFamily="34" charset="-120"/>
              </a:rPr>
              <a:t>✓  EL ${...} expressions</a:t>
            </a:r>
            <a:endParaRPr lang="en-US" sz="850" dirty="0"/>
          </a:p>
        </p:txBody>
      </p:sp>
      <p:sp>
        <p:nvSpPr>
          <p:cNvPr id="44" name="Text 42"/>
          <p:cNvSpPr/>
          <p:nvPr/>
        </p:nvSpPr>
        <p:spPr>
          <a:xfrm>
            <a:off x="7571232" y="6309360"/>
            <a:ext cx="2011680" cy="402336"/>
          </a:xfrm>
          <a:prstGeom prst="rect">
            <a:avLst/>
          </a:prstGeom>
          <a:noFill/>
          <a:ln/>
        </p:spPr>
        <p:txBody>
          <a:bodyPr wrap="square" lIns="0" tIns="0" rIns="0" bIns="0" rtlCol="0" anchor="ctr"/>
          <a:lstStyle/>
          <a:p>
            <a:pPr marL="0" indent="0" algn="l">
              <a:buNone/>
            </a:pPr>
            <a:r>
              <a:rPr lang="en-US" sz="850" dirty="0">
                <a:solidFill>
                  <a:srgbClr val="1D9E75"/>
                </a:solidFill>
                <a:latin typeface="Calibri" pitchFamily="34" charset="0"/>
                <a:ea typeface="Calibri" pitchFamily="34" charset="-122"/>
                <a:cs typeface="Calibri" pitchFamily="34" charset="-120"/>
              </a:rPr>
              <a:t>✓  &lt;form:&gt; + JSTL tags</a:t>
            </a:r>
            <a:endParaRPr lang="en-US" sz="850" dirty="0"/>
          </a:p>
        </p:txBody>
      </p:sp>
      <p:sp>
        <p:nvSpPr>
          <p:cNvPr id="45" name="Text 43"/>
          <p:cNvSpPr/>
          <p:nvPr/>
        </p:nvSpPr>
        <p:spPr>
          <a:xfrm>
            <a:off x="9692640" y="6309360"/>
            <a:ext cx="2011680" cy="402336"/>
          </a:xfrm>
          <a:prstGeom prst="rect">
            <a:avLst/>
          </a:prstGeom>
          <a:noFill/>
          <a:ln/>
        </p:spPr>
        <p:txBody>
          <a:bodyPr wrap="square" lIns="0" tIns="0" rIns="0" bIns="0" rtlCol="0" anchor="ctr"/>
          <a:lstStyle/>
          <a:p>
            <a:pPr marL="0" indent="0" algn="l">
              <a:buNone/>
            </a:pPr>
            <a:r>
              <a:rPr lang="en-US" sz="850" dirty="0">
                <a:solidFill>
                  <a:srgbClr val="1D9E75"/>
                </a:solidFill>
                <a:latin typeface="Calibri" pitchFamily="34" charset="0"/>
                <a:ea typeface="Calibri" pitchFamily="34" charset="-122"/>
                <a:cs typeface="Calibri" pitchFamily="34" charset="-120"/>
              </a:rPr>
              <a:t>✓  spring-webmvc dependency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225296"/>
          </a:xfrm>
          <a:prstGeom prst="rect">
            <a:avLst/>
          </a:prstGeom>
          <a:solidFill>
            <a:srgbClr val="0A1628"/>
          </a:solidFill>
          <a:ln w="12700">
            <a:solidFill>
              <a:srgbClr val="0A1628">
                <a:alpha val="0"/>
              </a:srgbClr>
            </a:solidFill>
            <a:prstDash val="solid"/>
          </a:ln>
        </p:spPr>
        <p:txBody>
          <a:bodyPr/>
          <a:lstStyle/>
          <a:p>
            <a:endParaRPr lang="en-US"/>
          </a:p>
        </p:txBody>
      </p:sp>
      <p:sp>
        <p:nvSpPr>
          <p:cNvPr id="3" name="Shape 1"/>
          <p:cNvSpPr/>
          <p:nvPr/>
        </p:nvSpPr>
        <p:spPr>
          <a:xfrm>
            <a:off x="0" y="1225296"/>
            <a:ext cx="12161520" cy="50292"/>
          </a:xfrm>
          <a:prstGeom prst="rect">
            <a:avLst/>
          </a:prstGeom>
          <a:solidFill>
            <a:srgbClr val="F5A623"/>
          </a:solidFill>
          <a:ln w="12700">
            <a:solidFill>
              <a:srgbClr val="F5A623">
                <a:alpha val="0"/>
              </a:srgbClr>
            </a:solidFill>
            <a:prstDash val="solid"/>
          </a:ln>
        </p:spPr>
        <p:txBody>
          <a:bodyPr/>
          <a:lstStyle/>
          <a:p>
            <a:endParaRPr lang="en-US"/>
          </a:p>
        </p:txBody>
      </p:sp>
      <p:sp>
        <p:nvSpPr>
          <p:cNvPr id="4" name="Text 2"/>
          <p:cNvSpPr/>
          <p:nvPr/>
        </p:nvSpPr>
        <p:spPr>
          <a:xfrm>
            <a:off x="411480" y="109728"/>
            <a:ext cx="11247120" cy="256032"/>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09  ·  Containerize + Test Gen Agents</a:t>
            </a:r>
            <a:endParaRPr lang="en-US" sz="1000" dirty="0"/>
          </a:p>
        </p:txBody>
      </p:sp>
      <p:sp>
        <p:nvSpPr>
          <p:cNvPr id="5" name="Text 3"/>
          <p:cNvSpPr/>
          <p:nvPr/>
        </p:nvSpPr>
        <p:spPr>
          <a:xfrm>
            <a:off x="411480" y="347472"/>
            <a:ext cx="11247120" cy="749808"/>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Packaging the migrated apps for cloud deployment and building the automated test safety net.</a:t>
            </a:r>
            <a:endParaRPr lang="en-US" sz="2600" dirty="0"/>
          </a:p>
        </p:txBody>
      </p:sp>
      <p:sp>
        <p:nvSpPr>
          <p:cNvPr id="6" name="Shape 4"/>
          <p:cNvSpPr/>
          <p:nvPr/>
        </p:nvSpPr>
        <p:spPr>
          <a:xfrm>
            <a:off x="365760" y="1389888"/>
            <a:ext cx="5669280" cy="475488"/>
          </a:xfrm>
          <a:prstGeom prst="rect">
            <a:avLst/>
          </a:prstGeom>
          <a:solidFill>
            <a:srgbClr val="0A1628"/>
          </a:solidFill>
          <a:ln w="1270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7" name="Text 5"/>
          <p:cNvSpPr/>
          <p:nvPr/>
        </p:nvSpPr>
        <p:spPr>
          <a:xfrm>
            <a:off x="457200" y="1389888"/>
            <a:ext cx="2834640" cy="475488"/>
          </a:xfrm>
          <a:prstGeom prst="rect">
            <a:avLst/>
          </a:prstGeom>
          <a:noFill/>
          <a:ln/>
        </p:spPr>
        <p:txBody>
          <a:bodyPr wrap="square" lIns="0" tIns="0" rIns="0" bIns="0" rtlCol="0" anchor="ctr"/>
          <a:lstStyle/>
          <a:p>
            <a:pPr marL="0" indent="0" algn="l">
              <a:buNone/>
            </a:pPr>
            <a:r>
              <a:rPr lang="en-US" sz="1400" b="1" dirty="0">
                <a:solidFill>
                  <a:srgbClr val="FFFFFF"/>
                </a:solidFill>
                <a:latin typeface="Georgia" pitchFamily="34" charset="0"/>
                <a:ea typeface="Georgia" pitchFamily="34" charset="-122"/>
                <a:cs typeface="Georgia" pitchFamily="34" charset="-120"/>
              </a:rPr>
              <a:t>Containerize Agent</a:t>
            </a:r>
            <a:endParaRPr lang="en-US" sz="1400" dirty="0"/>
          </a:p>
        </p:txBody>
      </p:sp>
      <p:sp>
        <p:nvSpPr>
          <p:cNvPr id="8" name="Text 6"/>
          <p:cNvSpPr/>
          <p:nvPr/>
        </p:nvSpPr>
        <p:spPr>
          <a:xfrm>
            <a:off x="3200400" y="1389888"/>
            <a:ext cx="2743200" cy="475488"/>
          </a:xfrm>
          <a:prstGeom prst="rect">
            <a:avLst/>
          </a:prstGeom>
          <a:noFill/>
          <a:ln/>
        </p:spPr>
        <p:txBody>
          <a:bodyPr wrap="square" lIns="0" tIns="0" rIns="0" bIns="0" rtlCol="0" anchor="ctr"/>
          <a:lstStyle/>
          <a:p>
            <a:pPr marL="0" indent="0" algn="r">
              <a:buNone/>
            </a:pPr>
            <a:r>
              <a:rPr lang="en-US" sz="1100" i="1" dirty="0">
                <a:solidFill>
                  <a:srgbClr val="FDD17A"/>
                </a:solidFill>
                <a:latin typeface="Georgia" pitchFamily="34" charset="0"/>
                <a:ea typeface="Georgia" pitchFamily="34" charset="-122"/>
                <a:cs typeface="Georgia" pitchFamily="34" charset="-120"/>
              </a:rPr>
              <a:t>"The Packaging Specialist"</a:t>
            </a:r>
            <a:endParaRPr lang="en-US" sz="1100" dirty="0"/>
          </a:p>
        </p:txBody>
      </p:sp>
      <p:sp>
        <p:nvSpPr>
          <p:cNvPr id="9" name="Shape 7"/>
          <p:cNvSpPr/>
          <p:nvPr/>
        </p:nvSpPr>
        <p:spPr>
          <a:xfrm>
            <a:off x="365760" y="1920240"/>
            <a:ext cx="5669280" cy="457200"/>
          </a:xfrm>
          <a:prstGeom prst="rect">
            <a:avLst/>
          </a:prstGeom>
          <a:solidFill>
            <a:srgbClr val="0F2040"/>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10" name="Text 8"/>
          <p:cNvSpPr/>
          <p:nvPr/>
        </p:nvSpPr>
        <p:spPr>
          <a:xfrm>
            <a:off x="457200" y="1920240"/>
            <a:ext cx="5486400" cy="457200"/>
          </a:xfrm>
          <a:prstGeom prst="rect">
            <a:avLst/>
          </a:prstGeom>
          <a:noFill/>
          <a:ln/>
        </p:spPr>
        <p:txBody>
          <a:bodyPr wrap="square" lIns="0" tIns="0" rIns="0" bIns="0" rtlCol="0" anchor="ctr"/>
          <a:lstStyle/>
          <a:p>
            <a:pPr marL="0" indent="0" algn="l">
              <a:buNone/>
            </a:pPr>
            <a:r>
              <a:rPr lang="en-US" sz="950" i="1" dirty="0">
                <a:solidFill>
                  <a:srgbClr val="E8EDF4"/>
                </a:solidFill>
                <a:latin typeface="Georgia" pitchFamily="34" charset="0"/>
                <a:ea typeface="Georgia" pitchFamily="34" charset="-122"/>
                <a:cs typeface="Georgia" pitchFamily="34" charset="-120"/>
              </a:rPr>
              <a:t>After the builders finish construction, a packaging team prepares the building for delivery — wrapping it correctly so it arrives ready to use in its destination environment.</a:t>
            </a:r>
            <a:endParaRPr lang="en-US" sz="950" dirty="0"/>
          </a:p>
        </p:txBody>
      </p:sp>
      <p:sp>
        <p:nvSpPr>
          <p:cNvPr id="11" name="Shape 9"/>
          <p:cNvSpPr/>
          <p:nvPr/>
        </p:nvSpPr>
        <p:spPr>
          <a:xfrm>
            <a:off x="365760" y="2450592"/>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12" name="Shape 10"/>
          <p:cNvSpPr/>
          <p:nvPr/>
        </p:nvSpPr>
        <p:spPr>
          <a:xfrm>
            <a:off x="457200" y="2688336"/>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13" name="Text 11"/>
          <p:cNvSpPr/>
          <p:nvPr/>
        </p:nvSpPr>
        <p:spPr>
          <a:xfrm>
            <a:off x="457200" y="268833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4" name="Text 12"/>
          <p:cNvSpPr/>
          <p:nvPr/>
        </p:nvSpPr>
        <p:spPr>
          <a:xfrm>
            <a:off x="932688" y="2505456"/>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Read the dependency manifest</a:t>
            </a:r>
            <a:endParaRPr lang="en-US" sz="1000" dirty="0"/>
          </a:p>
        </p:txBody>
      </p:sp>
      <p:sp>
        <p:nvSpPr>
          <p:cNvPr id="15" name="Text 13"/>
          <p:cNvSpPr/>
          <p:nvPr/>
        </p:nvSpPr>
        <p:spPr>
          <a:xfrm>
            <a:off x="932688" y="2779776"/>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Reads pom.xml to build an exact picture of what libraries and frameworks the migrated application uses — Spring version, data access libraries, messaging, security. This drives every subsequent decision.</a:t>
            </a:r>
            <a:endParaRPr lang="en-US" sz="900" dirty="0"/>
          </a:p>
        </p:txBody>
      </p:sp>
      <p:sp>
        <p:nvSpPr>
          <p:cNvPr id="16" name="Shape 14"/>
          <p:cNvSpPr/>
          <p:nvPr/>
        </p:nvSpPr>
        <p:spPr>
          <a:xfrm>
            <a:off x="365760" y="3511296"/>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17" name="Shape 15"/>
          <p:cNvSpPr/>
          <p:nvPr/>
        </p:nvSpPr>
        <p:spPr>
          <a:xfrm>
            <a:off x="457200" y="3749040"/>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18" name="Text 16"/>
          <p:cNvSpPr/>
          <p:nvPr/>
        </p:nvSpPr>
        <p:spPr>
          <a:xfrm>
            <a:off x="457200" y="37490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9" name="Text 17"/>
          <p:cNvSpPr/>
          <p:nvPr/>
        </p:nvSpPr>
        <p:spPr>
          <a:xfrm>
            <a:off x="932688" y="3566160"/>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Generate the Dockerfile</a:t>
            </a:r>
            <a:endParaRPr lang="en-US" sz="1000" dirty="0"/>
          </a:p>
        </p:txBody>
      </p:sp>
      <p:sp>
        <p:nvSpPr>
          <p:cNvPr id="20" name="Text 18"/>
          <p:cNvSpPr/>
          <p:nvPr/>
        </p:nvSpPr>
        <p:spPr>
          <a:xfrm>
            <a:off x="932688" y="3840480"/>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Creates a Dockerfile using the correct Open Liberty base image. Copies the compiled application into the container. Sets the correct environment variables, port exposures, and JVM settings for running on AWS.</a:t>
            </a:r>
            <a:endParaRPr lang="en-US" sz="900" dirty="0"/>
          </a:p>
        </p:txBody>
      </p:sp>
      <p:sp>
        <p:nvSpPr>
          <p:cNvPr id="21" name="Shape 19"/>
          <p:cNvSpPr/>
          <p:nvPr/>
        </p:nvSpPr>
        <p:spPr>
          <a:xfrm>
            <a:off x="365760" y="4572000"/>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22" name="Shape 20"/>
          <p:cNvSpPr/>
          <p:nvPr/>
        </p:nvSpPr>
        <p:spPr>
          <a:xfrm>
            <a:off x="457200" y="4809744"/>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23" name="Text 21"/>
          <p:cNvSpPr/>
          <p:nvPr/>
        </p:nvSpPr>
        <p:spPr>
          <a:xfrm>
            <a:off x="457200" y="480974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4" name="Text 22"/>
          <p:cNvSpPr/>
          <p:nvPr/>
        </p:nvSpPr>
        <p:spPr>
          <a:xfrm>
            <a:off x="932688" y="4626864"/>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Configure Liberty server.xml</a:t>
            </a:r>
            <a:endParaRPr lang="en-US" sz="1000" dirty="0"/>
          </a:p>
        </p:txBody>
      </p:sp>
      <p:sp>
        <p:nvSpPr>
          <p:cNvPr id="25" name="Text 23"/>
          <p:cNvSpPr/>
          <p:nvPr/>
        </p:nvSpPr>
        <p:spPr>
          <a:xfrm>
            <a:off x="932688" y="4901184"/>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Generates the Liberty application server configuration — exactly the right feature set for this app's dependencies, no more and no less. DataSource configuration is added if JDBC connections are detected.</a:t>
            </a:r>
            <a:endParaRPr lang="en-US" sz="900" dirty="0"/>
          </a:p>
        </p:txBody>
      </p:sp>
      <p:sp>
        <p:nvSpPr>
          <p:cNvPr id="26" name="Shape 24"/>
          <p:cNvSpPr/>
          <p:nvPr/>
        </p:nvSpPr>
        <p:spPr>
          <a:xfrm>
            <a:off x="365760" y="5632704"/>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27" name="Shape 25"/>
          <p:cNvSpPr/>
          <p:nvPr/>
        </p:nvSpPr>
        <p:spPr>
          <a:xfrm>
            <a:off x="457200" y="5870448"/>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28" name="Text 26"/>
          <p:cNvSpPr/>
          <p:nvPr/>
        </p:nvSpPr>
        <p:spPr>
          <a:xfrm>
            <a:off x="457200" y="5870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9" name="Text 27"/>
          <p:cNvSpPr/>
          <p:nvPr/>
        </p:nvSpPr>
        <p:spPr>
          <a:xfrm>
            <a:off x="932688" y="5687568"/>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Create the ECS task definition</a:t>
            </a:r>
            <a:endParaRPr lang="en-US" sz="1000" dirty="0"/>
          </a:p>
        </p:txBody>
      </p:sp>
      <p:sp>
        <p:nvSpPr>
          <p:cNvPr id="30" name="Text 28"/>
          <p:cNvSpPr/>
          <p:nvPr/>
        </p:nvSpPr>
        <p:spPr>
          <a:xfrm>
            <a:off x="932688" y="5961888"/>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Produces the AWS ECS task definition JSON — CPU allocation, memory limits, container port mappings, environment variable injection from AWS Secrets Manager, and health check configuration.</a:t>
            </a:r>
            <a:endParaRPr lang="en-US" sz="900" dirty="0"/>
          </a:p>
        </p:txBody>
      </p:sp>
      <p:sp>
        <p:nvSpPr>
          <p:cNvPr id="31" name="Shape 29"/>
          <p:cNvSpPr/>
          <p:nvPr/>
        </p:nvSpPr>
        <p:spPr>
          <a:xfrm>
            <a:off x="4069080" y="6528816"/>
            <a:ext cx="1920240" cy="237744"/>
          </a:xfrm>
          <a:prstGeom prst="rect">
            <a:avLst/>
          </a:prstGeom>
          <a:solidFill>
            <a:srgbClr val="E6F1FB"/>
          </a:solidFill>
          <a:ln w="9525">
            <a:solidFill>
              <a:srgbClr val="3B82C4"/>
            </a:solidFill>
            <a:prstDash val="solid"/>
          </a:ln>
        </p:spPr>
        <p:txBody>
          <a:bodyPr/>
          <a:lstStyle/>
          <a:p>
            <a:endParaRPr lang="en-US"/>
          </a:p>
        </p:txBody>
      </p:sp>
      <p:sp>
        <p:nvSpPr>
          <p:cNvPr id="32" name="Text 30"/>
          <p:cNvSpPr/>
          <p:nvPr/>
        </p:nvSpPr>
        <p:spPr>
          <a:xfrm>
            <a:off x="4069080" y="6528816"/>
            <a:ext cx="1920240" cy="237744"/>
          </a:xfrm>
          <a:prstGeom prst="rect">
            <a:avLst/>
          </a:prstGeom>
          <a:noFill/>
          <a:ln/>
        </p:spPr>
        <p:txBody>
          <a:bodyPr wrap="square" lIns="0" tIns="0" rIns="0" bIns="0" rtlCol="0" anchor="ctr"/>
          <a:lstStyle/>
          <a:p>
            <a:pPr marL="0" indent="0" algn="ctr">
              <a:buNone/>
            </a:pPr>
            <a:r>
              <a:rPr lang="en-US" sz="900" b="1" dirty="0">
                <a:solidFill>
                  <a:srgbClr val="042C53"/>
                </a:solidFill>
                <a:latin typeface="Calibri" pitchFamily="34" charset="0"/>
                <a:ea typeface="Calibri" pitchFamily="34" charset="-122"/>
                <a:cs typeface="Calibri" pitchFamily="34" charset="-120"/>
              </a:rPr>
              <a:t>Claude Sonnet 4.5 + RAG</a:t>
            </a:r>
            <a:endParaRPr lang="en-US" sz="900" dirty="0"/>
          </a:p>
        </p:txBody>
      </p:sp>
      <p:sp>
        <p:nvSpPr>
          <p:cNvPr id="33" name="Shape 31"/>
          <p:cNvSpPr/>
          <p:nvPr/>
        </p:nvSpPr>
        <p:spPr>
          <a:xfrm>
            <a:off x="6309360" y="1389888"/>
            <a:ext cx="5669280" cy="475488"/>
          </a:xfrm>
          <a:prstGeom prst="rect">
            <a:avLst/>
          </a:prstGeom>
          <a:solidFill>
            <a:srgbClr val="0A1628"/>
          </a:solidFill>
          <a:ln w="1270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34" name="Text 32"/>
          <p:cNvSpPr/>
          <p:nvPr/>
        </p:nvSpPr>
        <p:spPr>
          <a:xfrm>
            <a:off x="6400800" y="1389888"/>
            <a:ext cx="2834640" cy="475488"/>
          </a:xfrm>
          <a:prstGeom prst="rect">
            <a:avLst/>
          </a:prstGeom>
          <a:noFill/>
          <a:ln/>
        </p:spPr>
        <p:txBody>
          <a:bodyPr wrap="square" lIns="0" tIns="0" rIns="0" bIns="0" rtlCol="0" anchor="ctr"/>
          <a:lstStyle/>
          <a:p>
            <a:pPr marL="0" indent="0" algn="l">
              <a:buNone/>
            </a:pPr>
            <a:r>
              <a:rPr lang="en-US" sz="1400" b="1" dirty="0">
                <a:solidFill>
                  <a:srgbClr val="FFFFFF"/>
                </a:solidFill>
                <a:latin typeface="Georgia" pitchFamily="34" charset="0"/>
                <a:ea typeface="Georgia" pitchFamily="34" charset="-122"/>
                <a:cs typeface="Georgia" pitchFamily="34" charset="-120"/>
              </a:rPr>
              <a:t>Test Generation Agent</a:t>
            </a:r>
            <a:endParaRPr lang="en-US" sz="1400" dirty="0"/>
          </a:p>
        </p:txBody>
      </p:sp>
      <p:sp>
        <p:nvSpPr>
          <p:cNvPr id="35" name="Text 33"/>
          <p:cNvSpPr/>
          <p:nvPr/>
        </p:nvSpPr>
        <p:spPr>
          <a:xfrm>
            <a:off x="9144000" y="1389888"/>
            <a:ext cx="2743200" cy="475488"/>
          </a:xfrm>
          <a:prstGeom prst="rect">
            <a:avLst/>
          </a:prstGeom>
          <a:noFill/>
          <a:ln/>
        </p:spPr>
        <p:txBody>
          <a:bodyPr wrap="square" lIns="0" tIns="0" rIns="0" bIns="0" rtlCol="0" anchor="ctr"/>
          <a:lstStyle/>
          <a:p>
            <a:pPr marL="0" indent="0" algn="r">
              <a:buNone/>
            </a:pPr>
            <a:r>
              <a:rPr lang="en-US" sz="1100" i="1" dirty="0">
                <a:solidFill>
                  <a:srgbClr val="FDD17A"/>
                </a:solidFill>
                <a:latin typeface="Georgia" pitchFamily="34" charset="0"/>
                <a:ea typeface="Georgia" pitchFamily="34" charset="-122"/>
                <a:cs typeface="Georgia" pitchFamily="34" charset="-120"/>
              </a:rPr>
              <a:t>"The Test Writer"</a:t>
            </a:r>
            <a:endParaRPr lang="en-US" sz="1100" dirty="0"/>
          </a:p>
        </p:txBody>
      </p:sp>
      <p:sp>
        <p:nvSpPr>
          <p:cNvPr id="36" name="Shape 34"/>
          <p:cNvSpPr/>
          <p:nvPr/>
        </p:nvSpPr>
        <p:spPr>
          <a:xfrm>
            <a:off x="6309360" y="1920240"/>
            <a:ext cx="5669280" cy="457200"/>
          </a:xfrm>
          <a:prstGeom prst="rect">
            <a:avLst/>
          </a:prstGeom>
          <a:solidFill>
            <a:srgbClr val="0F2040"/>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37" name="Text 35"/>
          <p:cNvSpPr/>
          <p:nvPr/>
        </p:nvSpPr>
        <p:spPr>
          <a:xfrm>
            <a:off x="6400800" y="1920240"/>
            <a:ext cx="5486400" cy="457200"/>
          </a:xfrm>
          <a:prstGeom prst="rect">
            <a:avLst/>
          </a:prstGeom>
          <a:noFill/>
          <a:ln/>
        </p:spPr>
        <p:txBody>
          <a:bodyPr wrap="square" lIns="0" tIns="0" rIns="0" bIns="0" rtlCol="0" anchor="ctr"/>
          <a:lstStyle/>
          <a:p>
            <a:pPr marL="0" indent="0" algn="l">
              <a:buNone/>
            </a:pPr>
            <a:r>
              <a:rPr lang="en-US" sz="950" i="1" dirty="0">
                <a:solidFill>
                  <a:srgbClr val="E8EDF4"/>
                </a:solidFill>
                <a:latin typeface="Georgia" pitchFamily="34" charset="0"/>
                <a:ea typeface="Georgia" pitchFamily="34" charset="-122"/>
                <a:cs typeface="Georgia" pitchFamily="34" charset="-120"/>
              </a:rPr>
              <a:t>Every new Spring MVC controller needs a test suite. A human test writer reads a controller and writes tests. This agent does the same thing — systematically, for every controller generated by the migration.</a:t>
            </a:r>
            <a:endParaRPr lang="en-US" sz="950" dirty="0"/>
          </a:p>
        </p:txBody>
      </p:sp>
      <p:sp>
        <p:nvSpPr>
          <p:cNvPr id="38" name="Shape 36"/>
          <p:cNvSpPr/>
          <p:nvPr/>
        </p:nvSpPr>
        <p:spPr>
          <a:xfrm>
            <a:off x="6309360" y="2450592"/>
            <a:ext cx="5669280" cy="969264"/>
          </a:xfrm>
          <a:prstGeom prst="rect">
            <a:avLst/>
          </a:prstGeom>
          <a:solidFill>
            <a:srgbClr val="E1F5EE"/>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39" name="Shape 37"/>
          <p:cNvSpPr/>
          <p:nvPr/>
        </p:nvSpPr>
        <p:spPr>
          <a:xfrm>
            <a:off x="6400800" y="2688336"/>
            <a:ext cx="384048" cy="384048"/>
          </a:xfrm>
          <a:prstGeom prst="ellipse">
            <a:avLst/>
          </a:prstGeom>
          <a:solidFill>
            <a:srgbClr val="1D9E75"/>
          </a:solidFill>
          <a:ln w="12700">
            <a:solidFill>
              <a:srgbClr val="1D9E75">
                <a:alpha val="0"/>
              </a:srgbClr>
            </a:solidFill>
            <a:prstDash val="solid"/>
          </a:ln>
        </p:spPr>
        <p:txBody>
          <a:bodyPr/>
          <a:lstStyle/>
          <a:p>
            <a:endParaRPr lang="en-US"/>
          </a:p>
        </p:txBody>
      </p:sp>
      <p:sp>
        <p:nvSpPr>
          <p:cNvPr id="40" name="Text 38"/>
          <p:cNvSpPr/>
          <p:nvPr/>
        </p:nvSpPr>
        <p:spPr>
          <a:xfrm>
            <a:off x="6400800" y="268833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41" name="Text 39"/>
          <p:cNvSpPr/>
          <p:nvPr/>
        </p:nvSpPr>
        <p:spPr>
          <a:xfrm>
            <a:off x="6876288" y="2505456"/>
            <a:ext cx="5010912" cy="256032"/>
          </a:xfrm>
          <a:prstGeom prst="rect">
            <a:avLst/>
          </a:prstGeom>
          <a:noFill/>
          <a:ln/>
        </p:spPr>
        <p:txBody>
          <a:bodyPr wrap="square" lIns="0" tIns="0" rIns="0" bIns="0" rtlCol="0" anchor="ctr"/>
          <a:lstStyle/>
          <a:p>
            <a:pPr marL="0" indent="0" algn="l">
              <a:buNone/>
            </a:pPr>
            <a:r>
              <a:rPr lang="en-US" sz="1000" b="1" dirty="0">
                <a:solidFill>
                  <a:srgbClr val="1D9E75"/>
                </a:solidFill>
                <a:latin typeface="Georgia" pitchFamily="34" charset="0"/>
                <a:ea typeface="Georgia" pitchFamily="34" charset="-122"/>
                <a:cs typeface="Georgia" pitchFamily="34" charset="-120"/>
              </a:rPr>
              <a:t>Read each new @Controller</a:t>
            </a:r>
            <a:endParaRPr lang="en-US" sz="1000" dirty="0"/>
          </a:p>
        </p:txBody>
      </p:sp>
      <p:sp>
        <p:nvSpPr>
          <p:cNvPr id="42" name="Text 40"/>
          <p:cNvSpPr/>
          <p:nvPr/>
        </p:nvSpPr>
        <p:spPr>
          <a:xfrm>
            <a:off x="6876288" y="2779776"/>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Reads every Spring MVC controller produced by the Struts2→MVC agent. Builds a list of all the methods that handle HTTP requests — both GET requests (display pages) and POST requests (form submissions).</a:t>
            </a:r>
            <a:endParaRPr lang="en-US" sz="900" dirty="0"/>
          </a:p>
        </p:txBody>
      </p:sp>
      <p:sp>
        <p:nvSpPr>
          <p:cNvPr id="43" name="Shape 41"/>
          <p:cNvSpPr/>
          <p:nvPr/>
        </p:nvSpPr>
        <p:spPr>
          <a:xfrm>
            <a:off x="6309360" y="3511296"/>
            <a:ext cx="5669280" cy="969264"/>
          </a:xfrm>
          <a:prstGeom prst="rect">
            <a:avLst/>
          </a:prstGeom>
          <a:solidFill>
            <a:srgbClr val="E1F5EE"/>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44" name="Shape 42"/>
          <p:cNvSpPr/>
          <p:nvPr/>
        </p:nvSpPr>
        <p:spPr>
          <a:xfrm>
            <a:off x="6400800" y="3749040"/>
            <a:ext cx="384048" cy="384048"/>
          </a:xfrm>
          <a:prstGeom prst="ellipse">
            <a:avLst/>
          </a:prstGeom>
          <a:solidFill>
            <a:srgbClr val="1D9E75"/>
          </a:solidFill>
          <a:ln w="12700">
            <a:solidFill>
              <a:srgbClr val="1D9E75">
                <a:alpha val="0"/>
              </a:srgbClr>
            </a:solidFill>
            <a:prstDash val="solid"/>
          </a:ln>
        </p:spPr>
        <p:txBody>
          <a:bodyPr/>
          <a:lstStyle/>
          <a:p>
            <a:endParaRPr lang="en-US"/>
          </a:p>
        </p:txBody>
      </p:sp>
      <p:sp>
        <p:nvSpPr>
          <p:cNvPr id="45" name="Text 43"/>
          <p:cNvSpPr/>
          <p:nvPr/>
        </p:nvSpPr>
        <p:spPr>
          <a:xfrm>
            <a:off x="6400800" y="37490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46" name="Text 44"/>
          <p:cNvSpPr/>
          <p:nvPr/>
        </p:nvSpPr>
        <p:spPr>
          <a:xfrm>
            <a:off x="6876288" y="3566160"/>
            <a:ext cx="5010912" cy="256032"/>
          </a:xfrm>
          <a:prstGeom prst="rect">
            <a:avLst/>
          </a:prstGeom>
          <a:noFill/>
          <a:ln/>
        </p:spPr>
        <p:txBody>
          <a:bodyPr wrap="square" lIns="0" tIns="0" rIns="0" bIns="0" rtlCol="0" anchor="ctr"/>
          <a:lstStyle/>
          <a:p>
            <a:pPr marL="0" indent="0" algn="l">
              <a:buNone/>
            </a:pPr>
            <a:r>
              <a:rPr lang="en-US" sz="1000" b="1" dirty="0">
                <a:solidFill>
                  <a:srgbClr val="1D9E75"/>
                </a:solidFill>
                <a:latin typeface="Georgia" pitchFamily="34" charset="0"/>
                <a:ea typeface="Georgia" pitchFamily="34" charset="-122"/>
                <a:cs typeface="Georgia" pitchFamily="34" charset="-120"/>
              </a:rPr>
              <a:t>Generate a test class per controller</a:t>
            </a:r>
            <a:endParaRPr lang="en-US" sz="1000" dirty="0"/>
          </a:p>
        </p:txBody>
      </p:sp>
      <p:sp>
        <p:nvSpPr>
          <p:cNvPr id="47" name="Text 45"/>
          <p:cNvSpPr/>
          <p:nvPr/>
        </p:nvSpPr>
        <p:spPr>
          <a:xfrm>
            <a:off x="6876288" y="3840480"/>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Creates a JUnit 5 test class for each controller. Sets up the correct test framework annotations, mock service declarations, and the MockMvc test runner that lets tests simulate HTTP requests without a real server.</a:t>
            </a:r>
            <a:endParaRPr lang="en-US" sz="900" dirty="0"/>
          </a:p>
        </p:txBody>
      </p:sp>
      <p:sp>
        <p:nvSpPr>
          <p:cNvPr id="48" name="Shape 46"/>
          <p:cNvSpPr/>
          <p:nvPr/>
        </p:nvSpPr>
        <p:spPr>
          <a:xfrm>
            <a:off x="6309360" y="4572000"/>
            <a:ext cx="5669280" cy="969264"/>
          </a:xfrm>
          <a:prstGeom prst="rect">
            <a:avLst/>
          </a:prstGeom>
          <a:solidFill>
            <a:srgbClr val="E1F5EE"/>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49" name="Shape 47"/>
          <p:cNvSpPr/>
          <p:nvPr/>
        </p:nvSpPr>
        <p:spPr>
          <a:xfrm>
            <a:off x="6400800" y="4809744"/>
            <a:ext cx="384048" cy="384048"/>
          </a:xfrm>
          <a:prstGeom prst="ellipse">
            <a:avLst/>
          </a:prstGeom>
          <a:solidFill>
            <a:srgbClr val="1D9E75"/>
          </a:solidFill>
          <a:ln w="12700">
            <a:solidFill>
              <a:srgbClr val="1D9E75">
                <a:alpha val="0"/>
              </a:srgbClr>
            </a:solidFill>
            <a:prstDash val="solid"/>
          </a:ln>
        </p:spPr>
        <p:txBody>
          <a:bodyPr/>
          <a:lstStyle/>
          <a:p>
            <a:endParaRPr lang="en-US"/>
          </a:p>
        </p:txBody>
      </p:sp>
      <p:sp>
        <p:nvSpPr>
          <p:cNvPr id="50" name="Text 48"/>
          <p:cNvSpPr/>
          <p:nvPr/>
        </p:nvSpPr>
        <p:spPr>
          <a:xfrm>
            <a:off x="6400800" y="480974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51" name="Text 49"/>
          <p:cNvSpPr/>
          <p:nvPr/>
        </p:nvSpPr>
        <p:spPr>
          <a:xfrm>
            <a:off x="6876288" y="4626864"/>
            <a:ext cx="5010912" cy="256032"/>
          </a:xfrm>
          <a:prstGeom prst="rect">
            <a:avLst/>
          </a:prstGeom>
          <a:noFill/>
          <a:ln/>
        </p:spPr>
        <p:txBody>
          <a:bodyPr wrap="square" lIns="0" tIns="0" rIns="0" bIns="0" rtlCol="0" anchor="ctr"/>
          <a:lstStyle/>
          <a:p>
            <a:pPr marL="0" indent="0" algn="l">
              <a:buNone/>
            </a:pPr>
            <a:r>
              <a:rPr lang="en-US" sz="1000" b="1" dirty="0">
                <a:solidFill>
                  <a:srgbClr val="1D9E75"/>
                </a:solidFill>
                <a:latin typeface="Georgia" pitchFamily="34" charset="0"/>
                <a:ea typeface="Georgia" pitchFamily="34" charset="-122"/>
                <a:cs typeface="Georgia" pitchFamily="34" charset="-120"/>
              </a:rPr>
              <a:t>Write one test per handler method</a:t>
            </a:r>
            <a:endParaRPr lang="en-US" sz="1000" dirty="0"/>
          </a:p>
        </p:txBody>
      </p:sp>
      <p:sp>
        <p:nvSpPr>
          <p:cNvPr id="52" name="Text 50"/>
          <p:cNvSpPr/>
          <p:nvPr/>
        </p:nvSpPr>
        <p:spPr>
          <a:xfrm>
            <a:off x="6876288" y="4901184"/>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For every @GetMapping and @PostMapping method, writes at minimum two tests: one for the happy path (valid input, expected outcome) and one for the error path (invalid input, validation failure, error result).</a:t>
            </a:r>
            <a:endParaRPr lang="en-US" sz="900" dirty="0"/>
          </a:p>
        </p:txBody>
      </p:sp>
      <p:sp>
        <p:nvSpPr>
          <p:cNvPr id="53" name="Shape 51"/>
          <p:cNvSpPr/>
          <p:nvPr/>
        </p:nvSpPr>
        <p:spPr>
          <a:xfrm>
            <a:off x="6309360" y="5632704"/>
            <a:ext cx="5669280" cy="969264"/>
          </a:xfrm>
          <a:prstGeom prst="rect">
            <a:avLst/>
          </a:prstGeom>
          <a:solidFill>
            <a:srgbClr val="E1F5EE"/>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54" name="Shape 52"/>
          <p:cNvSpPr/>
          <p:nvPr/>
        </p:nvSpPr>
        <p:spPr>
          <a:xfrm>
            <a:off x="6400800" y="5870448"/>
            <a:ext cx="384048" cy="384048"/>
          </a:xfrm>
          <a:prstGeom prst="ellipse">
            <a:avLst/>
          </a:prstGeom>
          <a:solidFill>
            <a:srgbClr val="1D9E75"/>
          </a:solidFill>
          <a:ln w="12700">
            <a:solidFill>
              <a:srgbClr val="1D9E75">
                <a:alpha val="0"/>
              </a:srgbClr>
            </a:solidFill>
            <a:prstDash val="solid"/>
          </a:ln>
        </p:spPr>
        <p:txBody>
          <a:bodyPr/>
          <a:lstStyle/>
          <a:p>
            <a:endParaRPr lang="en-US"/>
          </a:p>
        </p:txBody>
      </p:sp>
      <p:sp>
        <p:nvSpPr>
          <p:cNvPr id="55" name="Text 53"/>
          <p:cNvSpPr/>
          <p:nvPr/>
        </p:nvSpPr>
        <p:spPr>
          <a:xfrm>
            <a:off x="6400800" y="5870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56" name="Text 54"/>
          <p:cNvSpPr/>
          <p:nvPr/>
        </p:nvSpPr>
        <p:spPr>
          <a:xfrm>
            <a:off x="6876288" y="5687568"/>
            <a:ext cx="5010912" cy="256032"/>
          </a:xfrm>
          <a:prstGeom prst="rect">
            <a:avLst/>
          </a:prstGeom>
          <a:noFill/>
          <a:ln/>
        </p:spPr>
        <p:txBody>
          <a:bodyPr wrap="square" lIns="0" tIns="0" rIns="0" bIns="0" rtlCol="0" anchor="ctr"/>
          <a:lstStyle/>
          <a:p>
            <a:pPr marL="0" indent="0" algn="l">
              <a:buNone/>
            </a:pPr>
            <a:r>
              <a:rPr lang="en-US" sz="1000" b="1" dirty="0">
                <a:solidFill>
                  <a:srgbClr val="1D9E75"/>
                </a:solidFill>
                <a:latin typeface="Georgia" pitchFamily="34" charset="0"/>
                <a:ea typeface="Georgia" pitchFamily="34" charset="-122"/>
                <a:cs typeface="Georgia" pitchFamily="34" charset="-120"/>
              </a:rPr>
              <a:t>Verify mock wiring</a:t>
            </a:r>
            <a:endParaRPr lang="en-US" sz="1000" dirty="0"/>
          </a:p>
        </p:txBody>
      </p:sp>
      <p:sp>
        <p:nvSpPr>
          <p:cNvPr id="57" name="Text 55"/>
          <p:cNvSpPr/>
          <p:nvPr/>
        </p:nvSpPr>
        <p:spPr>
          <a:xfrm>
            <a:off x="6876288" y="5961888"/>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Checks that every service class the controller uses is correctly mocked in the test — no missing mocks that would cause the test to fail. Uses the controller's @Autowired declarations to determine what mocks are needed.</a:t>
            </a:r>
            <a:endParaRPr lang="en-US" sz="900" dirty="0"/>
          </a:p>
        </p:txBody>
      </p:sp>
      <p:sp>
        <p:nvSpPr>
          <p:cNvPr id="58" name="Shape 56"/>
          <p:cNvSpPr/>
          <p:nvPr/>
        </p:nvSpPr>
        <p:spPr>
          <a:xfrm>
            <a:off x="10012680" y="6528816"/>
            <a:ext cx="1920240" cy="237744"/>
          </a:xfrm>
          <a:prstGeom prst="rect">
            <a:avLst/>
          </a:prstGeom>
          <a:solidFill>
            <a:srgbClr val="E6F1FB"/>
          </a:solidFill>
          <a:ln w="9525">
            <a:solidFill>
              <a:srgbClr val="3B82C4"/>
            </a:solidFill>
            <a:prstDash val="solid"/>
          </a:ln>
        </p:spPr>
        <p:txBody>
          <a:bodyPr/>
          <a:lstStyle/>
          <a:p>
            <a:endParaRPr lang="en-US"/>
          </a:p>
        </p:txBody>
      </p:sp>
      <p:sp>
        <p:nvSpPr>
          <p:cNvPr id="59" name="Text 57"/>
          <p:cNvSpPr/>
          <p:nvPr/>
        </p:nvSpPr>
        <p:spPr>
          <a:xfrm>
            <a:off x="10012680" y="6528816"/>
            <a:ext cx="1920240" cy="237744"/>
          </a:xfrm>
          <a:prstGeom prst="rect">
            <a:avLst/>
          </a:prstGeom>
          <a:noFill/>
          <a:ln/>
        </p:spPr>
        <p:txBody>
          <a:bodyPr wrap="square" lIns="0" tIns="0" rIns="0" bIns="0" rtlCol="0" anchor="ctr"/>
          <a:lstStyle/>
          <a:p>
            <a:pPr marL="0" indent="0" algn="ctr">
              <a:buNone/>
            </a:pPr>
            <a:r>
              <a:rPr lang="en-US" sz="900" b="1" dirty="0">
                <a:solidFill>
                  <a:srgbClr val="042C53"/>
                </a:solidFill>
                <a:latin typeface="Calibri" pitchFamily="34" charset="0"/>
                <a:ea typeface="Calibri" pitchFamily="34" charset="-122"/>
                <a:cs typeface="Calibri" pitchFamily="34" charset="-120"/>
              </a:rPr>
              <a:t>Claude Sonnet 4.5 + RAG</a:t>
            </a:r>
            <a:endParaRPr lang="en-US" sz="900" dirty="0"/>
          </a:p>
        </p:txBody>
      </p:sp>
      <p:sp>
        <p:nvSpPr>
          <p:cNvPr id="60" name="Shape 58"/>
          <p:cNvSpPr/>
          <p:nvPr/>
        </p:nvSpPr>
        <p:spPr>
          <a:xfrm>
            <a:off x="219456" y="6382512"/>
            <a:ext cx="11704320" cy="384048"/>
          </a:xfrm>
          <a:prstGeom prst="rect">
            <a:avLst/>
          </a:prstGeom>
          <a:solidFill>
            <a:srgbClr val="C47E0F"/>
          </a:solidFill>
          <a:ln w="12700">
            <a:solidFill>
              <a:srgbClr val="C47E0F">
                <a:alpha val="0"/>
              </a:srgbClr>
            </a:solidFill>
            <a:prstDash val="solid"/>
          </a:ln>
        </p:spPr>
        <p:txBody>
          <a:bodyPr/>
          <a:lstStyle/>
          <a:p>
            <a:endParaRPr lang="en-US"/>
          </a:p>
        </p:txBody>
      </p:sp>
      <p:sp>
        <p:nvSpPr>
          <p:cNvPr id="61" name="Text 59"/>
          <p:cNvSpPr/>
          <p:nvPr/>
        </p:nvSpPr>
        <p:spPr>
          <a:xfrm>
            <a:off x="347472" y="6382512"/>
            <a:ext cx="11521440" cy="384048"/>
          </a:xfrm>
          <a:prstGeom prst="rect">
            <a:avLst/>
          </a:prstGeom>
          <a:noFill/>
          <a:ln/>
        </p:spPr>
        <p:txBody>
          <a:bodyPr wrap="square" lIns="0" tIns="0" rIns="0" bIns="0" rtlCol="0" anchor="ctr"/>
          <a:lstStyle/>
          <a:p>
            <a:pPr marL="0" indent="0" algn="l">
              <a:buNone/>
            </a:pPr>
            <a:r>
              <a:rPr lang="en-US" sz="1050" b="1" dirty="0">
                <a:solidFill>
                  <a:srgbClr val="FFFFFF"/>
                </a:solidFill>
                <a:latin typeface="Georgia" pitchFamily="34" charset="0"/>
                <a:ea typeface="Georgia" pitchFamily="34" charset="-122"/>
                <a:cs typeface="Georgia" pitchFamily="34" charset="-120"/>
              </a:rPr>
              <a:t>Business impact: Without the Containerize agent, migration output cannot be deployed. Without the Test Gen agent, there is no regression safety net. Both are non-negotiable for production readiness.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534AB7"/>
          </a:solidFill>
          <a:ln w="12700">
            <a:solidFill>
              <a:srgbClr val="534AB7">
                <a:alpha val="0"/>
              </a:srgbClr>
            </a:solidFill>
            <a:prstDash val="solid"/>
          </a:ln>
        </p:spPr>
        <p:txBody>
          <a:bodyPr/>
          <a:lstStyle/>
          <a:p>
            <a:endParaRPr lang="en-US"/>
          </a:p>
        </p:txBody>
      </p:sp>
      <p:sp>
        <p:nvSpPr>
          <p:cNvPr id="3" name="Text 1"/>
          <p:cNvSpPr/>
          <p:nvPr/>
        </p:nvSpPr>
        <p:spPr>
          <a:xfrm>
            <a:off x="219456" y="128016"/>
            <a:ext cx="457200" cy="274320"/>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09  ·</a:t>
            </a:r>
            <a:endParaRPr lang="en-US" sz="1000" dirty="0"/>
          </a:p>
        </p:txBody>
      </p:sp>
      <p:sp>
        <p:nvSpPr>
          <p:cNvPr id="4" name="Text 2"/>
          <p:cNvSpPr/>
          <p:nvPr/>
        </p:nvSpPr>
        <p:spPr>
          <a:xfrm>
            <a:off x="219456" y="100584"/>
            <a:ext cx="1170432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Georgia" pitchFamily="34" charset="0"/>
                <a:ea typeface="Georgia" pitchFamily="34" charset="-122"/>
                <a:cs typeface="Georgia" pitchFamily="34" charset="-120"/>
              </a:rPr>
              <a:t>The Review Agents  ×  5</a:t>
            </a:r>
            <a:endParaRPr lang="en-US" sz="2800" dirty="0"/>
          </a:p>
        </p:txBody>
      </p:sp>
      <p:sp>
        <p:nvSpPr>
          <p:cNvPr id="5" name="Text 3"/>
          <p:cNvSpPr/>
          <p:nvPr/>
        </p:nvSpPr>
        <p:spPr>
          <a:xfrm>
            <a:off x="219456" y="603504"/>
            <a:ext cx="10789920" cy="329184"/>
          </a:xfrm>
          <a:prstGeom prst="rect">
            <a:avLst/>
          </a:prstGeom>
          <a:noFill/>
          <a:ln/>
        </p:spPr>
        <p:txBody>
          <a:bodyPr wrap="square" lIns="0" tIns="0" rIns="0" bIns="0" rtlCol="0" anchor="ctr"/>
          <a:lstStyle/>
          <a:p>
            <a:pPr marL="0" indent="0" algn="l">
              <a:buNone/>
            </a:pPr>
            <a:r>
              <a:rPr lang="en-US" sz="1300" i="1" dirty="0">
                <a:solidFill>
                  <a:srgbClr val="FDD17A"/>
                </a:solidFill>
                <a:latin typeface="Georgia" pitchFamily="34" charset="0"/>
                <a:ea typeface="Georgia" pitchFamily="34" charset="-122"/>
                <a:cs typeface="Georgia" pitchFamily="34" charset="-120"/>
              </a:rPr>
              <a:t>An independent quality board — a completely different AI model reviews every transformation before it can be accepted.</a:t>
            </a:r>
            <a:endParaRPr lang="en-US" sz="1300" dirty="0"/>
          </a:p>
        </p:txBody>
      </p:sp>
      <p:sp>
        <p:nvSpPr>
          <p:cNvPr id="6" name="Shape 4"/>
          <p:cNvSpPr/>
          <p:nvPr/>
        </p:nvSpPr>
        <p:spPr>
          <a:xfrm>
            <a:off x="219456" y="969264"/>
            <a:ext cx="11704320" cy="22860"/>
          </a:xfrm>
          <a:prstGeom prst="rect">
            <a:avLst/>
          </a:prstGeom>
          <a:solidFill>
            <a:srgbClr val="534AB7">
              <a:alpha val="60000"/>
            </a:srgbClr>
          </a:solidFill>
          <a:ln w="12700">
            <a:solidFill>
              <a:srgbClr val="534AB7">
                <a:alpha val="0"/>
              </a:srgbClr>
            </a:solidFill>
            <a:prstDash val="solid"/>
          </a:ln>
        </p:spPr>
        <p:txBody>
          <a:bodyPr/>
          <a:lstStyle/>
          <a:p>
            <a:endParaRPr lang="en-US"/>
          </a:p>
        </p:txBody>
      </p:sp>
      <p:sp>
        <p:nvSpPr>
          <p:cNvPr id="7" name="Shape 5"/>
          <p:cNvSpPr/>
          <p:nvPr/>
        </p:nvSpPr>
        <p:spPr>
          <a:xfrm>
            <a:off x="219456" y="1042416"/>
            <a:ext cx="11704320" cy="566928"/>
          </a:xfrm>
          <a:prstGeom prst="rect">
            <a:avLst/>
          </a:prstGeom>
          <a:solidFill>
            <a:srgbClr val="EEEDFE"/>
          </a:solidFill>
          <a:ln w="1270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8" name="Text 6"/>
          <p:cNvSpPr/>
          <p:nvPr/>
        </p:nvSpPr>
        <p:spPr>
          <a:xfrm>
            <a:off x="347472" y="1042416"/>
            <a:ext cx="11612880" cy="566928"/>
          </a:xfrm>
          <a:prstGeom prst="rect">
            <a:avLst/>
          </a:prstGeom>
          <a:noFill/>
          <a:ln/>
        </p:spPr>
        <p:txBody>
          <a:bodyPr wrap="square" lIns="25400" tIns="25400" rIns="25400" bIns="25400" rtlCol="0" anchor="ctr"/>
          <a:lstStyle/>
          <a:p>
            <a:pPr marL="0" indent="0" algn="l">
              <a:buNone/>
            </a:pPr>
            <a:r>
              <a:rPr lang="en-US" sz="950" dirty="0">
                <a:solidFill>
                  <a:srgbClr val="26215C"/>
                </a:solidFill>
                <a:latin typeface="Calibri" pitchFamily="34" charset="0"/>
                <a:ea typeface="Calibri" pitchFamily="34" charset="-122"/>
                <a:cs typeface="Calibri" pitchFamily="34" charset="-120"/>
              </a:rPr>
              <a:t>Why a different AI model?  The transformation is written by Claude Sonnet 4.5. The review is performed by Amazon Nova Pro — a completely different model from a different AI family, with different training and different blind spots. When two independent AI models agree the code is correct, you have genuine cross-model confidence. If one model makes a mistake, the other is likely to catch it.</a:t>
            </a:r>
            <a:endParaRPr lang="en-US" sz="950" dirty="0"/>
          </a:p>
        </p:txBody>
      </p:sp>
      <p:sp>
        <p:nvSpPr>
          <p:cNvPr id="9" name="Shape 7"/>
          <p:cNvSpPr/>
          <p:nvPr/>
        </p:nvSpPr>
        <p:spPr>
          <a:xfrm>
            <a:off x="219456" y="1719072"/>
            <a:ext cx="2240280" cy="5029200"/>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0" name="Shape 8"/>
          <p:cNvSpPr/>
          <p:nvPr/>
        </p:nvSpPr>
        <p:spPr>
          <a:xfrm>
            <a:off x="219456" y="1719072"/>
            <a:ext cx="2240280" cy="420624"/>
          </a:xfrm>
          <a:prstGeom prst="rect">
            <a:avLst/>
          </a:prstGeom>
          <a:solidFill>
            <a:srgbClr val="534AB7"/>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1" name="Text 9"/>
          <p:cNvSpPr/>
          <p:nvPr/>
        </p:nvSpPr>
        <p:spPr>
          <a:xfrm>
            <a:off x="310896" y="1719072"/>
            <a:ext cx="2057400" cy="420624"/>
          </a:xfrm>
          <a:prstGeom prst="rect">
            <a:avLst/>
          </a:prstGeom>
          <a:noFill/>
          <a:ln/>
        </p:spPr>
        <p:txBody>
          <a:bodyPr wrap="square" lIns="0" tIns="0" rIns="0" bIns="0" rtlCol="0" anchor="ctr"/>
          <a:lstStyle/>
          <a:p>
            <a:pPr marL="0" indent="0" algn="l">
              <a:buNone/>
            </a:pPr>
            <a:r>
              <a:rPr lang="en-US" sz="950" b="1" dirty="0">
                <a:solidFill>
                  <a:srgbClr val="FFFFFF"/>
                </a:solidFill>
                <a:latin typeface="Georgia" pitchFamily="34" charset="0"/>
                <a:ea typeface="Georgia" pitchFamily="34" charset="-122"/>
                <a:cs typeface="Georgia" pitchFamily="34" charset="-120"/>
              </a:rPr>
              <a:t>Java Review Agent</a:t>
            </a:r>
            <a:endParaRPr lang="en-US" sz="950" dirty="0"/>
          </a:p>
        </p:txBody>
      </p:sp>
      <p:sp>
        <p:nvSpPr>
          <p:cNvPr id="12" name="Shape 10"/>
          <p:cNvSpPr/>
          <p:nvPr/>
        </p:nvSpPr>
        <p:spPr>
          <a:xfrm>
            <a:off x="310896" y="2212848"/>
            <a:ext cx="2057400" cy="329184"/>
          </a:xfrm>
          <a:prstGeom prst="rect">
            <a:avLst/>
          </a:prstGeom>
          <a:solidFill>
            <a:srgbClr val="3C3489"/>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3" name="Text 11"/>
          <p:cNvSpPr/>
          <p:nvPr/>
        </p:nvSpPr>
        <p:spPr>
          <a:xfrm>
            <a:off x="347472" y="2212848"/>
            <a:ext cx="1984248" cy="329184"/>
          </a:xfrm>
          <a:prstGeom prst="rect">
            <a:avLst/>
          </a:prstGeom>
          <a:noFill/>
          <a:ln/>
        </p:spPr>
        <p:txBody>
          <a:bodyPr wrap="square" lIns="0" tIns="0" rIns="0" bIns="0" rtlCol="0" anchor="ctr"/>
          <a:lstStyle/>
          <a:p>
            <a:pPr marL="0" indent="0" algn="l">
              <a:buNone/>
            </a:pPr>
            <a:r>
              <a:rPr lang="en-US" sz="850" i="1" dirty="0">
                <a:solidFill>
                  <a:srgbClr val="E8EDF4"/>
                </a:solidFill>
                <a:latin typeface="Georgia" pitchFamily="34" charset="0"/>
                <a:ea typeface="Georgia" pitchFamily="34" charset="-122"/>
                <a:cs typeface="Georgia" pitchFamily="34" charset="-120"/>
              </a:rPr>
              <a:t>Did the Java version upgrade work correctly?</a:t>
            </a:r>
            <a:endParaRPr lang="en-US" sz="850" dirty="0"/>
          </a:p>
        </p:txBody>
      </p:sp>
      <p:sp>
        <p:nvSpPr>
          <p:cNvPr id="14" name="Text 12"/>
          <p:cNvSpPr/>
          <p:nvPr/>
        </p:nvSpPr>
        <p:spPr>
          <a:xfrm>
            <a:off x="310896" y="2615184"/>
            <a:ext cx="2057400" cy="201168"/>
          </a:xfrm>
          <a:prstGeom prst="rect">
            <a:avLst/>
          </a:prstGeom>
          <a:noFill/>
          <a:ln/>
        </p:spPr>
        <p:txBody>
          <a:bodyPr wrap="square" lIns="0" tIns="0" rIns="0" bIns="0" rtlCol="0" anchor="ctr"/>
          <a:lstStyle/>
          <a:p>
            <a:pPr marL="0" indent="0" algn="l">
              <a:buNone/>
            </a:pPr>
            <a:r>
              <a:rPr lang="en-US" sz="850" b="1" dirty="0">
                <a:solidFill>
                  <a:srgbClr val="534AB7"/>
                </a:solidFill>
                <a:latin typeface="Calibri" pitchFamily="34" charset="0"/>
                <a:ea typeface="Calibri" pitchFamily="34" charset="-122"/>
                <a:cs typeface="Calibri" pitchFamily="34" charset="-120"/>
              </a:rPr>
              <a:t>What it checks:</a:t>
            </a:r>
            <a:endParaRPr lang="en-US" sz="850" dirty="0"/>
          </a:p>
        </p:txBody>
      </p:sp>
      <p:sp>
        <p:nvSpPr>
          <p:cNvPr id="15" name="Shape 13"/>
          <p:cNvSpPr/>
          <p:nvPr/>
        </p:nvSpPr>
        <p:spPr>
          <a:xfrm>
            <a:off x="310896" y="283464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6" name="Text 14"/>
          <p:cNvSpPr/>
          <p:nvPr/>
        </p:nvSpPr>
        <p:spPr>
          <a:xfrm>
            <a:off x="365760" y="283464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All deprecated imports updated to target namespace</a:t>
            </a:r>
            <a:endParaRPr lang="en-US" sz="850" dirty="0"/>
          </a:p>
        </p:txBody>
      </p:sp>
      <p:sp>
        <p:nvSpPr>
          <p:cNvPr id="17" name="Shape 15"/>
          <p:cNvSpPr/>
          <p:nvPr/>
        </p:nvSpPr>
        <p:spPr>
          <a:xfrm>
            <a:off x="310896" y="338328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8" name="Text 16"/>
          <p:cNvSpPr/>
          <p:nvPr/>
        </p:nvSpPr>
        <p:spPr>
          <a:xfrm>
            <a:off x="365760" y="338328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No deprecated Java APIs remain in the output</a:t>
            </a:r>
            <a:endParaRPr lang="en-US" sz="850" dirty="0"/>
          </a:p>
        </p:txBody>
      </p:sp>
      <p:sp>
        <p:nvSpPr>
          <p:cNvPr id="19" name="Shape 17"/>
          <p:cNvSpPr/>
          <p:nvPr/>
        </p:nvSpPr>
        <p:spPr>
          <a:xfrm>
            <a:off x="310896" y="393192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20" name="Text 18"/>
          <p:cNvSpPr/>
          <p:nvPr/>
        </p:nvSpPr>
        <p:spPr>
          <a:xfrm>
            <a:off x="365760" y="393192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Code structure is syntactically and logically valid</a:t>
            </a:r>
            <a:endParaRPr lang="en-US" sz="850" dirty="0"/>
          </a:p>
        </p:txBody>
      </p:sp>
      <p:sp>
        <p:nvSpPr>
          <p:cNvPr id="21" name="Shape 19"/>
          <p:cNvSpPr/>
          <p:nvPr/>
        </p:nvSpPr>
        <p:spPr>
          <a:xfrm>
            <a:off x="310896" y="448056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22" name="Text 20"/>
          <p:cNvSpPr/>
          <p:nvPr/>
        </p:nvSpPr>
        <p:spPr>
          <a:xfrm>
            <a:off x="365760" y="448056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Modern language features applied correctly</a:t>
            </a:r>
            <a:endParaRPr lang="en-US" sz="850" dirty="0"/>
          </a:p>
        </p:txBody>
      </p:sp>
      <p:sp>
        <p:nvSpPr>
          <p:cNvPr id="23" name="Shape 21"/>
          <p:cNvSpPr/>
          <p:nvPr/>
        </p:nvSpPr>
        <p:spPr>
          <a:xfrm>
            <a:off x="310896" y="5084064"/>
            <a:ext cx="2057400" cy="21945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24" name="Text 22"/>
          <p:cNvSpPr/>
          <p:nvPr/>
        </p:nvSpPr>
        <p:spPr>
          <a:xfrm>
            <a:off x="347472" y="5084064"/>
            <a:ext cx="1984248" cy="128016"/>
          </a:xfrm>
          <a:prstGeom prst="rect">
            <a:avLst/>
          </a:prstGeom>
          <a:noFill/>
          <a:ln/>
        </p:spPr>
        <p:txBody>
          <a:bodyPr wrap="square" lIns="0" tIns="0" rIns="0" bIns="0" rtlCol="0" anchor="ctr"/>
          <a:lstStyle/>
          <a:p>
            <a:pPr marL="0" indent="0" algn="l">
              <a:buNone/>
            </a:pPr>
            <a:r>
              <a:rPr lang="en-US" sz="700" b="1" dirty="0">
                <a:solidFill>
                  <a:srgbClr val="FFFFFF"/>
                </a:solidFill>
                <a:latin typeface="Calibri" pitchFamily="34" charset="0"/>
                <a:ea typeface="Calibri" pitchFamily="34" charset="-122"/>
                <a:cs typeface="Calibri" pitchFamily="34" charset="-120"/>
              </a:rPr>
              <a:t>Flags for human review:</a:t>
            </a:r>
            <a:endParaRPr lang="en-US" sz="700" dirty="0"/>
          </a:p>
        </p:txBody>
      </p:sp>
      <p:sp>
        <p:nvSpPr>
          <p:cNvPr id="25" name="Text 23"/>
          <p:cNvSpPr/>
          <p:nvPr/>
        </p:nvSpPr>
        <p:spPr>
          <a:xfrm>
            <a:off x="347472" y="5212080"/>
            <a:ext cx="1984248" cy="146304"/>
          </a:xfrm>
          <a:prstGeom prst="rect">
            <a:avLst/>
          </a:prstGeom>
          <a:noFill/>
          <a:ln/>
        </p:spPr>
        <p:txBody>
          <a:bodyPr wrap="square" lIns="0" tIns="0" rIns="0" bIns="0" rtlCol="0" anchor="ctr"/>
          <a:lstStyle/>
          <a:p>
            <a:pPr marL="0" indent="0" algn="l">
              <a:buNone/>
            </a:pPr>
            <a:r>
              <a:rPr lang="en-US" sz="750" i="1" dirty="0">
                <a:solidFill>
                  <a:srgbClr val="FFFFFF"/>
                </a:solidFill>
                <a:latin typeface="Calibri" pitchFamily="34" charset="0"/>
                <a:ea typeface="Calibri" pitchFamily="34" charset="-122"/>
                <a:cs typeface="Calibri" pitchFamily="34" charset="-120"/>
              </a:rPr>
              <a:t>Remaining deprecated APIs · Missing target namespace imports</a:t>
            </a:r>
            <a:endParaRPr lang="en-US" sz="750" dirty="0"/>
          </a:p>
        </p:txBody>
      </p:sp>
      <p:sp>
        <p:nvSpPr>
          <p:cNvPr id="26" name="Shape 24"/>
          <p:cNvSpPr/>
          <p:nvPr/>
        </p:nvSpPr>
        <p:spPr>
          <a:xfrm>
            <a:off x="310896" y="6245352"/>
            <a:ext cx="621792" cy="219456"/>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27" name="Text 25"/>
          <p:cNvSpPr/>
          <p:nvPr/>
        </p:nvSpPr>
        <p:spPr>
          <a:xfrm>
            <a:off x="310896"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PASS</a:t>
            </a:r>
            <a:endParaRPr lang="en-US" sz="750" dirty="0"/>
          </a:p>
        </p:txBody>
      </p:sp>
      <p:sp>
        <p:nvSpPr>
          <p:cNvPr id="28" name="Shape 26"/>
          <p:cNvSpPr/>
          <p:nvPr/>
        </p:nvSpPr>
        <p:spPr>
          <a:xfrm>
            <a:off x="987552" y="6245352"/>
            <a:ext cx="621792" cy="219456"/>
          </a:xfrm>
          <a:prstGeom prst="rect">
            <a:avLst/>
          </a:prstGeom>
          <a:solidFill>
            <a:srgbClr val="F5A623"/>
          </a:solidFill>
          <a:ln w="635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29" name="Text 27"/>
          <p:cNvSpPr/>
          <p:nvPr/>
        </p:nvSpPr>
        <p:spPr>
          <a:xfrm>
            <a:off x="987552"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RETRY</a:t>
            </a:r>
            <a:endParaRPr lang="en-US" sz="750" dirty="0"/>
          </a:p>
        </p:txBody>
      </p:sp>
      <p:sp>
        <p:nvSpPr>
          <p:cNvPr id="30" name="Shape 28"/>
          <p:cNvSpPr/>
          <p:nvPr/>
        </p:nvSpPr>
        <p:spPr>
          <a:xfrm>
            <a:off x="1664208" y="6245352"/>
            <a:ext cx="621792" cy="21945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31" name="Text 29"/>
          <p:cNvSpPr/>
          <p:nvPr/>
        </p:nvSpPr>
        <p:spPr>
          <a:xfrm>
            <a:off x="1664208"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MANUAL</a:t>
            </a:r>
            <a:endParaRPr lang="en-US" sz="750" dirty="0"/>
          </a:p>
        </p:txBody>
      </p:sp>
      <p:sp>
        <p:nvSpPr>
          <p:cNvPr id="32" name="Text 30"/>
          <p:cNvSpPr/>
          <p:nvPr/>
        </p:nvSpPr>
        <p:spPr>
          <a:xfrm>
            <a:off x="310896" y="6492240"/>
            <a:ext cx="2057400" cy="164592"/>
          </a:xfrm>
          <a:prstGeom prst="rect">
            <a:avLst/>
          </a:prstGeom>
          <a:noFill/>
          <a:ln/>
        </p:spPr>
        <p:txBody>
          <a:bodyPr wrap="square" lIns="0" tIns="0" rIns="0" bIns="0" rtlCol="0" anchor="ctr"/>
          <a:lstStyle/>
          <a:p>
            <a:pPr marL="0" indent="0" algn="ctr">
              <a:buNone/>
            </a:pPr>
            <a:r>
              <a:rPr lang="en-US" sz="700" dirty="0">
                <a:solidFill>
                  <a:srgbClr val="26215C"/>
                </a:solidFill>
                <a:latin typeface="Calibri" pitchFamily="34" charset="0"/>
                <a:ea typeface="Calibri" pitchFamily="34" charset="-122"/>
                <a:cs typeface="Calibri" pitchFamily="34" charset="-120"/>
              </a:rPr>
              <a:t>score ≥80 · 50–79 · &lt;50</a:t>
            </a:r>
            <a:endParaRPr lang="en-US" sz="700" dirty="0"/>
          </a:p>
        </p:txBody>
      </p:sp>
      <p:sp>
        <p:nvSpPr>
          <p:cNvPr id="33" name="Shape 31"/>
          <p:cNvSpPr/>
          <p:nvPr/>
        </p:nvSpPr>
        <p:spPr>
          <a:xfrm>
            <a:off x="2551176" y="1719072"/>
            <a:ext cx="2240280" cy="5029200"/>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34" name="Shape 32"/>
          <p:cNvSpPr/>
          <p:nvPr/>
        </p:nvSpPr>
        <p:spPr>
          <a:xfrm>
            <a:off x="2551176" y="1719072"/>
            <a:ext cx="2240280" cy="420624"/>
          </a:xfrm>
          <a:prstGeom prst="rect">
            <a:avLst/>
          </a:prstGeom>
          <a:solidFill>
            <a:srgbClr val="534AB7"/>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35" name="Text 33"/>
          <p:cNvSpPr/>
          <p:nvPr/>
        </p:nvSpPr>
        <p:spPr>
          <a:xfrm>
            <a:off x="2642616" y="1719072"/>
            <a:ext cx="2057400" cy="420624"/>
          </a:xfrm>
          <a:prstGeom prst="rect">
            <a:avLst/>
          </a:prstGeom>
          <a:noFill/>
          <a:ln/>
        </p:spPr>
        <p:txBody>
          <a:bodyPr wrap="square" lIns="0" tIns="0" rIns="0" bIns="0" rtlCol="0" anchor="ctr"/>
          <a:lstStyle/>
          <a:p>
            <a:pPr marL="0" indent="0" algn="l">
              <a:buNone/>
            </a:pPr>
            <a:r>
              <a:rPr lang="en-US" sz="950" b="1" dirty="0">
                <a:solidFill>
                  <a:srgbClr val="FFFFFF"/>
                </a:solidFill>
                <a:latin typeface="Georgia" pitchFamily="34" charset="0"/>
                <a:ea typeface="Georgia" pitchFamily="34" charset="-122"/>
                <a:cs typeface="Georgia" pitchFamily="34" charset="-120"/>
              </a:rPr>
              <a:t>Spring Review Agent</a:t>
            </a:r>
            <a:endParaRPr lang="en-US" sz="950" dirty="0"/>
          </a:p>
        </p:txBody>
      </p:sp>
      <p:sp>
        <p:nvSpPr>
          <p:cNvPr id="36" name="Shape 34"/>
          <p:cNvSpPr/>
          <p:nvPr/>
        </p:nvSpPr>
        <p:spPr>
          <a:xfrm>
            <a:off x="2642616" y="2212848"/>
            <a:ext cx="2057400" cy="329184"/>
          </a:xfrm>
          <a:prstGeom prst="rect">
            <a:avLst/>
          </a:prstGeom>
          <a:solidFill>
            <a:srgbClr val="3C3489"/>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37" name="Text 35"/>
          <p:cNvSpPr/>
          <p:nvPr/>
        </p:nvSpPr>
        <p:spPr>
          <a:xfrm>
            <a:off x="2679192" y="2212848"/>
            <a:ext cx="1984248" cy="329184"/>
          </a:xfrm>
          <a:prstGeom prst="rect">
            <a:avLst/>
          </a:prstGeom>
          <a:noFill/>
          <a:ln/>
        </p:spPr>
        <p:txBody>
          <a:bodyPr wrap="square" lIns="0" tIns="0" rIns="0" bIns="0" rtlCol="0" anchor="ctr"/>
          <a:lstStyle/>
          <a:p>
            <a:pPr marL="0" indent="0" algn="l">
              <a:buNone/>
            </a:pPr>
            <a:r>
              <a:rPr lang="en-US" sz="850" i="1" dirty="0">
                <a:solidFill>
                  <a:srgbClr val="E8EDF4"/>
                </a:solidFill>
                <a:latin typeface="Georgia" pitchFamily="34" charset="0"/>
                <a:ea typeface="Georgia" pitchFamily="34" charset="-122"/>
                <a:cs typeface="Georgia" pitchFamily="34" charset="-120"/>
              </a:rPr>
              <a:t>Did the Spring version upgrade work correctly?</a:t>
            </a:r>
            <a:endParaRPr lang="en-US" sz="850" dirty="0"/>
          </a:p>
        </p:txBody>
      </p:sp>
      <p:sp>
        <p:nvSpPr>
          <p:cNvPr id="38" name="Text 36"/>
          <p:cNvSpPr/>
          <p:nvPr/>
        </p:nvSpPr>
        <p:spPr>
          <a:xfrm>
            <a:off x="2642616" y="2615184"/>
            <a:ext cx="2057400" cy="201168"/>
          </a:xfrm>
          <a:prstGeom prst="rect">
            <a:avLst/>
          </a:prstGeom>
          <a:noFill/>
          <a:ln/>
        </p:spPr>
        <p:txBody>
          <a:bodyPr wrap="square" lIns="0" tIns="0" rIns="0" bIns="0" rtlCol="0" anchor="ctr"/>
          <a:lstStyle/>
          <a:p>
            <a:pPr marL="0" indent="0" algn="l">
              <a:buNone/>
            </a:pPr>
            <a:r>
              <a:rPr lang="en-US" sz="850" b="1" dirty="0">
                <a:solidFill>
                  <a:srgbClr val="534AB7"/>
                </a:solidFill>
                <a:latin typeface="Calibri" pitchFamily="34" charset="0"/>
                <a:ea typeface="Calibri" pitchFamily="34" charset="-122"/>
                <a:cs typeface="Calibri" pitchFamily="34" charset="-120"/>
              </a:rPr>
              <a:t>What it checks:</a:t>
            </a:r>
            <a:endParaRPr lang="en-US" sz="850" dirty="0"/>
          </a:p>
        </p:txBody>
      </p:sp>
      <p:sp>
        <p:nvSpPr>
          <p:cNvPr id="39" name="Shape 37"/>
          <p:cNvSpPr/>
          <p:nvPr/>
        </p:nvSpPr>
        <p:spPr>
          <a:xfrm>
            <a:off x="2642616" y="283464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40" name="Text 38"/>
          <p:cNvSpPr/>
          <p:nvPr/>
        </p:nvSpPr>
        <p:spPr>
          <a:xfrm>
            <a:off x="2697480" y="283464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Deprecated security config classes completely removed</a:t>
            </a:r>
            <a:endParaRPr lang="en-US" sz="850" dirty="0"/>
          </a:p>
        </p:txBody>
      </p:sp>
      <p:sp>
        <p:nvSpPr>
          <p:cNvPr id="41" name="Shape 39"/>
          <p:cNvSpPr/>
          <p:nvPr/>
        </p:nvSpPr>
        <p:spPr>
          <a:xfrm>
            <a:off x="2642616" y="338328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42" name="Text 40"/>
          <p:cNvSpPr/>
          <p:nvPr/>
        </p:nvSpPr>
        <p:spPr>
          <a:xfrm>
            <a:off x="2697480" y="338328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Deprecated matcher methods fully replaced</a:t>
            </a:r>
            <a:endParaRPr lang="en-US" sz="850" dirty="0"/>
          </a:p>
        </p:txBody>
      </p:sp>
      <p:sp>
        <p:nvSpPr>
          <p:cNvPr id="43" name="Shape 41"/>
          <p:cNvSpPr/>
          <p:nvPr/>
        </p:nvSpPr>
        <p:spPr>
          <a:xfrm>
            <a:off x="2642616" y="393192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44" name="Text 42"/>
          <p:cNvSpPr/>
          <p:nvPr/>
        </p:nvSpPr>
        <p:spPr>
          <a:xfrm>
            <a:off x="2697480" y="393192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Serialisation patterns match target Spring version</a:t>
            </a:r>
            <a:endParaRPr lang="en-US" sz="850" dirty="0"/>
          </a:p>
        </p:txBody>
      </p:sp>
      <p:sp>
        <p:nvSpPr>
          <p:cNvPr id="45" name="Shape 43"/>
          <p:cNvSpPr/>
          <p:nvPr/>
        </p:nvSpPr>
        <p:spPr>
          <a:xfrm>
            <a:off x="2642616" y="448056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46" name="Text 44"/>
          <p:cNvSpPr/>
          <p:nvPr/>
        </p:nvSpPr>
        <p:spPr>
          <a:xfrm>
            <a:off x="2697480" y="448056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pom.xml dependency versions are compatible</a:t>
            </a:r>
            <a:endParaRPr lang="en-US" sz="850" dirty="0"/>
          </a:p>
        </p:txBody>
      </p:sp>
      <p:sp>
        <p:nvSpPr>
          <p:cNvPr id="47" name="Shape 45"/>
          <p:cNvSpPr/>
          <p:nvPr/>
        </p:nvSpPr>
        <p:spPr>
          <a:xfrm>
            <a:off x="2642616" y="5084064"/>
            <a:ext cx="2057400" cy="21945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48" name="Text 46"/>
          <p:cNvSpPr/>
          <p:nvPr/>
        </p:nvSpPr>
        <p:spPr>
          <a:xfrm>
            <a:off x="2679192" y="5084064"/>
            <a:ext cx="1984248" cy="128016"/>
          </a:xfrm>
          <a:prstGeom prst="rect">
            <a:avLst/>
          </a:prstGeom>
          <a:noFill/>
          <a:ln/>
        </p:spPr>
        <p:txBody>
          <a:bodyPr wrap="square" lIns="0" tIns="0" rIns="0" bIns="0" rtlCol="0" anchor="ctr"/>
          <a:lstStyle/>
          <a:p>
            <a:pPr marL="0" indent="0" algn="l">
              <a:buNone/>
            </a:pPr>
            <a:r>
              <a:rPr lang="en-US" sz="700" b="1" dirty="0">
                <a:solidFill>
                  <a:srgbClr val="FFFFFF"/>
                </a:solidFill>
                <a:latin typeface="Calibri" pitchFamily="34" charset="0"/>
                <a:ea typeface="Calibri" pitchFamily="34" charset="-122"/>
                <a:cs typeface="Calibri" pitchFamily="34" charset="-120"/>
              </a:rPr>
              <a:t>Flags for human review:</a:t>
            </a:r>
            <a:endParaRPr lang="en-US" sz="700" dirty="0"/>
          </a:p>
        </p:txBody>
      </p:sp>
      <p:sp>
        <p:nvSpPr>
          <p:cNvPr id="49" name="Text 47"/>
          <p:cNvSpPr/>
          <p:nvPr/>
        </p:nvSpPr>
        <p:spPr>
          <a:xfrm>
            <a:off x="2679192" y="5212080"/>
            <a:ext cx="1984248" cy="146304"/>
          </a:xfrm>
          <a:prstGeom prst="rect">
            <a:avLst/>
          </a:prstGeom>
          <a:noFill/>
          <a:ln/>
        </p:spPr>
        <p:txBody>
          <a:bodyPr wrap="square" lIns="0" tIns="0" rIns="0" bIns="0" rtlCol="0" anchor="ctr"/>
          <a:lstStyle/>
          <a:p>
            <a:pPr marL="0" indent="0" algn="l">
              <a:buNone/>
            </a:pPr>
            <a:r>
              <a:rPr lang="en-US" sz="750" i="1" dirty="0">
                <a:solidFill>
                  <a:srgbClr val="FFFFFF"/>
                </a:solidFill>
                <a:latin typeface="Calibri" pitchFamily="34" charset="0"/>
                <a:ea typeface="Calibri" pitchFamily="34" charset="-122"/>
                <a:cs typeface="Calibri" pitchFamily="34" charset="-120"/>
              </a:rPr>
              <a:t>Security config gaps · Version mismatches</a:t>
            </a:r>
            <a:endParaRPr lang="en-US" sz="750" dirty="0"/>
          </a:p>
        </p:txBody>
      </p:sp>
      <p:sp>
        <p:nvSpPr>
          <p:cNvPr id="50" name="Shape 48"/>
          <p:cNvSpPr/>
          <p:nvPr/>
        </p:nvSpPr>
        <p:spPr>
          <a:xfrm>
            <a:off x="2642616" y="6245352"/>
            <a:ext cx="621792" cy="219456"/>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51" name="Text 49"/>
          <p:cNvSpPr/>
          <p:nvPr/>
        </p:nvSpPr>
        <p:spPr>
          <a:xfrm>
            <a:off x="2642616"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PASS</a:t>
            </a:r>
            <a:endParaRPr lang="en-US" sz="750" dirty="0"/>
          </a:p>
        </p:txBody>
      </p:sp>
      <p:sp>
        <p:nvSpPr>
          <p:cNvPr id="52" name="Shape 50"/>
          <p:cNvSpPr/>
          <p:nvPr/>
        </p:nvSpPr>
        <p:spPr>
          <a:xfrm>
            <a:off x="3319272" y="6245352"/>
            <a:ext cx="621792" cy="219456"/>
          </a:xfrm>
          <a:prstGeom prst="rect">
            <a:avLst/>
          </a:prstGeom>
          <a:solidFill>
            <a:srgbClr val="F5A623"/>
          </a:solidFill>
          <a:ln w="635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53" name="Text 51"/>
          <p:cNvSpPr/>
          <p:nvPr/>
        </p:nvSpPr>
        <p:spPr>
          <a:xfrm>
            <a:off x="3319272"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RETRY</a:t>
            </a:r>
            <a:endParaRPr lang="en-US" sz="750" dirty="0"/>
          </a:p>
        </p:txBody>
      </p:sp>
      <p:sp>
        <p:nvSpPr>
          <p:cNvPr id="54" name="Shape 52"/>
          <p:cNvSpPr/>
          <p:nvPr/>
        </p:nvSpPr>
        <p:spPr>
          <a:xfrm>
            <a:off x="3995928" y="6245352"/>
            <a:ext cx="621792" cy="21945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55" name="Text 53"/>
          <p:cNvSpPr/>
          <p:nvPr/>
        </p:nvSpPr>
        <p:spPr>
          <a:xfrm>
            <a:off x="3995928"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MANUAL</a:t>
            </a:r>
            <a:endParaRPr lang="en-US" sz="750" dirty="0"/>
          </a:p>
        </p:txBody>
      </p:sp>
      <p:sp>
        <p:nvSpPr>
          <p:cNvPr id="56" name="Text 54"/>
          <p:cNvSpPr/>
          <p:nvPr/>
        </p:nvSpPr>
        <p:spPr>
          <a:xfrm>
            <a:off x="2642616" y="6492240"/>
            <a:ext cx="2057400" cy="164592"/>
          </a:xfrm>
          <a:prstGeom prst="rect">
            <a:avLst/>
          </a:prstGeom>
          <a:noFill/>
          <a:ln/>
        </p:spPr>
        <p:txBody>
          <a:bodyPr wrap="square" lIns="0" tIns="0" rIns="0" bIns="0" rtlCol="0" anchor="ctr"/>
          <a:lstStyle/>
          <a:p>
            <a:pPr marL="0" indent="0" algn="ctr">
              <a:buNone/>
            </a:pPr>
            <a:r>
              <a:rPr lang="en-US" sz="700" dirty="0">
                <a:solidFill>
                  <a:srgbClr val="26215C"/>
                </a:solidFill>
                <a:latin typeface="Calibri" pitchFamily="34" charset="0"/>
                <a:ea typeface="Calibri" pitchFamily="34" charset="-122"/>
                <a:cs typeface="Calibri" pitchFamily="34" charset="-120"/>
              </a:rPr>
              <a:t>score ≥80 · 50–79 · &lt;50</a:t>
            </a:r>
            <a:endParaRPr lang="en-US" sz="700" dirty="0"/>
          </a:p>
        </p:txBody>
      </p:sp>
      <p:sp>
        <p:nvSpPr>
          <p:cNvPr id="57" name="Shape 55"/>
          <p:cNvSpPr/>
          <p:nvPr/>
        </p:nvSpPr>
        <p:spPr>
          <a:xfrm>
            <a:off x="4882896" y="1719072"/>
            <a:ext cx="2240280" cy="5029200"/>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58" name="Shape 56"/>
          <p:cNvSpPr/>
          <p:nvPr/>
        </p:nvSpPr>
        <p:spPr>
          <a:xfrm>
            <a:off x="4882896" y="1719072"/>
            <a:ext cx="2240280" cy="420624"/>
          </a:xfrm>
          <a:prstGeom prst="rect">
            <a:avLst/>
          </a:prstGeom>
          <a:solidFill>
            <a:srgbClr val="534AB7"/>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59" name="Text 57"/>
          <p:cNvSpPr/>
          <p:nvPr/>
        </p:nvSpPr>
        <p:spPr>
          <a:xfrm>
            <a:off x="4974336" y="1719072"/>
            <a:ext cx="2057400" cy="420624"/>
          </a:xfrm>
          <a:prstGeom prst="rect">
            <a:avLst/>
          </a:prstGeom>
          <a:noFill/>
          <a:ln/>
        </p:spPr>
        <p:txBody>
          <a:bodyPr wrap="square" lIns="0" tIns="0" rIns="0" bIns="0" rtlCol="0" anchor="ctr"/>
          <a:lstStyle/>
          <a:p>
            <a:pPr marL="0" indent="0" algn="l">
              <a:buNone/>
            </a:pPr>
            <a:r>
              <a:rPr lang="en-US" sz="950" b="1" dirty="0">
                <a:solidFill>
                  <a:srgbClr val="FFFFFF"/>
                </a:solidFill>
                <a:latin typeface="Georgia" pitchFamily="34" charset="0"/>
                <a:ea typeface="Georgia" pitchFamily="34" charset="-122"/>
                <a:cs typeface="Georgia" pitchFamily="34" charset="-120"/>
              </a:rPr>
              <a:t>Struts Review Agent</a:t>
            </a:r>
            <a:endParaRPr lang="en-US" sz="950" dirty="0"/>
          </a:p>
        </p:txBody>
      </p:sp>
      <p:sp>
        <p:nvSpPr>
          <p:cNvPr id="60" name="Shape 58"/>
          <p:cNvSpPr/>
          <p:nvPr/>
        </p:nvSpPr>
        <p:spPr>
          <a:xfrm>
            <a:off x="4974336" y="2212848"/>
            <a:ext cx="2057400" cy="329184"/>
          </a:xfrm>
          <a:prstGeom prst="rect">
            <a:avLst/>
          </a:prstGeom>
          <a:solidFill>
            <a:srgbClr val="3C3489"/>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61" name="Text 59"/>
          <p:cNvSpPr/>
          <p:nvPr/>
        </p:nvSpPr>
        <p:spPr>
          <a:xfrm>
            <a:off x="5010912" y="2212848"/>
            <a:ext cx="1984248" cy="329184"/>
          </a:xfrm>
          <a:prstGeom prst="rect">
            <a:avLst/>
          </a:prstGeom>
          <a:noFill/>
          <a:ln/>
        </p:spPr>
        <p:txBody>
          <a:bodyPr wrap="square" lIns="0" tIns="0" rIns="0" bIns="0" rtlCol="0" anchor="ctr"/>
          <a:lstStyle/>
          <a:p>
            <a:pPr marL="0" indent="0" algn="l">
              <a:buNone/>
            </a:pPr>
            <a:r>
              <a:rPr lang="en-US" sz="850" i="1" dirty="0">
                <a:solidFill>
                  <a:srgbClr val="E8EDF4"/>
                </a:solidFill>
                <a:latin typeface="Georgia" pitchFamily="34" charset="0"/>
                <a:ea typeface="Georgia" pitchFamily="34" charset="-122"/>
                <a:cs typeface="Georgia" pitchFamily="34" charset="-120"/>
              </a:rPr>
              <a:t>Is Struts completely and correctly eliminated?</a:t>
            </a:r>
            <a:endParaRPr lang="en-US" sz="850" dirty="0"/>
          </a:p>
        </p:txBody>
      </p:sp>
      <p:sp>
        <p:nvSpPr>
          <p:cNvPr id="62" name="Text 60"/>
          <p:cNvSpPr/>
          <p:nvPr/>
        </p:nvSpPr>
        <p:spPr>
          <a:xfrm>
            <a:off x="4974336" y="2615184"/>
            <a:ext cx="2057400" cy="201168"/>
          </a:xfrm>
          <a:prstGeom prst="rect">
            <a:avLst/>
          </a:prstGeom>
          <a:noFill/>
          <a:ln/>
        </p:spPr>
        <p:txBody>
          <a:bodyPr wrap="square" lIns="0" tIns="0" rIns="0" bIns="0" rtlCol="0" anchor="ctr"/>
          <a:lstStyle/>
          <a:p>
            <a:pPr marL="0" indent="0" algn="l">
              <a:buNone/>
            </a:pPr>
            <a:r>
              <a:rPr lang="en-US" sz="850" b="1" dirty="0">
                <a:solidFill>
                  <a:srgbClr val="534AB7"/>
                </a:solidFill>
                <a:latin typeface="Calibri" pitchFamily="34" charset="0"/>
                <a:ea typeface="Calibri" pitchFamily="34" charset="-122"/>
                <a:cs typeface="Calibri" pitchFamily="34" charset="-120"/>
              </a:rPr>
              <a:t>What it checks:</a:t>
            </a:r>
            <a:endParaRPr lang="en-US" sz="850" dirty="0"/>
          </a:p>
        </p:txBody>
      </p:sp>
      <p:sp>
        <p:nvSpPr>
          <p:cNvPr id="63" name="Shape 61"/>
          <p:cNvSpPr/>
          <p:nvPr/>
        </p:nvSpPr>
        <p:spPr>
          <a:xfrm>
            <a:off x="4974336" y="283464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64" name="Text 62"/>
          <p:cNvSpPr/>
          <p:nvPr/>
        </p:nvSpPr>
        <p:spPr>
          <a:xfrm>
            <a:off x="5029200" y="283464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Zero ActionSupport or Action class references remain</a:t>
            </a:r>
            <a:endParaRPr lang="en-US" sz="850" dirty="0"/>
          </a:p>
        </p:txBody>
      </p:sp>
      <p:sp>
        <p:nvSpPr>
          <p:cNvPr id="65" name="Shape 63"/>
          <p:cNvSpPr/>
          <p:nvPr/>
        </p:nvSpPr>
        <p:spPr>
          <a:xfrm>
            <a:off x="4974336" y="338328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66" name="Text 64"/>
          <p:cNvSpPr/>
          <p:nvPr/>
        </p:nvSpPr>
        <p:spPr>
          <a:xfrm>
            <a:off x="5029200" y="338328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Every struts.xml route has a @RequestMapping equivalent</a:t>
            </a:r>
            <a:endParaRPr lang="en-US" sz="850" dirty="0"/>
          </a:p>
        </p:txBody>
      </p:sp>
      <p:sp>
        <p:nvSpPr>
          <p:cNvPr id="67" name="Shape 65"/>
          <p:cNvSpPr/>
          <p:nvPr/>
        </p:nvSpPr>
        <p:spPr>
          <a:xfrm>
            <a:off x="4974336" y="393192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68" name="Text 66"/>
          <p:cNvSpPr/>
          <p:nvPr/>
        </p:nvSpPr>
        <p:spPr>
          <a:xfrm>
            <a:off x="5029200" y="393192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Zero OGNL expressions (%{...}) in any JSP file</a:t>
            </a:r>
            <a:endParaRPr lang="en-US" sz="850" dirty="0"/>
          </a:p>
        </p:txBody>
      </p:sp>
      <p:sp>
        <p:nvSpPr>
          <p:cNvPr id="69" name="Shape 67"/>
          <p:cNvSpPr/>
          <p:nvPr/>
        </p:nvSpPr>
        <p:spPr>
          <a:xfrm>
            <a:off x="4974336" y="448056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70" name="Text 68"/>
          <p:cNvSpPr/>
          <p:nvPr/>
        </p:nvSpPr>
        <p:spPr>
          <a:xfrm>
            <a:off x="5029200" y="448056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Every &lt;s:&gt; tag has been replaced</a:t>
            </a:r>
            <a:endParaRPr lang="en-US" sz="850" dirty="0"/>
          </a:p>
        </p:txBody>
      </p:sp>
      <p:sp>
        <p:nvSpPr>
          <p:cNvPr id="71" name="Shape 69"/>
          <p:cNvSpPr/>
          <p:nvPr/>
        </p:nvSpPr>
        <p:spPr>
          <a:xfrm>
            <a:off x="4974336" y="5084064"/>
            <a:ext cx="2057400" cy="21945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72" name="Text 70"/>
          <p:cNvSpPr/>
          <p:nvPr/>
        </p:nvSpPr>
        <p:spPr>
          <a:xfrm>
            <a:off x="5010912" y="5084064"/>
            <a:ext cx="1984248" cy="128016"/>
          </a:xfrm>
          <a:prstGeom prst="rect">
            <a:avLst/>
          </a:prstGeom>
          <a:noFill/>
          <a:ln/>
        </p:spPr>
        <p:txBody>
          <a:bodyPr wrap="square" lIns="0" tIns="0" rIns="0" bIns="0" rtlCol="0" anchor="ctr"/>
          <a:lstStyle/>
          <a:p>
            <a:pPr marL="0" indent="0" algn="l">
              <a:buNone/>
            </a:pPr>
            <a:r>
              <a:rPr lang="en-US" sz="700" b="1" dirty="0">
                <a:solidFill>
                  <a:srgbClr val="FFFFFF"/>
                </a:solidFill>
                <a:latin typeface="Calibri" pitchFamily="34" charset="0"/>
                <a:ea typeface="Calibri" pitchFamily="34" charset="-122"/>
                <a:cs typeface="Calibri" pitchFamily="34" charset="-120"/>
              </a:rPr>
              <a:t>Flags for human review:</a:t>
            </a:r>
            <a:endParaRPr lang="en-US" sz="700" dirty="0"/>
          </a:p>
        </p:txBody>
      </p:sp>
      <p:sp>
        <p:nvSpPr>
          <p:cNvPr id="73" name="Text 71"/>
          <p:cNvSpPr/>
          <p:nvPr/>
        </p:nvSpPr>
        <p:spPr>
          <a:xfrm>
            <a:off x="5010912" y="5212080"/>
            <a:ext cx="1984248" cy="146304"/>
          </a:xfrm>
          <a:prstGeom prst="rect">
            <a:avLst/>
          </a:prstGeom>
          <a:noFill/>
          <a:ln/>
        </p:spPr>
        <p:txBody>
          <a:bodyPr wrap="square" lIns="0" tIns="0" rIns="0" bIns="0" rtlCol="0" anchor="ctr"/>
          <a:lstStyle/>
          <a:p>
            <a:pPr marL="0" indent="0" algn="l">
              <a:buNone/>
            </a:pPr>
            <a:r>
              <a:rPr lang="en-US" sz="750" i="1" dirty="0">
                <a:solidFill>
                  <a:srgbClr val="FFFFFF"/>
                </a:solidFill>
                <a:latin typeface="Calibri" pitchFamily="34" charset="0"/>
                <a:ea typeface="Calibri" pitchFamily="34" charset="-122"/>
                <a:cs typeface="Calibri" pitchFamily="34" charset="-120"/>
              </a:rPr>
              <a:t>Residual Struts classes · Unmapped routes · OGNL leaks</a:t>
            </a:r>
            <a:endParaRPr lang="en-US" sz="750" dirty="0"/>
          </a:p>
        </p:txBody>
      </p:sp>
      <p:sp>
        <p:nvSpPr>
          <p:cNvPr id="74" name="Shape 72"/>
          <p:cNvSpPr/>
          <p:nvPr/>
        </p:nvSpPr>
        <p:spPr>
          <a:xfrm>
            <a:off x="4974336" y="6245352"/>
            <a:ext cx="621792" cy="219456"/>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75" name="Text 73"/>
          <p:cNvSpPr/>
          <p:nvPr/>
        </p:nvSpPr>
        <p:spPr>
          <a:xfrm>
            <a:off x="4974336"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PASS</a:t>
            </a:r>
            <a:endParaRPr lang="en-US" sz="750" dirty="0"/>
          </a:p>
        </p:txBody>
      </p:sp>
      <p:sp>
        <p:nvSpPr>
          <p:cNvPr id="76" name="Shape 74"/>
          <p:cNvSpPr/>
          <p:nvPr/>
        </p:nvSpPr>
        <p:spPr>
          <a:xfrm>
            <a:off x="5650992" y="6245352"/>
            <a:ext cx="621792" cy="219456"/>
          </a:xfrm>
          <a:prstGeom prst="rect">
            <a:avLst/>
          </a:prstGeom>
          <a:solidFill>
            <a:srgbClr val="F5A623"/>
          </a:solidFill>
          <a:ln w="635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77" name="Text 75"/>
          <p:cNvSpPr/>
          <p:nvPr/>
        </p:nvSpPr>
        <p:spPr>
          <a:xfrm>
            <a:off x="5650992"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RETRY</a:t>
            </a:r>
            <a:endParaRPr lang="en-US" sz="750" dirty="0"/>
          </a:p>
        </p:txBody>
      </p:sp>
      <p:sp>
        <p:nvSpPr>
          <p:cNvPr id="78" name="Shape 76"/>
          <p:cNvSpPr/>
          <p:nvPr/>
        </p:nvSpPr>
        <p:spPr>
          <a:xfrm>
            <a:off x="6327648" y="6245352"/>
            <a:ext cx="621792" cy="21945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79" name="Text 77"/>
          <p:cNvSpPr/>
          <p:nvPr/>
        </p:nvSpPr>
        <p:spPr>
          <a:xfrm>
            <a:off x="6327648"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MANUAL</a:t>
            </a:r>
            <a:endParaRPr lang="en-US" sz="750" dirty="0"/>
          </a:p>
        </p:txBody>
      </p:sp>
      <p:sp>
        <p:nvSpPr>
          <p:cNvPr id="80" name="Text 78"/>
          <p:cNvSpPr/>
          <p:nvPr/>
        </p:nvSpPr>
        <p:spPr>
          <a:xfrm>
            <a:off x="4974336" y="6492240"/>
            <a:ext cx="2057400" cy="164592"/>
          </a:xfrm>
          <a:prstGeom prst="rect">
            <a:avLst/>
          </a:prstGeom>
          <a:noFill/>
          <a:ln/>
        </p:spPr>
        <p:txBody>
          <a:bodyPr wrap="square" lIns="0" tIns="0" rIns="0" bIns="0" rtlCol="0" anchor="ctr"/>
          <a:lstStyle/>
          <a:p>
            <a:pPr marL="0" indent="0" algn="ctr">
              <a:buNone/>
            </a:pPr>
            <a:r>
              <a:rPr lang="en-US" sz="700" dirty="0">
                <a:solidFill>
                  <a:srgbClr val="26215C"/>
                </a:solidFill>
                <a:latin typeface="Calibri" pitchFamily="34" charset="0"/>
                <a:ea typeface="Calibri" pitchFamily="34" charset="-122"/>
                <a:cs typeface="Calibri" pitchFamily="34" charset="-120"/>
              </a:rPr>
              <a:t>score ≥80 · 50–79 · &lt;50</a:t>
            </a:r>
            <a:endParaRPr lang="en-US" sz="700" dirty="0"/>
          </a:p>
        </p:txBody>
      </p:sp>
      <p:sp>
        <p:nvSpPr>
          <p:cNvPr id="81" name="Shape 79"/>
          <p:cNvSpPr/>
          <p:nvPr/>
        </p:nvSpPr>
        <p:spPr>
          <a:xfrm>
            <a:off x="7214616" y="1719072"/>
            <a:ext cx="2240280" cy="5029200"/>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82" name="Shape 80"/>
          <p:cNvSpPr/>
          <p:nvPr/>
        </p:nvSpPr>
        <p:spPr>
          <a:xfrm>
            <a:off x="7214616" y="1719072"/>
            <a:ext cx="2240280" cy="420624"/>
          </a:xfrm>
          <a:prstGeom prst="rect">
            <a:avLst/>
          </a:prstGeom>
          <a:solidFill>
            <a:srgbClr val="534AB7"/>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83" name="Text 81"/>
          <p:cNvSpPr/>
          <p:nvPr/>
        </p:nvSpPr>
        <p:spPr>
          <a:xfrm>
            <a:off x="7306056" y="1719072"/>
            <a:ext cx="2057400" cy="420624"/>
          </a:xfrm>
          <a:prstGeom prst="rect">
            <a:avLst/>
          </a:prstGeom>
          <a:noFill/>
          <a:ln/>
        </p:spPr>
        <p:txBody>
          <a:bodyPr wrap="square" lIns="0" tIns="0" rIns="0" bIns="0" rtlCol="0" anchor="ctr"/>
          <a:lstStyle/>
          <a:p>
            <a:pPr marL="0" indent="0" algn="l">
              <a:buNone/>
            </a:pPr>
            <a:r>
              <a:rPr lang="en-US" sz="950" b="1" dirty="0">
                <a:solidFill>
                  <a:srgbClr val="FFFFFF"/>
                </a:solidFill>
                <a:latin typeface="Georgia" pitchFamily="34" charset="0"/>
                <a:ea typeface="Georgia" pitchFamily="34" charset="-122"/>
                <a:cs typeface="Georgia" pitchFamily="34" charset="-120"/>
              </a:rPr>
              <a:t>Container Review Agent</a:t>
            </a:r>
            <a:endParaRPr lang="en-US" sz="950" dirty="0"/>
          </a:p>
        </p:txBody>
      </p:sp>
      <p:sp>
        <p:nvSpPr>
          <p:cNvPr id="84" name="Shape 82"/>
          <p:cNvSpPr/>
          <p:nvPr/>
        </p:nvSpPr>
        <p:spPr>
          <a:xfrm>
            <a:off x="7306056" y="2212848"/>
            <a:ext cx="2057400" cy="329184"/>
          </a:xfrm>
          <a:prstGeom prst="rect">
            <a:avLst/>
          </a:prstGeom>
          <a:solidFill>
            <a:srgbClr val="3C3489"/>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85" name="Text 83"/>
          <p:cNvSpPr/>
          <p:nvPr/>
        </p:nvSpPr>
        <p:spPr>
          <a:xfrm>
            <a:off x="7342632" y="2212848"/>
            <a:ext cx="1984248" cy="329184"/>
          </a:xfrm>
          <a:prstGeom prst="rect">
            <a:avLst/>
          </a:prstGeom>
          <a:noFill/>
          <a:ln/>
        </p:spPr>
        <p:txBody>
          <a:bodyPr wrap="square" lIns="0" tIns="0" rIns="0" bIns="0" rtlCol="0" anchor="ctr"/>
          <a:lstStyle/>
          <a:p>
            <a:pPr marL="0" indent="0" algn="l">
              <a:buNone/>
            </a:pPr>
            <a:r>
              <a:rPr lang="en-US" sz="850" i="1" dirty="0">
                <a:solidFill>
                  <a:srgbClr val="E8EDF4"/>
                </a:solidFill>
                <a:latin typeface="Georgia" pitchFamily="34" charset="0"/>
                <a:ea typeface="Georgia" pitchFamily="34" charset="-122"/>
                <a:cs typeface="Georgia" pitchFamily="34" charset="-120"/>
              </a:rPr>
              <a:t>Is the deployment configuration correct and complete?</a:t>
            </a:r>
            <a:endParaRPr lang="en-US" sz="850" dirty="0"/>
          </a:p>
        </p:txBody>
      </p:sp>
      <p:sp>
        <p:nvSpPr>
          <p:cNvPr id="86" name="Text 84"/>
          <p:cNvSpPr/>
          <p:nvPr/>
        </p:nvSpPr>
        <p:spPr>
          <a:xfrm>
            <a:off x="7306056" y="2615184"/>
            <a:ext cx="2057400" cy="201168"/>
          </a:xfrm>
          <a:prstGeom prst="rect">
            <a:avLst/>
          </a:prstGeom>
          <a:noFill/>
          <a:ln/>
        </p:spPr>
        <p:txBody>
          <a:bodyPr wrap="square" lIns="0" tIns="0" rIns="0" bIns="0" rtlCol="0" anchor="ctr"/>
          <a:lstStyle/>
          <a:p>
            <a:pPr marL="0" indent="0" algn="l">
              <a:buNone/>
            </a:pPr>
            <a:r>
              <a:rPr lang="en-US" sz="850" b="1" dirty="0">
                <a:solidFill>
                  <a:srgbClr val="534AB7"/>
                </a:solidFill>
                <a:latin typeface="Calibri" pitchFamily="34" charset="0"/>
                <a:ea typeface="Calibri" pitchFamily="34" charset="-122"/>
                <a:cs typeface="Calibri" pitchFamily="34" charset="-120"/>
              </a:rPr>
              <a:t>What it checks:</a:t>
            </a:r>
            <a:endParaRPr lang="en-US" sz="850" dirty="0"/>
          </a:p>
        </p:txBody>
      </p:sp>
      <p:sp>
        <p:nvSpPr>
          <p:cNvPr id="87" name="Shape 85"/>
          <p:cNvSpPr/>
          <p:nvPr/>
        </p:nvSpPr>
        <p:spPr>
          <a:xfrm>
            <a:off x="7306056" y="283464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88" name="Text 86"/>
          <p:cNvSpPr/>
          <p:nvPr/>
        </p:nvSpPr>
        <p:spPr>
          <a:xfrm>
            <a:off x="7360920" y="283464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Liberty features match the application's actual dependencies</a:t>
            </a:r>
            <a:endParaRPr lang="en-US" sz="850" dirty="0"/>
          </a:p>
        </p:txBody>
      </p:sp>
      <p:sp>
        <p:nvSpPr>
          <p:cNvPr id="89" name="Shape 87"/>
          <p:cNvSpPr/>
          <p:nvPr/>
        </p:nvSpPr>
        <p:spPr>
          <a:xfrm>
            <a:off x="7306056" y="338328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90" name="Text 88"/>
          <p:cNvSpPr/>
          <p:nvPr/>
        </p:nvSpPr>
        <p:spPr>
          <a:xfrm>
            <a:off x="7360920" y="338328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Dockerfile base image tag is correct and current</a:t>
            </a:r>
            <a:endParaRPr lang="en-US" sz="850" dirty="0"/>
          </a:p>
        </p:txBody>
      </p:sp>
      <p:sp>
        <p:nvSpPr>
          <p:cNvPr id="91" name="Shape 89"/>
          <p:cNvSpPr/>
          <p:nvPr/>
        </p:nvSpPr>
        <p:spPr>
          <a:xfrm>
            <a:off x="7306056" y="393192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92" name="Text 90"/>
          <p:cNvSpPr/>
          <p:nvPr/>
        </p:nvSpPr>
        <p:spPr>
          <a:xfrm>
            <a:off x="7360920" y="393192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DataSource config present if JDBC connections detected</a:t>
            </a:r>
            <a:endParaRPr lang="en-US" sz="850" dirty="0"/>
          </a:p>
        </p:txBody>
      </p:sp>
      <p:sp>
        <p:nvSpPr>
          <p:cNvPr id="93" name="Shape 91"/>
          <p:cNvSpPr/>
          <p:nvPr/>
        </p:nvSpPr>
        <p:spPr>
          <a:xfrm>
            <a:off x="7306056" y="448056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94" name="Text 92"/>
          <p:cNvSpPr/>
          <p:nvPr/>
        </p:nvSpPr>
        <p:spPr>
          <a:xfrm>
            <a:off x="7360920" y="448056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ECS task definition memory and CPU are appropriate</a:t>
            </a:r>
            <a:endParaRPr lang="en-US" sz="850" dirty="0"/>
          </a:p>
        </p:txBody>
      </p:sp>
      <p:sp>
        <p:nvSpPr>
          <p:cNvPr id="95" name="Shape 93"/>
          <p:cNvSpPr/>
          <p:nvPr/>
        </p:nvSpPr>
        <p:spPr>
          <a:xfrm>
            <a:off x="7306056" y="5084064"/>
            <a:ext cx="2057400" cy="21945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96" name="Text 94"/>
          <p:cNvSpPr/>
          <p:nvPr/>
        </p:nvSpPr>
        <p:spPr>
          <a:xfrm>
            <a:off x="7342632" y="5084064"/>
            <a:ext cx="1984248" cy="128016"/>
          </a:xfrm>
          <a:prstGeom prst="rect">
            <a:avLst/>
          </a:prstGeom>
          <a:noFill/>
          <a:ln/>
        </p:spPr>
        <p:txBody>
          <a:bodyPr wrap="square" lIns="0" tIns="0" rIns="0" bIns="0" rtlCol="0" anchor="ctr"/>
          <a:lstStyle/>
          <a:p>
            <a:pPr marL="0" indent="0" algn="l">
              <a:buNone/>
            </a:pPr>
            <a:r>
              <a:rPr lang="en-US" sz="700" b="1" dirty="0">
                <a:solidFill>
                  <a:srgbClr val="FFFFFF"/>
                </a:solidFill>
                <a:latin typeface="Calibri" pitchFamily="34" charset="0"/>
                <a:ea typeface="Calibri" pitchFamily="34" charset="-122"/>
                <a:cs typeface="Calibri" pitchFamily="34" charset="-120"/>
              </a:rPr>
              <a:t>Flags for human review:</a:t>
            </a:r>
            <a:endParaRPr lang="en-US" sz="700" dirty="0"/>
          </a:p>
        </p:txBody>
      </p:sp>
      <p:sp>
        <p:nvSpPr>
          <p:cNvPr id="97" name="Text 95"/>
          <p:cNvSpPr/>
          <p:nvPr/>
        </p:nvSpPr>
        <p:spPr>
          <a:xfrm>
            <a:off x="7342632" y="5212080"/>
            <a:ext cx="1984248" cy="146304"/>
          </a:xfrm>
          <a:prstGeom prst="rect">
            <a:avLst/>
          </a:prstGeom>
          <a:noFill/>
          <a:ln/>
        </p:spPr>
        <p:txBody>
          <a:bodyPr wrap="square" lIns="0" tIns="0" rIns="0" bIns="0" rtlCol="0" anchor="ctr"/>
          <a:lstStyle/>
          <a:p>
            <a:pPr marL="0" indent="0" algn="l">
              <a:buNone/>
            </a:pPr>
            <a:r>
              <a:rPr lang="en-US" sz="750" i="1" dirty="0">
                <a:solidFill>
                  <a:srgbClr val="FFFFFF"/>
                </a:solidFill>
                <a:latin typeface="Calibri" pitchFamily="34" charset="0"/>
                <a:ea typeface="Calibri" pitchFamily="34" charset="-122"/>
                <a:cs typeface="Calibri" pitchFamily="34" charset="-120"/>
              </a:rPr>
              <a:t>Feature mismatches · Missing datasource config</a:t>
            </a:r>
            <a:endParaRPr lang="en-US" sz="750" dirty="0"/>
          </a:p>
        </p:txBody>
      </p:sp>
      <p:sp>
        <p:nvSpPr>
          <p:cNvPr id="98" name="Shape 96"/>
          <p:cNvSpPr/>
          <p:nvPr/>
        </p:nvSpPr>
        <p:spPr>
          <a:xfrm>
            <a:off x="7306056" y="6245352"/>
            <a:ext cx="621792" cy="219456"/>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99" name="Text 97"/>
          <p:cNvSpPr/>
          <p:nvPr/>
        </p:nvSpPr>
        <p:spPr>
          <a:xfrm>
            <a:off x="7306056"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PASS</a:t>
            </a:r>
            <a:endParaRPr lang="en-US" sz="750" dirty="0"/>
          </a:p>
        </p:txBody>
      </p:sp>
      <p:sp>
        <p:nvSpPr>
          <p:cNvPr id="100" name="Shape 98"/>
          <p:cNvSpPr/>
          <p:nvPr/>
        </p:nvSpPr>
        <p:spPr>
          <a:xfrm>
            <a:off x="7982712" y="6245352"/>
            <a:ext cx="621792" cy="219456"/>
          </a:xfrm>
          <a:prstGeom prst="rect">
            <a:avLst/>
          </a:prstGeom>
          <a:solidFill>
            <a:srgbClr val="F5A623"/>
          </a:solidFill>
          <a:ln w="635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101" name="Text 99"/>
          <p:cNvSpPr/>
          <p:nvPr/>
        </p:nvSpPr>
        <p:spPr>
          <a:xfrm>
            <a:off x="7982712"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RETRY</a:t>
            </a:r>
            <a:endParaRPr lang="en-US" sz="750" dirty="0"/>
          </a:p>
        </p:txBody>
      </p:sp>
      <p:sp>
        <p:nvSpPr>
          <p:cNvPr id="102" name="Shape 100"/>
          <p:cNvSpPr/>
          <p:nvPr/>
        </p:nvSpPr>
        <p:spPr>
          <a:xfrm>
            <a:off x="8659368" y="6245352"/>
            <a:ext cx="621792" cy="21945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103" name="Text 101"/>
          <p:cNvSpPr/>
          <p:nvPr/>
        </p:nvSpPr>
        <p:spPr>
          <a:xfrm>
            <a:off x="8659368"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MANUAL</a:t>
            </a:r>
            <a:endParaRPr lang="en-US" sz="750" dirty="0"/>
          </a:p>
        </p:txBody>
      </p:sp>
      <p:sp>
        <p:nvSpPr>
          <p:cNvPr id="104" name="Text 102"/>
          <p:cNvSpPr/>
          <p:nvPr/>
        </p:nvSpPr>
        <p:spPr>
          <a:xfrm>
            <a:off x="7306056" y="6492240"/>
            <a:ext cx="2057400" cy="164592"/>
          </a:xfrm>
          <a:prstGeom prst="rect">
            <a:avLst/>
          </a:prstGeom>
          <a:noFill/>
          <a:ln/>
        </p:spPr>
        <p:txBody>
          <a:bodyPr wrap="square" lIns="0" tIns="0" rIns="0" bIns="0" rtlCol="0" anchor="ctr"/>
          <a:lstStyle/>
          <a:p>
            <a:pPr marL="0" indent="0" algn="ctr">
              <a:buNone/>
            </a:pPr>
            <a:r>
              <a:rPr lang="en-US" sz="700" dirty="0">
                <a:solidFill>
                  <a:srgbClr val="26215C"/>
                </a:solidFill>
                <a:latin typeface="Calibri" pitchFamily="34" charset="0"/>
                <a:ea typeface="Calibri" pitchFamily="34" charset="-122"/>
                <a:cs typeface="Calibri" pitchFamily="34" charset="-120"/>
              </a:rPr>
              <a:t>score ≥80 · 50–79 · &lt;50</a:t>
            </a:r>
            <a:endParaRPr lang="en-US" sz="700" dirty="0"/>
          </a:p>
        </p:txBody>
      </p:sp>
      <p:sp>
        <p:nvSpPr>
          <p:cNvPr id="105" name="Shape 103"/>
          <p:cNvSpPr/>
          <p:nvPr/>
        </p:nvSpPr>
        <p:spPr>
          <a:xfrm>
            <a:off x="9546336" y="1719072"/>
            <a:ext cx="2240280" cy="5029200"/>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06" name="Shape 104"/>
          <p:cNvSpPr/>
          <p:nvPr/>
        </p:nvSpPr>
        <p:spPr>
          <a:xfrm>
            <a:off x="9546336" y="1719072"/>
            <a:ext cx="2240280" cy="420624"/>
          </a:xfrm>
          <a:prstGeom prst="rect">
            <a:avLst/>
          </a:prstGeom>
          <a:solidFill>
            <a:srgbClr val="534AB7"/>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07" name="Text 105"/>
          <p:cNvSpPr/>
          <p:nvPr/>
        </p:nvSpPr>
        <p:spPr>
          <a:xfrm>
            <a:off x="9637776" y="1719072"/>
            <a:ext cx="2057400" cy="420624"/>
          </a:xfrm>
          <a:prstGeom prst="rect">
            <a:avLst/>
          </a:prstGeom>
          <a:noFill/>
          <a:ln/>
        </p:spPr>
        <p:txBody>
          <a:bodyPr wrap="square" lIns="0" tIns="0" rIns="0" bIns="0" rtlCol="0" anchor="ctr"/>
          <a:lstStyle/>
          <a:p>
            <a:pPr marL="0" indent="0" algn="l">
              <a:buNone/>
            </a:pPr>
            <a:r>
              <a:rPr lang="en-US" sz="950" b="1" dirty="0">
                <a:solidFill>
                  <a:srgbClr val="FFFFFF"/>
                </a:solidFill>
                <a:latin typeface="Georgia" pitchFamily="34" charset="0"/>
                <a:ea typeface="Georgia" pitchFamily="34" charset="-122"/>
                <a:cs typeface="Georgia" pitchFamily="34" charset="-120"/>
              </a:rPr>
              <a:t>Test Review Agent</a:t>
            </a:r>
            <a:endParaRPr lang="en-US" sz="950" dirty="0"/>
          </a:p>
        </p:txBody>
      </p:sp>
      <p:sp>
        <p:nvSpPr>
          <p:cNvPr id="108" name="Shape 106"/>
          <p:cNvSpPr/>
          <p:nvPr/>
        </p:nvSpPr>
        <p:spPr>
          <a:xfrm>
            <a:off x="9637776" y="2212848"/>
            <a:ext cx="2057400" cy="329184"/>
          </a:xfrm>
          <a:prstGeom prst="rect">
            <a:avLst/>
          </a:prstGeom>
          <a:solidFill>
            <a:srgbClr val="3C3489"/>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09" name="Text 107"/>
          <p:cNvSpPr/>
          <p:nvPr/>
        </p:nvSpPr>
        <p:spPr>
          <a:xfrm>
            <a:off x="9674352" y="2212848"/>
            <a:ext cx="1984248" cy="329184"/>
          </a:xfrm>
          <a:prstGeom prst="rect">
            <a:avLst/>
          </a:prstGeom>
          <a:noFill/>
          <a:ln/>
        </p:spPr>
        <p:txBody>
          <a:bodyPr wrap="square" lIns="0" tIns="0" rIns="0" bIns="0" rtlCol="0" anchor="ctr"/>
          <a:lstStyle/>
          <a:p>
            <a:pPr marL="0" indent="0" algn="l">
              <a:buNone/>
            </a:pPr>
            <a:r>
              <a:rPr lang="en-US" sz="850" i="1" dirty="0">
                <a:solidFill>
                  <a:srgbClr val="E8EDF4"/>
                </a:solidFill>
                <a:latin typeface="Georgia" pitchFamily="34" charset="0"/>
                <a:ea typeface="Georgia" pitchFamily="34" charset="-122"/>
                <a:cs typeface="Georgia" pitchFamily="34" charset="-120"/>
              </a:rPr>
              <a:t>Are the generated tests correct and sufficient?</a:t>
            </a:r>
            <a:endParaRPr lang="en-US" sz="850" dirty="0"/>
          </a:p>
        </p:txBody>
      </p:sp>
      <p:sp>
        <p:nvSpPr>
          <p:cNvPr id="110" name="Text 108"/>
          <p:cNvSpPr/>
          <p:nvPr/>
        </p:nvSpPr>
        <p:spPr>
          <a:xfrm>
            <a:off x="9637776" y="2615184"/>
            <a:ext cx="2057400" cy="201168"/>
          </a:xfrm>
          <a:prstGeom prst="rect">
            <a:avLst/>
          </a:prstGeom>
          <a:noFill/>
          <a:ln/>
        </p:spPr>
        <p:txBody>
          <a:bodyPr wrap="square" lIns="0" tIns="0" rIns="0" bIns="0" rtlCol="0" anchor="ctr"/>
          <a:lstStyle/>
          <a:p>
            <a:pPr marL="0" indent="0" algn="l">
              <a:buNone/>
            </a:pPr>
            <a:r>
              <a:rPr lang="en-US" sz="850" b="1" dirty="0">
                <a:solidFill>
                  <a:srgbClr val="534AB7"/>
                </a:solidFill>
                <a:latin typeface="Calibri" pitchFamily="34" charset="0"/>
                <a:ea typeface="Calibri" pitchFamily="34" charset="-122"/>
                <a:cs typeface="Calibri" pitchFamily="34" charset="-120"/>
              </a:rPr>
              <a:t>What it checks:</a:t>
            </a:r>
            <a:endParaRPr lang="en-US" sz="850" dirty="0"/>
          </a:p>
        </p:txBody>
      </p:sp>
      <p:sp>
        <p:nvSpPr>
          <p:cNvPr id="111" name="Shape 109"/>
          <p:cNvSpPr/>
          <p:nvPr/>
        </p:nvSpPr>
        <p:spPr>
          <a:xfrm>
            <a:off x="9637776" y="283464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12" name="Text 110"/>
          <p:cNvSpPr/>
          <p:nvPr/>
        </p:nvSpPr>
        <p:spPr>
          <a:xfrm>
            <a:off x="9692640" y="283464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Every @GetMapping and @PostMapping has at least one test</a:t>
            </a:r>
            <a:endParaRPr lang="en-US" sz="850" dirty="0"/>
          </a:p>
        </p:txBody>
      </p:sp>
      <p:sp>
        <p:nvSpPr>
          <p:cNvPr id="113" name="Shape 111"/>
          <p:cNvSpPr/>
          <p:nvPr/>
        </p:nvSpPr>
        <p:spPr>
          <a:xfrm>
            <a:off x="9637776" y="338328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14" name="Text 112"/>
          <p:cNvSpPr/>
          <p:nvPr/>
        </p:nvSpPr>
        <p:spPr>
          <a:xfrm>
            <a:off x="9692640" y="338328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@Mock annotations match controller @Autowired dependencies</a:t>
            </a:r>
            <a:endParaRPr lang="en-US" sz="850" dirty="0"/>
          </a:p>
        </p:txBody>
      </p:sp>
      <p:sp>
        <p:nvSpPr>
          <p:cNvPr id="115" name="Shape 113"/>
          <p:cNvSpPr/>
          <p:nvPr/>
        </p:nvSpPr>
        <p:spPr>
          <a:xfrm>
            <a:off x="9637776" y="393192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16" name="Text 114"/>
          <p:cNvSpPr/>
          <p:nvPr/>
        </p:nvSpPr>
        <p:spPr>
          <a:xfrm>
            <a:off x="9692640" y="393192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Both happy path and error path are covered</a:t>
            </a:r>
            <a:endParaRPr lang="en-US" sz="850" dirty="0"/>
          </a:p>
        </p:txBody>
      </p:sp>
      <p:sp>
        <p:nvSpPr>
          <p:cNvPr id="117" name="Shape 115"/>
          <p:cNvSpPr/>
          <p:nvPr/>
        </p:nvSpPr>
        <p:spPr>
          <a:xfrm>
            <a:off x="9637776" y="448056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18" name="Text 116"/>
          <p:cNvSpPr/>
          <p:nvPr/>
        </p:nvSpPr>
        <p:spPr>
          <a:xfrm>
            <a:off x="9692640" y="448056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Test method naming follows agreed convention</a:t>
            </a:r>
            <a:endParaRPr lang="en-US" sz="850" dirty="0"/>
          </a:p>
        </p:txBody>
      </p:sp>
      <p:sp>
        <p:nvSpPr>
          <p:cNvPr id="119" name="Shape 117"/>
          <p:cNvSpPr/>
          <p:nvPr/>
        </p:nvSpPr>
        <p:spPr>
          <a:xfrm>
            <a:off x="9637776" y="5084064"/>
            <a:ext cx="2057400" cy="21945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120" name="Text 118"/>
          <p:cNvSpPr/>
          <p:nvPr/>
        </p:nvSpPr>
        <p:spPr>
          <a:xfrm>
            <a:off x="9674352" y="5084064"/>
            <a:ext cx="1984248" cy="128016"/>
          </a:xfrm>
          <a:prstGeom prst="rect">
            <a:avLst/>
          </a:prstGeom>
          <a:noFill/>
          <a:ln/>
        </p:spPr>
        <p:txBody>
          <a:bodyPr wrap="square" lIns="0" tIns="0" rIns="0" bIns="0" rtlCol="0" anchor="ctr"/>
          <a:lstStyle/>
          <a:p>
            <a:pPr marL="0" indent="0" algn="l">
              <a:buNone/>
            </a:pPr>
            <a:r>
              <a:rPr lang="en-US" sz="700" b="1" dirty="0">
                <a:solidFill>
                  <a:srgbClr val="FFFFFF"/>
                </a:solidFill>
                <a:latin typeface="Calibri" pitchFamily="34" charset="0"/>
                <a:ea typeface="Calibri" pitchFamily="34" charset="-122"/>
                <a:cs typeface="Calibri" pitchFamily="34" charset="-120"/>
              </a:rPr>
              <a:t>Flags for human review:</a:t>
            </a:r>
            <a:endParaRPr lang="en-US" sz="700" dirty="0"/>
          </a:p>
        </p:txBody>
      </p:sp>
      <p:sp>
        <p:nvSpPr>
          <p:cNvPr id="121" name="Text 119"/>
          <p:cNvSpPr/>
          <p:nvPr/>
        </p:nvSpPr>
        <p:spPr>
          <a:xfrm>
            <a:off x="9674352" y="5212080"/>
            <a:ext cx="1984248" cy="146304"/>
          </a:xfrm>
          <a:prstGeom prst="rect">
            <a:avLst/>
          </a:prstGeom>
          <a:noFill/>
          <a:ln/>
        </p:spPr>
        <p:txBody>
          <a:bodyPr wrap="square" lIns="0" tIns="0" rIns="0" bIns="0" rtlCol="0" anchor="ctr"/>
          <a:lstStyle/>
          <a:p>
            <a:pPr marL="0" indent="0" algn="l">
              <a:buNone/>
            </a:pPr>
            <a:r>
              <a:rPr lang="en-US" sz="750" i="1" dirty="0">
                <a:solidFill>
                  <a:srgbClr val="FFFFFF"/>
                </a:solidFill>
                <a:latin typeface="Calibri" pitchFamily="34" charset="0"/>
                <a:ea typeface="Calibri" pitchFamily="34" charset="-122"/>
                <a:cs typeface="Calibri" pitchFamily="34" charset="-120"/>
              </a:rPr>
              <a:t>Untested handler methods · Missing mock declarations</a:t>
            </a:r>
            <a:endParaRPr lang="en-US" sz="750" dirty="0"/>
          </a:p>
        </p:txBody>
      </p:sp>
      <p:sp>
        <p:nvSpPr>
          <p:cNvPr id="122" name="Shape 120"/>
          <p:cNvSpPr/>
          <p:nvPr/>
        </p:nvSpPr>
        <p:spPr>
          <a:xfrm>
            <a:off x="9637776" y="6245352"/>
            <a:ext cx="621792" cy="219456"/>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123" name="Text 121"/>
          <p:cNvSpPr/>
          <p:nvPr/>
        </p:nvSpPr>
        <p:spPr>
          <a:xfrm>
            <a:off x="9637776"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PASS</a:t>
            </a:r>
            <a:endParaRPr lang="en-US" sz="750" dirty="0"/>
          </a:p>
        </p:txBody>
      </p:sp>
      <p:sp>
        <p:nvSpPr>
          <p:cNvPr id="124" name="Shape 122"/>
          <p:cNvSpPr/>
          <p:nvPr/>
        </p:nvSpPr>
        <p:spPr>
          <a:xfrm>
            <a:off x="10314432" y="6245352"/>
            <a:ext cx="621792" cy="219456"/>
          </a:xfrm>
          <a:prstGeom prst="rect">
            <a:avLst/>
          </a:prstGeom>
          <a:solidFill>
            <a:srgbClr val="F5A623"/>
          </a:solidFill>
          <a:ln w="635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125" name="Text 123"/>
          <p:cNvSpPr/>
          <p:nvPr/>
        </p:nvSpPr>
        <p:spPr>
          <a:xfrm>
            <a:off x="10314432"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RETRY</a:t>
            </a:r>
            <a:endParaRPr lang="en-US" sz="750" dirty="0"/>
          </a:p>
        </p:txBody>
      </p:sp>
      <p:sp>
        <p:nvSpPr>
          <p:cNvPr id="126" name="Shape 124"/>
          <p:cNvSpPr/>
          <p:nvPr/>
        </p:nvSpPr>
        <p:spPr>
          <a:xfrm>
            <a:off x="10991088" y="6245352"/>
            <a:ext cx="621792" cy="21945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127" name="Text 125"/>
          <p:cNvSpPr/>
          <p:nvPr/>
        </p:nvSpPr>
        <p:spPr>
          <a:xfrm>
            <a:off x="10991088"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MANUAL</a:t>
            </a:r>
            <a:endParaRPr lang="en-US" sz="750" dirty="0"/>
          </a:p>
        </p:txBody>
      </p:sp>
      <p:sp>
        <p:nvSpPr>
          <p:cNvPr id="128" name="Text 126"/>
          <p:cNvSpPr/>
          <p:nvPr/>
        </p:nvSpPr>
        <p:spPr>
          <a:xfrm>
            <a:off x="9637776" y="6492240"/>
            <a:ext cx="2057400" cy="164592"/>
          </a:xfrm>
          <a:prstGeom prst="rect">
            <a:avLst/>
          </a:prstGeom>
          <a:noFill/>
          <a:ln/>
        </p:spPr>
        <p:txBody>
          <a:bodyPr wrap="square" lIns="0" tIns="0" rIns="0" bIns="0" rtlCol="0" anchor="ctr"/>
          <a:lstStyle/>
          <a:p>
            <a:pPr marL="0" indent="0" algn="ctr">
              <a:buNone/>
            </a:pPr>
            <a:r>
              <a:rPr lang="en-US" sz="700" dirty="0">
                <a:solidFill>
                  <a:srgbClr val="26215C"/>
                </a:solidFill>
                <a:latin typeface="Calibri" pitchFamily="34" charset="0"/>
                <a:ea typeface="Calibri" pitchFamily="34" charset="-122"/>
                <a:cs typeface="Calibri" pitchFamily="34" charset="-120"/>
              </a:rPr>
              <a:t>score ≥80 · 50–79 · &lt;50</a:t>
            </a:r>
            <a:endParaRPr lang="en-US" sz="700" dirty="0"/>
          </a:p>
        </p:txBody>
      </p:sp>
      <p:sp>
        <p:nvSpPr>
          <p:cNvPr id="129" name="Shape 127"/>
          <p:cNvSpPr/>
          <p:nvPr/>
        </p:nvSpPr>
        <p:spPr>
          <a:xfrm>
            <a:off x="219456" y="6528816"/>
            <a:ext cx="11704320" cy="237744"/>
          </a:xfrm>
          <a:prstGeom prst="rect">
            <a:avLst/>
          </a:prstGeom>
          <a:solidFill>
            <a:srgbClr val="534AB7"/>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30" name="Text 128"/>
          <p:cNvSpPr/>
          <p:nvPr/>
        </p:nvSpPr>
        <p:spPr>
          <a:xfrm>
            <a:off x="347472" y="6528816"/>
            <a:ext cx="11521440" cy="237744"/>
          </a:xfrm>
          <a:prstGeom prst="rect">
            <a:avLst/>
          </a:prstGeom>
          <a:noFill/>
          <a:ln/>
        </p:spPr>
        <p:txBody>
          <a:bodyPr wrap="square" lIns="0" tIns="0" rIns="0" bIns="0" rtlCol="0" anchor="ctr"/>
          <a:lstStyle/>
          <a:p>
            <a:pPr marL="0" indent="0" algn="l">
              <a:buNone/>
            </a:pPr>
            <a:r>
              <a:rPr lang="en-US" sz="950" dirty="0">
                <a:solidFill>
                  <a:srgbClr val="FFFFFF"/>
                </a:solidFill>
                <a:latin typeface="Georgia" pitchFamily="34" charset="0"/>
                <a:ea typeface="Georgia" pitchFamily="34" charset="-122"/>
                <a:cs typeface="Georgia" pitchFamily="34" charset="-120"/>
              </a:rPr>
              <a:t>Business impact: Every transformation is independently verified by a different AI. Humans only review the files the AI disagrees are correct — a fraction of the total, not every file.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225296"/>
          </a:xfrm>
          <a:prstGeom prst="rect">
            <a:avLst/>
          </a:prstGeom>
          <a:solidFill>
            <a:srgbClr val="0A1628"/>
          </a:solidFill>
          <a:ln w="12700">
            <a:solidFill>
              <a:srgbClr val="0A1628">
                <a:alpha val="0"/>
              </a:srgbClr>
            </a:solidFill>
            <a:prstDash val="solid"/>
          </a:ln>
        </p:spPr>
        <p:txBody>
          <a:bodyPr/>
          <a:lstStyle/>
          <a:p>
            <a:endParaRPr lang="en-US"/>
          </a:p>
        </p:txBody>
      </p:sp>
      <p:sp>
        <p:nvSpPr>
          <p:cNvPr id="3" name="Shape 1"/>
          <p:cNvSpPr/>
          <p:nvPr/>
        </p:nvSpPr>
        <p:spPr>
          <a:xfrm>
            <a:off x="0" y="1225296"/>
            <a:ext cx="12161520" cy="50292"/>
          </a:xfrm>
          <a:prstGeom prst="rect">
            <a:avLst/>
          </a:prstGeom>
          <a:solidFill>
            <a:srgbClr val="F5A623"/>
          </a:solidFill>
          <a:ln w="12700">
            <a:solidFill>
              <a:srgbClr val="F5A623">
                <a:alpha val="0"/>
              </a:srgbClr>
            </a:solidFill>
            <a:prstDash val="solid"/>
          </a:ln>
        </p:spPr>
        <p:txBody>
          <a:bodyPr/>
          <a:lstStyle/>
          <a:p>
            <a:endParaRPr lang="en-US"/>
          </a:p>
        </p:txBody>
      </p:sp>
      <p:sp>
        <p:nvSpPr>
          <p:cNvPr id="4" name="Text 2"/>
          <p:cNvSpPr/>
          <p:nvPr/>
        </p:nvSpPr>
        <p:spPr>
          <a:xfrm>
            <a:off x="411480" y="109728"/>
            <a:ext cx="11247120" cy="256032"/>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11  ·  Summary</a:t>
            </a:r>
            <a:endParaRPr lang="en-US" sz="1000" dirty="0"/>
          </a:p>
        </p:txBody>
      </p:sp>
      <p:sp>
        <p:nvSpPr>
          <p:cNvPr id="5" name="Text 3"/>
          <p:cNvSpPr/>
          <p:nvPr/>
        </p:nvSpPr>
        <p:spPr>
          <a:xfrm>
            <a:off x="411480" y="347472"/>
            <a:ext cx="11247120" cy="749808"/>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Mission · Mechanism · Guarantee — the complete picture.</a:t>
            </a:r>
            <a:endParaRPr lang="en-US" sz="2600" dirty="0"/>
          </a:p>
        </p:txBody>
      </p:sp>
      <p:sp>
        <p:nvSpPr>
          <p:cNvPr id="6" name="Shape 4"/>
          <p:cNvSpPr/>
          <p:nvPr/>
        </p:nvSpPr>
        <p:spPr>
          <a:xfrm>
            <a:off x="365760" y="1389888"/>
            <a:ext cx="3749040" cy="384048"/>
          </a:xfrm>
          <a:prstGeom prst="rect">
            <a:avLst/>
          </a:prstGeom>
          <a:solidFill>
            <a:srgbClr val="0A1628"/>
          </a:solidFill>
          <a:ln w="1270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7" name="Text 5"/>
          <p:cNvSpPr/>
          <p:nvPr/>
        </p:nvSpPr>
        <p:spPr>
          <a:xfrm>
            <a:off x="365760" y="1389888"/>
            <a:ext cx="374904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The mission</a:t>
            </a:r>
            <a:endParaRPr lang="en-US" sz="1400" dirty="0"/>
          </a:p>
        </p:txBody>
      </p:sp>
      <p:sp>
        <p:nvSpPr>
          <p:cNvPr id="8" name="Shape 6"/>
          <p:cNvSpPr/>
          <p:nvPr/>
        </p:nvSpPr>
        <p:spPr>
          <a:xfrm>
            <a:off x="365760" y="1810512"/>
            <a:ext cx="3749040" cy="768096"/>
          </a:xfrm>
          <a:prstGeom prst="rect">
            <a:avLst/>
          </a:prstGeom>
          <a:solidFill>
            <a:srgbClr val="0F2040"/>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9" name="Text 7"/>
          <p:cNvSpPr/>
          <p:nvPr/>
        </p:nvSpPr>
        <p:spPr>
          <a:xfrm>
            <a:off x="475488" y="1810512"/>
            <a:ext cx="3529584" cy="768096"/>
          </a:xfrm>
          <a:prstGeom prst="rect">
            <a:avLst/>
          </a:prstGeom>
          <a:noFill/>
          <a:ln/>
        </p:spPr>
        <p:txBody>
          <a:bodyPr wrap="square" lIns="0" tIns="0" rIns="0" bIns="0" rtlCol="0" anchor="ctr"/>
          <a:lstStyle/>
          <a:p>
            <a:pPr marL="0" indent="0" algn="l">
              <a:buNone/>
            </a:pPr>
            <a:r>
              <a:rPr lang="en-US" sz="950" i="1" dirty="0">
                <a:solidFill>
                  <a:srgbClr val="E8EDF4"/>
                </a:solidFill>
                <a:latin typeface="Georgia" pitchFamily="34" charset="0"/>
                <a:ea typeface="Georgia" pitchFamily="34" charset="-122"/>
                <a:cs typeface="Georgia" pitchFamily="34" charset="-120"/>
              </a:rPr>
              <a:t>Eliminate Struts completely from 3 enterprise applications, 50,000 lines of code, within 5 months. No Struts in the output. No OGNL in the output. No exceptions.</a:t>
            </a:r>
            <a:endParaRPr lang="en-US" sz="950" dirty="0"/>
          </a:p>
        </p:txBody>
      </p:sp>
      <p:sp>
        <p:nvSpPr>
          <p:cNvPr id="10" name="Shape 8"/>
          <p:cNvSpPr/>
          <p:nvPr/>
        </p:nvSpPr>
        <p:spPr>
          <a:xfrm>
            <a:off x="365760" y="2651760"/>
            <a:ext cx="3749040" cy="438912"/>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11" name="Shape 9"/>
          <p:cNvSpPr/>
          <p:nvPr/>
        </p:nvSpPr>
        <p:spPr>
          <a:xfrm>
            <a:off x="457200" y="276148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12" name="Text 10"/>
          <p:cNvSpPr/>
          <p:nvPr/>
        </p:nvSpPr>
        <p:spPr>
          <a:xfrm>
            <a:off x="457200" y="276148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3" name="Text 11"/>
          <p:cNvSpPr/>
          <p:nvPr/>
        </p:nvSpPr>
        <p:spPr>
          <a:xfrm>
            <a:off x="749808" y="265176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ActionSupport classes → removed</a:t>
            </a:r>
            <a:endParaRPr lang="en-US" sz="950" dirty="0"/>
          </a:p>
        </p:txBody>
      </p:sp>
      <p:sp>
        <p:nvSpPr>
          <p:cNvPr id="14" name="Shape 12"/>
          <p:cNvSpPr/>
          <p:nvPr/>
        </p:nvSpPr>
        <p:spPr>
          <a:xfrm>
            <a:off x="365760" y="3154680"/>
            <a:ext cx="3749040" cy="438912"/>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15" name="Shape 13"/>
          <p:cNvSpPr/>
          <p:nvPr/>
        </p:nvSpPr>
        <p:spPr>
          <a:xfrm>
            <a:off x="457200" y="326440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16" name="Text 14"/>
          <p:cNvSpPr/>
          <p:nvPr/>
        </p:nvSpPr>
        <p:spPr>
          <a:xfrm>
            <a:off x="457200" y="326440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749808" y="315468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struts.xml routing → removed</a:t>
            </a:r>
            <a:endParaRPr lang="en-US" sz="950" dirty="0"/>
          </a:p>
        </p:txBody>
      </p:sp>
      <p:sp>
        <p:nvSpPr>
          <p:cNvPr id="18" name="Shape 16"/>
          <p:cNvSpPr/>
          <p:nvPr/>
        </p:nvSpPr>
        <p:spPr>
          <a:xfrm>
            <a:off x="365760" y="3657600"/>
            <a:ext cx="3749040" cy="438912"/>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19" name="Shape 17"/>
          <p:cNvSpPr/>
          <p:nvPr/>
        </p:nvSpPr>
        <p:spPr>
          <a:xfrm>
            <a:off x="457200" y="376732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20" name="Text 18"/>
          <p:cNvSpPr/>
          <p:nvPr/>
        </p:nvSpPr>
        <p:spPr>
          <a:xfrm>
            <a:off x="457200" y="376732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1" name="Text 19"/>
          <p:cNvSpPr/>
          <p:nvPr/>
        </p:nvSpPr>
        <p:spPr>
          <a:xfrm>
            <a:off x="749808" y="365760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OGNL expressions → removed</a:t>
            </a:r>
            <a:endParaRPr lang="en-US" sz="950" dirty="0"/>
          </a:p>
        </p:txBody>
      </p:sp>
      <p:sp>
        <p:nvSpPr>
          <p:cNvPr id="22" name="Shape 20"/>
          <p:cNvSpPr/>
          <p:nvPr/>
        </p:nvSpPr>
        <p:spPr>
          <a:xfrm>
            <a:off x="365760" y="4160520"/>
            <a:ext cx="3749040" cy="438912"/>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23" name="Shape 21"/>
          <p:cNvSpPr/>
          <p:nvPr/>
        </p:nvSpPr>
        <p:spPr>
          <a:xfrm>
            <a:off x="457200" y="427024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24" name="Text 22"/>
          <p:cNvSpPr/>
          <p:nvPr/>
        </p:nvSpPr>
        <p:spPr>
          <a:xfrm>
            <a:off x="457200" y="427024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25" name="Text 23"/>
          <p:cNvSpPr/>
          <p:nvPr/>
        </p:nvSpPr>
        <p:spPr>
          <a:xfrm>
            <a:off x="749808" y="416052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&lt;s:&gt; JSP tags → removed</a:t>
            </a:r>
            <a:endParaRPr lang="en-US" sz="950" dirty="0"/>
          </a:p>
        </p:txBody>
      </p:sp>
      <p:sp>
        <p:nvSpPr>
          <p:cNvPr id="26" name="Shape 24"/>
          <p:cNvSpPr/>
          <p:nvPr/>
        </p:nvSpPr>
        <p:spPr>
          <a:xfrm>
            <a:off x="365760" y="4663440"/>
            <a:ext cx="3749040" cy="438912"/>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27" name="Shape 25"/>
          <p:cNvSpPr/>
          <p:nvPr/>
        </p:nvSpPr>
        <p:spPr>
          <a:xfrm>
            <a:off x="457200" y="477316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28" name="Text 26"/>
          <p:cNvSpPr/>
          <p:nvPr/>
        </p:nvSpPr>
        <p:spPr>
          <a:xfrm>
            <a:off x="457200" y="477316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29" name="Text 27"/>
          <p:cNvSpPr/>
          <p:nvPr/>
        </p:nvSpPr>
        <p:spPr>
          <a:xfrm>
            <a:off x="749808" y="466344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Struts dependencies → removed from pom.xml</a:t>
            </a:r>
            <a:endParaRPr lang="en-US" sz="950" dirty="0"/>
          </a:p>
        </p:txBody>
      </p:sp>
      <p:sp>
        <p:nvSpPr>
          <p:cNvPr id="30" name="Shape 28"/>
          <p:cNvSpPr/>
          <p:nvPr/>
        </p:nvSpPr>
        <p:spPr>
          <a:xfrm>
            <a:off x="4315968" y="1389888"/>
            <a:ext cx="3749040" cy="384048"/>
          </a:xfrm>
          <a:prstGeom prst="rect">
            <a:avLst/>
          </a:prstGeom>
          <a:solidFill>
            <a:srgbClr val="0A1628"/>
          </a:solidFill>
          <a:ln w="1270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31" name="Text 29"/>
          <p:cNvSpPr/>
          <p:nvPr/>
        </p:nvSpPr>
        <p:spPr>
          <a:xfrm>
            <a:off x="4315968" y="1389888"/>
            <a:ext cx="374904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The mechanism</a:t>
            </a:r>
            <a:endParaRPr lang="en-US" sz="1400" dirty="0"/>
          </a:p>
        </p:txBody>
      </p:sp>
      <p:sp>
        <p:nvSpPr>
          <p:cNvPr id="32" name="Shape 30"/>
          <p:cNvSpPr/>
          <p:nvPr/>
        </p:nvSpPr>
        <p:spPr>
          <a:xfrm>
            <a:off x="4315968" y="1810512"/>
            <a:ext cx="3749040" cy="768096"/>
          </a:xfrm>
          <a:prstGeom prst="rect">
            <a:avLst/>
          </a:prstGeom>
          <a:solidFill>
            <a:srgbClr val="0F2040"/>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33" name="Text 31"/>
          <p:cNvSpPr/>
          <p:nvPr/>
        </p:nvSpPr>
        <p:spPr>
          <a:xfrm>
            <a:off x="4425696" y="1810512"/>
            <a:ext cx="3529584" cy="768096"/>
          </a:xfrm>
          <a:prstGeom prst="rect">
            <a:avLst/>
          </a:prstGeom>
          <a:noFill/>
          <a:ln/>
        </p:spPr>
        <p:txBody>
          <a:bodyPr wrap="square" lIns="0" tIns="0" rIns="0" bIns="0" rtlCol="0" anchor="ctr"/>
          <a:lstStyle/>
          <a:p>
            <a:pPr marL="0" indent="0" algn="l">
              <a:buNone/>
            </a:pPr>
            <a:r>
              <a:rPr lang="en-US" sz="950" i="1" dirty="0">
                <a:solidFill>
                  <a:srgbClr val="E8EDF4"/>
                </a:solidFill>
                <a:latin typeface="Georgia" pitchFamily="34" charset="0"/>
                <a:ea typeface="Georgia" pitchFamily="34" charset="-122"/>
                <a:cs typeface="Georgia" pitchFamily="34" charset="-120"/>
              </a:rPr>
              <a:t>15 AI agents working in a coordinated pipeline. Each agent is a specialist. Every file passes through pre-transform safety checks, a transformation agent, an independent review agent, and post-review quality gates before it is written to disk.</a:t>
            </a:r>
            <a:endParaRPr lang="en-US" sz="950" dirty="0"/>
          </a:p>
        </p:txBody>
      </p:sp>
      <p:sp>
        <p:nvSpPr>
          <p:cNvPr id="34" name="Shape 32"/>
          <p:cNvSpPr/>
          <p:nvPr/>
        </p:nvSpPr>
        <p:spPr>
          <a:xfrm>
            <a:off x="4315968" y="2651760"/>
            <a:ext cx="3749040" cy="438912"/>
          </a:xfrm>
          <a:prstGeom prst="rect">
            <a:avLst/>
          </a:prstGeom>
          <a:solidFill>
            <a:srgbClr val="3B82C4"/>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35" name="Shape 33"/>
          <p:cNvSpPr/>
          <p:nvPr/>
        </p:nvSpPr>
        <p:spPr>
          <a:xfrm>
            <a:off x="4407408" y="276148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36" name="Text 34"/>
          <p:cNvSpPr/>
          <p:nvPr/>
        </p:nvSpPr>
        <p:spPr>
          <a:xfrm>
            <a:off x="4407408" y="276148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37" name="Text 35"/>
          <p:cNvSpPr/>
          <p:nvPr/>
        </p:nvSpPr>
        <p:spPr>
          <a:xfrm>
            <a:off x="4700016" y="265176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2 Guardrails checkpoints (Claude Sonnet 4.5)</a:t>
            </a:r>
            <a:endParaRPr lang="en-US" sz="950" dirty="0"/>
          </a:p>
        </p:txBody>
      </p:sp>
      <p:sp>
        <p:nvSpPr>
          <p:cNvPr id="38" name="Shape 36"/>
          <p:cNvSpPr/>
          <p:nvPr/>
        </p:nvSpPr>
        <p:spPr>
          <a:xfrm>
            <a:off x="4315968" y="3154680"/>
            <a:ext cx="3749040" cy="438912"/>
          </a:xfrm>
          <a:prstGeom prst="rect">
            <a:avLst/>
          </a:prstGeom>
          <a:solidFill>
            <a:srgbClr val="3B82C4"/>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39" name="Shape 37"/>
          <p:cNvSpPr/>
          <p:nvPr/>
        </p:nvSpPr>
        <p:spPr>
          <a:xfrm>
            <a:off x="4407408" y="326440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40" name="Text 38"/>
          <p:cNvSpPr/>
          <p:nvPr/>
        </p:nvSpPr>
        <p:spPr>
          <a:xfrm>
            <a:off x="4407408" y="326440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41" name="Text 39"/>
          <p:cNvSpPr/>
          <p:nvPr/>
        </p:nvSpPr>
        <p:spPr>
          <a:xfrm>
            <a:off x="4700016" y="315468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1 Leader agent — routes and retries (Sonnet 4.5)</a:t>
            </a:r>
            <a:endParaRPr lang="en-US" sz="950" dirty="0"/>
          </a:p>
        </p:txBody>
      </p:sp>
      <p:sp>
        <p:nvSpPr>
          <p:cNvPr id="42" name="Shape 40"/>
          <p:cNvSpPr/>
          <p:nvPr/>
        </p:nvSpPr>
        <p:spPr>
          <a:xfrm>
            <a:off x="4315968" y="3657600"/>
            <a:ext cx="3749040" cy="438912"/>
          </a:xfrm>
          <a:prstGeom prst="rect">
            <a:avLst/>
          </a:prstGeom>
          <a:solidFill>
            <a:srgbClr val="3B82C4"/>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43" name="Shape 41"/>
          <p:cNvSpPr/>
          <p:nvPr/>
        </p:nvSpPr>
        <p:spPr>
          <a:xfrm>
            <a:off x="4407408" y="376732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44" name="Text 42"/>
          <p:cNvSpPr/>
          <p:nvPr/>
        </p:nvSpPr>
        <p:spPr>
          <a:xfrm>
            <a:off x="4407408" y="376732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45" name="Text 43"/>
          <p:cNvSpPr/>
          <p:nvPr/>
        </p:nvSpPr>
        <p:spPr>
          <a:xfrm>
            <a:off x="4700016" y="365760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7 Transform agents — specialists (Sonnet 4.5)</a:t>
            </a:r>
            <a:endParaRPr lang="en-US" sz="950" dirty="0"/>
          </a:p>
        </p:txBody>
      </p:sp>
      <p:sp>
        <p:nvSpPr>
          <p:cNvPr id="46" name="Shape 44"/>
          <p:cNvSpPr/>
          <p:nvPr/>
        </p:nvSpPr>
        <p:spPr>
          <a:xfrm>
            <a:off x="4315968" y="4160520"/>
            <a:ext cx="3749040" cy="438912"/>
          </a:xfrm>
          <a:prstGeom prst="rect">
            <a:avLst/>
          </a:prstGeom>
          <a:solidFill>
            <a:srgbClr val="3B82C4"/>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47" name="Shape 45"/>
          <p:cNvSpPr/>
          <p:nvPr/>
        </p:nvSpPr>
        <p:spPr>
          <a:xfrm>
            <a:off x="4407408" y="427024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48" name="Text 46"/>
          <p:cNvSpPr/>
          <p:nvPr/>
        </p:nvSpPr>
        <p:spPr>
          <a:xfrm>
            <a:off x="4407408" y="427024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49" name="Text 47"/>
          <p:cNvSpPr/>
          <p:nvPr/>
        </p:nvSpPr>
        <p:spPr>
          <a:xfrm>
            <a:off x="4700016" y="416052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5 Review agents — cross-model check (Nova Pro)</a:t>
            </a:r>
            <a:endParaRPr lang="en-US" sz="950" dirty="0"/>
          </a:p>
        </p:txBody>
      </p:sp>
      <p:sp>
        <p:nvSpPr>
          <p:cNvPr id="50" name="Shape 48"/>
          <p:cNvSpPr/>
          <p:nvPr/>
        </p:nvSpPr>
        <p:spPr>
          <a:xfrm>
            <a:off x="4315968" y="4663440"/>
            <a:ext cx="3749040" cy="438912"/>
          </a:xfrm>
          <a:prstGeom prst="rect">
            <a:avLst/>
          </a:prstGeom>
          <a:solidFill>
            <a:srgbClr val="3B82C4"/>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51" name="Shape 49"/>
          <p:cNvSpPr/>
          <p:nvPr/>
        </p:nvSpPr>
        <p:spPr>
          <a:xfrm>
            <a:off x="4407408" y="477316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52" name="Text 50"/>
          <p:cNvSpPr/>
          <p:nvPr/>
        </p:nvSpPr>
        <p:spPr>
          <a:xfrm>
            <a:off x="4407408" y="477316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53" name="Text 51"/>
          <p:cNvSpPr/>
          <p:nvPr/>
        </p:nvSpPr>
        <p:spPr>
          <a:xfrm>
            <a:off x="4700016" y="466344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RAG knowledge base — enterprise standards</a:t>
            </a:r>
            <a:endParaRPr lang="en-US" sz="950" dirty="0"/>
          </a:p>
        </p:txBody>
      </p:sp>
      <p:sp>
        <p:nvSpPr>
          <p:cNvPr id="54" name="Shape 52"/>
          <p:cNvSpPr/>
          <p:nvPr/>
        </p:nvSpPr>
        <p:spPr>
          <a:xfrm>
            <a:off x="8266176" y="1389888"/>
            <a:ext cx="3749040" cy="384048"/>
          </a:xfrm>
          <a:prstGeom prst="rect">
            <a:avLst/>
          </a:prstGeom>
          <a:solidFill>
            <a:srgbClr val="0A1628"/>
          </a:solidFill>
          <a:ln w="1270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55" name="Text 53"/>
          <p:cNvSpPr/>
          <p:nvPr/>
        </p:nvSpPr>
        <p:spPr>
          <a:xfrm>
            <a:off x="8266176" y="1389888"/>
            <a:ext cx="374904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The guarantee</a:t>
            </a:r>
            <a:endParaRPr lang="en-US" sz="1400" dirty="0"/>
          </a:p>
        </p:txBody>
      </p:sp>
      <p:sp>
        <p:nvSpPr>
          <p:cNvPr id="56" name="Shape 54"/>
          <p:cNvSpPr/>
          <p:nvPr/>
        </p:nvSpPr>
        <p:spPr>
          <a:xfrm>
            <a:off x="8266176" y="1810512"/>
            <a:ext cx="3749040" cy="768096"/>
          </a:xfrm>
          <a:prstGeom prst="rect">
            <a:avLst/>
          </a:prstGeom>
          <a:solidFill>
            <a:srgbClr val="0F2040"/>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57" name="Text 55"/>
          <p:cNvSpPr/>
          <p:nvPr/>
        </p:nvSpPr>
        <p:spPr>
          <a:xfrm>
            <a:off x="8375904" y="1810512"/>
            <a:ext cx="3529584" cy="768096"/>
          </a:xfrm>
          <a:prstGeom prst="rect">
            <a:avLst/>
          </a:prstGeom>
          <a:noFill/>
          <a:ln/>
        </p:spPr>
        <p:txBody>
          <a:bodyPr wrap="square" lIns="0" tIns="0" rIns="0" bIns="0" rtlCol="0" anchor="ctr"/>
          <a:lstStyle/>
          <a:p>
            <a:pPr marL="0" indent="0" algn="l">
              <a:buNone/>
            </a:pPr>
            <a:r>
              <a:rPr lang="en-US" sz="950" i="1" dirty="0">
                <a:solidFill>
                  <a:srgbClr val="E8EDF4"/>
                </a:solidFill>
                <a:latin typeface="Georgia" pitchFamily="34" charset="0"/>
                <a:ea typeface="Georgia" pitchFamily="34" charset="-122"/>
                <a:cs typeface="Georgia" pitchFamily="34" charset="-120"/>
              </a:rPr>
              <a:t>No file reaches the output folder without passing every gate. Every decision is logged. The migration is not a black box — every file shows the review score, retry history, model pair used, and guardrail verdicts.</a:t>
            </a:r>
            <a:endParaRPr lang="en-US" sz="950" dirty="0"/>
          </a:p>
        </p:txBody>
      </p:sp>
      <p:sp>
        <p:nvSpPr>
          <p:cNvPr id="58" name="Shape 56"/>
          <p:cNvSpPr/>
          <p:nvPr/>
        </p:nvSpPr>
        <p:spPr>
          <a:xfrm>
            <a:off x="8266176" y="2651760"/>
            <a:ext cx="3749040" cy="438912"/>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59" name="Shape 57"/>
          <p:cNvSpPr/>
          <p:nvPr/>
        </p:nvSpPr>
        <p:spPr>
          <a:xfrm>
            <a:off x="8357616" y="276148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60" name="Text 58"/>
          <p:cNvSpPr/>
          <p:nvPr/>
        </p:nvSpPr>
        <p:spPr>
          <a:xfrm>
            <a:off x="8357616" y="276148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61" name="Text 59"/>
          <p:cNvSpPr/>
          <p:nvPr/>
        </p:nvSpPr>
        <p:spPr>
          <a:xfrm>
            <a:off x="8650224" y="265176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~80% of files auto-transform on first attempt</a:t>
            </a:r>
            <a:endParaRPr lang="en-US" sz="950" dirty="0"/>
          </a:p>
        </p:txBody>
      </p:sp>
      <p:sp>
        <p:nvSpPr>
          <p:cNvPr id="62" name="Shape 60"/>
          <p:cNvSpPr/>
          <p:nvPr/>
        </p:nvSpPr>
        <p:spPr>
          <a:xfrm>
            <a:off x="8266176" y="3154680"/>
            <a:ext cx="3749040" cy="438912"/>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63" name="Shape 61"/>
          <p:cNvSpPr/>
          <p:nvPr/>
        </p:nvSpPr>
        <p:spPr>
          <a:xfrm>
            <a:off x="8357616" y="326440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64" name="Text 62"/>
          <p:cNvSpPr/>
          <p:nvPr/>
        </p:nvSpPr>
        <p:spPr>
          <a:xfrm>
            <a:off x="8357616" y="326440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65" name="Text 63"/>
          <p:cNvSpPr/>
          <p:nvPr/>
        </p:nvSpPr>
        <p:spPr>
          <a:xfrm>
            <a:off x="8650224" y="315468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~15% retry with AI feedback (max 2 times)</a:t>
            </a:r>
            <a:endParaRPr lang="en-US" sz="950" dirty="0"/>
          </a:p>
        </p:txBody>
      </p:sp>
      <p:sp>
        <p:nvSpPr>
          <p:cNvPr id="66" name="Shape 64"/>
          <p:cNvSpPr/>
          <p:nvPr/>
        </p:nvSpPr>
        <p:spPr>
          <a:xfrm>
            <a:off x="8266176" y="3657600"/>
            <a:ext cx="3749040" cy="438912"/>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67" name="Shape 65"/>
          <p:cNvSpPr/>
          <p:nvPr/>
        </p:nvSpPr>
        <p:spPr>
          <a:xfrm>
            <a:off x="8357616" y="376732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68" name="Text 66"/>
          <p:cNvSpPr/>
          <p:nvPr/>
        </p:nvSpPr>
        <p:spPr>
          <a:xfrm>
            <a:off x="8357616" y="376732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69" name="Text 67"/>
          <p:cNvSpPr/>
          <p:nvPr/>
        </p:nvSpPr>
        <p:spPr>
          <a:xfrm>
            <a:off x="8650224" y="365760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~5% escalated to human review with full context</a:t>
            </a:r>
            <a:endParaRPr lang="en-US" sz="950" dirty="0"/>
          </a:p>
        </p:txBody>
      </p:sp>
      <p:sp>
        <p:nvSpPr>
          <p:cNvPr id="70" name="Shape 68"/>
          <p:cNvSpPr/>
          <p:nvPr/>
        </p:nvSpPr>
        <p:spPr>
          <a:xfrm>
            <a:off x="8266176" y="4160520"/>
            <a:ext cx="3749040" cy="438912"/>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71" name="Shape 69"/>
          <p:cNvSpPr/>
          <p:nvPr/>
        </p:nvSpPr>
        <p:spPr>
          <a:xfrm>
            <a:off x="8357616" y="427024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72" name="Text 70"/>
          <p:cNvSpPr/>
          <p:nvPr/>
        </p:nvSpPr>
        <p:spPr>
          <a:xfrm>
            <a:off x="8357616" y="427024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73" name="Text 71"/>
          <p:cNvSpPr/>
          <p:nvPr/>
        </p:nvSpPr>
        <p:spPr>
          <a:xfrm>
            <a:off x="8650224" y="416052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Zero OGNL expressions in any output file</a:t>
            </a:r>
            <a:endParaRPr lang="en-US" sz="950" dirty="0"/>
          </a:p>
        </p:txBody>
      </p:sp>
      <p:sp>
        <p:nvSpPr>
          <p:cNvPr id="74" name="Shape 72"/>
          <p:cNvSpPr/>
          <p:nvPr/>
        </p:nvSpPr>
        <p:spPr>
          <a:xfrm>
            <a:off x="8266176" y="4663440"/>
            <a:ext cx="3749040" cy="438912"/>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75" name="Shape 73"/>
          <p:cNvSpPr/>
          <p:nvPr/>
        </p:nvSpPr>
        <p:spPr>
          <a:xfrm>
            <a:off x="8357616" y="477316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76" name="Text 74"/>
          <p:cNvSpPr/>
          <p:nvPr/>
        </p:nvSpPr>
        <p:spPr>
          <a:xfrm>
            <a:off x="8357616" y="477316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77" name="Text 75"/>
          <p:cNvSpPr/>
          <p:nvPr/>
        </p:nvSpPr>
        <p:spPr>
          <a:xfrm>
            <a:off x="8650224" y="466344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Auditable trail for every transformation decision</a:t>
            </a:r>
            <a:endParaRPr lang="en-US" sz="950" dirty="0"/>
          </a:p>
        </p:txBody>
      </p:sp>
      <p:sp>
        <p:nvSpPr>
          <p:cNvPr id="78" name="Shape 76"/>
          <p:cNvSpPr/>
          <p:nvPr/>
        </p:nvSpPr>
        <p:spPr>
          <a:xfrm>
            <a:off x="365760" y="5321808"/>
            <a:ext cx="11430000" cy="914400"/>
          </a:xfrm>
          <a:prstGeom prst="rect">
            <a:avLst/>
          </a:prstGeom>
          <a:solidFill>
            <a:srgbClr val="FEF6E7"/>
          </a:solidFill>
          <a:ln w="9525">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79" name="Text 77"/>
          <p:cNvSpPr/>
          <p:nvPr/>
        </p:nvSpPr>
        <p:spPr>
          <a:xfrm>
            <a:off x="502920" y="5321808"/>
            <a:ext cx="2743200" cy="329184"/>
          </a:xfrm>
          <a:prstGeom prst="rect">
            <a:avLst/>
          </a:prstGeom>
          <a:noFill/>
          <a:ln/>
        </p:spPr>
        <p:txBody>
          <a:bodyPr wrap="square" lIns="0" tIns="0" rIns="0" bIns="0" rtlCol="0" anchor="ctr"/>
          <a:lstStyle/>
          <a:p>
            <a:pPr marL="0" indent="0" algn="l">
              <a:buNone/>
            </a:pPr>
            <a:r>
              <a:rPr lang="en-US" sz="1100" b="1" dirty="0">
                <a:solidFill>
                  <a:srgbClr val="633806"/>
                </a:solidFill>
                <a:latin typeface="Georgia" pitchFamily="34" charset="0"/>
                <a:ea typeface="Georgia" pitchFamily="34" charset="-122"/>
                <a:cs typeface="Georgia" pitchFamily="34" charset="-120"/>
              </a:rPr>
              <a:t>What the human team does</a:t>
            </a:r>
            <a:endParaRPr lang="en-US" sz="1100" dirty="0"/>
          </a:p>
        </p:txBody>
      </p:sp>
      <p:sp>
        <p:nvSpPr>
          <p:cNvPr id="80" name="Text 78"/>
          <p:cNvSpPr/>
          <p:nvPr/>
        </p:nvSpPr>
        <p:spPr>
          <a:xfrm>
            <a:off x="502920" y="5650992"/>
            <a:ext cx="11155680" cy="512064"/>
          </a:xfrm>
          <a:prstGeom prst="rect">
            <a:avLst/>
          </a:prstGeom>
          <a:noFill/>
          <a:ln/>
        </p:spPr>
        <p:txBody>
          <a:bodyPr wrap="square" lIns="0" tIns="0" rIns="0" bIns="0" rtlCol="0" anchor="ctr"/>
          <a:lstStyle/>
          <a:p>
            <a:pPr marL="0" indent="0" algn="l">
              <a:buNone/>
            </a:pPr>
            <a:r>
              <a:rPr lang="en-US" sz="950" dirty="0">
                <a:solidFill>
                  <a:srgbClr val="633806"/>
                </a:solidFill>
                <a:latin typeface="Calibri" pitchFamily="34" charset="0"/>
                <a:ea typeface="Calibri" pitchFamily="34" charset="-122"/>
                <a:cs typeface="Calibri" pitchFamily="34" charset="-120"/>
              </a:rPr>
              <a:t>Human engineers review only the files the AI flagged as MANUAL — complex OGNL expressions, custom interceptors with business logic, validate() methods that call the database. These arrive in the review portal with full context: original file, best transformed version, and the specific reasons it was escalated. No engineer ever reviews a file blind.</a:t>
            </a:r>
            <a:endParaRPr lang="en-US" sz="950" dirty="0"/>
          </a:p>
        </p:txBody>
      </p:sp>
      <p:sp>
        <p:nvSpPr>
          <p:cNvPr id="81" name="Shape 79"/>
          <p:cNvSpPr/>
          <p:nvPr/>
        </p:nvSpPr>
        <p:spPr>
          <a:xfrm>
            <a:off x="365760" y="6309360"/>
            <a:ext cx="11430000" cy="347472"/>
          </a:xfrm>
          <a:prstGeom prst="rect">
            <a:avLst/>
          </a:prstGeom>
          <a:solidFill>
            <a:srgbClr val="0A1628"/>
          </a:solidFill>
          <a:ln w="9525">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82" name="Text 80"/>
          <p:cNvSpPr/>
          <p:nvPr/>
        </p:nvSpPr>
        <p:spPr>
          <a:xfrm>
            <a:off x="365760" y="6309360"/>
            <a:ext cx="11430000" cy="347472"/>
          </a:xfrm>
          <a:prstGeom prst="rect">
            <a:avLst/>
          </a:prstGeom>
          <a:noFill/>
          <a:ln/>
        </p:spPr>
        <p:txBody>
          <a:bodyPr wrap="square" lIns="0" tIns="0" rIns="0" bIns="0" rtlCol="0" anchor="ctr"/>
          <a:lstStyle/>
          <a:p>
            <a:pPr marL="0" indent="0" algn="ctr">
              <a:buNone/>
            </a:pPr>
            <a:r>
              <a:rPr lang="en-US" sz="950" b="1" dirty="0">
                <a:solidFill>
                  <a:srgbClr val="F5A623"/>
                </a:solidFill>
                <a:latin typeface="Georgia" pitchFamily="34" charset="0"/>
                <a:ea typeface="Georgia" pitchFamily="34" charset="-122"/>
                <a:cs typeface="Georgia" pitchFamily="34" charset="-120"/>
              </a:rPr>
              <a:t>FORGE  ·  15 agents  ·  Claude Sonnet 4.5 + Amazon Nova Pro  ·  AWS Bedrock  ·  Zero Struts in output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5015</Words>
  <Application>Microsoft Macintosh PowerPoint</Application>
  <PresentationFormat>Widescreen</PresentationFormat>
  <Paragraphs>697</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FORGE — Agent Deep Dive</dc:title>
  <dc:subject>PptxGenJS Presentation</dc:subject>
  <dc:creator>PptxGenJS</dc:creator>
  <cp:lastModifiedBy>Raja Anche</cp:lastModifiedBy>
  <cp:revision>2</cp:revision>
  <dcterms:created xsi:type="dcterms:W3CDTF">2026-04-15T18:53:22Z</dcterms:created>
  <dcterms:modified xsi:type="dcterms:W3CDTF">2026-04-15T18:57:10Z</dcterms:modified>
</cp:coreProperties>
</file>