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4" d="100"/>
          <a:sy n="104" d="100"/>
        </p:scale>
        <p:origin x="288"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60252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623"/>
          </a:solidFill>
          <a:ln w="12700">
            <a:solidFill>
              <a:srgbClr val="F5A623">
                <a:alpha val="0"/>
              </a:srgbClr>
            </a:solidFill>
            <a:prstDash val="solid"/>
          </a:ln>
        </p:spPr>
        <p:txBody>
          <a:bodyPr/>
          <a:lstStyle/>
          <a:p>
            <a:endParaRPr lang="en-US"/>
          </a:p>
        </p:txBody>
      </p:sp>
      <p:sp>
        <p:nvSpPr>
          <p:cNvPr id="3" name="Shape 1"/>
          <p:cNvSpPr/>
          <p:nvPr/>
        </p:nvSpPr>
        <p:spPr>
          <a:xfrm>
            <a:off x="8686800" y="-91440"/>
            <a:ext cx="731520" cy="2633472"/>
          </a:xfrm>
          <a:prstGeom prst="rect">
            <a:avLst/>
          </a:prstGeom>
          <a:solidFill>
            <a:srgbClr val="C47E0F">
              <a:alpha val="85000"/>
            </a:srgbClr>
          </a:solidFill>
          <a:ln w="12700">
            <a:solidFill>
              <a:srgbClr val="C47E0F">
                <a:alpha val="0"/>
              </a:srgbClr>
            </a:solidFill>
            <a:prstDash val="solid"/>
          </a:ln>
        </p:spPr>
        <p:txBody>
          <a:bodyPr/>
          <a:lstStyle/>
          <a:p>
            <a:endParaRPr lang="en-US"/>
          </a:p>
        </p:txBody>
      </p:sp>
      <p:sp>
        <p:nvSpPr>
          <p:cNvPr id="4" name="Shape 2"/>
          <p:cNvSpPr/>
          <p:nvPr/>
        </p:nvSpPr>
        <p:spPr>
          <a:xfrm>
            <a:off x="8540496" y="219456"/>
            <a:ext cx="1053389" cy="2194560"/>
          </a:xfrm>
          <a:prstGeom prst="rect">
            <a:avLst/>
          </a:prstGeom>
          <a:solidFill>
            <a:srgbClr val="F5A623"/>
          </a:solidFill>
          <a:ln w="12700">
            <a:solidFill>
              <a:srgbClr val="F5A623">
                <a:alpha val="0"/>
              </a:srgbClr>
            </a:solidFill>
            <a:prstDash val="solid"/>
          </a:ln>
        </p:spPr>
        <p:txBody>
          <a:bodyPr/>
          <a:lstStyle/>
          <a:p>
            <a:endParaRPr lang="en-US"/>
          </a:p>
        </p:txBody>
      </p:sp>
      <p:sp>
        <p:nvSpPr>
          <p:cNvPr id="5" name="Shape 3"/>
          <p:cNvSpPr/>
          <p:nvPr/>
        </p:nvSpPr>
        <p:spPr>
          <a:xfrm>
            <a:off x="9509760" y="-91440"/>
            <a:ext cx="868680" cy="3127248"/>
          </a:xfrm>
          <a:prstGeom prst="rect">
            <a:avLst/>
          </a:prstGeom>
          <a:solidFill>
            <a:srgbClr val="C47E0F">
              <a:alpha val="85000"/>
            </a:srgbClr>
          </a:solidFill>
          <a:ln w="12700">
            <a:solidFill>
              <a:srgbClr val="C47E0F">
                <a:alpha val="0"/>
              </a:srgbClr>
            </a:solidFill>
            <a:prstDash val="solid"/>
          </a:ln>
        </p:spPr>
        <p:txBody>
          <a:bodyPr/>
          <a:lstStyle/>
          <a:p>
            <a:endParaRPr lang="en-US"/>
          </a:p>
        </p:txBody>
      </p:sp>
      <p:sp>
        <p:nvSpPr>
          <p:cNvPr id="6" name="Shape 4"/>
          <p:cNvSpPr/>
          <p:nvPr/>
        </p:nvSpPr>
        <p:spPr>
          <a:xfrm>
            <a:off x="9336024" y="260604"/>
            <a:ext cx="1250899" cy="2606040"/>
          </a:xfrm>
          <a:prstGeom prst="rect">
            <a:avLst/>
          </a:prstGeom>
          <a:solidFill>
            <a:srgbClr val="F5A623"/>
          </a:solidFill>
          <a:ln w="12700">
            <a:solidFill>
              <a:srgbClr val="F5A623">
                <a:alpha val="0"/>
              </a:srgbClr>
            </a:solidFill>
            <a:prstDash val="solid"/>
          </a:ln>
        </p:spPr>
        <p:txBody>
          <a:bodyPr/>
          <a:lstStyle/>
          <a:p>
            <a:endParaRPr lang="en-US"/>
          </a:p>
        </p:txBody>
      </p:sp>
      <p:sp>
        <p:nvSpPr>
          <p:cNvPr id="7" name="Shape 5"/>
          <p:cNvSpPr/>
          <p:nvPr/>
        </p:nvSpPr>
        <p:spPr>
          <a:xfrm>
            <a:off x="10332720" y="-91440"/>
            <a:ext cx="685800" cy="2468880"/>
          </a:xfrm>
          <a:prstGeom prst="rect">
            <a:avLst/>
          </a:prstGeom>
          <a:solidFill>
            <a:srgbClr val="C47E0F">
              <a:alpha val="85000"/>
            </a:srgbClr>
          </a:solidFill>
          <a:ln w="12700">
            <a:solidFill>
              <a:srgbClr val="C47E0F">
                <a:alpha val="0"/>
              </a:srgbClr>
            </a:solidFill>
            <a:prstDash val="solid"/>
          </a:ln>
        </p:spPr>
        <p:txBody>
          <a:bodyPr/>
          <a:lstStyle/>
          <a:p>
            <a:endParaRPr lang="en-US"/>
          </a:p>
        </p:txBody>
      </p:sp>
      <p:sp>
        <p:nvSpPr>
          <p:cNvPr id="8" name="Shape 6"/>
          <p:cNvSpPr/>
          <p:nvPr/>
        </p:nvSpPr>
        <p:spPr>
          <a:xfrm>
            <a:off x="10195560" y="205740"/>
            <a:ext cx="987552" cy="2057400"/>
          </a:xfrm>
          <a:prstGeom prst="rect">
            <a:avLst/>
          </a:prstGeom>
          <a:solidFill>
            <a:srgbClr val="F5A623"/>
          </a:solidFill>
          <a:ln w="12700">
            <a:solidFill>
              <a:srgbClr val="F5A623">
                <a:alpha val="0"/>
              </a:srgbClr>
            </a:solidFill>
            <a:prstDash val="solid"/>
          </a:ln>
        </p:spPr>
        <p:txBody>
          <a:bodyPr/>
          <a:lstStyle/>
          <a:p>
            <a:endParaRPr lang="en-US"/>
          </a:p>
        </p:txBody>
      </p:sp>
      <p:sp>
        <p:nvSpPr>
          <p:cNvPr id="9" name="Shape 7"/>
          <p:cNvSpPr/>
          <p:nvPr/>
        </p:nvSpPr>
        <p:spPr>
          <a:xfrm>
            <a:off x="11064240" y="-91440"/>
            <a:ext cx="502920" cy="1810512"/>
          </a:xfrm>
          <a:prstGeom prst="rect">
            <a:avLst/>
          </a:prstGeom>
          <a:solidFill>
            <a:srgbClr val="C47E0F">
              <a:alpha val="85000"/>
            </a:srgbClr>
          </a:solidFill>
          <a:ln w="12700">
            <a:solidFill>
              <a:srgbClr val="C47E0F">
                <a:alpha val="0"/>
              </a:srgbClr>
            </a:solidFill>
            <a:prstDash val="solid"/>
          </a:ln>
        </p:spPr>
        <p:txBody>
          <a:bodyPr/>
          <a:lstStyle/>
          <a:p>
            <a:endParaRPr lang="en-US"/>
          </a:p>
        </p:txBody>
      </p:sp>
      <p:sp>
        <p:nvSpPr>
          <p:cNvPr id="10" name="Shape 8"/>
          <p:cNvSpPr/>
          <p:nvPr/>
        </p:nvSpPr>
        <p:spPr>
          <a:xfrm>
            <a:off x="10963656" y="150876"/>
            <a:ext cx="724205" cy="1508760"/>
          </a:xfrm>
          <a:prstGeom prst="rect">
            <a:avLst/>
          </a:prstGeom>
          <a:solidFill>
            <a:srgbClr val="F5A623"/>
          </a:solidFill>
          <a:ln w="12700">
            <a:solidFill>
              <a:srgbClr val="F5A623">
                <a:alpha val="0"/>
              </a:srgbClr>
            </a:solidFill>
            <a:prstDash val="solid"/>
          </a:ln>
        </p:spPr>
        <p:txBody>
          <a:bodyPr/>
          <a:lstStyle/>
          <a:p>
            <a:endParaRPr lang="en-US"/>
          </a:p>
        </p:txBody>
      </p:sp>
      <p:sp>
        <p:nvSpPr>
          <p:cNvPr id="11" name="Text 9"/>
          <p:cNvSpPr/>
          <p:nvPr/>
        </p:nvSpPr>
        <p:spPr>
          <a:xfrm>
            <a:off x="310896" y="365760"/>
            <a:ext cx="4572000" cy="822960"/>
          </a:xfrm>
          <a:prstGeom prst="rect">
            <a:avLst/>
          </a:prstGeom>
          <a:noFill/>
          <a:ln/>
        </p:spPr>
        <p:txBody>
          <a:bodyPr wrap="square" lIns="0" tIns="0" rIns="0" bIns="0" rtlCol="0" anchor="ctr"/>
          <a:lstStyle/>
          <a:p>
            <a:pPr marL="0" indent="0" algn="l">
              <a:buNone/>
            </a:pPr>
            <a:r>
              <a:rPr lang="en-US" sz="6800" b="1" kern="0" spc="600" dirty="0">
                <a:solidFill>
                  <a:srgbClr val="F5A623"/>
                </a:solidFill>
                <a:latin typeface="Georgia" pitchFamily="34" charset="0"/>
                <a:ea typeface="Georgia" pitchFamily="34" charset="-122"/>
                <a:cs typeface="Georgia" pitchFamily="34" charset="-120"/>
              </a:rPr>
              <a:t>FORGE</a:t>
            </a:r>
            <a:endParaRPr lang="en-US" sz="6800" dirty="0"/>
          </a:p>
        </p:txBody>
      </p:sp>
      <p:sp>
        <p:nvSpPr>
          <p:cNvPr id="12" name="Text 10"/>
          <p:cNvSpPr/>
          <p:nvPr/>
        </p:nvSpPr>
        <p:spPr>
          <a:xfrm>
            <a:off x="310896" y="1207008"/>
            <a:ext cx="5486400" cy="502920"/>
          </a:xfrm>
          <a:prstGeom prst="rect">
            <a:avLst/>
          </a:prstGeom>
          <a:noFill/>
          <a:ln/>
        </p:spPr>
        <p:txBody>
          <a:bodyPr wrap="square" lIns="0" tIns="0" rIns="0" bIns="0" rtlCol="0" anchor="ctr"/>
          <a:lstStyle/>
          <a:p>
            <a:pPr marL="0" indent="0" algn="l">
              <a:buNone/>
            </a:pPr>
            <a:r>
              <a:rPr lang="en-US" sz="3000" b="1" dirty="0">
                <a:solidFill>
                  <a:srgbClr val="FFFFFF"/>
                </a:solidFill>
                <a:latin typeface="Georgia" pitchFamily="34" charset="0"/>
                <a:ea typeface="Georgia" pitchFamily="34" charset="-122"/>
                <a:cs typeface="Georgia" pitchFamily="34" charset="-120"/>
              </a:rPr>
              <a:t>Agent Deep Dive</a:t>
            </a:r>
            <a:endParaRPr lang="en-US" sz="3000" dirty="0"/>
          </a:p>
        </p:txBody>
      </p:sp>
      <p:sp>
        <p:nvSpPr>
          <p:cNvPr id="13" name="Text 11"/>
          <p:cNvSpPr/>
          <p:nvPr/>
        </p:nvSpPr>
        <p:spPr>
          <a:xfrm>
            <a:off x="310896" y="1792224"/>
            <a:ext cx="7772400" cy="384048"/>
          </a:xfrm>
          <a:prstGeom prst="rect">
            <a:avLst/>
          </a:prstGeom>
          <a:noFill/>
          <a:ln/>
        </p:spPr>
        <p:txBody>
          <a:bodyPr wrap="square" lIns="0" tIns="0" rIns="0" bIns="0" rtlCol="0" anchor="ctr"/>
          <a:lstStyle/>
          <a:p>
            <a:pPr marL="0" indent="0" algn="l">
              <a:buNone/>
            </a:pPr>
            <a:r>
              <a:rPr lang="en-US" sz="1400" i="1" dirty="0">
                <a:solidFill>
                  <a:srgbClr val="FDD17A"/>
                </a:solidFill>
                <a:latin typeface="Georgia" pitchFamily="34" charset="0"/>
                <a:ea typeface="Georgia" pitchFamily="34" charset="-122"/>
                <a:cs typeface="Georgia" pitchFamily="34" charset="-120"/>
              </a:rPr>
              <a:t>A plain-English guide for management — what each agent does, how it decides, and why it matters</a:t>
            </a:r>
            <a:endParaRPr lang="en-US" sz="1400" dirty="0"/>
          </a:p>
        </p:txBody>
      </p:sp>
      <p:sp>
        <p:nvSpPr>
          <p:cNvPr id="14" name="Text 12"/>
          <p:cNvSpPr/>
          <p:nvPr/>
        </p:nvSpPr>
        <p:spPr>
          <a:xfrm>
            <a:off x="310896" y="2286000"/>
            <a:ext cx="7315200" cy="256032"/>
          </a:xfrm>
          <a:prstGeom prst="rect">
            <a:avLst/>
          </a:prstGeom>
          <a:noFill/>
          <a:ln/>
        </p:spPr>
        <p:txBody>
          <a:bodyPr wrap="square" lIns="0" tIns="0" rIns="0" bIns="0" rtlCol="0" anchor="ctr"/>
          <a:lstStyle/>
          <a:p>
            <a:pPr marL="0" indent="0" algn="l">
              <a:buNone/>
            </a:pPr>
            <a:r>
              <a:rPr lang="en-US" sz="1100" kern="0" spc="100" dirty="0">
                <a:solidFill>
                  <a:srgbClr val="7A95B4"/>
                </a:solidFill>
                <a:latin typeface="Calibri" pitchFamily="34" charset="0"/>
                <a:ea typeface="Calibri" pitchFamily="34" charset="-122"/>
                <a:cs typeface="Calibri" pitchFamily="34" charset="-120"/>
              </a:rPr>
              <a:t>Powered by FORGE  ·  Claude Sonnet 4.5  ·  Amazon Nova Pro  ·  AWS Bedrock</a:t>
            </a:r>
            <a:endParaRPr lang="en-US" sz="1100" dirty="0"/>
          </a:p>
        </p:txBody>
      </p:sp>
      <p:sp>
        <p:nvSpPr>
          <p:cNvPr id="15" name="Shape 13"/>
          <p:cNvSpPr/>
          <p:nvPr/>
        </p:nvSpPr>
        <p:spPr>
          <a:xfrm>
            <a:off x="310896" y="2834640"/>
            <a:ext cx="1691640" cy="960120"/>
          </a:xfrm>
          <a:prstGeom prst="rect">
            <a:avLst/>
          </a:prstGeom>
          <a:solidFill>
            <a:srgbClr val="1A3A5C"/>
          </a:solidFill>
          <a:ln w="7620">
            <a:solidFill>
              <a:srgbClr val="F5A623"/>
            </a:solidFill>
            <a:prstDash val="solid"/>
          </a:ln>
          <a:effectLst>
            <a:outerShdw blurRad="101600" dist="1016" dir="8100000" algn="bl" rotWithShape="0">
              <a:srgbClr val="000000">
                <a:alpha val="9000"/>
              </a:srgbClr>
            </a:outerShdw>
          </a:effectLst>
        </p:spPr>
        <p:txBody>
          <a:bodyPr/>
          <a:lstStyle/>
          <a:p>
            <a:endParaRPr lang="en-US"/>
          </a:p>
        </p:txBody>
      </p:sp>
      <p:sp>
        <p:nvSpPr>
          <p:cNvPr id="16" name="Shape 14"/>
          <p:cNvSpPr/>
          <p:nvPr/>
        </p:nvSpPr>
        <p:spPr>
          <a:xfrm>
            <a:off x="310896" y="2834640"/>
            <a:ext cx="1691640" cy="50292"/>
          </a:xfrm>
          <a:prstGeom prst="rect">
            <a:avLst/>
          </a:prstGeom>
          <a:solidFill>
            <a:srgbClr val="F5A623"/>
          </a:solidFill>
          <a:ln w="12700">
            <a:solidFill>
              <a:srgbClr val="F5A623">
                <a:alpha val="0"/>
              </a:srgbClr>
            </a:solidFill>
            <a:prstDash val="solid"/>
          </a:ln>
        </p:spPr>
        <p:txBody>
          <a:bodyPr/>
          <a:lstStyle/>
          <a:p>
            <a:endParaRPr lang="en-US"/>
          </a:p>
        </p:txBody>
      </p:sp>
      <p:sp>
        <p:nvSpPr>
          <p:cNvPr id="17" name="Text 15"/>
          <p:cNvSpPr/>
          <p:nvPr/>
        </p:nvSpPr>
        <p:spPr>
          <a:xfrm>
            <a:off x="310896" y="2907792"/>
            <a:ext cx="1691640" cy="475488"/>
          </a:xfrm>
          <a:prstGeom prst="rect">
            <a:avLst/>
          </a:prstGeom>
          <a:noFill/>
          <a:ln/>
        </p:spPr>
        <p:txBody>
          <a:bodyPr wrap="square" lIns="0" tIns="0" rIns="0" bIns="0" rtlCol="0" anchor="ctr"/>
          <a:lstStyle/>
          <a:p>
            <a:pPr marL="0" indent="0" algn="ctr">
              <a:buNone/>
            </a:pPr>
            <a:r>
              <a:rPr lang="en-US" sz="4000" b="1" dirty="0">
                <a:solidFill>
                  <a:srgbClr val="F5A623"/>
                </a:solidFill>
                <a:latin typeface="Georgia" pitchFamily="34" charset="0"/>
                <a:ea typeface="Georgia" pitchFamily="34" charset="-122"/>
                <a:cs typeface="Georgia" pitchFamily="34" charset="-120"/>
              </a:rPr>
              <a:t>16</a:t>
            </a:r>
            <a:endParaRPr lang="en-US" sz="4000" dirty="0"/>
          </a:p>
        </p:txBody>
      </p:sp>
      <p:sp>
        <p:nvSpPr>
          <p:cNvPr id="18" name="Text 16"/>
          <p:cNvSpPr/>
          <p:nvPr/>
        </p:nvSpPr>
        <p:spPr>
          <a:xfrm>
            <a:off x="310896" y="3401568"/>
            <a:ext cx="1691640" cy="329184"/>
          </a:xfrm>
          <a:prstGeom prst="rect">
            <a:avLst/>
          </a:prstGeom>
          <a:noFill/>
          <a:ln/>
        </p:spPr>
        <p:txBody>
          <a:bodyPr wrap="square" lIns="0" tIns="0" rIns="0" bIns="0" rtlCol="0" anchor="ctr"/>
          <a:lstStyle/>
          <a:p>
            <a:pPr marL="0" indent="0" algn="ctr">
              <a:buNone/>
            </a:pPr>
            <a:r>
              <a:rPr lang="en-US" sz="1100" dirty="0">
                <a:solidFill>
                  <a:srgbClr val="E8EDF4"/>
                </a:solidFill>
                <a:latin typeface="Calibri" pitchFamily="34" charset="0"/>
                <a:ea typeface="Calibri" pitchFamily="34" charset="-122"/>
                <a:cs typeface="Calibri" pitchFamily="34" charset="-120"/>
              </a:rPr>
              <a:t>AI agents</a:t>
            </a:r>
            <a:endParaRPr lang="en-US" sz="1100" dirty="0"/>
          </a:p>
        </p:txBody>
      </p:sp>
      <p:sp>
        <p:nvSpPr>
          <p:cNvPr id="19" name="Shape 17"/>
          <p:cNvSpPr/>
          <p:nvPr/>
        </p:nvSpPr>
        <p:spPr>
          <a:xfrm>
            <a:off x="2139696" y="2834640"/>
            <a:ext cx="1691640" cy="960120"/>
          </a:xfrm>
          <a:prstGeom prst="rect">
            <a:avLst/>
          </a:prstGeom>
          <a:solidFill>
            <a:srgbClr val="1A3A5C"/>
          </a:solidFill>
          <a:ln w="7620">
            <a:solidFill>
              <a:srgbClr val="F5A623"/>
            </a:solidFill>
            <a:prstDash val="solid"/>
          </a:ln>
          <a:effectLst>
            <a:outerShdw blurRad="101600" dist="1016" dir="8100000" algn="bl" rotWithShape="0">
              <a:srgbClr val="000000">
                <a:alpha val="9000"/>
              </a:srgbClr>
            </a:outerShdw>
          </a:effectLst>
        </p:spPr>
        <p:txBody>
          <a:bodyPr/>
          <a:lstStyle/>
          <a:p>
            <a:endParaRPr lang="en-US"/>
          </a:p>
        </p:txBody>
      </p:sp>
      <p:sp>
        <p:nvSpPr>
          <p:cNvPr id="20" name="Shape 18"/>
          <p:cNvSpPr/>
          <p:nvPr/>
        </p:nvSpPr>
        <p:spPr>
          <a:xfrm>
            <a:off x="2139696" y="2834640"/>
            <a:ext cx="1691640" cy="50292"/>
          </a:xfrm>
          <a:prstGeom prst="rect">
            <a:avLst/>
          </a:prstGeom>
          <a:solidFill>
            <a:srgbClr val="F5A623"/>
          </a:solidFill>
          <a:ln w="12700">
            <a:solidFill>
              <a:srgbClr val="F5A623">
                <a:alpha val="0"/>
              </a:srgbClr>
            </a:solidFill>
            <a:prstDash val="solid"/>
          </a:ln>
        </p:spPr>
        <p:txBody>
          <a:bodyPr/>
          <a:lstStyle/>
          <a:p>
            <a:endParaRPr lang="en-US"/>
          </a:p>
        </p:txBody>
      </p:sp>
      <p:sp>
        <p:nvSpPr>
          <p:cNvPr id="21" name="Text 19"/>
          <p:cNvSpPr/>
          <p:nvPr/>
        </p:nvSpPr>
        <p:spPr>
          <a:xfrm>
            <a:off x="2139696" y="2907792"/>
            <a:ext cx="1691640" cy="475488"/>
          </a:xfrm>
          <a:prstGeom prst="rect">
            <a:avLst/>
          </a:prstGeom>
          <a:noFill/>
          <a:ln/>
        </p:spPr>
        <p:txBody>
          <a:bodyPr wrap="square" lIns="0" tIns="0" rIns="0" bIns="0" rtlCol="0" anchor="ctr"/>
          <a:lstStyle/>
          <a:p>
            <a:pPr marL="0" indent="0" algn="ctr">
              <a:buNone/>
            </a:pPr>
            <a:r>
              <a:rPr lang="en-US" sz="4000" b="1" dirty="0">
                <a:solidFill>
                  <a:srgbClr val="F5A623"/>
                </a:solidFill>
                <a:latin typeface="Georgia" pitchFamily="34" charset="0"/>
                <a:ea typeface="Georgia" pitchFamily="34" charset="-122"/>
                <a:cs typeface="Georgia" pitchFamily="34" charset="-120"/>
              </a:rPr>
              <a:t>3</a:t>
            </a:r>
            <a:endParaRPr lang="en-US" sz="4000" dirty="0"/>
          </a:p>
        </p:txBody>
      </p:sp>
      <p:sp>
        <p:nvSpPr>
          <p:cNvPr id="22" name="Text 20"/>
          <p:cNvSpPr/>
          <p:nvPr/>
        </p:nvSpPr>
        <p:spPr>
          <a:xfrm>
            <a:off x="2139696" y="3401568"/>
            <a:ext cx="1691640" cy="329184"/>
          </a:xfrm>
          <a:prstGeom prst="rect">
            <a:avLst/>
          </a:prstGeom>
          <a:noFill/>
          <a:ln/>
        </p:spPr>
        <p:txBody>
          <a:bodyPr wrap="square" lIns="0" tIns="0" rIns="0" bIns="0" rtlCol="0" anchor="ctr"/>
          <a:lstStyle/>
          <a:p>
            <a:pPr marL="0" indent="0" algn="ctr">
              <a:buNone/>
            </a:pPr>
            <a:r>
              <a:rPr lang="en-US" sz="1100" dirty="0">
                <a:solidFill>
                  <a:srgbClr val="E8EDF4"/>
                </a:solidFill>
                <a:latin typeface="Calibri" pitchFamily="34" charset="0"/>
                <a:ea typeface="Calibri" pitchFamily="34" charset="-122"/>
                <a:cs typeface="Calibri" pitchFamily="34" charset="-120"/>
              </a:rPr>
              <a:t>Model roles</a:t>
            </a:r>
            <a:endParaRPr lang="en-US" sz="1100" dirty="0"/>
          </a:p>
        </p:txBody>
      </p:sp>
      <p:sp>
        <p:nvSpPr>
          <p:cNvPr id="23" name="Shape 21"/>
          <p:cNvSpPr/>
          <p:nvPr/>
        </p:nvSpPr>
        <p:spPr>
          <a:xfrm>
            <a:off x="3968496" y="2834640"/>
            <a:ext cx="1691640" cy="960120"/>
          </a:xfrm>
          <a:prstGeom prst="rect">
            <a:avLst/>
          </a:prstGeom>
          <a:solidFill>
            <a:srgbClr val="1A3A5C"/>
          </a:solidFill>
          <a:ln w="7620">
            <a:solidFill>
              <a:srgbClr val="F5A623"/>
            </a:solidFill>
            <a:prstDash val="solid"/>
          </a:ln>
          <a:effectLst>
            <a:outerShdw blurRad="101600" dist="1016" dir="8100000" algn="bl" rotWithShape="0">
              <a:srgbClr val="000000">
                <a:alpha val="9000"/>
              </a:srgbClr>
            </a:outerShdw>
          </a:effectLst>
        </p:spPr>
        <p:txBody>
          <a:bodyPr/>
          <a:lstStyle/>
          <a:p>
            <a:endParaRPr lang="en-US"/>
          </a:p>
        </p:txBody>
      </p:sp>
      <p:sp>
        <p:nvSpPr>
          <p:cNvPr id="24" name="Shape 22"/>
          <p:cNvSpPr/>
          <p:nvPr/>
        </p:nvSpPr>
        <p:spPr>
          <a:xfrm>
            <a:off x="3968496" y="2834640"/>
            <a:ext cx="1691640" cy="50292"/>
          </a:xfrm>
          <a:prstGeom prst="rect">
            <a:avLst/>
          </a:prstGeom>
          <a:solidFill>
            <a:srgbClr val="F5A623"/>
          </a:solidFill>
          <a:ln w="12700">
            <a:solidFill>
              <a:srgbClr val="F5A623">
                <a:alpha val="0"/>
              </a:srgbClr>
            </a:solidFill>
            <a:prstDash val="solid"/>
          </a:ln>
        </p:spPr>
        <p:txBody>
          <a:bodyPr/>
          <a:lstStyle/>
          <a:p>
            <a:endParaRPr lang="en-US"/>
          </a:p>
        </p:txBody>
      </p:sp>
      <p:sp>
        <p:nvSpPr>
          <p:cNvPr id="25" name="Text 23"/>
          <p:cNvSpPr/>
          <p:nvPr/>
        </p:nvSpPr>
        <p:spPr>
          <a:xfrm>
            <a:off x="3968496" y="2907792"/>
            <a:ext cx="1691640" cy="475488"/>
          </a:xfrm>
          <a:prstGeom prst="rect">
            <a:avLst/>
          </a:prstGeom>
          <a:noFill/>
          <a:ln/>
        </p:spPr>
        <p:txBody>
          <a:bodyPr wrap="square" lIns="0" tIns="0" rIns="0" bIns="0" rtlCol="0" anchor="ctr"/>
          <a:lstStyle/>
          <a:p>
            <a:pPr marL="0" indent="0" algn="ctr">
              <a:buNone/>
            </a:pPr>
            <a:r>
              <a:rPr lang="en-US" sz="4000" b="1" dirty="0">
                <a:solidFill>
                  <a:srgbClr val="F5A623"/>
                </a:solidFill>
                <a:latin typeface="Georgia" pitchFamily="34" charset="0"/>
                <a:ea typeface="Georgia" pitchFamily="34" charset="-122"/>
                <a:cs typeface="Georgia" pitchFamily="34" charset="-120"/>
              </a:rPr>
              <a:t>2</a:t>
            </a:r>
            <a:endParaRPr lang="en-US" sz="4000" dirty="0"/>
          </a:p>
        </p:txBody>
      </p:sp>
      <p:sp>
        <p:nvSpPr>
          <p:cNvPr id="26" name="Text 24"/>
          <p:cNvSpPr/>
          <p:nvPr/>
        </p:nvSpPr>
        <p:spPr>
          <a:xfrm>
            <a:off x="3968496" y="3401568"/>
            <a:ext cx="1691640" cy="329184"/>
          </a:xfrm>
          <a:prstGeom prst="rect">
            <a:avLst/>
          </a:prstGeom>
          <a:noFill/>
          <a:ln/>
        </p:spPr>
        <p:txBody>
          <a:bodyPr wrap="square" lIns="0" tIns="0" rIns="0" bIns="0" rtlCol="0" anchor="ctr"/>
          <a:lstStyle/>
          <a:p>
            <a:pPr marL="0" indent="0" algn="ctr">
              <a:buNone/>
            </a:pPr>
            <a:r>
              <a:rPr lang="en-US" sz="1100" dirty="0">
                <a:solidFill>
                  <a:srgbClr val="E8EDF4"/>
                </a:solidFill>
                <a:latin typeface="Calibri" pitchFamily="34" charset="0"/>
                <a:ea typeface="Calibri" pitchFamily="34" charset="-122"/>
                <a:cs typeface="Calibri" pitchFamily="34" charset="-120"/>
              </a:rPr>
              <a:t>Quality gates</a:t>
            </a:r>
            <a:endParaRPr lang="en-US" sz="1100" dirty="0"/>
          </a:p>
        </p:txBody>
      </p:sp>
      <p:sp>
        <p:nvSpPr>
          <p:cNvPr id="27" name="Shape 25"/>
          <p:cNvSpPr/>
          <p:nvPr/>
        </p:nvSpPr>
        <p:spPr>
          <a:xfrm>
            <a:off x="5797296" y="2834640"/>
            <a:ext cx="1691640" cy="960120"/>
          </a:xfrm>
          <a:prstGeom prst="rect">
            <a:avLst/>
          </a:prstGeom>
          <a:solidFill>
            <a:srgbClr val="1A3A5C"/>
          </a:solidFill>
          <a:ln w="7620">
            <a:solidFill>
              <a:srgbClr val="F5A623"/>
            </a:solidFill>
            <a:prstDash val="solid"/>
          </a:ln>
          <a:effectLst>
            <a:outerShdw blurRad="101600" dist="1016" dir="8100000" algn="bl" rotWithShape="0">
              <a:srgbClr val="000000">
                <a:alpha val="9000"/>
              </a:srgbClr>
            </a:outerShdw>
          </a:effectLst>
        </p:spPr>
        <p:txBody>
          <a:bodyPr/>
          <a:lstStyle/>
          <a:p>
            <a:endParaRPr lang="en-US"/>
          </a:p>
        </p:txBody>
      </p:sp>
      <p:sp>
        <p:nvSpPr>
          <p:cNvPr id="28" name="Shape 26"/>
          <p:cNvSpPr/>
          <p:nvPr/>
        </p:nvSpPr>
        <p:spPr>
          <a:xfrm>
            <a:off x="5797296" y="2834640"/>
            <a:ext cx="1691640" cy="50292"/>
          </a:xfrm>
          <a:prstGeom prst="rect">
            <a:avLst/>
          </a:prstGeom>
          <a:solidFill>
            <a:srgbClr val="F5A623"/>
          </a:solidFill>
          <a:ln w="12700">
            <a:solidFill>
              <a:srgbClr val="F5A623">
                <a:alpha val="0"/>
              </a:srgbClr>
            </a:solidFill>
            <a:prstDash val="solid"/>
          </a:ln>
        </p:spPr>
        <p:txBody>
          <a:bodyPr/>
          <a:lstStyle/>
          <a:p>
            <a:endParaRPr lang="en-US"/>
          </a:p>
        </p:txBody>
      </p:sp>
      <p:sp>
        <p:nvSpPr>
          <p:cNvPr id="29" name="Text 27"/>
          <p:cNvSpPr/>
          <p:nvPr/>
        </p:nvSpPr>
        <p:spPr>
          <a:xfrm>
            <a:off x="5797296" y="2907792"/>
            <a:ext cx="1691640" cy="475488"/>
          </a:xfrm>
          <a:prstGeom prst="rect">
            <a:avLst/>
          </a:prstGeom>
          <a:noFill/>
          <a:ln/>
        </p:spPr>
        <p:txBody>
          <a:bodyPr wrap="square" lIns="0" tIns="0" rIns="0" bIns="0" rtlCol="0" anchor="ctr"/>
          <a:lstStyle/>
          <a:p>
            <a:pPr marL="0" indent="0" algn="ctr">
              <a:buNone/>
            </a:pPr>
            <a:r>
              <a:rPr lang="en-US" sz="4000" b="1" dirty="0">
                <a:solidFill>
                  <a:srgbClr val="F5A623"/>
                </a:solidFill>
                <a:latin typeface="Georgia" pitchFamily="34" charset="0"/>
                <a:ea typeface="Georgia" pitchFamily="34" charset="-122"/>
                <a:cs typeface="Georgia" pitchFamily="34" charset="-120"/>
              </a:rPr>
              <a:t>1</a:t>
            </a:r>
            <a:endParaRPr lang="en-US" sz="4000" dirty="0"/>
          </a:p>
        </p:txBody>
      </p:sp>
      <p:sp>
        <p:nvSpPr>
          <p:cNvPr id="30" name="Text 28"/>
          <p:cNvSpPr/>
          <p:nvPr/>
        </p:nvSpPr>
        <p:spPr>
          <a:xfrm>
            <a:off x="5797296" y="3401568"/>
            <a:ext cx="1691640" cy="329184"/>
          </a:xfrm>
          <a:prstGeom prst="rect">
            <a:avLst/>
          </a:prstGeom>
          <a:noFill/>
          <a:ln/>
        </p:spPr>
        <p:txBody>
          <a:bodyPr wrap="square" lIns="0" tIns="0" rIns="0" bIns="0" rtlCol="0" anchor="ctr"/>
          <a:lstStyle/>
          <a:p>
            <a:pPr marL="0" indent="0" algn="ctr">
              <a:buNone/>
            </a:pPr>
            <a:r>
              <a:rPr lang="en-US" sz="1100" dirty="0">
                <a:solidFill>
                  <a:srgbClr val="E8EDF4"/>
                </a:solidFill>
                <a:latin typeface="Calibri" pitchFamily="34" charset="0"/>
                <a:ea typeface="Calibri" pitchFamily="34" charset="-122"/>
                <a:cs typeface="Calibri" pitchFamily="34" charset="-120"/>
              </a:rPr>
              <a:t>Mission: Zero Struts</a:t>
            </a:r>
            <a:endParaRPr lang="en-US" sz="1100" dirty="0"/>
          </a:p>
        </p:txBody>
      </p:sp>
      <p:sp>
        <p:nvSpPr>
          <p:cNvPr id="31" name="Text 29"/>
          <p:cNvSpPr/>
          <p:nvPr/>
        </p:nvSpPr>
        <p:spPr>
          <a:xfrm>
            <a:off x="310896" y="4041648"/>
            <a:ext cx="11430000" cy="411480"/>
          </a:xfrm>
          <a:prstGeom prst="rect">
            <a:avLst/>
          </a:prstGeom>
          <a:noFill/>
          <a:ln/>
        </p:spPr>
        <p:txBody>
          <a:bodyPr wrap="square" lIns="0" tIns="0" rIns="0" bIns="0" rtlCol="0" anchor="ctr"/>
          <a:lstStyle/>
          <a:p>
            <a:pPr marL="0" indent="0" algn="l">
              <a:buNone/>
            </a:pPr>
            <a:r>
              <a:rPr lang="en-US" sz="1200" i="1" dirty="0">
                <a:solidFill>
                  <a:srgbClr val="7A95B4"/>
                </a:solidFill>
                <a:latin typeface="Georgia" pitchFamily="34" charset="0"/>
                <a:ea typeface="Georgia" pitchFamily="34" charset="-122"/>
                <a:cs typeface="Georgia" pitchFamily="34" charset="-120"/>
              </a:rPr>
              <a:t>Each slide in this deck explains one group of agents in plain English — no jargon, no code. You will understand exactly what each AI specialist does, what it checks, and what it decides.</a:t>
            </a:r>
            <a:endParaRPr lang="en-US" sz="1200" dirty="0"/>
          </a:p>
        </p:txBody>
      </p:sp>
      <p:sp>
        <p:nvSpPr>
          <p:cNvPr id="32" name="Shape 30"/>
          <p:cNvSpPr/>
          <p:nvPr/>
        </p:nvSpPr>
        <p:spPr>
          <a:xfrm>
            <a:off x="310896" y="4590288"/>
            <a:ext cx="5577840" cy="347472"/>
          </a:xfrm>
          <a:prstGeom prst="rect">
            <a:avLst/>
          </a:prstGeom>
          <a:solidFill>
            <a:srgbClr val="0F2040"/>
          </a:solidFill>
          <a:ln w="6350">
            <a:solidFill>
              <a:srgbClr val="1A3A5C"/>
            </a:solidFill>
            <a:prstDash val="solid"/>
          </a:ln>
          <a:effectLst>
            <a:outerShdw blurRad="101600" dist="1016" dir="8100000" algn="bl" rotWithShape="0">
              <a:srgbClr val="000000">
                <a:alpha val="9000"/>
              </a:srgbClr>
            </a:outerShdw>
          </a:effectLst>
        </p:spPr>
        <p:txBody>
          <a:bodyPr/>
          <a:lstStyle/>
          <a:p>
            <a:endParaRPr lang="en-US"/>
          </a:p>
        </p:txBody>
      </p:sp>
      <p:sp>
        <p:nvSpPr>
          <p:cNvPr id="33" name="Text 31"/>
          <p:cNvSpPr/>
          <p:nvPr/>
        </p:nvSpPr>
        <p:spPr>
          <a:xfrm>
            <a:off x="402336" y="4590288"/>
            <a:ext cx="402336" cy="347472"/>
          </a:xfrm>
          <a:prstGeom prst="rect">
            <a:avLst/>
          </a:prstGeom>
          <a:noFill/>
          <a:ln/>
        </p:spPr>
        <p:txBody>
          <a:bodyPr wrap="square" lIns="0" tIns="0" rIns="0" bIns="0" rtlCol="0" anchor="ctr"/>
          <a:lstStyle/>
          <a:p>
            <a:pPr marL="0" indent="0" algn="ctr">
              <a:buNone/>
            </a:pPr>
            <a:r>
              <a:rPr lang="en-US" sz="1000" b="1" dirty="0">
                <a:solidFill>
                  <a:srgbClr val="7A95B4"/>
                </a:solidFill>
                <a:latin typeface="Georgia" pitchFamily="34" charset="0"/>
                <a:ea typeface="Georgia" pitchFamily="34" charset="-122"/>
                <a:cs typeface="Georgia" pitchFamily="34" charset="-120"/>
              </a:rPr>
              <a:t>01</a:t>
            </a:r>
            <a:endParaRPr lang="en-US" sz="1000" dirty="0"/>
          </a:p>
        </p:txBody>
      </p:sp>
      <p:sp>
        <p:nvSpPr>
          <p:cNvPr id="34" name="Text 32"/>
          <p:cNvSpPr/>
          <p:nvPr/>
        </p:nvSpPr>
        <p:spPr>
          <a:xfrm>
            <a:off x="859536" y="4590288"/>
            <a:ext cx="4937760" cy="347472"/>
          </a:xfrm>
          <a:prstGeom prst="rect">
            <a:avLst/>
          </a:prstGeom>
          <a:noFill/>
          <a:ln/>
        </p:spPr>
        <p:txBody>
          <a:bodyPr wrap="square" lIns="0" tIns="0" rIns="0" bIns="0" rtlCol="0" anchor="ctr"/>
          <a:lstStyle/>
          <a:p>
            <a:pPr marL="0" indent="0" algn="l">
              <a:buNone/>
            </a:pPr>
            <a:r>
              <a:rPr lang="en-US" sz="1000" dirty="0">
                <a:solidFill>
                  <a:srgbClr val="E8EDF4"/>
                </a:solidFill>
                <a:latin typeface="Calibri" pitchFamily="34" charset="0"/>
                <a:ea typeface="Calibri" pitchFamily="34" charset="-122"/>
                <a:cs typeface="Calibri" pitchFamily="34" charset="-120"/>
              </a:rPr>
              <a:t>Title &amp; overview</a:t>
            </a:r>
            <a:endParaRPr lang="en-US" sz="1000" dirty="0"/>
          </a:p>
        </p:txBody>
      </p:sp>
      <p:sp>
        <p:nvSpPr>
          <p:cNvPr id="35" name="Shape 33"/>
          <p:cNvSpPr/>
          <p:nvPr/>
        </p:nvSpPr>
        <p:spPr>
          <a:xfrm>
            <a:off x="310896" y="4992624"/>
            <a:ext cx="5577840" cy="347472"/>
          </a:xfrm>
          <a:prstGeom prst="rect">
            <a:avLst/>
          </a:prstGeom>
          <a:solidFill>
            <a:srgbClr val="0F2040"/>
          </a:solidFill>
          <a:ln w="6350">
            <a:solidFill>
              <a:srgbClr val="1A3A5C"/>
            </a:solidFill>
            <a:prstDash val="solid"/>
          </a:ln>
          <a:effectLst>
            <a:outerShdw blurRad="101600" dist="1016" dir="8100000" algn="bl" rotWithShape="0">
              <a:srgbClr val="000000">
                <a:alpha val="9000"/>
              </a:srgbClr>
            </a:outerShdw>
          </a:effectLst>
        </p:spPr>
        <p:txBody>
          <a:bodyPr/>
          <a:lstStyle/>
          <a:p>
            <a:endParaRPr lang="en-US"/>
          </a:p>
        </p:txBody>
      </p:sp>
      <p:sp>
        <p:nvSpPr>
          <p:cNvPr id="36" name="Text 34"/>
          <p:cNvSpPr/>
          <p:nvPr/>
        </p:nvSpPr>
        <p:spPr>
          <a:xfrm>
            <a:off x="402336" y="4992624"/>
            <a:ext cx="402336" cy="347472"/>
          </a:xfrm>
          <a:prstGeom prst="rect">
            <a:avLst/>
          </a:prstGeom>
          <a:noFill/>
          <a:ln/>
        </p:spPr>
        <p:txBody>
          <a:bodyPr wrap="square" lIns="0" tIns="0" rIns="0" bIns="0" rtlCol="0" anchor="ctr"/>
          <a:lstStyle/>
          <a:p>
            <a:pPr marL="0" indent="0" algn="ctr">
              <a:buNone/>
            </a:pPr>
            <a:r>
              <a:rPr lang="en-US" sz="1000" b="1" dirty="0">
                <a:solidFill>
                  <a:srgbClr val="7A95B4"/>
                </a:solidFill>
                <a:latin typeface="Georgia" pitchFamily="34" charset="0"/>
                <a:ea typeface="Georgia" pitchFamily="34" charset="-122"/>
                <a:cs typeface="Georgia" pitchFamily="34" charset="-120"/>
              </a:rPr>
              <a:t>02</a:t>
            </a:r>
            <a:endParaRPr lang="en-US" sz="1000" dirty="0"/>
          </a:p>
        </p:txBody>
      </p:sp>
      <p:sp>
        <p:nvSpPr>
          <p:cNvPr id="37" name="Text 35"/>
          <p:cNvSpPr/>
          <p:nvPr/>
        </p:nvSpPr>
        <p:spPr>
          <a:xfrm>
            <a:off x="859536" y="4992624"/>
            <a:ext cx="4937760" cy="347472"/>
          </a:xfrm>
          <a:prstGeom prst="rect">
            <a:avLst/>
          </a:prstGeom>
          <a:noFill/>
          <a:ln/>
        </p:spPr>
        <p:txBody>
          <a:bodyPr wrap="square" lIns="0" tIns="0" rIns="0" bIns="0" rtlCol="0" anchor="ctr"/>
          <a:lstStyle/>
          <a:p>
            <a:pPr marL="0" indent="0" algn="l">
              <a:buNone/>
            </a:pPr>
            <a:r>
              <a:rPr lang="en-US" sz="1000" dirty="0">
                <a:solidFill>
                  <a:srgbClr val="E8EDF4"/>
                </a:solidFill>
                <a:latin typeface="Calibri" pitchFamily="34" charset="0"/>
                <a:ea typeface="Calibri" pitchFamily="34" charset="-122"/>
                <a:cs typeface="Calibri" pitchFamily="34" charset="-120"/>
              </a:rPr>
              <a:t>All 16 agents at a glance</a:t>
            </a:r>
            <a:endParaRPr lang="en-US" sz="1000" dirty="0"/>
          </a:p>
        </p:txBody>
      </p:sp>
      <p:sp>
        <p:nvSpPr>
          <p:cNvPr id="38" name="Shape 36"/>
          <p:cNvSpPr/>
          <p:nvPr/>
        </p:nvSpPr>
        <p:spPr>
          <a:xfrm>
            <a:off x="310896" y="5394960"/>
            <a:ext cx="5577840" cy="347472"/>
          </a:xfrm>
          <a:prstGeom prst="rect">
            <a:avLst/>
          </a:prstGeom>
          <a:solidFill>
            <a:srgbClr val="0F2040"/>
          </a:solidFill>
          <a:ln w="6350">
            <a:solidFill>
              <a:srgbClr val="1A3A5C"/>
            </a:solidFill>
            <a:prstDash val="solid"/>
          </a:ln>
          <a:effectLst>
            <a:outerShdw blurRad="101600" dist="1016" dir="8100000" algn="bl" rotWithShape="0">
              <a:srgbClr val="000000">
                <a:alpha val="9000"/>
              </a:srgbClr>
            </a:outerShdw>
          </a:effectLst>
        </p:spPr>
        <p:txBody>
          <a:bodyPr/>
          <a:lstStyle/>
          <a:p>
            <a:endParaRPr lang="en-US"/>
          </a:p>
        </p:txBody>
      </p:sp>
      <p:sp>
        <p:nvSpPr>
          <p:cNvPr id="39" name="Text 37"/>
          <p:cNvSpPr/>
          <p:nvPr/>
        </p:nvSpPr>
        <p:spPr>
          <a:xfrm>
            <a:off x="402336" y="5394960"/>
            <a:ext cx="402336" cy="347472"/>
          </a:xfrm>
          <a:prstGeom prst="rect">
            <a:avLst/>
          </a:prstGeom>
          <a:noFill/>
          <a:ln/>
        </p:spPr>
        <p:txBody>
          <a:bodyPr wrap="square" lIns="0" tIns="0" rIns="0" bIns="0" rtlCol="0" anchor="ctr"/>
          <a:lstStyle/>
          <a:p>
            <a:pPr marL="0" indent="0" algn="ctr">
              <a:buNone/>
            </a:pPr>
            <a:r>
              <a:rPr lang="en-US" sz="1000" b="1" dirty="0">
                <a:solidFill>
                  <a:srgbClr val="7A95B4"/>
                </a:solidFill>
                <a:latin typeface="Georgia" pitchFamily="34" charset="0"/>
                <a:ea typeface="Georgia" pitchFamily="34" charset="-122"/>
                <a:cs typeface="Georgia" pitchFamily="34" charset="-120"/>
              </a:rPr>
              <a:t>03</a:t>
            </a:r>
            <a:endParaRPr lang="en-US" sz="1000" dirty="0"/>
          </a:p>
        </p:txBody>
      </p:sp>
      <p:sp>
        <p:nvSpPr>
          <p:cNvPr id="40" name="Text 38"/>
          <p:cNvSpPr/>
          <p:nvPr/>
        </p:nvSpPr>
        <p:spPr>
          <a:xfrm>
            <a:off x="859536" y="5394960"/>
            <a:ext cx="4937760" cy="347472"/>
          </a:xfrm>
          <a:prstGeom prst="rect">
            <a:avLst/>
          </a:prstGeom>
          <a:noFill/>
          <a:ln/>
        </p:spPr>
        <p:txBody>
          <a:bodyPr wrap="square" lIns="0" tIns="0" rIns="0" bIns="0" rtlCol="0" anchor="ctr"/>
          <a:lstStyle/>
          <a:p>
            <a:pPr marL="0" indent="0" algn="l">
              <a:buNone/>
            </a:pPr>
            <a:r>
              <a:rPr lang="en-US" sz="1000" dirty="0">
                <a:solidFill>
                  <a:srgbClr val="E8EDF4"/>
                </a:solidFill>
                <a:latin typeface="Calibri" pitchFamily="34" charset="0"/>
                <a:ea typeface="Calibri" pitchFamily="34" charset="-122"/>
                <a:cs typeface="Calibri" pitchFamily="34" charset="-120"/>
              </a:rPr>
              <a:t>Guardrails Agent — safety net</a:t>
            </a:r>
            <a:endParaRPr lang="en-US" sz="1000" dirty="0"/>
          </a:p>
        </p:txBody>
      </p:sp>
      <p:sp>
        <p:nvSpPr>
          <p:cNvPr id="41" name="Shape 39"/>
          <p:cNvSpPr/>
          <p:nvPr/>
        </p:nvSpPr>
        <p:spPr>
          <a:xfrm>
            <a:off x="310896" y="5797296"/>
            <a:ext cx="5577840" cy="347472"/>
          </a:xfrm>
          <a:prstGeom prst="rect">
            <a:avLst/>
          </a:prstGeom>
          <a:solidFill>
            <a:srgbClr val="0F2040"/>
          </a:solidFill>
          <a:ln w="6350">
            <a:solidFill>
              <a:srgbClr val="1A3A5C"/>
            </a:solidFill>
            <a:prstDash val="solid"/>
          </a:ln>
          <a:effectLst>
            <a:outerShdw blurRad="101600" dist="1016" dir="8100000" algn="bl" rotWithShape="0">
              <a:srgbClr val="000000">
                <a:alpha val="9000"/>
              </a:srgbClr>
            </a:outerShdw>
          </a:effectLst>
        </p:spPr>
        <p:txBody>
          <a:bodyPr/>
          <a:lstStyle/>
          <a:p>
            <a:endParaRPr lang="en-US"/>
          </a:p>
        </p:txBody>
      </p:sp>
      <p:sp>
        <p:nvSpPr>
          <p:cNvPr id="42" name="Text 40"/>
          <p:cNvSpPr/>
          <p:nvPr/>
        </p:nvSpPr>
        <p:spPr>
          <a:xfrm>
            <a:off x="402336" y="5797296"/>
            <a:ext cx="402336" cy="347472"/>
          </a:xfrm>
          <a:prstGeom prst="rect">
            <a:avLst/>
          </a:prstGeom>
          <a:noFill/>
          <a:ln/>
        </p:spPr>
        <p:txBody>
          <a:bodyPr wrap="square" lIns="0" tIns="0" rIns="0" bIns="0" rtlCol="0" anchor="ctr"/>
          <a:lstStyle/>
          <a:p>
            <a:pPr marL="0" indent="0" algn="ctr">
              <a:buNone/>
            </a:pPr>
            <a:r>
              <a:rPr lang="en-US" sz="1000" b="1" dirty="0">
                <a:solidFill>
                  <a:srgbClr val="7A95B4"/>
                </a:solidFill>
                <a:latin typeface="Georgia" pitchFamily="34" charset="0"/>
                <a:ea typeface="Georgia" pitchFamily="34" charset="-122"/>
                <a:cs typeface="Georgia" pitchFamily="34" charset="-120"/>
              </a:rPr>
              <a:t>04</a:t>
            </a:r>
            <a:endParaRPr lang="en-US" sz="1000" dirty="0"/>
          </a:p>
        </p:txBody>
      </p:sp>
      <p:sp>
        <p:nvSpPr>
          <p:cNvPr id="43" name="Text 41"/>
          <p:cNvSpPr/>
          <p:nvPr/>
        </p:nvSpPr>
        <p:spPr>
          <a:xfrm>
            <a:off x="859536" y="5797296"/>
            <a:ext cx="4937760" cy="347472"/>
          </a:xfrm>
          <a:prstGeom prst="rect">
            <a:avLst/>
          </a:prstGeom>
          <a:noFill/>
          <a:ln/>
        </p:spPr>
        <p:txBody>
          <a:bodyPr wrap="square" lIns="0" tIns="0" rIns="0" bIns="0" rtlCol="0" anchor="ctr"/>
          <a:lstStyle/>
          <a:p>
            <a:pPr marL="0" indent="0" algn="l">
              <a:buNone/>
            </a:pPr>
            <a:r>
              <a:rPr lang="en-US" sz="1000" dirty="0">
                <a:solidFill>
                  <a:srgbClr val="E8EDF4"/>
                </a:solidFill>
                <a:latin typeface="Calibri" pitchFamily="34" charset="0"/>
                <a:ea typeface="Calibri" pitchFamily="34" charset="-122"/>
                <a:cs typeface="Calibri" pitchFamily="34" charset="-120"/>
              </a:rPr>
              <a:t>Leader Agent — the conductor</a:t>
            </a:r>
            <a:endParaRPr lang="en-US" sz="1000" dirty="0"/>
          </a:p>
        </p:txBody>
      </p:sp>
      <p:sp>
        <p:nvSpPr>
          <p:cNvPr id="44" name="Shape 42"/>
          <p:cNvSpPr/>
          <p:nvPr/>
        </p:nvSpPr>
        <p:spPr>
          <a:xfrm>
            <a:off x="310896" y="6199632"/>
            <a:ext cx="5577840" cy="347472"/>
          </a:xfrm>
          <a:prstGeom prst="rect">
            <a:avLst/>
          </a:prstGeom>
          <a:solidFill>
            <a:srgbClr val="0F2040"/>
          </a:solidFill>
          <a:ln w="6350">
            <a:solidFill>
              <a:srgbClr val="1A3A5C"/>
            </a:solidFill>
            <a:prstDash val="solid"/>
          </a:ln>
          <a:effectLst>
            <a:outerShdw blurRad="101600" dist="1016" dir="8100000" algn="bl" rotWithShape="0">
              <a:srgbClr val="000000">
                <a:alpha val="9000"/>
              </a:srgbClr>
            </a:outerShdw>
          </a:effectLst>
        </p:spPr>
        <p:txBody>
          <a:bodyPr/>
          <a:lstStyle/>
          <a:p>
            <a:endParaRPr lang="en-US"/>
          </a:p>
        </p:txBody>
      </p:sp>
      <p:sp>
        <p:nvSpPr>
          <p:cNvPr id="45" name="Text 43"/>
          <p:cNvSpPr/>
          <p:nvPr/>
        </p:nvSpPr>
        <p:spPr>
          <a:xfrm>
            <a:off x="402336" y="6199632"/>
            <a:ext cx="402336" cy="347472"/>
          </a:xfrm>
          <a:prstGeom prst="rect">
            <a:avLst/>
          </a:prstGeom>
          <a:noFill/>
          <a:ln/>
        </p:spPr>
        <p:txBody>
          <a:bodyPr wrap="square" lIns="0" tIns="0" rIns="0" bIns="0" rtlCol="0" anchor="ctr"/>
          <a:lstStyle/>
          <a:p>
            <a:pPr marL="0" indent="0" algn="ctr">
              <a:buNone/>
            </a:pPr>
            <a:r>
              <a:rPr lang="en-US" sz="1000" b="1" dirty="0">
                <a:solidFill>
                  <a:srgbClr val="7A95B4"/>
                </a:solidFill>
                <a:latin typeface="Georgia" pitchFamily="34" charset="0"/>
                <a:ea typeface="Georgia" pitchFamily="34" charset="-122"/>
                <a:cs typeface="Georgia" pitchFamily="34" charset="-120"/>
              </a:rPr>
              <a:t>05</a:t>
            </a:r>
            <a:endParaRPr lang="en-US" sz="1000" dirty="0"/>
          </a:p>
        </p:txBody>
      </p:sp>
      <p:sp>
        <p:nvSpPr>
          <p:cNvPr id="46" name="Text 44"/>
          <p:cNvSpPr/>
          <p:nvPr/>
        </p:nvSpPr>
        <p:spPr>
          <a:xfrm>
            <a:off x="859536" y="6199632"/>
            <a:ext cx="4937760" cy="347472"/>
          </a:xfrm>
          <a:prstGeom prst="rect">
            <a:avLst/>
          </a:prstGeom>
          <a:noFill/>
          <a:ln/>
        </p:spPr>
        <p:txBody>
          <a:bodyPr wrap="square" lIns="0" tIns="0" rIns="0" bIns="0" rtlCol="0" anchor="ctr"/>
          <a:lstStyle/>
          <a:p>
            <a:pPr marL="0" indent="0" algn="l">
              <a:buNone/>
            </a:pPr>
            <a:r>
              <a:rPr lang="en-US" sz="1000" dirty="0">
                <a:solidFill>
                  <a:srgbClr val="E8EDF4"/>
                </a:solidFill>
                <a:latin typeface="Calibri" pitchFamily="34" charset="0"/>
                <a:ea typeface="Calibri" pitchFamily="34" charset="-122"/>
                <a:cs typeface="Calibri" pitchFamily="34" charset="-120"/>
              </a:rPr>
              <a:t>Discovery + Risk Agents</a:t>
            </a:r>
            <a:endParaRPr lang="en-US" sz="1000" dirty="0"/>
          </a:p>
        </p:txBody>
      </p:sp>
      <p:sp>
        <p:nvSpPr>
          <p:cNvPr id="47" name="Shape 45"/>
          <p:cNvSpPr/>
          <p:nvPr/>
        </p:nvSpPr>
        <p:spPr>
          <a:xfrm>
            <a:off x="6163056" y="4590288"/>
            <a:ext cx="5577840" cy="347472"/>
          </a:xfrm>
          <a:prstGeom prst="rect">
            <a:avLst/>
          </a:prstGeom>
          <a:solidFill>
            <a:srgbClr val="0F2040"/>
          </a:solidFill>
          <a:ln w="6350">
            <a:solidFill>
              <a:srgbClr val="1A3A5C"/>
            </a:solidFill>
            <a:prstDash val="solid"/>
          </a:ln>
          <a:effectLst>
            <a:outerShdw blurRad="101600" dist="1016" dir="8100000" algn="bl" rotWithShape="0">
              <a:srgbClr val="000000">
                <a:alpha val="9000"/>
              </a:srgbClr>
            </a:outerShdw>
          </a:effectLst>
        </p:spPr>
        <p:txBody>
          <a:bodyPr/>
          <a:lstStyle/>
          <a:p>
            <a:endParaRPr lang="en-US"/>
          </a:p>
        </p:txBody>
      </p:sp>
      <p:sp>
        <p:nvSpPr>
          <p:cNvPr id="48" name="Text 46"/>
          <p:cNvSpPr/>
          <p:nvPr/>
        </p:nvSpPr>
        <p:spPr>
          <a:xfrm>
            <a:off x="6254496" y="4590288"/>
            <a:ext cx="402336" cy="347472"/>
          </a:xfrm>
          <a:prstGeom prst="rect">
            <a:avLst/>
          </a:prstGeom>
          <a:noFill/>
          <a:ln/>
        </p:spPr>
        <p:txBody>
          <a:bodyPr wrap="square" lIns="0" tIns="0" rIns="0" bIns="0" rtlCol="0" anchor="ctr"/>
          <a:lstStyle/>
          <a:p>
            <a:pPr marL="0" indent="0" algn="ctr">
              <a:buNone/>
            </a:pPr>
            <a:r>
              <a:rPr lang="en-US" sz="1000" b="1" dirty="0">
                <a:solidFill>
                  <a:srgbClr val="7A95B4"/>
                </a:solidFill>
                <a:latin typeface="Georgia" pitchFamily="34" charset="0"/>
                <a:ea typeface="Georgia" pitchFamily="34" charset="-122"/>
                <a:cs typeface="Georgia" pitchFamily="34" charset="-120"/>
              </a:rPr>
              <a:t>06</a:t>
            </a:r>
            <a:endParaRPr lang="en-US" sz="1000" dirty="0"/>
          </a:p>
        </p:txBody>
      </p:sp>
      <p:sp>
        <p:nvSpPr>
          <p:cNvPr id="49" name="Text 47"/>
          <p:cNvSpPr/>
          <p:nvPr/>
        </p:nvSpPr>
        <p:spPr>
          <a:xfrm>
            <a:off x="6711696" y="4590288"/>
            <a:ext cx="4937760" cy="347472"/>
          </a:xfrm>
          <a:prstGeom prst="rect">
            <a:avLst/>
          </a:prstGeom>
          <a:noFill/>
          <a:ln/>
        </p:spPr>
        <p:txBody>
          <a:bodyPr wrap="square" lIns="0" tIns="0" rIns="0" bIns="0" rtlCol="0" anchor="ctr"/>
          <a:lstStyle/>
          <a:p>
            <a:pPr marL="0" indent="0" algn="l">
              <a:buNone/>
            </a:pPr>
            <a:r>
              <a:rPr lang="en-US" sz="1000" dirty="0">
                <a:solidFill>
                  <a:srgbClr val="E8EDF4"/>
                </a:solidFill>
                <a:latin typeface="Calibri" pitchFamily="34" charset="0"/>
                <a:ea typeface="Calibri" pitchFamily="34" charset="-122"/>
                <a:cs typeface="Calibri" pitchFamily="34" charset="-120"/>
              </a:rPr>
              <a:t>Java + Spring transform agents</a:t>
            </a:r>
            <a:endParaRPr lang="en-US" sz="1000" dirty="0"/>
          </a:p>
        </p:txBody>
      </p:sp>
      <p:sp>
        <p:nvSpPr>
          <p:cNvPr id="50" name="Shape 48"/>
          <p:cNvSpPr/>
          <p:nvPr/>
        </p:nvSpPr>
        <p:spPr>
          <a:xfrm>
            <a:off x="6163056" y="4992624"/>
            <a:ext cx="5577840" cy="347472"/>
          </a:xfrm>
          <a:prstGeom prst="rect">
            <a:avLst/>
          </a:prstGeom>
          <a:solidFill>
            <a:srgbClr val="0F2040"/>
          </a:solidFill>
          <a:ln w="12700">
            <a:solidFill>
              <a:srgbClr val="F5A623"/>
            </a:solidFill>
            <a:prstDash val="solid"/>
          </a:ln>
          <a:effectLst>
            <a:outerShdw blurRad="101600" dist="1016" dir="8100000" algn="bl" rotWithShape="0">
              <a:srgbClr val="000000">
                <a:alpha val="9000"/>
              </a:srgbClr>
            </a:outerShdw>
          </a:effectLst>
        </p:spPr>
        <p:txBody>
          <a:bodyPr/>
          <a:lstStyle/>
          <a:p>
            <a:endParaRPr lang="en-US"/>
          </a:p>
        </p:txBody>
      </p:sp>
      <p:sp>
        <p:nvSpPr>
          <p:cNvPr id="51" name="Text 49"/>
          <p:cNvSpPr/>
          <p:nvPr/>
        </p:nvSpPr>
        <p:spPr>
          <a:xfrm>
            <a:off x="6254496" y="4992624"/>
            <a:ext cx="402336" cy="347472"/>
          </a:xfrm>
          <a:prstGeom prst="rect">
            <a:avLst/>
          </a:prstGeom>
          <a:noFill/>
          <a:ln/>
        </p:spPr>
        <p:txBody>
          <a:bodyPr wrap="square" lIns="0" tIns="0" rIns="0" bIns="0" rtlCol="0" anchor="ctr"/>
          <a:lstStyle/>
          <a:p>
            <a:pPr marL="0" indent="0" algn="ctr">
              <a:buNone/>
            </a:pPr>
            <a:r>
              <a:rPr lang="en-US" sz="1000" b="1" dirty="0">
                <a:solidFill>
                  <a:srgbClr val="F5A623"/>
                </a:solidFill>
                <a:latin typeface="Georgia" pitchFamily="34" charset="0"/>
                <a:ea typeface="Georgia" pitchFamily="34" charset="-122"/>
                <a:cs typeface="Georgia" pitchFamily="34" charset="-120"/>
              </a:rPr>
              <a:t>07</a:t>
            </a:r>
            <a:endParaRPr lang="en-US" sz="1000" dirty="0"/>
          </a:p>
        </p:txBody>
      </p:sp>
      <p:sp>
        <p:nvSpPr>
          <p:cNvPr id="52" name="Text 50"/>
          <p:cNvSpPr/>
          <p:nvPr/>
        </p:nvSpPr>
        <p:spPr>
          <a:xfrm>
            <a:off x="6711696" y="4992624"/>
            <a:ext cx="4937760" cy="347472"/>
          </a:xfrm>
          <a:prstGeom prst="rect">
            <a:avLst/>
          </a:prstGeom>
          <a:noFill/>
          <a:ln/>
        </p:spPr>
        <p:txBody>
          <a:bodyPr wrap="square" lIns="0" tIns="0" rIns="0" bIns="0" rtlCol="0" anchor="ctr"/>
          <a:lstStyle/>
          <a:p>
            <a:pPr marL="0" indent="0" algn="l">
              <a:buNone/>
            </a:pPr>
            <a:r>
              <a:rPr lang="en-US" sz="1000" dirty="0">
                <a:solidFill>
                  <a:srgbClr val="F5A623"/>
                </a:solidFill>
                <a:latin typeface="Calibri" pitchFamily="34" charset="0"/>
                <a:ea typeface="Calibri" pitchFamily="34" charset="-122"/>
                <a:cs typeface="Calibri" pitchFamily="34" charset="-120"/>
              </a:rPr>
              <a:t>Struts elimination agents</a:t>
            </a:r>
            <a:endParaRPr lang="en-US" sz="1000" dirty="0"/>
          </a:p>
        </p:txBody>
      </p:sp>
      <p:sp>
        <p:nvSpPr>
          <p:cNvPr id="53" name="Shape 51"/>
          <p:cNvSpPr/>
          <p:nvPr/>
        </p:nvSpPr>
        <p:spPr>
          <a:xfrm>
            <a:off x="6163056" y="5394960"/>
            <a:ext cx="5577840" cy="347472"/>
          </a:xfrm>
          <a:prstGeom prst="rect">
            <a:avLst/>
          </a:prstGeom>
          <a:solidFill>
            <a:srgbClr val="0F2040"/>
          </a:solidFill>
          <a:ln w="6350">
            <a:solidFill>
              <a:srgbClr val="1A3A5C"/>
            </a:solidFill>
            <a:prstDash val="solid"/>
          </a:ln>
          <a:effectLst>
            <a:outerShdw blurRad="101600" dist="1016" dir="8100000" algn="bl" rotWithShape="0">
              <a:srgbClr val="000000">
                <a:alpha val="9000"/>
              </a:srgbClr>
            </a:outerShdw>
          </a:effectLst>
        </p:spPr>
        <p:txBody>
          <a:bodyPr/>
          <a:lstStyle/>
          <a:p>
            <a:endParaRPr lang="en-US"/>
          </a:p>
        </p:txBody>
      </p:sp>
      <p:sp>
        <p:nvSpPr>
          <p:cNvPr id="54" name="Text 52"/>
          <p:cNvSpPr/>
          <p:nvPr/>
        </p:nvSpPr>
        <p:spPr>
          <a:xfrm>
            <a:off x="6254496" y="5394960"/>
            <a:ext cx="402336" cy="347472"/>
          </a:xfrm>
          <a:prstGeom prst="rect">
            <a:avLst/>
          </a:prstGeom>
          <a:noFill/>
          <a:ln/>
        </p:spPr>
        <p:txBody>
          <a:bodyPr wrap="square" lIns="0" tIns="0" rIns="0" bIns="0" rtlCol="0" anchor="ctr"/>
          <a:lstStyle/>
          <a:p>
            <a:pPr marL="0" indent="0" algn="ctr">
              <a:buNone/>
            </a:pPr>
            <a:r>
              <a:rPr lang="en-US" sz="1000" b="1" dirty="0">
                <a:solidFill>
                  <a:srgbClr val="7A95B4"/>
                </a:solidFill>
                <a:latin typeface="Georgia" pitchFamily="34" charset="0"/>
                <a:ea typeface="Georgia" pitchFamily="34" charset="-122"/>
                <a:cs typeface="Georgia" pitchFamily="34" charset="-120"/>
              </a:rPr>
              <a:t>08</a:t>
            </a:r>
            <a:endParaRPr lang="en-US" sz="1000" dirty="0"/>
          </a:p>
        </p:txBody>
      </p:sp>
      <p:sp>
        <p:nvSpPr>
          <p:cNvPr id="55" name="Text 53"/>
          <p:cNvSpPr/>
          <p:nvPr/>
        </p:nvSpPr>
        <p:spPr>
          <a:xfrm>
            <a:off x="6711696" y="5394960"/>
            <a:ext cx="4937760" cy="347472"/>
          </a:xfrm>
          <a:prstGeom prst="rect">
            <a:avLst/>
          </a:prstGeom>
          <a:noFill/>
          <a:ln/>
        </p:spPr>
        <p:txBody>
          <a:bodyPr wrap="square" lIns="0" tIns="0" rIns="0" bIns="0" rtlCol="0" anchor="ctr"/>
          <a:lstStyle/>
          <a:p>
            <a:pPr marL="0" indent="0" algn="l">
              <a:buNone/>
            </a:pPr>
            <a:r>
              <a:rPr lang="en-US" sz="1000" dirty="0">
                <a:solidFill>
                  <a:srgbClr val="E8EDF4"/>
                </a:solidFill>
                <a:latin typeface="Calibri" pitchFamily="34" charset="0"/>
                <a:ea typeface="Calibri" pitchFamily="34" charset="-122"/>
                <a:cs typeface="Calibri" pitchFamily="34" charset="-120"/>
              </a:rPr>
              <a:t>Containerize + Test Gen agents</a:t>
            </a:r>
            <a:endParaRPr lang="en-US" sz="1000" dirty="0"/>
          </a:p>
        </p:txBody>
      </p:sp>
      <p:sp>
        <p:nvSpPr>
          <p:cNvPr id="56" name="Shape 54"/>
          <p:cNvSpPr/>
          <p:nvPr/>
        </p:nvSpPr>
        <p:spPr>
          <a:xfrm>
            <a:off x="6163056" y="5797296"/>
            <a:ext cx="5577840" cy="347472"/>
          </a:xfrm>
          <a:prstGeom prst="rect">
            <a:avLst/>
          </a:prstGeom>
          <a:solidFill>
            <a:srgbClr val="0F2040"/>
          </a:solidFill>
          <a:ln w="12700">
            <a:solidFill>
              <a:srgbClr val="F5A623"/>
            </a:solidFill>
            <a:prstDash val="solid"/>
          </a:ln>
          <a:effectLst>
            <a:outerShdw blurRad="101600" dist="1016" dir="8100000" algn="bl" rotWithShape="0">
              <a:srgbClr val="000000">
                <a:alpha val="9000"/>
              </a:srgbClr>
            </a:outerShdw>
          </a:effectLst>
        </p:spPr>
        <p:txBody>
          <a:bodyPr/>
          <a:lstStyle/>
          <a:p>
            <a:endParaRPr lang="en-US"/>
          </a:p>
        </p:txBody>
      </p:sp>
      <p:sp>
        <p:nvSpPr>
          <p:cNvPr id="57" name="Text 55"/>
          <p:cNvSpPr/>
          <p:nvPr/>
        </p:nvSpPr>
        <p:spPr>
          <a:xfrm>
            <a:off x="6254496" y="5797296"/>
            <a:ext cx="402336" cy="347472"/>
          </a:xfrm>
          <a:prstGeom prst="rect">
            <a:avLst/>
          </a:prstGeom>
          <a:noFill/>
          <a:ln/>
        </p:spPr>
        <p:txBody>
          <a:bodyPr wrap="square" lIns="0" tIns="0" rIns="0" bIns="0" rtlCol="0" anchor="ctr"/>
          <a:lstStyle/>
          <a:p>
            <a:pPr marL="0" indent="0" algn="ctr">
              <a:buNone/>
            </a:pPr>
            <a:r>
              <a:rPr lang="en-US" sz="1000" b="1" dirty="0">
                <a:solidFill>
                  <a:srgbClr val="F5A623"/>
                </a:solidFill>
                <a:latin typeface="Georgia" pitchFamily="34" charset="0"/>
                <a:ea typeface="Georgia" pitchFamily="34" charset="-122"/>
                <a:cs typeface="Georgia" pitchFamily="34" charset="-120"/>
              </a:rPr>
              <a:t>09</a:t>
            </a:r>
            <a:endParaRPr lang="en-US" sz="1000" dirty="0"/>
          </a:p>
        </p:txBody>
      </p:sp>
      <p:sp>
        <p:nvSpPr>
          <p:cNvPr id="58" name="Text 56"/>
          <p:cNvSpPr/>
          <p:nvPr/>
        </p:nvSpPr>
        <p:spPr>
          <a:xfrm>
            <a:off x="6711696" y="5797296"/>
            <a:ext cx="4937760" cy="347472"/>
          </a:xfrm>
          <a:prstGeom prst="rect">
            <a:avLst/>
          </a:prstGeom>
          <a:noFill/>
          <a:ln/>
        </p:spPr>
        <p:txBody>
          <a:bodyPr wrap="square" lIns="0" tIns="0" rIns="0" bIns="0" rtlCol="0" anchor="ctr"/>
          <a:lstStyle/>
          <a:p>
            <a:pPr marL="0" indent="0" algn="l">
              <a:buNone/>
            </a:pPr>
            <a:r>
              <a:rPr lang="en-US" sz="1000" dirty="0">
                <a:solidFill>
                  <a:srgbClr val="F5A623"/>
                </a:solidFill>
                <a:latin typeface="Calibri" pitchFamily="34" charset="0"/>
                <a:ea typeface="Calibri" pitchFamily="34" charset="-122"/>
                <a:cs typeface="Calibri" pitchFamily="34" charset="-120"/>
              </a:rPr>
              <a:t>Review agents — quality board</a:t>
            </a:r>
            <a:endParaRPr lang="en-US" sz="1000" dirty="0"/>
          </a:p>
        </p:txBody>
      </p:sp>
      <p:sp>
        <p:nvSpPr>
          <p:cNvPr id="59" name="Shape 57"/>
          <p:cNvSpPr/>
          <p:nvPr/>
        </p:nvSpPr>
        <p:spPr>
          <a:xfrm>
            <a:off x="6163056" y="6199632"/>
            <a:ext cx="5577840" cy="347472"/>
          </a:xfrm>
          <a:prstGeom prst="rect">
            <a:avLst/>
          </a:prstGeom>
          <a:solidFill>
            <a:srgbClr val="0F2040"/>
          </a:solidFill>
          <a:ln w="6350">
            <a:solidFill>
              <a:srgbClr val="1A3A5C"/>
            </a:solidFill>
            <a:prstDash val="solid"/>
          </a:ln>
          <a:effectLst>
            <a:outerShdw blurRad="101600" dist="1016" dir="8100000" algn="bl" rotWithShape="0">
              <a:srgbClr val="000000">
                <a:alpha val="9000"/>
              </a:srgbClr>
            </a:outerShdw>
          </a:effectLst>
        </p:spPr>
        <p:txBody>
          <a:bodyPr/>
          <a:lstStyle/>
          <a:p>
            <a:endParaRPr lang="en-US"/>
          </a:p>
        </p:txBody>
      </p:sp>
      <p:sp>
        <p:nvSpPr>
          <p:cNvPr id="60" name="Text 58"/>
          <p:cNvSpPr/>
          <p:nvPr/>
        </p:nvSpPr>
        <p:spPr>
          <a:xfrm>
            <a:off x="6254496" y="6199632"/>
            <a:ext cx="402336" cy="347472"/>
          </a:xfrm>
          <a:prstGeom prst="rect">
            <a:avLst/>
          </a:prstGeom>
          <a:noFill/>
          <a:ln/>
        </p:spPr>
        <p:txBody>
          <a:bodyPr wrap="square" lIns="0" tIns="0" rIns="0" bIns="0" rtlCol="0" anchor="ctr"/>
          <a:lstStyle/>
          <a:p>
            <a:pPr marL="0" indent="0" algn="ctr">
              <a:buNone/>
            </a:pPr>
            <a:r>
              <a:rPr lang="en-US" sz="1000" b="1" dirty="0">
                <a:solidFill>
                  <a:srgbClr val="7A95B4"/>
                </a:solidFill>
                <a:latin typeface="Georgia" pitchFamily="34" charset="0"/>
                <a:ea typeface="Georgia" pitchFamily="34" charset="-122"/>
                <a:cs typeface="Georgia" pitchFamily="34" charset="-120"/>
              </a:rPr>
              <a:t>10</a:t>
            </a:r>
            <a:endParaRPr lang="en-US" sz="1000" dirty="0"/>
          </a:p>
        </p:txBody>
      </p:sp>
      <p:sp>
        <p:nvSpPr>
          <p:cNvPr id="61" name="Text 59"/>
          <p:cNvSpPr/>
          <p:nvPr/>
        </p:nvSpPr>
        <p:spPr>
          <a:xfrm>
            <a:off x="6711696" y="6199632"/>
            <a:ext cx="4937760" cy="347472"/>
          </a:xfrm>
          <a:prstGeom prst="rect">
            <a:avLst/>
          </a:prstGeom>
          <a:noFill/>
          <a:ln/>
        </p:spPr>
        <p:txBody>
          <a:bodyPr wrap="square" lIns="0" tIns="0" rIns="0" bIns="0" rtlCol="0" anchor="ctr"/>
          <a:lstStyle/>
          <a:p>
            <a:pPr marL="0" indent="0" algn="l">
              <a:buNone/>
            </a:pPr>
            <a:r>
              <a:rPr lang="en-US" sz="1000" dirty="0">
                <a:solidFill>
                  <a:srgbClr val="E8EDF4"/>
                </a:solidFill>
                <a:latin typeface="Calibri" pitchFamily="34" charset="0"/>
                <a:ea typeface="Calibri" pitchFamily="34" charset="-122"/>
                <a:cs typeface="Calibri" pitchFamily="34" charset="-120"/>
              </a:rPr>
              <a:t>Summary for management</a:t>
            </a:r>
            <a:endParaRPr lang="en-US" sz="1000" dirty="0"/>
          </a:p>
        </p:txBody>
      </p:sp>
      <p:sp>
        <p:nvSpPr>
          <p:cNvPr id="62" name="Shape 60"/>
          <p:cNvSpPr/>
          <p:nvPr/>
        </p:nvSpPr>
        <p:spPr>
          <a:xfrm>
            <a:off x="128016" y="6729984"/>
            <a:ext cx="12033504" cy="73152"/>
          </a:xfrm>
          <a:prstGeom prst="rect">
            <a:avLst/>
          </a:prstGeom>
          <a:solidFill>
            <a:srgbClr val="C47E0F"/>
          </a:solidFill>
          <a:ln w="12700">
            <a:solidFill>
              <a:srgbClr val="C47E0F">
                <a:alpha val="0"/>
              </a:srgbClr>
            </a:solidFill>
            <a:prstDash val="solid"/>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4F9"/>
        </a:solidFill>
        <a:effectLst/>
      </p:bgPr>
    </p:bg>
    <p:spTree>
      <p:nvGrpSpPr>
        <p:cNvPr id="1" name=""/>
        <p:cNvGrpSpPr/>
        <p:nvPr/>
      </p:nvGrpSpPr>
      <p:grpSpPr>
        <a:xfrm>
          <a:off x="0" y="0"/>
          <a:ext cx="0" cy="0"/>
          <a:chOff x="0" y="0"/>
          <a:chExt cx="0" cy="0"/>
        </a:xfrm>
      </p:grpSpPr>
      <p:sp>
        <p:nvSpPr>
          <p:cNvPr id="2" name="Shape 0"/>
          <p:cNvSpPr/>
          <p:nvPr/>
        </p:nvSpPr>
        <p:spPr>
          <a:xfrm>
            <a:off x="0" y="0"/>
            <a:ext cx="12161520" cy="1225296"/>
          </a:xfrm>
          <a:prstGeom prst="rect">
            <a:avLst/>
          </a:prstGeom>
          <a:solidFill>
            <a:srgbClr val="0A1628"/>
          </a:solidFill>
          <a:ln w="12700">
            <a:solidFill>
              <a:srgbClr val="0A1628">
                <a:alpha val="0"/>
              </a:srgbClr>
            </a:solidFill>
            <a:prstDash val="solid"/>
          </a:ln>
        </p:spPr>
        <p:txBody>
          <a:bodyPr/>
          <a:lstStyle/>
          <a:p>
            <a:endParaRPr lang="en-US"/>
          </a:p>
        </p:txBody>
      </p:sp>
      <p:sp>
        <p:nvSpPr>
          <p:cNvPr id="3" name="Shape 1"/>
          <p:cNvSpPr/>
          <p:nvPr/>
        </p:nvSpPr>
        <p:spPr>
          <a:xfrm>
            <a:off x="0" y="1225296"/>
            <a:ext cx="12161520" cy="50292"/>
          </a:xfrm>
          <a:prstGeom prst="rect">
            <a:avLst/>
          </a:prstGeom>
          <a:solidFill>
            <a:srgbClr val="F5A623"/>
          </a:solidFill>
          <a:ln w="12700">
            <a:solidFill>
              <a:srgbClr val="F5A623">
                <a:alpha val="0"/>
              </a:srgbClr>
            </a:solidFill>
            <a:prstDash val="solid"/>
          </a:ln>
        </p:spPr>
        <p:txBody>
          <a:bodyPr/>
          <a:lstStyle/>
          <a:p>
            <a:endParaRPr lang="en-US"/>
          </a:p>
        </p:txBody>
      </p:sp>
      <p:sp>
        <p:nvSpPr>
          <p:cNvPr id="4" name="Text 2"/>
          <p:cNvSpPr/>
          <p:nvPr/>
        </p:nvSpPr>
        <p:spPr>
          <a:xfrm>
            <a:off x="411480" y="109728"/>
            <a:ext cx="11247120" cy="256032"/>
          </a:xfrm>
          <a:prstGeom prst="rect">
            <a:avLst/>
          </a:prstGeom>
          <a:noFill/>
          <a:ln/>
        </p:spPr>
        <p:txBody>
          <a:bodyPr wrap="square" lIns="0" tIns="0" rIns="0" bIns="0" rtlCol="0" anchor="ctr"/>
          <a:lstStyle/>
          <a:p>
            <a:pPr marL="0" indent="0" algn="l">
              <a:buNone/>
            </a:pPr>
            <a:r>
              <a:rPr lang="en-US" sz="1000" kern="0" spc="200" dirty="0">
                <a:solidFill>
                  <a:srgbClr val="7A95B4"/>
                </a:solidFill>
                <a:latin typeface="Calibri" pitchFamily="34" charset="0"/>
                <a:ea typeface="Calibri" pitchFamily="34" charset="-122"/>
                <a:cs typeface="Calibri" pitchFamily="34" charset="-120"/>
              </a:rPr>
              <a:t>02  ·  Agent Ecosystem</a:t>
            </a:r>
            <a:endParaRPr lang="en-US" sz="1000" dirty="0"/>
          </a:p>
        </p:txBody>
      </p:sp>
      <p:sp>
        <p:nvSpPr>
          <p:cNvPr id="5" name="Text 3"/>
          <p:cNvSpPr/>
          <p:nvPr/>
        </p:nvSpPr>
        <p:spPr>
          <a:xfrm>
            <a:off x="411480" y="347472"/>
            <a:ext cx="11247120" cy="749808"/>
          </a:xfrm>
          <a:prstGeom prst="rect">
            <a:avLst/>
          </a:prstGeom>
          <a:noFill/>
          <a:ln/>
        </p:spPr>
        <p:txBody>
          <a:bodyPr wrap="square" lIns="0" tIns="0" rIns="0" bIns="0" rtlCol="0" anchor="ctr"/>
          <a:lstStyle/>
          <a:p>
            <a:pPr marL="0" indent="0" algn="l">
              <a:buNone/>
            </a:pPr>
            <a:r>
              <a:rPr lang="en-US" sz="2600" b="1" dirty="0">
                <a:solidFill>
                  <a:srgbClr val="FFFFFF"/>
                </a:solidFill>
                <a:latin typeface="Georgia" pitchFamily="34" charset="0"/>
                <a:ea typeface="Georgia" pitchFamily="34" charset="-122"/>
                <a:cs typeface="Georgia" pitchFamily="34" charset="-120"/>
              </a:rPr>
              <a:t>16 specialised agents. 3 AI model roles. One clear outcome.</a:t>
            </a:r>
            <a:endParaRPr lang="en-US" sz="2600" dirty="0"/>
          </a:p>
        </p:txBody>
      </p:sp>
      <p:sp>
        <p:nvSpPr>
          <p:cNvPr id="6" name="Shape 4"/>
          <p:cNvSpPr/>
          <p:nvPr/>
        </p:nvSpPr>
        <p:spPr>
          <a:xfrm>
            <a:off x="365760" y="1389888"/>
            <a:ext cx="2651760" cy="237744"/>
          </a:xfrm>
          <a:prstGeom prst="rect">
            <a:avLst/>
          </a:prstGeom>
          <a:solidFill>
            <a:srgbClr val="FEF6E7"/>
          </a:solidFill>
          <a:ln w="9525">
            <a:solidFill>
              <a:srgbClr val="F5A623"/>
            </a:solidFill>
            <a:prstDash val="solid"/>
          </a:ln>
          <a:effectLst>
            <a:outerShdw blurRad="101600" dist="1016" dir="8100000" algn="bl" rotWithShape="0">
              <a:srgbClr val="000000">
                <a:alpha val="9000"/>
              </a:srgbClr>
            </a:outerShdw>
          </a:effectLst>
        </p:spPr>
        <p:txBody>
          <a:bodyPr/>
          <a:lstStyle/>
          <a:p>
            <a:endParaRPr lang="en-US"/>
          </a:p>
        </p:txBody>
      </p:sp>
      <p:sp>
        <p:nvSpPr>
          <p:cNvPr id="7" name="Text 5"/>
          <p:cNvSpPr/>
          <p:nvPr/>
        </p:nvSpPr>
        <p:spPr>
          <a:xfrm>
            <a:off x="365760" y="1389888"/>
            <a:ext cx="2651760" cy="237744"/>
          </a:xfrm>
          <a:prstGeom prst="rect">
            <a:avLst/>
          </a:prstGeom>
          <a:noFill/>
          <a:ln/>
        </p:spPr>
        <p:txBody>
          <a:bodyPr wrap="square" lIns="0" tIns="0" rIns="0" bIns="0" rtlCol="0" anchor="ctr"/>
          <a:lstStyle/>
          <a:p>
            <a:pPr marL="0" indent="0" algn="ctr">
              <a:buNone/>
            </a:pPr>
            <a:r>
              <a:rPr lang="en-US" sz="900" b="1" dirty="0">
                <a:solidFill>
                  <a:srgbClr val="F5A623"/>
                </a:solidFill>
                <a:latin typeface="Calibri" pitchFamily="34" charset="0"/>
                <a:ea typeface="Calibri" pitchFamily="34" charset="-122"/>
                <a:cs typeface="Calibri" pitchFamily="34" charset="-120"/>
              </a:rPr>
              <a:t>Safety &amp; coordination</a:t>
            </a:r>
            <a:endParaRPr lang="en-US" sz="900" dirty="0"/>
          </a:p>
        </p:txBody>
      </p:sp>
      <p:sp>
        <p:nvSpPr>
          <p:cNvPr id="8" name="Shape 6"/>
          <p:cNvSpPr/>
          <p:nvPr/>
        </p:nvSpPr>
        <p:spPr>
          <a:xfrm>
            <a:off x="3200400" y="1389888"/>
            <a:ext cx="2651760" cy="237744"/>
          </a:xfrm>
          <a:prstGeom prst="rect">
            <a:avLst/>
          </a:prstGeom>
          <a:solidFill>
            <a:srgbClr val="E6F1FB"/>
          </a:solidFill>
          <a:ln w="9525">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9" name="Text 7"/>
          <p:cNvSpPr/>
          <p:nvPr/>
        </p:nvSpPr>
        <p:spPr>
          <a:xfrm>
            <a:off x="3200400" y="1389888"/>
            <a:ext cx="2651760" cy="237744"/>
          </a:xfrm>
          <a:prstGeom prst="rect">
            <a:avLst/>
          </a:prstGeom>
          <a:noFill/>
          <a:ln/>
        </p:spPr>
        <p:txBody>
          <a:bodyPr wrap="square" lIns="0" tIns="0" rIns="0" bIns="0" rtlCol="0" anchor="ctr"/>
          <a:lstStyle/>
          <a:p>
            <a:pPr marL="0" indent="0" algn="ctr">
              <a:buNone/>
            </a:pPr>
            <a:r>
              <a:rPr lang="en-US" sz="900" b="1" dirty="0">
                <a:solidFill>
                  <a:srgbClr val="3B82C4"/>
                </a:solidFill>
                <a:latin typeface="Calibri" pitchFamily="34" charset="0"/>
                <a:ea typeface="Calibri" pitchFamily="34" charset="-122"/>
                <a:cs typeface="Calibri" pitchFamily="34" charset="-120"/>
              </a:rPr>
              <a:t>Transformation (8 agents)</a:t>
            </a:r>
            <a:endParaRPr lang="en-US" sz="900" dirty="0"/>
          </a:p>
        </p:txBody>
      </p:sp>
      <p:sp>
        <p:nvSpPr>
          <p:cNvPr id="10" name="Shape 8"/>
          <p:cNvSpPr/>
          <p:nvPr/>
        </p:nvSpPr>
        <p:spPr>
          <a:xfrm>
            <a:off x="7772400" y="1389888"/>
            <a:ext cx="2651760" cy="237744"/>
          </a:xfrm>
          <a:prstGeom prst="rect">
            <a:avLst/>
          </a:prstGeom>
          <a:solidFill>
            <a:srgbClr val="EEEDFE"/>
          </a:solidFill>
          <a:ln w="9525">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11" name="Text 9"/>
          <p:cNvSpPr/>
          <p:nvPr/>
        </p:nvSpPr>
        <p:spPr>
          <a:xfrm>
            <a:off x="7772400" y="1389888"/>
            <a:ext cx="2651760" cy="237744"/>
          </a:xfrm>
          <a:prstGeom prst="rect">
            <a:avLst/>
          </a:prstGeom>
          <a:noFill/>
          <a:ln/>
        </p:spPr>
        <p:txBody>
          <a:bodyPr wrap="square" lIns="0" tIns="0" rIns="0" bIns="0" rtlCol="0" anchor="ctr"/>
          <a:lstStyle/>
          <a:p>
            <a:pPr marL="0" indent="0" algn="ctr">
              <a:buNone/>
            </a:pPr>
            <a:r>
              <a:rPr lang="en-US" sz="900" b="1" dirty="0">
                <a:solidFill>
                  <a:srgbClr val="534AB7"/>
                </a:solidFill>
                <a:latin typeface="Calibri" pitchFamily="34" charset="0"/>
                <a:ea typeface="Calibri" pitchFamily="34" charset="-122"/>
                <a:cs typeface="Calibri" pitchFamily="34" charset="-120"/>
              </a:rPr>
              <a:t>Review (5 agents)</a:t>
            </a:r>
            <a:endParaRPr lang="en-US" sz="900" dirty="0"/>
          </a:p>
        </p:txBody>
      </p:sp>
      <p:sp>
        <p:nvSpPr>
          <p:cNvPr id="12" name="Shape 10"/>
          <p:cNvSpPr/>
          <p:nvPr/>
        </p:nvSpPr>
        <p:spPr>
          <a:xfrm>
            <a:off x="10241280" y="1389888"/>
            <a:ext cx="2651760" cy="237744"/>
          </a:xfrm>
          <a:prstGeom prst="rect">
            <a:avLst/>
          </a:prstGeom>
          <a:solidFill>
            <a:srgbClr val="E1F5EE"/>
          </a:solidFill>
          <a:ln w="9525">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13" name="Text 11"/>
          <p:cNvSpPr/>
          <p:nvPr/>
        </p:nvSpPr>
        <p:spPr>
          <a:xfrm>
            <a:off x="10241280" y="1389888"/>
            <a:ext cx="2651760" cy="237744"/>
          </a:xfrm>
          <a:prstGeom prst="rect">
            <a:avLst/>
          </a:prstGeom>
          <a:noFill/>
          <a:ln/>
        </p:spPr>
        <p:txBody>
          <a:bodyPr wrap="square" lIns="0" tIns="0" rIns="0" bIns="0" rtlCol="0" anchor="ctr"/>
          <a:lstStyle/>
          <a:p>
            <a:pPr marL="0" indent="0" algn="ctr">
              <a:buNone/>
            </a:pPr>
            <a:r>
              <a:rPr lang="en-US" sz="900" b="1" dirty="0">
                <a:solidFill>
                  <a:srgbClr val="1D9E75"/>
                </a:solidFill>
                <a:latin typeface="Calibri" pitchFamily="34" charset="0"/>
                <a:ea typeface="Calibri" pitchFamily="34" charset="-122"/>
                <a:cs typeface="Calibri" pitchFamily="34" charset="-120"/>
              </a:rPr>
              <a:t>Output</a:t>
            </a:r>
            <a:endParaRPr lang="en-US" sz="900" dirty="0"/>
          </a:p>
        </p:txBody>
      </p:sp>
      <p:sp>
        <p:nvSpPr>
          <p:cNvPr id="14" name="Shape 12"/>
          <p:cNvSpPr/>
          <p:nvPr/>
        </p:nvSpPr>
        <p:spPr>
          <a:xfrm>
            <a:off x="365760" y="1792224"/>
            <a:ext cx="2651760" cy="658368"/>
          </a:xfrm>
          <a:prstGeom prst="rect">
            <a:avLst/>
          </a:prstGeom>
          <a:solidFill>
            <a:srgbClr val="FEF6E7"/>
          </a:solidFill>
          <a:ln w="9525">
            <a:solidFill>
              <a:srgbClr val="F5A623"/>
            </a:solidFill>
            <a:prstDash val="solid"/>
          </a:ln>
          <a:effectLst>
            <a:outerShdw blurRad="101600" dist="1016" dir="8100000" algn="bl" rotWithShape="0">
              <a:srgbClr val="000000">
                <a:alpha val="9000"/>
              </a:srgbClr>
            </a:outerShdw>
          </a:effectLst>
        </p:spPr>
        <p:txBody>
          <a:bodyPr/>
          <a:lstStyle/>
          <a:p>
            <a:endParaRPr lang="en-US"/>
          </a:p>
        </p:txBody>
      </p:sp>
      <p:sp>
        <p:nvSpPr>
          <p:cNvPr id="15" name="Shape 13"/>
          <p:cNvSpPr/>
          <p:nvPr/>
        </p:nvSpPr>
        <p:spPr>
          <a:xfrm>
            <a:off x="365760" y="1792224"/>
            <a:ext cx="2651760" cy="50292"/>
          </a:xfrm>
          <a:prstGeom prst="rect">
            <a:avLst/>
          </a:prstGeom>
          <a:solidFill>
            <a:srgbClr val="F5A623"/>
          </a:solidFill>
          <a:ln w="12700">
            <a:solidFill>
              <a:srgbClr val="F5A623">
                <a:alpha val="0"/>
              </a:srgbClr>
            </a:solidFill>
            <a:prstDash val="solid"/>
          </a:ln>
        </p:spPr>
        <p:txBody>
          <a:bodyPr/>
          <a:lstStyle/>
          <a:p>
            <a:endParaRPr lang="en-US"/>
          </a:p>
        </p:txBody>
      </p:sp>
      <p:sp>
        <p:nvSpPr>
          <p:cNvPr id="16" name="Text 14"/>
          <p:cNvSpPr/>
          <p:nvPr/>
        </p:nvSpPr>
        <p:spPr>
          <a:xfrm>
            <a:off x="457200" y="1856232"/>
            <a:ext cx="2468880" cy="274320"/>
          </a:xfrm>
          <a:prstGeom prst="rect">
            <a:avLst/>
          </a:prstGeom>
          <a:noFill/>
          <a:ln/>
        </p:spPr>
        <p:txBody>
          <a:bodyPr wrap="square" lIns="0" tIns="0" rIns="0" bIns="0" rtlCol="0" anchor="ctr"/>
          <a:lstStyle/>
          <a:p>
            <a:pPr marL="0" indent="0" algn="l">
              <a:buNone/>
            </a:pPr>
            <a:r>
              <a:rPr lang="en-US" sz="950" b="1" dirty="0">
                <a:solidFill>
                  <a:srgbClr val="F5A623"/>
                </a:solidFill>
                <a:latin typeface="Georgia" pitchFamily="34" charset="0"/>
                <a:ea typeface="Georgia" pitchFamily="34" charset="-122"/>
                <a:cs typeface="Georgia" pitchFamily="34" charset="-120"/>
              </a:rPr>
              <a:t>Guardrails Agent (pre-transform)</a:t>
            </a:r>
            <a:endParaRPr lang="en-US" sz="950" dirty="0"/>
          </a:p>
        </p:txBody>
      </p:sp>
      <p:sp>
        <p:nvSpPr>
          <p:cNvPr id="17" name="Text 15"/>
          <p:cNvSpPr/>
          <p:nvPr/>
        </p:nvSpPr>
        <p:spPr>
          <a:xfrm>
            <a:off x="457200" y="2139696"/>
            <a:ext cx="2468880" cy="256032"/>
          </a:xfrm>
          <a:prstGeom prst="rect">
            <a:avLst/>
          </a:prstGeom>
          <a:noFill/>
          <a:ln/>
        </p:spPr>
        <p:txBody>
          <a:bodyPr wrap="square" lIns="0" tIns="0" rIns="0" bIns="0" rtlCol="0" anchor="ctr"/>
          <a:lstStyle/>
          <a:p>
            <a:pPr marL="0" indent="0" algn="l">
              <a:buNone/>
            </a:pPr>
            <a:r>
              <a:rPr lang="en-US" sz="850" dirty="0">
                <a:solidFill>
                  <a:srgbClr val="2A3C52"/>
                </a:solidFill>
                <a:latin typeface="Calibri" pitchFamily="34" charset="0"/>
                <a:ea typeface="Calibri" pitchFamily="34" charset="-122"/>
                <a:cs typeface="Calibri" pitchFamily="34" charset="-120"/>
              </a:rPr>
              <a:t>Secret scan · Scope · PII · Complexity</a:t>
            </a:r>
            <a:endParaRPr lang="en-US" sz="850" dirty="0"/>
          </a:p>
        </p:txBody>
      </p:sp>
      <p:sp>
        <p:nvSpPr>
          <p:cNvPr id="18" name="Shape 16"/>
          <p:cNvSpPr/>
          <p:nvPr/>
        </p:nvSpPr>
        <p:spPr>
          <a:xfrm>
            <a:off x="365760" y="2542032"/>
            <a:ext cx="2651760" cy="658368"/>
          </a:xfrm>
          <a:prstGeom prst="rect">
            <a:avLst/>
          </a:prstGeom>
          <a:solidFill>
            <a:srgbClr val="E1F5EE"/>
          </a:solidFill>
          <a:ln w="9525">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19" name="Shape 17"/>
          <p:cNvSpPr/>
          <p:nvPr/>
        </p:nvSpPr>
        <p:spPr>
          <a:xfrm>
            <a:off x="365760" y="2542032"/>
            <a:ext cx="2651760" cy="50292"/>
          </a:xfrm>
          <a:prstGeom prst="rect">
            <a:avLst/>
          </a:prstGeom>
          <a:solidFill>
            <a:srgbClr val="1D9E75"/>
          </a:solidFill>
          <a:ln w="12700">
            <a:solidFill>
              <a:srgbClr val="1D9E75">
                <a:alpha val="0"/>
              </a:srgbClr>
            </a:solidFill>
            <a:prstDash val="solid"/>
          </a:ln>
        </p:spPr>
        <p:txBody>
          <a:bodyPr/>
          <a:lstStyle/>
          <a:p>
            <a:endParaRPr lang="en-US"/>
          </a:p>
        </p:txBody>
      </p:sp>
      <p:sp>
        <p:nvSpPr>
          <p:cNvPr id="20" name="Text 18"/>
          <p:cNvSpPr/>
          <p:nvPr/>
        </p:nvSpPr>
        <p:spPr>
          <a:xfrm>
            <a:off x="457200" y="2606040"/>
            <a:ext cx="2468880" cy="274320"/>
          </a:xfrm>
          <a:prstGeom prst="rect">
            <a:avLst/>
          </a:prstGeom>
          <a:noFill/>
          <a:ln/>
        </p:spPr>
        <p:txBody>
          <a:bodyPr wrap="square" lIns="0" tIns="0" rIns="0" bIns="0" rtlCol="0" anchor="ctr"/>
          <a:lstStyle/>
          <a:p>
            <a:pPr marL="0" indent="0" algn="l">
              <a:buNone/>
            </a:pPr>
            <a:r>
              <a:rPr lang="en-US" sz="950" b="1" dirty="0">
                <a:solidFill>
                  <a:srgbClr val="1D9E75"/>
                </a:solidFill>
                <a:latin typeface="Georgia" pitchFamily="34" charset="0"/>
                <a:ea typeface="Georgia" pitchFamily="34" charset="-122"/>
                <a:cs typeface="Georgia" pitchFamily="34" charset="-120"/>
              </a:rPr>
              <a:t>Leader Agent — The Conductor</a:t>
            </a:r>
            <a:endParaRPr lang="en-US" sz="950" dirty="0"/>
          </a:p>
        </p:txBody>
      </p:sp>
      <p:sp>
        <p:nvSpPr>
          <p:cNvPr id="21" name="Text 19"/>
          <p:cNvSpPr/>
          <p:nvPr/>
        </p:nvSpPr>
        <p:spPr>
          <a:xfrm>
            <a:off x="457200" y="2889504"/>
            <a:ext cx="2468880" cy="256032"/>
          </a:xfrm>
          <a:prstGeom prst="rect">
            <a:avLst/>
          </a:prstGeom>
          <a:noFill/>
          <a:ln/>
        </p:spPr>
        <p:txBody>
          <a:bodyPr wrap="square" lIns="0" tIns="0" rIns="0" bIns="0" rtlCol="0" anchor="ctr"/>
          <a:lstStyle/>
          <a:p>
            <a:pPr marL="0" indent="0" algn="l">
              <a:buNone/>
            </a:pPr>
            <a:r>
              <a:rPr lang="en-US" sz="850" dirty="0">
                <a:solidFill>
                  <a:srgbClr val="2A3C52"/>
                </a:solidFill>
                <a:latin typeface="Calibri" pitchFamily="34" charset="0"/>
                <a:ea typeface="Calibri" pitchFamily="34" charset="-122"/>
                <a:cs typeface="Calibri" pitchFamily="34" charset="-120"/>
              </a:rPr>
              <a:t>Routes · Retries · Escalates · Tracks state</a:t>
            </a:r>
            <a:endParaRPr lang="en-US" sz="850" dirty="0"/>
          </a:p>
        </p:txBody>
      </p:sp>
      <p:sp>
        <p:nvSpPr>
          <p:cNvPr id="22" name="Shape 20"/>
          <p:cNvSpPr/>
          <p:nvPr/>
        </p:nvSpPr>
        <p:spPr>
          <a:xfrm>
            <a:off x="365760" y="3291840"/>
            <a:ext cx="2651760" cy="658368"/>
          </a:xfrm>
          <a:prstGeom prst="rect">
            <a:avLst/>
          </a:prstGeom>
          <a:solidFill>
            <a:srgbClr val="FEF6E7"/>
          </a:solidFill>
          <a:ln w="9525">
            <a:solidFill>
              <a:srgbClr val="F5A623"/>
            </a:solidFill>
            <a:prstDash val="solid"/>
          </a:ln>
          <a:effectLst>
            <a:outerShdw blurRad="101600" dist="1016" dir="8100000" algn="bl" rotWithShape="0">
              <a:srgbClr val="000000">
                <a:alpha val="9000"/>
              </a:srgbClr>
            </a:outerShdw>
          </a:effectLst>
        </p:spPr>
        <p:txBody>
          <a:bodyPr/>
          <a:lstStyle/>
          <a:p>
            <a:endParaRPr lang="en-US"/>
          </a:p>
        </p:txBody>
      </p:sp>
      <p:sp>
        <p:nvSpPr>
          <p:cNvPr id="23" name="Shape 21"/>
          <p:cNvSpPr/>
          <p:nvPr/>
        </p:nvSpPr>
        <p:spPr>
          <a:xfrm>
            <a:off x="365760" y="3291840"/>
            <a:ext cx="2651760" cy="50292"/>
          </a:xfrm>
          <a:prstGeom prst="rect">
            <a:avLst/>
          </a:prstGeom>
          <a:solidFill>
            <a:srgbClr val="F5A623"/>
          </a:solidFill>
          <a:ln w="12700">
            <a:solidFill>
              <a:srgbClr val="F5A623">
                <a:alpha val="0"/>
              </a:srgbClr>
            </a:solidFill>
            <a:prstDash val="solid"/>
          </a:ln>
        </p:spPr>
        <p:txBody>
          <a:bodyPr/>
          <a:lstStyle/>
          <a:p>
            <a:endParaRPr lang="en-US"/>
          </a:p>
        </p:txBody>
      </p:sp>
      <p:sp>
        <p:nvSpPr>
          <p:cNvPr id="24" name="Text 22"/>
          <p:cNvSpPr/>
          <p:nvPr/>
        </p:nvSpPr>
        <p:spPr>
          <a:xfrm>
            <a:off x="457200" y="3355848"/>
            <a:ext cx="2468880" cy="274320"/>
          </a:xfrm>
          <a:prstGeom prst="rect">
            <a:avLst/>
          </a:prstGeom>
          <a:noFill/>
          <a:ln/>
        </p:spPr>
        <p:txBody>
          <a:bodyPr wrap="square" lIns="0" tIns="0" rIns="0" bIns="0" rtlCol="0" anchor="ctr"/>
          <a:lstStyle/>
          <a:p>
            <a:pPr marL="0" indent="0" algn="l">
              <a:buNone/>
            </a:pPr>
            <a:r>
              <a:rPr lang="en-US" sz="950" b="1" dirty="0">
                <a:solidFill>
                  <a:srgbClr val="F5A623"/>
                </a:solidFill>
                <a:latin typeface="Georgia" pitchFamily="34" charset="0"/>
                <a:ea typeface="Georgia" pitchFamily="34" charset="-122"/>
                <a:cs typeface="Georgia" pitchFamily="34" charset="-120"/>
              </a:rPr>
              <a:t>Guardrails Agent (post-review)</a:t>
            </a:r>
            <a:endParaRPr lang="en-US" sz="950" dirty="0"/>
          </a:p>
        </p:txBody>
      </p:sp>
      <p:sp>
        <p:nvSpPr>
          <p:cNvPr id="25" name="Text 23"/>
          <p:cNvSpPr/>
          <p:nvPr/>
        </p:nvSpPr>
        <p:spPr>
          <a:xfrm>
            <a:off x="457200" y="3639312"/>
            <a:ext cx="2468880" cy="256032"/>
          </a:xfrm>
          <a:prstGeom prst="rect">
            <a:avLst/>
          </a:prstGeom>
          <a:noFill/>
          <a:ln/>
        </p:spPr>
        <p:txBody>
          <a:bodyPr wrap="square" lIns="0" tIns="0" rIns="0" bIns="0" rtlCol="0" anchor="ctr"/>
          <a:lstStyle/>
          <a:p>
            <a:pPr marL="0" indent="0" algn="l">
              <a:buNone/>
            </a:pPr>
            <a:r>
              <a:rPr lang="en-US" sz="850" dirty="0">
                <a:solidFill>
                  <a:srgbClr val="2A3C52"/>
                </a:solidFill>
                <a:latin typeface="Calibri" pitchFamily="34" charset="0"/>
                <a:ea typeface="Calibri" pitchFamily="34" charset="-122"/>
                <a:cs typeface="Calibri" pitchFamily="34" charset="-120"/>
              </a:rPr>
              <a:t>Naming · Security · License · No-regression</a:t>
            </a:r>
            <a:endParaRPr lang="en-US" sz="850" dirty="0"/>
          </a:p>
        </p:txBody>
      </p:sp>
      <p:sp>
        <p:nvSpPr>
          <p:cNvPr id="26" name="Text 24"/>
          <p:cNvSpPr/>
          <p:nvPr/>
        </p:nvSpPr>
        <p:spPr>
          <a:xfrm>
            <a:off x="365760" y="4069080"/>
            <a:ext cx="2651760" cy="219456"/>
          </a:xfrm>
          <a:prstGeom prst="rect">
            <a:avLst/>
          </a:prstGeom>
          <a:noFill/>
          <a:ln/>
        </p:spPr>
        <p:txBody>
          <a:bodyPr wrap="square" lIns="0" tIns="0" rIns="0" bIns="0" rtlCol="0" anchor="ctr"/>
          <a:lstStyle/>
          <a:p>
            <a:pPr marL="0" indent="0" algn="ctr">
              <a:buNone/>
            </a:pPr>
            <a:r>
              <a:rPr lang="en-US" sz="850" b="1" dirty="0">
                <a:solidFill>
                  <a:srgbClr val="633806"/>
                </a:solidFill>
                <a:latin typeface="Calibri" pitchFamily="34" charset="0"/>
                <a:ea typeface="Calibri" pitchFamily="34" charset="-122"/>
                <a:cs typeface="Calibri" pitchFamily="34" charset="-120"/>
              </a:rPr>
              <a:t>Model: Claude Sonnet 4.5</a:t>
            </a:r>
            <a:endParaRPr lang="en-US" sz="850" dirty="0"/>
          </a:p>
        </p:txBody>
      </p:sp>
      <p:sp>
        <p:nvSpPr>
          <p:cNvPr id="27" name="Text 25"/>
          <p:cNvSpPr/>
          <p:nvPr/>
        </p:nvSpPr>
        <p:spPr>
          <a:xfrm>
            <a:off x="365760" y="4315968"/>
            <a:ext cx="2651760" cy="219456"/>
          </a:xfrm>
          <a:prstGeom prst="rect">
            <a:avLst/>
          </a:prstGeom>
          <a:noFill/>
          <a:ln/>
        </p:spPr>
        <p:txBody>
          <a:bodyPr wrap="square" lIns="0" tIns="0" rIns="0" bIns="0" rtlCol="0" anchor="ctr"/>
          <a:lstStyle/>
          <a:p>
            <a:pPr marL="0" indent="0" algn="ctr">
              <a:buNone/>
            </a:pPr>
            <a:r>
              <a:rPr lang="en-US" sz="850" b="1" dirty="0">
                <a:solidFill>
                  <a:srgbClr val="085041"/>
                </a:solidFill>
                <a:latin typeface="Calibri" pitchFamily="34" charset="0"/>
                <a:ea typeface="Calibri" pitchFamily="34" charset="-122"/>
                <a:cs typeface="Calibri" pitchFamily="34" charset="-120"/>
              </a:rPr>
              <a:t>Model: Claude Sonnet 4.5</a:t>
            </a:r>
            <a:endParaRPr lang="en-US" sz="850" dirty="0"/>
          </a:p>
        </p:txBody>
      </p:sp>
      <p:sp>
        <p:nvSpPr>
          <p:cNvPr id="28" name="Shape 26"/>
          <p:cNvSpPr/>
          <p:nvPr/>
        </p:nvSpPr>
        <p:spPr>
          <a:xfrm>
            <a:off x="3200400" y="1792224"/>
            <a:ext cx="4389120" cy="475488"/>
          </a:xfrm>
          <a:prstGeom prst="rect">
            <a:avLst/>
          </a:prstGeom>
          <a:solidFill>
            <a:srgbClr val="E6F1FB"/>
          </a:solidFill>
          <a:ln w="762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29" name="Text 27"/>
          <p:cNvSpPr/>
          <p:nvPr/>
        </p:nvSpPr>
        <p:spPr>
          <a:xfrm>
            <a:off x="3310128" y="1792224"/>
            <a:ext cx="1828800" cy="475488"/>
          </a:xfrm>
          <a:prstGeom prst="rect">
            <a:avLst/>
          </a:prstGeom>
          <a:noFill/>
          <a:ln/>
        </p:spPr>
        <p:txBody>
          <a:bodyPr wrap="square" lIns="0" tIns="0" rIns="0" bIns="0" rtlCol="0" anchor="ctr"/>
          <a:lstStyle/>
          <a:p>
            <a:pPr marL="0" indent="0" algn="l">
              <a:buNone/>
            </a:pPr>
            <a:r>
              <a:rPr lang="en-US" sz="1000" b="1" dirty="0">
                <a:solidFill>
                  <a:srgbClr val="3B82C4"/>
                </a:solidFill>
                <a:latin typeface="Georgia" pitchFamily="34" charset="0"/>
                <a:ea typeface="Georgia" pitchFamily="34" charset="-122"/>
                <a:cs typeface="Georgia" pitchFamily="34" charset="-120"/>
              </a:rPr>
              <a:t>Discovery</a:t>
            </a:r>
            <a:endParaRPr lang="en-US" sz="1000" dirty="0"/>
          </a:p>
        </p:txBody>
      </p:sp>
      <p:sp>
        <p:nvSpPr>
          <p:cNvPr id="30" name="Text 28"/>
          <p:cNvSpPr/>
          <p:nvPr/>
        </p:nvSpPr>
        <p:spPr>
          <a:xfrm>
            <a:off x="5166360" y="1792224"/>
            <a:ext cx="2286000" cy="475488"/>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Scans + classifies the codebase</a:t>
            </a:r>
            <a:endParaRPr lang="en-US" sz="900" dirty="0"/>
          </a:p>
        </p:txBody>
      </p:sp>
      <p:sp>
        <p:nvSpPr>
          <p:cNvPr id="31" name="Shape 29"/>
          <p:cNvSpPr/>
          <p:nvPr/>
        </p:nvSpPr>
        <p:spPr>
          <a:xfrm>
            <a:off x="3200400" y="2340864"/>
            <a:ext cx="4389120" cy="475488"/>
          </a:xfrm>
          <a:prstGeom prst="rect">
            <a:avLst/>
          </a:prstGeom>
          <a:solidFill>
            <a:srgbClr val="E6F1FB"/>
          </a:solidFill>
          <a:ln w="762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32" name="Text 30"/>
          <p:cNvSpPr/>
          <p:nvPr/>
        </p:nvSpPr>
        <p:spPr>
          <a:xfrm>
            <a:off x="3310128" y="2340864"/>
            <a:ext cx="1828800" cy="475488"/>
          </a:xfrm>
          <a:prstGeom prst="rect">
            <a:avLst/>
          </a:prstGeom>
          <a:noFill/>
          <a:ln/>
        </p:spPr>
        <p:txBody>
          <a:bodyPr wrap="square" lIns="0" tIns="0" rIns="0" bIns="0" rtlCol="0" anchor="ctr"/>
          <a:lstStyle/>
          <a:p>
            <a:pPr marL="0" indent="0" algn="l">
              <a:buNone/>
            </a:pPr>
            <a:r>
              <a:rPr lang="en-US" sz="1000" b="1" dirty="0">
                <a:solidFill>
                  <a:srgbClr val="3B82C4"/>
                </a:solidFill>
                <a:latin typeface="Georgia" pitchFamily="34" charset="0"/>
                <a:ea typeface="Georgia" pitchFamily="34" charset="-122"/>
                <a:cs typeface="Georgia" pitchFamily="34" charset="-120"/>
              </a:rPr>
              <a:t>Risk Scorer</a:t>
            </a:r>
            <a:endParaRPr lang="en-US" sz="1000" dirty="0"/>
          </a:p>
        </p:txBody>
      </p:sp>
      <p:sp>
        <p:nvSpPr>
          <p:cNvPr id="33" name="Text 31"/>
          <p:cNvSpPr/>
          <p:nvPr/>
        </p:nvSpPr>
        <p:spPr>
          <a:xfrm>
            <a:off x="5166360" y="2340864"/>
            <a:ext cx="2286000" cy="475488"/>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Orders migration by complexity</a:t>
            </a:r>
            <a:endParaRPr lang="en-US" sz="900" dirty="0"/>
          </a:p>
        </p:txBody>
      </p:sp>
      <p:sp>
        <p:nvSpPr>
          <p:cNvPr id="34" name="Shape 32"/>
          <p:cNvSpPr/>
          <p:nvPr/>
        </p:nvSpPr>
        <p:spPr>
          <a:xfrm>
            <a:off x="3200400" y="2889504"/>
            <a:ext cx="4389120" cy="475488"/>
          </a:xfrm>
          <a:prstGeom prst="rect">
            <a:avLst/>
          </a:prstGeom>
          <a:solidFill>
            <a:srgbClr val="D6E8F8"/>
          </a:solidFill>
          <a:ln w="7620">
            <a:solidFill>
              <a:srgbClr val="0C447C"/>
            </a:solidFill>
            <a:prstDash val="solid"/>
          </a:ln>
          <a:effectLst>
            <a:outerShdw blurRad="101600" dist="1016" dir="8100000" algn="bl" rotWithShape="0">
              <a:srgbClr val="000000">
                <a:alpha val="9000"/>
              </a:srgbClr>
            </a:outerShdw>
          </a:effectLst>
        </p:spPr>
        <p:txBody>
          <a:bodyPr/>
          <a:lstStyle/>
          <a:p>
            <a:endParaRPr lang="en-US"/>
          </a:p>
        </p:txBody>
      </p:sp>
      <p:sp>
        <p:nvSpPr>
          <p:cNvPr id="35" name="Text 33"/>
          <p:cNvSpPr/>
          <p:nvPr/>
        </p:nvSpPr>
        <p:spPr>
          <a:xfrm>
            <a:off x="3310128" y="2889504"/>
            <a:ext cx="1828800" cy="475488"/>
          </a:xfrm>
          <a:prstGeom prst="rect">
            <a:avLst/>
          </a:prstGeom>
          <a:noFill/>
          <a:ln/>
        </p:spPr>
        <p:txBody>
          <a:bodyPr wrap="square" lIns="0" tIns="0" rIns="0" bIns="0" rtlCol="0" anchor="ctr"/>
          <a:lstStyle/>
          <a:p>
            <a:pPr marL="0" indent="0" algn="l">
              <a:buNone/>
            </a:pPr>
            <a:r>
              <a:rPr lang="en-US" sz="1000" b="1" dirty="0">
                <a:solidFill>
                  <a:srgbClr val="0C447C"/>
                </a:solidFill>
                <a:latin typeface="Georgia" pitchFamily="34" charset="0"/>
                <a:ea typeface="Georgia" pitchFamily="34" charset="-122"/>
                <a:cs typeface="Georgia" pitchFamily="34" charset="-120"/>
              </a:rPr>
              <a:t>Java 8→21</a:t>
            </a:r>
            <a:endParaRPr lang="en-US" sz="1000" dirty="0"/>
          </a:p>
        </p:txBody>
      </p:sp>
      <p:sp>
        <p:nvSpPr>
          <p:cNvPr id="36" name="Text 34"/>
          <p:cNvSpPr/>
          <p:nvPr/>
        </p:nvSpPr>
        <p:spPr>
          <a:xfrm>
            <a:off x="5166360" y="2889504"/>
            <a:ext cx="2286000" cy="475488"/>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Modernises Java language</a:t>
            </a:r>
            <a:endParaRPr lang="en-US" sz="900" dirty="0"/>
          </a:p>
        </p:txBody>
      </p:sp>
      <p:sp>
        <p:nvSpPr>
          <p:cNvPr id="37" name="Shape 35"/>
          <p:cNvSpPr/>
          <p:nvPr/>
        </p:nvSpPr>
        <p:spPr>
          <a:xfrm>
            <a:off x="3200400" y="3438144"/>
            <a:ext cx="4389120" cy="475488"/>
          </a:xfrm>
          <a:prstGeom prst="rect">
            <a:avLst/>
          </a:prstGeom>
          <a:solidFill>
            <a:srgbClr val="D6E8F8"/>
          </a:solidFill>
          <a:ln w="7620">
            <a:solidFill>
              <a:srgbClr val="0C447C"/>
            </a:solidFill>
            <a:prstDash val="solid"/>
          </a:ln>
          <a:effectLst>
            <a:outerShdw blurRad="101600" dist="1016" dir="8100000" algn="bl" rotWithShape="0">
              <a:srgbClr val="000000">
                <a:alpha val="9000"/>
              </a:srgbClr>
            </a:outerShdw>
          </a:effectLst>
        </p:spPr>
        <p:txBody>
          <a:bodyPr/>
          <a:lstStyle/>
          <a:p>
            <a:endParaRPr lang="en-US"/>
          </a:p>
        </p:txBody>
      </p:sp>
      <p:sp>
        <p:nvSpPr>
          <p:cNvPr id="38" name="Text 36"/>
          <p:cNvSpPr/>
          <p:nvPr/>
        </p:nvSpPr>
        <p:spPr>
          <a:xfrm>
            <a:off x="3310128" y="3438144"/>
            <a:ext cx="1828800" cy="475488"/>
          </a:xfrm>
          <a:prstGeom prst="rect">
            <a:avLst/>
          </a:prstGeom>
          <a:noFill/>
          <a:ln/>
        </p:spPr>
        <p:txBody>
          <a:bodyPr wrap="square" lIns="0" tIns="0" rIns="0" bIns="0" rtlCol="0" anchor="ctr"/>
          <a:lstStyle/>
          <a:p>
            <a:pPr marL="0" indent="0" algn="l">
              <a:buNone/>
            </a:pPr>
            <a:r>
              <a:rPr lang="en-US" sz="1000" b="1" dirty="0">
                <a:solidFill>
                  <a:srgbClr val="0C447C"/>
                </a:solidFill>
                <a:latin typeface="Georgia" pitchFamily="34" charset="0"/>
                <a:ea typeface="Georgia" pitchFamily="34" charset="-122"/>
                <a:cs typeface="Georgia" pitchFamily="34" charset="-120"/>
              </a:rPr>
              <a:t>Spring 5→6</a:t>
            </a:r>
            <a:endParaRPr lang="en-US" sz="1000" dirty="0"/>
          </a:p>
        </p:txBody>
      </p:sp>
      <p:sp>
        <p:nvSpPr>
          <p:cNvPr id="39" name="Text 37"/>
          <p:cNvSpPr/>
          <p:nvPr/>
        </p:nvSpPr>
        <p:spPr>
          <a:xfrm>
            <a:off x="5166360" y="3438144"/>
            <a:ext cx="2286000" cy="475488"/>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Upgrades the framework</a:t>
            </a:r>
            <a:endParaRPr lang="en-US" sz="900" dirty="0"/>
          </a:p>
        </p:txBody>
      </p:sp>
      <p:sp>
        <p:nvSpPr>
          <p:cNvPr id="40" name="Shape 38"/>
          <p:cNvSpPr/>
          <p:nvPr/>
        </p:nvSpPr>
        <p:spPr>
          <a:xfrm>
            <a:off x="3200400" y="3986784"/>
            <a:ext cx="4389120" cy="475488"/>
          </a:xfrm>
          <a:prstGeom prst="rect">
            <a:avLst/>
          </a:prstGeom>
          <a:solidFill>
            <a:srgbClr val="D6E8F8"/>
          </a:solidFill>
          <a:ln w="7620">
            <a:solidFill>
              <a:srgbClr val="0C447C"/>
            </a:solidFill>
            <a:prstDash val="solid"/>
          </a:ln>
          <a:effectLst>
            <a:outerShdw blurRad="101600" dist="1016" dir="8100000" algn="bl" rotWithShape="0">
              <a:srgbClr val="000000">
                <a:alpha val="9000"/>
              </a:srgbClr>
            </a:outerShdw>
          </a:effectLst>
        </p:spPr>
        <p:txBody>
          <a:bodyPr/>
          <a:lstStyle/>
          <a:p>
            <a:endParaRPr lang="en-US"/>
          </a:p>
        </p:txBody>
      </p:sp>
      <p:sp>
        <p:nvSpPr>
          <p:cNvPr id="41" name="Text 39"/>
          <p:cNvSpPr/>
          <p:nvPr/>
        </p:nvSpPr>
        <p:spPr>
          <a:xfrm>
            <a:off x="3310128" y="3986784"/>
            <a:ext cx="1828800" cy="475488"/>
          </a:xfrm>
          <a:prstGeom prst="rect">
            <a:avLst/>
          </a:prstGeom>
          <a:noFill/>
          <a:ln/>
        </p:spPr>
        <p:txBody>
          <a:bodyPr wrap="square" lIns="0" tIns="0" rIns="0" bIns="0" rtlCol="0" anchor="ctr"/>
          <a:lstStyle/>
          <a:p>
            <a:pPr marL="0" indent="0" algn="l">
              <a:buNone/>
            </a:pPr>
            <a:r>
              <a:rPr lang="en-US" sz="1000" b="1" dirty="0">
                <a:solidFill>
                  <a:srgbClr val="0C447C"/>
                </a:solidFill>
                <a:latin typeface="Georgia" pitchFamily="34" charset="0"/>
                <a:ea typeface="Georgia" pitchFamily="34" charset="-122"/>
                <a:cs typeface="Georgia" pitchFamily="34" charset="-120"/>
              </a:rPr>
              <a:t>Struts1 → MVC</a:t>
            </a:r>
            <a:endParaRPr lang="en-US" sz="1000" dirty="0"/>
          </a:p>
        </p:txBody>
      </p:sp>
      <p:sp>
        <p:nvSpPr>
          <p:cNvPr id="42" name="Text 40"/>
          <p:cNvSpPr/>
          <p:nvPr/>
        </p:nvSpPr>
        <p:spPr>
          <a:xfrm>
            <a:off x="5166360" y="3986784"/>
            <a:ext cx="2286000" cy="475488"/>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Eliminates Struts 1.x</a:t>
            </a:r>
            <a:endParaRPr lang="en-US" sz="900" dirty="0"/>
          </a:p>
        </p:txBody>
      </p:sp>
      <p:sp>
        <p:nvSpPr>
          <p:cNvPr id="43" name="Shape 41"/>
          <p:cNvSpPr/>
          <p:nvPr/>
        </p:nvSpPr>
        <p:spPr>
          <a:xfrm>
            <a:off x="3200400" y="4535424"/>
            <a:ext cx="4389120" cy="475488"/>
          </a:xfrm>
          <a:prstGeom prst="rect">
            <a:avLst/>
          </a:prstGeom>
          <a:solidFill>
            <a:srgbClr val="D6E8F8"/>
          </a:solidFill>
          <a:ln w="7620">
            <a:solidFill>
              <a:srgbClr val="0C447C"/>
            </a:solidFill>
            <a:prstDash val="solid"/>
          </a:ln>
          <a:effectLst>
            <a:outerShdw blurRad="101600" dist="1016" dir="8100000" algn="bl" rotWithShape="0">
              <a:srgbClr val="000000">
                <a:alpha val="9000"/>
              </a:srgbClr>
            </a:outerShdw>
          </a:effectLst>
        </p:spPr>
        <p:txBody>
          <a:bodyPr/>
          <a:lstStyle/>
          <a:p>
            <a:endParaRPr lang="en-US"/>
          </a:p>
        </p:txBody>
      </p:sp>
      <p:sp>
        <p:nvSpPr>
          <p:cNvPr id="44" name="Text 42"/>
          <p:cNvSpPr/>
          <p:nvPr/>
        </p:nvSpPr>
        <p:spPr>
          <a:xfrm>
            <a:off x="3310128" y="4535424"/>
            <a:ext cx="1828800" cy="475488"/>
          </a:xfrm>
          <a:prstGeom prst="rect">
            <a:avLst/>
          </a:prstGeom>
          <a:noFill/>
          <a:ln/>
        </p:spPr>
        <p:txBody>
          <a:bodyPr wrap="square" lIns="0" tIns="0" rIns="0" bIns="0" rtlCol="0" anchor="ctr"/>
          <a:lstStyle/>
          <a:p>
            <a:pPr marL="0" indent="0" algn="l">
              <a:buNone/>
            </a:pPr>
            <a:r>
              <a:rPr lang="en-US" sz="1000" b="1" dirty="0">
                <a:solidFill>
                  <a:srgbClr val="0C447C"/>
                </a:solidFill>
                <a:latin typeface="Georgia" pitchFamily="34" charset="0"/>
                <a:ea typeface="Georgia" pitchFamily="34" charset="-122"/>
                <a:cs typeface="Georgia" pitchFamily="34" charset="-120"/>
              </a:rPr>
              <a:t>Struts2 → MVC</a:t>
            </a:r>
            <a:endParaRPr lang="en-US" sz="1000" dirty="0"/>
          </a:p>
        </p:txBody>
      </p:sp>
      <p:sp>
        <p:nvSpPr>
          <p:cNvPr id="45" name="Text 43"/>
          <p:cNvSpPr/>
          <p:nvPr/>
        </p:nvSpPr>
        <p:spPr>
          <a:xfrm>
            <a:off x="5166360" y="4535424"/>
            <a:ext cx="2286000" cy="475488"/>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Eliminates Struts 2.x + OGNL</a:t>
            </a:r>
            <a:endParaRPr lang="en-US" sz="900" dirty="0"/>
          </a:p>
        </p:txBody>
      </p:sp>
      <p:sp>
        <p:nvSpPr>
          <p:cNvPr id="46" name="Shape 44"/>
          <p:cNvSpPr/>
          <p:nvPr/>
        </p:nvSpPr>
        <p:spPr>
          <a:xfrm>
            <a:off x="3200400" y="5084064"/>
            <a:ext cx="4389120" cy="475488"/>
          </a:xfrm>
          <a:prstGeom prst="rect">
            <a:avLst/>
          </a:prstGeom>
          <a:solidFill>
            <a:srgbClr val="E6F1FB"/>
          </a:solidFill>
          <a:ln w="762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47" name="Text 45"/>
          <p:cNvSpPr/>
          <p:nvPr/>
        </p:nvSpPr>
        <p:spPr>
          <a:xfrm>
            <a:off x="3310128" y="5084064"/>
            <a:ext cx="1828800" cy="475488"/>
          </a:xfrm>
          <a:prstGeom prst="rect">
            <a:avLst/>
          </a:prstGeom>
          <a:noFill/>
          <a:ln/>
        </p:spPr>
        <p:txBody>
          <a:bodyPr wrap="square" lIns="0" tIns="0" rIns="0" bIns="0" rtlCol="0" anchor="ctr"/>
          <a:lstStyle/>
          <a:p>
            <a:pPr marL="0" indent="0" algn="l">
              <a:buNone/>
            </a:pPr>
            <a:r>
              <a:rPr lang="en-US" sz="1000" b="1" dirty="0">
                <a:solidFill>
                  <a:srgbClr val="3B82C4"/>
                </a:solidFill>
                <a:latin typeface="Georgia" pitchFamily="34" charset="0"/>
                <a:ea typeface="Georgia" pitchFamily="34" charset="-122"/>
                <a:cs typeface="Georgia" pitchFamily="34" charset="-120"/>
              </a:rPr>
              <a:t>Containerize</a:t>
            </a:r>
            <a:endParaRPr lang="en-US" sz="1000" dirty="0"/>
          </a:p>
        </p:txBody>
      </p:sp>
      <p:sp>
        <p:nvSpPr>
          <p:cNvPr id="48" name="Text 46"/>
          <p:cNvSpPr/>
          <p:nvPr/>
        </p:nvSpPr>
        <p:spPr>
          <a:xfrm>
            <a:off x="5166360" y="5084064"/>
            <a:ext cx="2286000" cy="475488"/>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Packages for cloud deployment</a:t>
            </a:r>
            <a:endParaRPr lang="en-US" sz="900" dirty="0"/>
          </a:p>
        </p:txBody>
      </p:sp>
      <p:sp>
        <p:nvSpPr>
          <p:cNvPr id="49" name="Shape 47"/>
          <p:cNvSpPr/>
          <p:nvPr/>
        </p:nvSpPr>
        <p:spPr>
          <a:xfrm>
            <a:off x="3200400" y="5632704"/>
            <a:ext cx="4389120" cy="475488"/>
          </a:xfrm>
          <a:prstGeom prst="rect">
            <a:avLst/>
          </a:prstGeom>
          <a:solidFill>
            <a:srgbClr val="E6F1FB"/>
          </a:solidFill>
          <a:ln w="762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50" name="Text 48"/>
          <p:cNvSpPr/>
          <p:nvPr/>
        </p:nvSpPr>
        <p:spPr>
          <a:xfrm>
            <a:off x="3310128" y="5632704"/>
            <a:ext cx="1828800" cy="475488"/>
          </a:xfrm>
          <a:prstGeom prst="rect">
            <a:avLst/>
          </a:prstGeom>
          <a:noFill/>
          <a:ln/>
        </p:spPr>
        <p:txBody>
          <a:bodyPr wrap="square" lIns="0" tIns="0" rIns="0" bIns="0" rtlCol="0" anchor="ctr"/>
          <a:lstStyle/>
          <a:p>
            <a:pPr marL="0" indent="0" algn="l">
              <a:buNone/>
            </a:pPr>
            <a:r>
              <a:rPr lang="en-US" sz="1000" b="1" dirty="0">
                <a:solidFill>
                  <a:srgbClr val="3B82C4"/>
                </a:solidFill>
                <a:latin typeface="Georgia" pitchFamily="34" charset="0"/>
                <a:ea typeface="Georgia" pitchFamily="34" charset="-122"/>
                <a:cs typeface="Georgia" pitchFamily="34" charset="-120"/>
              </a:rPr>
              <a:t>Test Gen</a:t>
            </a:r>
            <a:endParaRPr lang="en-US" sz="1000" dirty="0"/>
          </a:p>
        </p:txBody>
      </p:sp>
      <p:sp>
        <p:nvSpPr>
          <p:cNvPr id="51" name="Text 49"/>
          <p:cNvSpPr/>
          <p:nvPr/>
        </p:nvSpPr>
        <p:spPr>
          <a:xfrm>
            <a:off x="5166360" y="5632704"/>
            <a:ext cx="2286000" cy="475488"/>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Writes automated tests</a:t>
            </a:r>
            <a:endParaRPr lang="en-US" sz="900" dirty="0"/>
          </a:p>
        </p:txBody>
      </p:sp>
      <p:sp>
        <p:nvSpPr>
          <p:cNvPr id="52" name="Text 50"/>
          <p:cNvSpPr/>
          <p:nvPr/>
        </p:nvSpPr>
        <p:spPr>
          <a:xfrm>
            <a:off x="3200400" y="6217920"/>
            <a:ext cx="4389120" cy="219456"/>
          </a:xfrm>
          <a:prstGeom prst="rect">
            <a:avLst/>
          </a:prstGeom>
          <a:noFill/>
          <a:ln/>
        </p:spPr>
        <p:txBody>
          <a:bodyPr wrap="square" lIns="0" tIns="0" rIns="0" bIns="0" rtlCol="0" anchor="ctr"/>
          <a:lstStyle/>
          <a:p>
            <a:pPr marL="0" indent="0" algn="ctr">
              <a:buNone/>
            </a:pPr>
            <a:r>
              <a:rPr lang="en-US" sz="850" b="1" dirty="0">
                <a:solidFill>
                  <a:srgbClr val="042C53"/>
                </a:solidFill>
                <a:latin typeface="Calibri" pitchFamily="34" charset="0"/>
                <a:ea typeface="Calibri" pitchFamily="34" charset="-122"/>
                <a:cs typeface="Calibri" pitchFamily="34" charset="-120"/>
              </a:rPr>
              <a:t>Model: Claude Sonnet 4.5 + RAG Knowledge Base</a:t>
            </a:r>
            <a:endParaRPr lang="en-US" sz="850" dirty="0"/>
          </a:p>
        </p:txBody>
      </p:sp>
      <p:sp>
        <p:nvSpPr>
          <p:cNvPr id="53" name="Shape 51"/>
          <p:cNvSpPr/>
          <p:nvPr/>
        </p:nvSpPr>
        <p:spPr>
          <a:xfrm>
            <a:off x="7772400" y="1792224"/>
            <a:ext cx="2286000" cy="566928"/>
          </a:xfrm>
          <a:prstGeom prst="rect">
            <a:avLst/>
          </a:prstGeom>
          <a:solidFill>
            <a:srgbClr val="EEEDFE"/>
          </a:solidFill>
          <a:ln w="9525">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54" name="Shape 52"/>
          <p:cNvSpPr/>
          <p:nvPr/>
        </p:nvSpPr>
        <p:spPr>
          <a:xfrm>
            <a:off x="7772400" y="1792224"/>
            <a:ext cx="2286000" cy="50292"/>
          </a:xfrm>
          <a:prstGeom prst="rect">
            <a:avLst/>
          </a:prstGeom>
          <a:solidFill>
            <a:srgbClr val="534AB7"/>
          </a:solidFill>
          <a:ln w="12700">
            <a:solidFill>
              <a:srgbClr val="534AB7">
                <a:alpha val="0"/>
              </a:srgbClr>
            </a:solidFill>
            <a:prstDash val="solid"/>
          </a:ln>
        </p:spPr>
        <p:txBody>
          <a:bodyPr/>
          <a:lstStyle/>
          <a:p>
            <a:endParaRPr lang="en-US"/>
          </a:p>
        </p:txBody>
      </p:sp>
      <p:sp>
        <p:nvSpPr>
          <p:cNvPr id="55" name="Text 53"/>
          <p:cNvSpPr/>
          <p:nvPr/>
        </p:nvSpPr>
        <p:spPr>
          <a:xfrm>
            <a:off x="7863840" y="1856232"/>
            <a:ext cx="2103120" cy="237744"/>
          </a:xfrm>
          <a:prstGeom prst="rect">
            <a:avLst/>
          </a:prstGeom>
          <a:noFill/>
          <a:ln/>
        </p:spPr>
        <p:txBody>
          <a:bodyPr wrap="square" lIns="0" tIns="0" rIns="0" bIns="0" rtlCol="0" anchor="ctr"/>
          <a:lstStyle/>
          <a:p>
            <a:pPr marL="0" indent="0" algn="l">
              <a:buNone/>
            </a:pPr>
            <a:r>
              <a:rPr lang="en-US" sz="1000" b="1" dirty="0">
                <a:solidFill>
                  <a:srgbClr val="534AB7"/>
                </a:solidFill>
                <a:latin typeface="Georgia" pitchFamily="34" charset="0"/>
                <a:ea typeface="Georgia" pitchFamily="34" charset="-122"/>
                <a:cs typeface="Georgia" pitchFamily="34" charset="-120"/>
              </a:rPr>
              <a:t>Java Review</a:t>
            </a:r>
            <a:endParaRPr lang="en-US" sz="1000" dirty="0"/>
          </a:p>
        </p:txBody>
      </p:sp>
      <p:sp>
        <p:nvSpPr>
          <p:cNvPr id="56" name="Text 54"/>
          <p:cNvSpPr/>
          <p:nvPr/>
        </p:nvSpPr>
        <p:spPr>
          <a:xfrm>
            <a:off x="7863840" y="2103120"/>
            <a:ext cx="2103120" cy="219456"/>
          </a:xfrm>
          <a:prstGeom prst="rect">
            <a:avLst/>
          </a:prstGeom>
          <a:noFill/>
          <a:ln/>
        </p:spPr>
        <p:txBody>
          <a:bodyPr wrap="square" lIns="0" tIns="0" rIns="0" bIns="0" rtlCol="0" anchor="ctr"/>
          <a:lstStyle/>
          <a:p>
            <a:pPr marL="0" indent="0" algn="l">
              <a:buNone/>
            </a:pPr>
            <a:r>
              <a:rPr lang="en-US" sz="850" dirty="0">
                <a:solidFill>
                  <a:srgbClr val="26215C"/>
                </a:solidFill>
                <a:latin typeface="Calibri" pitchFamily="34" charset="0"/>
                <a:ea typeface="Calibri" pitchFamily="34" charset="-122"/>
                <a:cs typeface="Calibri" pitchFamily="34" charset="-120"/>
              </a:rPr>
              <a:t>Checks Java upgrade correctness</a:t>
            </a:r>
            <a:endParaRPr lang="en-US" sz="850" dirty="0"/>
          </a:p>
        </p:txBody>
      </p:sp>
      <p:sp>
        <p:nvSpPr>
          <p:cNvPr id="57" name="Shape 55"/>
          <p:cNvSpPr/>
          <p:nvPr/>
        </p:nvSpPr>
        <p:spPr>
          <a:xfrm>
            <a:off x="7772400" y="2450592"/>
            <a:ext cx="2286000" cy="566928"/>
          </a:xfrm>
          <a:prstGeom prst="rect">
            <a:avLst/>
          </a:prstGeom>
          <a:solidFill>
            <a:srgbClr val="EEEDFE"/>
          </a:solidFill>
          <a:ln w="9525">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58" name="Shape 56"/>
          <p:cNvSpPr/>
          <p:nvPr/>
        </p:nvSpPr>
        <p:spPr>
          <a:xfrm>
            <a:off x="7772400" y="2450592"/>
            <a:ext cx="2286000" cy="50292"/>
          </a:xfrm>
          <a:prstGeom prst="rect">
            <a:avLst/>
          </a:prstGeom>
          <a:solidFill>
            <a:srgbClr val="534AB7"/>
          </a:solidFill>
          <a:ln w="12700">
            <a:solidFill>
              <a:srgbClr val="534AB7">
                <a:alpha val="0"/>
              </a:srgbClr>
            </a:solidFill>
            <a:prstDash val="solid"/>
          </a:ln>
        </p:spPr>
        <p:txBody>
          <a:bodyPr/>
          <a:lstStyle/>
          <a:p>
            <a:endParaRPr lang="en-US"/>
          </a:p>
        </p:txBody>
      </p:sp>
      <p:sp>
        <p:nvSpPr>
          <p:cNvPr id="59" name="Text 57"/>
          <p:cNvSpPr/>
          <p:nvPr/>
        </p:nvSpPr>
        <p:spPr>
          <a:xfrm>
            <a:off x="7863840" y="2514600"/>
            <a:ext cx="2103120" cy="237744"/>
          </a:xfrm>
          <a:prstGeom prst="rect">
            <a:avLst/>
          </a:prstGeom>
          <a:noFill/>
          <a:ln/>
        </p:spPr>
        <p:txBody>
          <a:bodyPr wrap="square" lIns="0" tIns="0" rIns="0" bIns="0" rtlCol="0" anchor="ctr"/>
          <a:lstStyle/>
          <a:p>
            <a:pPr marL="0" indent="0" algn="l">
              <a:buNone/>
            </a:pPr>
            <a:r>
              <a:rPr lang="en-US" sz="1000" b="1" dirty="0">
                <a:solidFill>
                  <a:srgbClr val="534AB7"/>
                </a:solidFill>
                <a:latin typeface="Georgia" pitchFamily="34" charset="0"/>
                <a:ea typeface="Georgia" pitchFamily="34" charset="-122"/>
                <a:cs typeface="Georgia" pitchFamily="34" charset="-120"/>
              </a:rPr>
              <a:t>Spring Review</a:t>
            </a:r>
            <a:endParaRPr lang="en-US" sz="1000" dirty="0"/>
          </a:p>
        </p:txBody>
      </p:sp>
      <p:sp>
        <p:nvSpPr>
          <p:cNvPr id="60" name="Text 58"/>
          <p:cNvSpPr/>
          <p:nvPr/>
        </p:nvSpPr>
        <p:spPr>
          <a:xfrm>
            <a:off x="7863840" y="2761488"/>
            <a:ext cx="2103120" cy="219456"/>
          </a:xfrm>
          <a:prstGeom prst="rect">
            <a:avLst/>
          </a:prstGeom>
          <a:noFill/>
          <a:ln/>
        </p:spPr>
        <p:txBody>
          <a:bodyPr wrap="square" lIns="0" tIns="0" rIns="0" bIns="0" rtlCol="0" anchor="ctr"/>
          <a:lstStyle/>
          <a:p>
            <a:pPr marL="0" indent="0" algn="l">
              <a:buNone/>
            </a:pPr>
            <a:r>
              <a:rPr lang="en-US" sz="850" dirty="0">
                <a:solidFill>
                  <a:srgbClr val="26215C"/>
                </a:solidFill>
                <a:latin typeface="Calibri" pitchFamily="34" charset="0"/>
                <a:ea typeface="Calibri" pitchFamily="34" charset="-122"/>
                <a:cs typeface="Calibri" pitchFamily="34" charset="-120"/>
              </a:rPr>
              <a:t>Checks Spring 6 compliance</a:t>
            </a:r>
            <a:endParaRPr lang="en-US" sz="850" dirty="0"/>
          </a:p>
        </p:txBody>
      </p:sp>
      <p:sp>
        <p:nvSpPr>
          <p:cNvPr id="61" name="Shape 59"/>
          <p:cNvSpPr/>
          <p:nvPr/>
        </p:nvSpPr>
        <p:spPr>
          <a:xfrm>
            <a:off x="7772400" y="3108960"/>
            <a:ext cx="2286000" cy="566928"/>
          </a:xfrm>
          <a:prstGeom prst="rect">
            <a:avLst/>
          </a:prstGeom>
          <a:solidFill>
            <a:srgbClr val="EEEDFE"/>
          </a:solidFill>
          <a:ln w="9525">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62" name="Shape 60"/>
          <p:cNvSpPr/>
          <p:nvPr/>
        </p:nvSpPr>
        <p:spPr>
          <a:xfrm>
            <a:off x="7772400" y="3108960"/>
            <a:ext cx="2286000" cy="50292"/>
          </a:xfrm>
          <a:prstGeom prst="rect">
            <a:avLst/>
          </a:prstGeom>
          <a:solidFill>
            <a:srgbClr val="534AB7"/>
          </a:solidFill>
          <a:ln w="12700">
            <a:solidFill>
              <a:srgbClr val="534AB7">
                <a:alpha val="0"/>
              </a:srgbClr>
            </a:solidFill>
            <a:prstDash val="solid"/>
          </a:ln>
        </p:spPr>
        <p:txBody>
          <a:bodyPr/>
          <a:lstStyle/>
          <a:p>
            <a:endParaRPr lang="en-US"/>
          </a:p>
        </p:txBody>
      </p:sp>
      <p:sp>
        <p:nvSpPr>
          <p:cNvPr id="63" name="Text 61"/>
          <p:cNvSpPr/>
          <p:nvPr/>
        </p:nvSpPr>
        <p:spPr>
          <a:xfrm>
            <a:off x="7863840" y="3172968"/>
            <a:ext cx="2103120" cy="237744"/>
          </a:xfrm>
          <a:prstGeom prst="rect">
            <a:avLst/>
          </a:prstGeom>
          <a:noFill/>
          <a:ln/>
        </p:spPr>
        <p:txBody>
          <a:bodyPr wrap="square" lIns="0" tIns="0" rIns="0" bIns="0" rtlCol="0" anchor="ctr"/>
          <a:lstStyle/>
          <a:p>
            <a:pPr marL="0" indent="0" algn="l">
              <a:buNone/>
            </a:pPr>
            <a:r>
              <a:rPr lang="en-US" sz="1000" b="1" dirty="0">
                <a:solidFill>
                  <a:srgbClr val="534AB7"/>
                </a:solidFill>
                <a:latin typeface="Georgia" pitchFamily="34" charset="0"/>
                <a:ea typeface="Georgia" pitchFamily="34" charset="-122"/>
                <a:cs typeface="Georgia" pitchFamily="34" charset="-120"/>
              </a:rPr>
              <a:t>Struts Review</a:t>
            </a:r>
            <a:endParaRPr lang="en-US" sz="1000" dirty="0"/>
          </a:p>
        </p:txBody>
      </p:sp>
      <p:sp>
        <p:nvSpPr>
          <p:cNvPr id="64" name="Text 62"/>
          <p:cNvSpPr/>
          <p:nvPr/>
        </p:nvSpPr>
        <p:spPr>
          <a:xfrm>
            <a:off x="7863840" y="3419856"/>
            <a:ext cx="2103120" cy="219456"/>
          </a:xfrm>
          <a:prstGeom prst="rect">
            <a:avLst/>
          </a:prstGeom>
          <a:noFill/>
          <a:ln/>
        </p:spPr>
        <p:txBody>
          <a:bodyPr wrap="square" lIns="0" tIns="0" rIns="0" bIns="0" rtlCol="0" anchor="ctr"/>
          <a:lstStyle/>
          <a:p>
            <a:pPr marL="0" indent="0" algn="l">
              <a:buNone/>
            </a:pPr>
            <a:r>
              <a:rPr lang="en-US" sz="850" dirty="0">
                <a:solidFill>
                  <a:srgbClr val="26215C"/>
                </a:solidFill>
                <a:latin typeface="Calibri" pitchFamily="34" charset="0"/>
                <a:ea typeface="Calibri" pitchFamily="34" charset="-122"/>
                <a:cs typeface="Calibri" pitchFamily="34" charset="-120"/>
              </a:rPr>
              <a:t>Confirms Struts fully eliminated</a:t>
            </a:r>
            <a:endParaRPr lang="en-US" sz="850" dirty="0"/>
          </a:p>
        </p:txBody>
      </p:sp>
      <p:sp>
        <p:nvSpPr>
          <p:cNvPr id="65" name="Shape 63"/>
          <p:cNvSpPr/>
          <p:nvPr/>
        </p:nvSpPr>
        <p:spPr>
          <a:xfrm>
            <a:off x="7772400" y="3767328"/>
            <a:ext cx="2286000" cy="566928"/>
          </a:xfrm>
          <a:prstGeom prst="rect">
            <a:avLst/>
          </a:prstGeom>
          <a:solidFill>
            <a:srgbClr val="EEEDFE"/>
          </a:solidFill>
          <a:ln w="9525">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66" name="Shape 64"/>
          <p:cNvSpPr/>
          <p:nvPr/>
        </p:nvSpPr>
        <p:spPr>
          <a:xfrm>
            <a:off x="7772400" y="3767328"/>
            <a:ext cx="2286000" cy="50292"/>
          </a:xfrm>
          <a:prstGeom prst="rect">
            <a:avLst/>
          </a:prstGeom>
          <a:solidFill>
            <a:srgbClr val="534AB7"/>
          </a:solidFill>
          <a:ln w="12700">
            <a:solidFill>
              <a:srgbClr val="534AB7">
                <a:alpha val="0"/>
              </a:srgbClr>
            </a:solidFill>
            <a:prstDash val="solid"/>
          </a:ln>
        </p:spPr>
        <p:txBody>
          <a:bodyPr/>
          <a:lstStyle/>
          <a:p>
            <a:endParaRPr lang="en-US"/>
          </a:p>
        </p:txBody>
      </p:sp>
      <p:sp>
        <p:nvSpPr>
          <p:cNvPr id="67" name="Text 65"/>
          <p:cNvSpPr/>
          <p:nvPr/>
        </p:nvSpPr>
        <p:spPr>
          <a:xfrm>
            <a:off x="7863840" y="3831336"/>
            <a:ext cx="2103120" cy="237744"/>
          </a:xfrm>
          <a:prstGeom prst="rect">
            <a:avLst/>
          </a:prstGeom>
          <a:noFill/>
          <a:ln/>
        </p:spPr>
        <p:txBody>
          <a:bodyPr wrap="square" lIns="0" tIns="0" rIns="0" bIns="0" rtlCol="0" anchor="ctr"/>
          <a:lstStyle/>
          <a:p>
            <a:pPr marL="0" indent="0" algn="l">
              <a:buNone/>
            </a:pPr>
            <a:r>
              <a:rPr lang="en-US" sz="1000" b="1" dirty="0">
                <a:solidFill>
                  <a:srgbClr val="534AB7"/>
                </a:solidFill>
                <a:latin typeface="Georgia" pitchFamily="34" charset="0"/>
                <a:ea typeface="Georgia" pitchFamily="34" charset="-122"/>
                <a:cs typeface="Georgia" pitchFamily="34" charset="-120"/>
              </a:rPr>
              <a:t>Container Review</a:t>
            </a:r>
            <a:endParaRPr lang="en-US" sz="1000" dirty="0"/>
          </a:p>
        </p:txBody>
      </p:sp>
      <p:sp>
        <p:nvSpPr>
          <p:cNvPr id="68" name="Text 66"/>
          <p:cNvSpPr/>
          <p:nvPr/>
        </p:nvSpPr>
        <p:spPr>
          <a:xfrm>
            <a:off x="7863840" y="4078224"/>
            <a:ext cx="2103120" cy="219456"/>
          </a:xfrm>
          <a:prstGeom prst="rect">
            <a:avLst/>
          </a:prstGeom>
          <a:noFill/>
          <a:ln/>
        </p:spPr>
        <p:txBody>
          <a:bodyPr wrap="square" lIns="0" tIns="0" rIns="0" bIns="0" rtlCol="0" anchor="ctr"/>
          <a:lstStyle/>
          <a:p>
            <a:pPr marL="0" indent="0" algn="l">
              <a:buNone/>
            </a:pPr>
            <a:r>
              <a:rPr lang="en-US" sz="850" dirty="0">
                <a:solidFill>
                  <a:srgbClr val="26215C"/>
                </a:solidFill>
                <a:latin typeface="Calibri" pitchFamily="34" charset="0"/>
                <a:ea typeface="Calibri" pitchFamily="34" charset="-122"/>
                <a:cs typeface="Calibri" pitchFamily="34" charset="-120"/>
              </a:rPr>
              <a:t>Validates deployment config</a:t>
            </a:r>
            <a:endParaRPr lang="en-US" sz="850" dirty="0"/>
          </a:p>
        </p:txBody>
      </p:sp>
      <p:sp>
        <p:nvSpPr>
          <p:cNvPr id="69" name="Shape 67"/>
          <p:cNvSpPr/>
          <p:nvPr/>
        </p:nvSpPr>
        <p:spPr>
          <a:xfrm>
            <a:off x="7772400" y="4425696"/>
            <a:ext cx="2286000" cy="566928"/>
          </a:xfrm>
          <a:prstGeom prst="rect">
            <a:avLst/>
          </a:prstGeom>
          <a:solidFill>
            <a:srgbClr val="EEEDFE"/>
          </a:solidFill>
          <a:ln w="9525">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70" name="Shape 68"/>
          <p:cNvSpPr/>
          <p:nvPr/>
        </p:nvSpPr>
        <p:spPr>
          <a:xfrm>
            <a:off x="7772400" y="4425696"/>
            <a:ext cx="2286000" cy="50292"/>
          </a:xfrm>
          <a:prstGeom prst="rect">
            <a:avLst/>
          </a:prstGeom>
          <a:solidFill>
            <a:srgbClr val="534AB7"/>
          </a:solidFill>
          <a:ln w="12700">
            <a:solidFill>
              <a:srgbClr val="534AB7">
                <a:alpha val="0"/>
              </a:srgbClr>
            </a:solidFill>
            <a:prstDash val="solid"/>
          </a:ln>
        </p:spPr>
        <p:txBody>
          <a:bodyPr/>
          <a:lstStyle/>
          <a:p>
            <a:endParaRPr lang="en-US"/>
          </a:p>
        </p:txBody>
      </p:sp>
      <p:sp>
        <p:nvSpPr>
          <p:cNvPr id="71" name="Text 69"/>
          <p:cNvSpPr/>
          <p:nvPr/>
        </p:nvSpPr>
        <p:spPr>
          <a:xfrm>
            <a:off x="7863840" y="4489704"/>
            <a:ext cx="2103120" cy="237744"/>
          </a:xfrm>
          <a:prstGeom prst="rect">
            <a:avLst/>
          </a:prstGeom>
          <a:noFill/>
          <a:ln/>
        </p:spPr>
        <p:txBody>
          <a:bodyPr wrap="square" lIns="0" tIns="0" rIns="0" bIns="0" rtlCol="0" anchor="ctr"/>
          <a:lstStyle/>
          <a:p>
            <a:pPr marL="0" indent="0" algn="l">
              <a:buNone/>
            </a:pPr>
            <a:r>
              <a:rPr lang="en-US" sz="1000" b="1" dirty="0">
                <a:solidFill>
                  <a:srgbClr val="534AB7"/>
                </a:solidFill>
                <a:latin typeface="Georgia" pitchFamily="34" charset="0"/>
                <a:ea typeface="Georgia" pitchFamily="34" charset="-122"/>
                <a:cs typeface="Georgia" pitchFamily="34" charset="-120"/>
              </a:rPr>
              <a:t>Test Review</a:t>
            </a:r>
            <a:endParaRPr lang="en-US" sz="1000" dirty="0"/>
          </a:p>
        </p:txBody>
      </p:sp>
      <p:sp>
        <p:nvSpPr>
          <p:cNvPr id="72" name="Text 70"/>
          <p:cNvSpPr/>
          <p:nvPr/>
        </p:nvSpPr>
        <p:spPr>
          <a:xfrm>
            <a:off x="7863840" y="4736592"/>
            <a:ext cx="2103120" cy="219456"/>
          </a:xfrm>
          <a:prstGeom prst="rect">
            <a:avLst/>
          </a:prstGeom>
          <a:noFill/>
          <a:ln/>
        </p:spPr>
        <p:txBody>
          <a:bodyPr wrap="square" lIns="0" tIns="0" rIns="0" bIns="0" rtlCol="0" anchor="ctr"/>
          <a:lstStyle/>
          <a:p>
            <a:pPr marL="0" indent="0" algn="l">
              <a:buNone/>
            </a:pPr>
            <a:r>
              <a:rPr lang="en-US" sz="850" dirty="0">
                <a:solidFill>
                  <a:srgbClr val="26215C"/>
                </a:solidFill>
                <a:latin typeface="Calibri" pitchFamily="34" charset="0"/>
                <a:ea typeface="Calibri" pitchFamily="34" charset="-122"/>
                <a:cs typeface="Calibri" pitchFamily="34" charset="-120"/>
              </a:rPr>
              <a:t>Checks test quality + coverage</a:t>
            </a:r>
            <a:endParaRPr lang="en-US" sz="850" dirty="0"/>
          </a:p>
        </p:txBody>
      </p:sp>
      <p:sp>
        <p:nvSpPr>
          <p:cNvPr id="73" name="Text 71"/>
          <p:cNvSpPr/>
          <p:nvPr/>
        </p:nvSpPr>
        <p:spPr>
          <a:xfrm>
            <a:off x="7772400" y="6217920"/>
            <a:ext cx="2286000" cy="219456"/>
          </a:xfrm>
          <a:prstGeom prst="rect">
            <a:avLst/>
          </a:prstGeom>
          <a:noFill/>
          <a:ln/>
        </p:spPr>
        <p:txBody>
          <a:bodyPr wrap="square" lIns="0" tIns="0" rIns="0" bIns="0" rtlCol="0" anchor="ctr"/>
          <a:lstStyle/>
          <a:p>
            <a:pPr marL="0" indent="0" algn="ctr">
              <a:buNone/>
            </a:pPr>
            <a:r>
              <a:rPr lang="en-US" sz="850" b="1" dirty="0">
                <a:solidFill>
                  <a:srgbClr val="26215C"/>
                </a:solidFill>
                <a:latin typeface="Calibri" pitchFamily="34" charset="0"/>
                <a:ea typeface="Calibri" pitchFamily="34" charset="-122"/>
                <a:cs typeface="Calibri" pitchFamily="34" charset="-120"/>
              </a:rPr>
              <a:t>Model: Amazon Nova Pro + RAG</a:t>
            </a:r>
            <a:endParaRPr lang="en-US" sz="850" dirty="0"/>
          </a:p>
        </p:txBody>
      </p:sp>
      <p:sp>
        <p:nvSpPr>
          <p:cNvPr id="74" name="Text 72"/>
          <p:cNvSpPr/>
          <p:nvPr/>
        </p:nvSpPr>
        <p:spPr>
          <a:xfrm>
            <a:off x="7772400" y="6455664"/>
            <a:ext cx="2286000" cy="237744"/>
          </a:xfrm>
          <a:prstGeom prst="rect">
            <a:avLst/>
          </a:prstGeom>
          <a:noFill/>
          <a:ln/>
        </p:spPr>
        <p:txBody>
          <a:bodyPr wrap="square" lIns="0" tIns="0" rIns="0" bIns="0" rtlCol="0" anchor="ctr"/>
          <a:lstStyle/>
          <a:p>
            <a:pPr marL="0" indent="0" algn="ctr">
              <a:buNone/>
            </a:pPr>
            <a:r>
              <a:rPr lang="en-US" sz="800" dirty="0">
                <a:solidFill>
                  <a:srgbClr val="534AB7"/>
                </a:solidFill>
                <a:latin typeface="Calibri" pitchFamily="34" charset="0"/>
                <a:ea typeface="Calibri" pitchFamily="34" charset="-122"/>
                <a:cs typeface="Calibri" pitchFamily="34" charset="-120"/>
              </a:rPr>
              <a:t>★ Different model family from transform agents — genuine cross-validation</a:t>
            </a:r>
            <a:endParaRPr lang="en-US" sz="800" dirty="0"/>
          </a:p>
        </p:txBody>
      </p:sp>
      <p:sp>
        <p:nvSpPr>
          <p:cNvPr id="75" name="Shape 73"/>
          <p:cNvSpPr/>
          <p:nvPr/>
        </p:nvSpPr>
        <p:spPr>
          <a:xfrm>
            <a:off x="10241280" y="1792224"/>
            <a:ext cx="1737360" cy="4114800"/>
          </a:xfrm>
          <a:prstGeom prst="rect">
            <a:avLst/>
          </a:prstGeom>
          <a:solidFill>
            <a:srgbClr val="E1F5EE"/>
          </a:solidFill>
          <a:ln w="12700">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76" name="Shape 74"/>
          <p:cNvSpPr/>
          <p:nvPr/>
        </p:nvSpPr>
        <p:spPr>
          <a:xfrm>
            <a:off x="10241280" y="1792224"/>
            <a:ext cx="1737360" cy="50292"/>
          </a:xfrm>
          <a:prstGeom prst="rect">
            <a:avLst/>
          </a:prstGeom>
          <a:solidFill>
            <a:srgbClr val="1D9E75"/>
          </a:solidFill>
          <a:ln w="12700">
            <a:solidFill>
              <a:srgbClr val="1D9E75">
                <a:alpha val="0"/>
              </a:srgbClr>
            </a:solidFill>
            <a:prstDash val="solid"/>
          </a:ln>
        </p:spPr>
        <p:txBody>
          <a:bodyPr/>
          <a:lstStyle/>
          <a:p>
            <a:endParaRPr lang="en-US"/>
          </a:p>
        </p:txBody>
      </p:sp>
      <p:sp>
        <p:nvSpPr>
          <p:cNvPr id="77" name="Text 75"/>
          <p:cNvSpPr/>
          <p:nvPr/>
        </p:nvSpPr>
        <p:spPr>
          <a:xfrm>
            <a:off x="10241280" y="1842516"/>
            <a:ext cx="1737360" cy="256032"/>
          </a:xfrm>
          <a:prstGeom prst="rect">
            <a:avLst/>
          </a:prstGeom>
          <a:noFill/>
          <a:ln/>
        </p:spPr>
        <p:txBody>
          <a:bodyPr wrap="square" lIns="0" tIns="0" rIns="0" bIns="0" rtlCol="0" anchor="ctr"/>
          <a:lstStyle/>
          <a:p>
            <a:pPr marL="0" indent="0" algn="ctr">
              <a:buNone/>
            </a:pPr>
            <a:r>
              <a:rPr lang="en-US" sz="900" b="1" dirty="0">
                <a:solidFill>
                  <a:srgbClr val="085041"/>
                </a:solidFill>
                <a:latin typeface="Georgia" pitchFamily="34" charset="0"/>
                <a:ea typeface="Georgia" pitchFamily="34" charset="-122"/>
                <a:cs typeface="Georgia" pitchFamily="34" charset="-120"/>
              </a:rPr>
              <a:t>Target Output</a:t>
            </a:r>
            <a:endParaRPr lang="en-US" sz="900" dirty="0"/>
          </a:p>
        </p:txBody>
      </p:sp>
      <p:sp>
        <p:nvSpPr>
          <p:cNvPr id="78" name="Shape 76"/>
          <p:cNvSpPr/>
          <p:nvPr/>
        </p:nvSpPr>
        <p:spPr>
          <a:xfrm>
            <a:off x="10332720" y="2148840"/>
            <a:ext cx="1554480" cy="384048"/>
          </a:xfrm>
          <a:prstGeom prst="rect">
            <a:avLst/>
          </a:prstGeom>
          <a:solidFill>
            <a:srgbClr val="C7EAD8"/>
          </a:solidFill>
          <a:ln w="6350">
            <a:solidFill>
              <a:srgbClr val="C7EAD8"/>
            </a:solidFill>
            <a:prstDash val="solid"/>
          </a:ln>
          <a:effectLst>
            <a:outerShdw blurRad="101600" dist="1016" dir="8100000" algn="bl" rotWithShape="0">
              <a:srgbClr val="000000">
                <a:alpha val="9000"/>
              </a:srgbClr>
            </a:outerShdw>
          </a:effectLst>
        </p:spPr>
        <p:txBody>
          <a:bodyPr/>
          <a:lstStyle/>
          <a:p>
            <a:endParaRPr lang="en-US"/>
          </a:p>
        </p:txBody>
      </p:sp>
      <p:sp>
        <p:nvSpPr>
          <p:cNvPr id="79" name="Text 77"/>
          <p:cNvSpPr/>
          <p:nvPr/>
        </p:nvSpPr>
        <p:spPr>
          <a:xfrm>
            <a:off x="10332720" y="2148840"/>
            <a:ext cx="1554480" cy="384048"/>
          </a:xfrm>
          <a:prstGeom prst="rect">
            <a:avLst/>
          </a:prstGeom>
          <a:noFill/>
          <a:ln/>
        </p:spPr>
        <p:txBody>
          <a:bodyPr wrap="square" lIns="0" tIns="0" rIns="0" bIns="0" rtlCol="0" anchor="ctr"/>
          <a:lstStyle/>
          <a:p>
            <a:pPr marL="0" indent="0" algn="ctr">
              <a:buNone/>
            </a:pPr>
            <a:r>
              <a:rPr lang="en-US" sz="850" b="1" dirty="0">
                <a:solidFill>
                  <a:srgbClr val="085041"/>
                </a:solidFill>
                <a:latin typeface="Calibri" pitchFamily="34" charset="0"/>
                <a:ea typeface="Calibri" pitchFamily="34" charset="-122"/>
                <a:cs typeface="Calibri" pitchFamily="34" charset="-120"/>
              </a:rPr>
              <a:t>@Controller</a:t>
            </a:r>
            <a:endParaRPr lang="en-US" sz="850" dirty="0"/>
          </a:p>
        </p:txBody>
      </p:sp>
      <p:sp>
        <p:nvSpPr>
          <p:cNvPr id="80" name="Shape 78"/>
          <p:cNvSpPr/>
          <p:nvPr/>
        </p:nvSpPr>
        <p:spPr>
          <a:xfrm>
            <a:off x="10332720" y="2642616"/>
            <a:ext cx="1554480" cy="384048"/>
          </a:xfrm>
          <a:prstGeom prst="rect">
            <a:avLst/>
          </a:prstGeom>
          <a:solidFill>
            <a:srgbClr val="C7EAD8"/>
          </a:solidFill>
          <a:ln w="6350">
            <a:solidFill>
              <a:srgbClr val="C7EAD8"/>
            </a:solidFill>
            <a:prstDash val="solid"/>
          </a:ln>
          <a:effectLst>
            <a:outerShdw blurRad="101600" dist="1016" dir="8100000" algn="bl" rotWithShape="0">
              <a:srgbClr val="000000">
                <a:alpha val="9000"/>
              </a:srgbClr>
            </a:outerShdw>
          </a:effectLst>
        </p:spPr>
        <p:txBody>
          <a:bodyPr/>
          <a:lstStyle/>
          <a:p>
            <a:endParaRPr lang="en-US"/>
          </a:p>
        </p:txBody>
      </p:sp>
      <p:sp>
        <p:nvSpPr>
          <p:cNvPr id="81" name="Text 79"/>
          <p:cNvSpPr/>
          <p:nvPr/>
        </p:nvSpPr>
        <p:spPr>
          <a:xfrm>
            <a:off x="10332720" y="2642616"/>
            <a:ext cx="1554480" cy="384048"/>
          </a:xfrm>
          <a:prstGeom prst="rect">
            <a:avLst/>
          </a:prstGeom>
          <a:noFill/>
          <a:ln/>
        </p:spPr>
        <p:txBody>
          <a:bodyPr wrap="square" lIns="0" tIns="0" rIns="0" bIns="0" rtlCol="0" anchor="ctr"/>
          <a:lstStyle/>
          <a:p>
            <a:pPr marL="0" indent="0" algn="ctr">
              <a:buNone/>
            </a:pPr>
            <a:r>
              <a:rPr lang="en-US" sz="850" b="1" dirty="0">
                <a:solidFill>
                  <a:srgbClr val="085041"/>
                </a:solidFill>
                <a:latin typeface="Calibri" pitchFamily="34" charset="0"/>
                <a:ea typeface="Calibri" pitchFamily="34" charset="-122"/>
                <a:cs typeface="Calibri" pitchFamily="34" charset="-120"/>
              </a:rPr>
              <a:t>@RequestMapping</a:t>
            </a:r>
            <a:endParaRPr lang="en-US" sz="850" dirty="0"/>
          </a:p>
        </p:txBody>
      </p:sp>
      <p:sp>
        <p:nvSpPr>
          <p:cNvPr id="82" name="Shape 80"/>
          <p:cNvSpPr/>
          <p:nvPr/>
        </p:nvSpPr>
        <p:spPr>
          <a:xfrm>
            <a:off x="10332720" y="3136392"/>
            <a:ext cx="1554480" cy="384048"/>
          </a:xfrm>
          <a:prstGeom prst="rect">
            <a:avLst/>
          </a:prstGeom>
          <a:solidFill>
            <a:srgbClr val="C7EAD8"/>
          </a:solidFill>
          <a:ln w="6350">
            <a:solidFill>
              <a:srgbClr val="C7EAD8"/>
            </a:solidFill>
            <a:prstDash val="solid"/>
          </a:ln>
          <a:effectLst>
            <a:outerShdw blurRad="101600" dist="1016" dir="8100000" algn="bl" rotWithShape="0">
              <a:srgbClr val="000000">
                <a:alpha val="9000"/>
              </a:srgbClr>
            </a:outerShdw>
          </a:effectLst>
        </p:spPr>
        <p:txBody>
          <a:bodyPr/>
          <a:lstStyle/>
          <a:p>
            <a:endParaRPr lang="en-US"/>
          </a:p>
        </p:txBody>
      </p:sp>
      <p:sp>
        <p:nvSpPr>
          <p:cNvPr id="83" name="Text 81"/>
          <p:cNvSpPr/>
          <p:nvPr/>
        </p:nvSpPr>
        <p:spPr>
          <a:xfrm>
            <a:off x="10332720" y="3136392"/>
            <a:ext cx="1554480" cy="384048"/>
          </a:xfrm>
          <a:prstGeom prst="rect">
            <a:avLst/>
          </a:prstGeom>
          <a:noFill/>
          <a:ln/>
        </p:spPr>
        <p:txBody>
          <a:bodyPr wrap="square" lIns="0" tIns="0" rIns="0" bIns="0" rtlCol="0" anchor="ctr"/>
          <a:lstStyle/>
          <a:p>
            <a:pPr marL="0" indent="0" algn="ctr">
              <a:buNone/>
            </a:pPr>
            <a:r>
              <a:rPr lang="en-US" sz="850" b="1" dirty="0">
                <a:solidFill>
                  <a:srgbClr val="085041"/>
                </a:solidFill>
                <a:latin typeface="Calibri" pitchFamily="34" charset="0"/>
                <a:ea typeface="Calibri" pitchFamily="34" charset="-122"/>
                <a:cs typeface="Calibri" pitchFamily="34" charset="-120"/>
              </a:rPr>
              <a:t>@ModelAttribute</a:t>
            </a:r>
            <a:endParaRPr lang="en-US" sz="850" dirty="0"/>
          </a:p>
        </p:txBody>
      </p:sp>
      <p:sp>
        <p:nvSpPr>
          <p:cNvPr id="84" name="Shape 82"/>
          <p:cNvSpPr/>
          <p:nvPr/>
        </p:nvSpPr>
        <p:spPr>
          <a:xfrm>
            <a:off x="10332720" y="3630168"/>
            <a:ext cx="1554480" cy="384048"/>
          </a:xfrm>
          <a:prstGeom prst="rect">
            <a:avLst/>
          </a:prstGeom>
          <a:solidFill>
            <a:srgbClr val="C7EAD8"/>
          </a:solidFill>
          <a:ln w="6350">
            <a:solidFill>
              <a:srgbClr val="C7EAD8"/>
            </a:solidFill>
            <a:prstDash val="solid"/>
          </a:ln>
          <a:effectLst>
            <a:outerShdw blurRad="101600" dist="1016" dir="8100000" algn="bl" rotWithShape="0">
              <a:srgbClr val="000000">
                <a:alpha val="9000"/>
              </a:srgbClr>
            </a:outerShdw>
          </a:effectLst>
        </p:spPr>
        <p:txBody>
          <a:bodyPr/>
          <a:lstStyle/>
          <a:p>
            <a:endParaRPr lang="en-US"/>
          </a:p>
        </p:txBody>
      </p:sp>
      <p:sp>
        <p:nvSpPr>
          <p:cNvPr id="85" name="Text 83"/>
          <p:cNvSpPr/>
          <p:nvPr/>
        </p:nvSpPr>
        <p:spPr>
          <a:xfrm>
            <a:off x="10332720" y="3630168"/>
            <a:ext cx="1554480" cy="384048"/>
          </a:xfrm>
          <a:prstGeom prst="rect">
            <a:avLst/>
          </a:prstGeom>
          <a:noFill/>
          <a:ln/>
        </p:spPr>
        <p:txBody>
          <a:bodyPr wrap="square" lIns="0" tIns="0" rIns="0" bIns="0" rtlCol="0" anchor="ctr"/>
          <a:lstStyle/>
          <a:p>
            <a:pPr marL="0" indent="0" algn="ctr">
              <a:buNone/>
            </a:pPr>
            <a:r>
              <a:rPr lang="en-US" sz="850" b="1" dirty="0">
                <a:solidFill>
                  <a:srgbClr val="085041"/>
                </a:solidFill>
                <a:latin typeface="Calibri" pitchFamily="34" charset="0"/>
                <a:ea typeface="Calibri" pitchFamily="34" charset="-122"/>
                <a:cs typeface="Calibri" pitchFamily="34" charset="-120"/>
              </a:rPr>
              <a:t>HandlerInterceptor</a:t>
            </a:r>
            <a:endParaRPr lang="en-US" sz="850" dirty="0"/>
          </a:p>
        </p:txBody>
      </p:sp>
      <p:sp>
        <p:nvSpPr>
          <p:cNvPr id="86" name="Shape 84"/>
          <p:cNvSpPr/>
          <p:nvPr/>
        </p:nvSpPr>
        <p:spPr>
          <a:xfrm>
            <a:off x="10332720" y="4123944"/>
            <a:ext cx="1554480" cy="384048"/>
          </a:xfrm>
          <a:prstGeom prst="rect">
            <a:avLst/>
          </a:prstGeom>
          <a:solidFill>
            <a:srgbClr val="C7EAD8"/>
          </a:solidFill>
          <a:ln w="6350">
            <a:solidFill>
              <a:srgbClr val="C7EAD8"/>
            </a:solidFill>
            <a:prstDash val="solid"/>
          </a:ln>
          <a:effectLst>
            <a:outerShdw blurRad="101600" dist="1016" dir="8100000" algn="bl" rotWithShape="0">
              <a:srgbClr val="000000">
                <a:alpha val="9000"/>
              </a:srgbClr>
            </a:outerShdw>
          </a:effectLst>
        </p:spPr>
        <p:txBody>
          <a:bodyPr/>
          <a:lstStyle/>
          <a:p>
            <a:endParaRPr lang="en-US"/>
          </a:p>
        </p:txBody>
      </p:sp>
      <p:sp>
        <p:nvSpPr>
          <p:cNvPr id="87" name="Text 85"/>
          <p:cNvSpPr/>
          <p:nvPr/>
        </p:nvSpPr>
        <p:spPr>
          <a:xfrm>
            <a:off x="10332720" y="4123944"/>
            <a:ext cx="1554480" cy="384048"/>
          </a:xfrm>
          <a:prstGeom prst="rect">
            <a:avLst/>
          </a:prstGeom>
          <a:noFill/>
          <a:ln/>
        </p:spPr>
        <p:txBody>
          <a:bodyPr wrap="square" lIns="0" tIns="0" rIns="0" bIns="0" rtlCol="0" anchor="ctr"/>
          <a:lstStyle/>
          <a:p>
            <a:pPr marL="0" indent="0" algn="ctr">
              <a:buNone/>
            </a:pPr>
            <a:r>
              <a:rPr lang="en-US" sz="850" b="1" dirty="0">
                <a:solidFill>
                  <a:srgbClr val="085041"/>
                </a:solidFill>
                <a:latin typeface="Calibri" pitchFamily="34" charset="0"/>
                <a:ea typeface="Calibri" pitchFamily="34" charset="-122"/>
                <a:cs typeface="Calibri" pitchFamily="34" charset="-120"/>
              </a:rPr>
              <a:t>JSTL / form:</a:t>
            </a:r>
            <a:endParaRPr lang="en-US" sz="850" dirty="0"/>
          </a:p>
        </p:txBody>
      </p:sp>
      <p:sp>
        <p:nvSpPr>
          <p:cNvPr id="88" name="Shape 86"/>
          <p:cNvSpPr/>
          <p:nvPr/>
        </p:nvSpPr>
        <p:spPr>
          <a:xfrm>
            <a:off x="10332720" y="4617720"/>
            <a:ext cx="1554480" cy="384048"/>
          </a:xfrm>
          <a:prstGeom prst="rect">
            <a:avLst/>
          </a:prstGeom>
          <a:solidFill>
            <a:srgbClr val="C7EAD8"/>
          </a:solidFill>
          <a:ln w="6350">
            <a:solidFill>
              <a:srgbClr val="C7EAD8"/>
            </a:solidFill>
            <a:prstDash val="solid"/>
          </a:ln>
          <a:effectLst>
            <a:outerShdw blurRad="101600" dist="1016" dir="8100000" algn="bl" rotWithShape="0">
              <a:srgbClr val="000000">
                <a:alpha val="9000"/>
              </a:srgbClr>
            </a:outerShdw>
          </a:effectLst>
        </p:spPr>
        <p:txBody>
          <a:bodyPr/>
          <a:lstStyle/>
          <a:p>
            <a:endParaRPr lang="en-US"/>
          </a:p>
        </p:txBody>
      </p:sp>
      <p:sp>
        <p:nvSpPr>
          <p:cNvPr id="89" name="Text 87"/>
          <p:cNvSpPr/>
          <p:nvPr/>
        </p:nvSpPr>
        <p:spPr>
          <a:xfrm>
            <a:off x="10332720" y="4617720"/>
            <a:ext cx="1554480" cy="384048"/>
          </a:xfrm>
          <a:prstGeom prst="rect">
            <a:avLst/>
          </a:prstGeom>
          <a:noFill/>
          <a:ln/>
        </p:spPr>
        <p:txBody>
          <a:bodyPr wrap="square" lIns="0" tIns="0" rIns="0" bIns="0" rtlCol="0" anchor="ctr"/>
          <a:lstStyle/>
          <a:p>
            <a:pPr marL="0" indent="0" algn="ctr">
              <a:buNone/>
            </a:pPr>
            <a:r>
              <a:rPr lang="en-US" sz="850" b="1" dirty="0">
                <a:solidFill>
                  <a:srgbClr val="085041"/>
                </a:solidFill>
                <a:latin typeface="Calibri" pitchFamily="34" charset="0"/>
                <a:ea typeface="Calibri" pitchFamily="34" charset="-122"/>
                <a:cs typeface="Calibri" pitchFamily="34" charset="-120"/>
              </a:rPr>
              <a:t>JUnit 5 tests</a:t>
            </a:r>
            <a:endParaRPr lang="en-US" sz="850" dirty="0"/>
          </a:p>
        </p:txBody>
      </p:sp>
      <p:sp>
        <p:nvSpPr>
          <p:cNvPr id="90" name="Shape 88"/>
          <p:cNvSpPr/>
          <p:nvPr/>
        </p:nvSpPr>
        <p:spPr>
          <a:xfrm>
            <a:off x="10241280" y="5212080"/>
            <a:ext cx="1737360" cy="475488"/>
          </a:xfrm>
          <a:prstGeom prst="rect">
            <a:avLst/>
          </a:prstGeom>
          <a:solidFill>
            <a:srgbClr val="E05252"/>
          </a:solidFill>
          <a:ln w="15240">
            <a:solidFill>
              <a:srgbClr val="E05252"/>
            </a:solidFill>
            <a:prstDash val="solid"/>
          </a:ln>
          <a:effectLst>
            <a:outerShdw blurRad="101600" dist="1016" dir="8100000" algn="bl" rotWithShape="0">
              <a:srgbClr val="000000">
                <a:alpha val="9000"/>
              </a:srgbClr>
            </a:outerShdw>
          </a:effectLst>
        </p:spPr>
        <p:txBody>
          <a:bodyPr/>
          <a:lstStyle/>
          <a:p>
            <a:endParaRPr lang="en-US"/>
          </a:p>
        </p:txBody>
      </p:sp>
      <p:sp>
        <p:nvSpPr>
          <p:cNvPr id="91" name="Text 89"/>
          <p:cNvSpPr/>
          <p:nvPr/>
        </p:nvSpPr>
        <p:spPr>
          <a:xfrm>
            <a:off x="10241280" y="5212080"/>
            <a:ext cx="1737360" cy="475488"/>
          </a:xfrm>
          <a:prstGeom prst="rect">
            <a:avLst/>
          </a:prstGeom>
          <a:noFill/>
          <a:ln/>
        </p:spPr>
        <p:txBody>
          <a:bodyPr wrap="square" lIns="0" tIns="0" rIns="0" bIns="0" rtlCol="0" anchor="ctr"/>
          <a:lstStyle/>
          <a:p>
            <a:pPr marL="0" indent="0" algn="ctr">
              <a:buNone/>
            </a:pPr>
            <a:r>
              <a:rPr lang="en-US" sz="1000" b="1" dirty="0">
                <a:solidFill>
                  <a:srgbClr val="FFFFFF"/>
                </a:solidFill>
                <a:latin typeface="Georgia" pitchFamily="34" charset="0"/>
                <a:ea typeface="Georgia" pitchFamily="34" charset="-122"/>
                <a:cs typeface="Georgia" pitchFamily="34" charset="-120"/>
              </a:rPr>
              <a:t>NO STRUTS</a:t>
            </a:r>
            <a:endParaRPr lang="en-US" sz="1000" dirty="0"/>
          </a:p>
          <a:p>
            <a:pPr marL="0" indent="0" algn="ctr">
              <a:buNone/>
            </a:pPr>
            <a:r>
              <a:rPr lang="en-US" sz="1000" b="1" dirty="0">
                <a:solidFill>
                  <a:srgbClr val="FFFFFF"/>
                </a:solidFill>
                <a:latin typeface="Georgia" pitchFamily="34" charset="0"/>
                <a:ea typeface="Georgia" pitchFamily="34" charset="-122"/>
                <a:cs typeface="Georgia" pitchFamily="34" charset="-120"/>
              </a:rPr>
              <a:t>IN OUTPUT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623"/>
          </a:solidFill>
          <a:ln w="12700">
            <a:solidFill>
              <a:srgbClr val="F5A623">
                <a:alpha val="0"/>
              </a:srgbClr>
            </a:solidFill>
            <a:prstDash val="solid"/>
          </a:ln>
        </p:spPr>
        <p:txBody>
          <a:bodyPr/>
          <a:lstStyle/>
          <a:p>
            <a:endParaRPr lang="en-US"/>
          </a:p>
        </p:txBody>
      </p:sp>
      <p:sp>
        <p:nvSpPr>
          <p:cNvPr id="3" name="Text 1"/>
          <p:cNvSpPr/>
          <p:nvPr/>
        </p:nvSpPr>
        <p:spPr>
          <a:xfrm>
            <a:off x="219456" y="128016"/>
            <a:ext cx="457200" cy="274320"/>
          </a:xfrm>
          <a:prstGeom prst="rect">
            <a:avLst/>
          </a:prstGeom>
          <a:noFill/>
          <a:ln/>
        </p:spPr>
        <p:txBody>
          <a:bodyPr wrap="square" lIns="0" tIns="0" rIns="0" bIns="0" rtlCol="0" anchor="ctr"/>
          <a:lstStyle/>
          <a:p>
            <a:pPr marL="0" indent="0" algn="l">
              <a:buNone/>
            </a:pPr>
            <a:r>
              <a:rPr lang="en-US" sz="1000" kern="0" spc="200" dirty="0">
                <a:solidFill>
                  <a:srgbClr val="7A95B4"/>
                </a:solidFill>
                <a:latin typeface="Calibri" pitchFamily="34" charset="0"/>
                <a:ea typeface="Calibri" pitchFamily="34" charset="-122"/>
                <a:cs typeface="Calibri" pitchFamily="34" charset="-120"/>
              </a:rPr>
              <a:t>03  ·</a:t>
            </a:r>
            <a:endParaRPr lang="en-US" sz="1000" dirty="0"/>
          </a:p>
        </p:txBody>
      </p:sp>
      <p:sp>
        <p:nvSpPr>
          <p:cNvPr id="4" name="Text 2"/>
          <p:cNvSpPr/>
          <p:nvPr/>
        </p:nvSpPr>
        <p:spPr>
          <a:xfrm>
            <a:off x="219456" y="100584"/>
            <a:ext cx="11704320" cy="475488"/>
          </a:xfrm>
          <a:prstGeom prst="rect">
            <a:avLst/>
          </a:prstGeom>
          <a:noFill/>
          <a:ln/>
        </p:spPr>
        <p:txBody>
          <a:bodyPr wrap="square" lIns="0" tIns="0" rIns="0" bIns="0" rtlCol="0" anchor="ctr"/>
          <a:lstStyle/>
          <a:p>
            <a:pPr marL="0" indent="0" algn="l">
              <a:buNone/>
            </a:pPr>
            <a:r>
              <a:rPr lang="en-US" sz="3000" b="1" dirty="0">
                <a:solidFill>
                  <a:srgbClr val="FFFFFF"/>
                </a:solidFill>
                <a:latin typeface="Georgia" pitchFamily="34" charset="0"/>
                <a:ea typeface="Georgia" pitchFamily="34" charset="-122"/>
                <a:cs typeface="Georgia" pitchFamily="34" charset="-120"/>
              </a:rPr>
              <a:t>The Guardrails Agent</a:t>
            </a:r>
            <a:endParaRPr lang="en-US" sz="3000" dirty="0"/>
          </a:p>
        </p:txBody>
      </p:sp>
      <p:sp>
        <p:nvSpPr>
          <p:cNvPr id="5" name="Text 3"/>
          <p:cNvSpPr/>
          <p:nvPr/>
        </p:nvSpPr>
        <p:spPr>
          <a:xfrm>
            <a:off x="219456" y="603504"/>
            <a:ext cx="10789920" cy="310896"/>
          </a:xfrm>
          <a:prstGeom prst="rect">
            <a:avLst/>
          </a:prstGeom>
          <a:noFill/>
          <a:ln/>
        </p:spPr>
        <p:txBody>
          <a:bodyPr wrap="square" lIns="0" tIns="0" rIns="0" bIns="0" rtlCol="0" anchor="ctr"/>
          <a:lstStyle/>
          <a:p>
            <a:pPr marL="0" indent="0" algn="l">
              <a:buNone/>
            </a:pPr>
            <a:r>
              <a:rPr lang="en-US" sz="1300" i="1" dirty="0">
                <a:solidFill>
                  <a:srgbClr val="FDD17A"/>
                </a:solidFill>
                <a:latin typeface="Georgia" pitchFamily="34" charset="0"/>
                <a:ea typeface="Georgia" pitchFamily="34" charset="-122"/>
                <a:cs typeface="Georgia" pitchFamily="34" charset="-120"/>
              </a:rPr>
              <a:t>The safety net — checks every file before transformation and again before it is written to disk.</a:t>
            </a:r>
            <a:endParaRPr lang="en-US" sz="1300" dirty="0"/>
          </a:p>
        </p:txBody>
      </p:sp>
      <p:sp>
        <p:nvSpPr>
          <p:cNvPr id="6" name="Shape 4"/>
          <p:cNvSpPr/>
          <p:nvPr/>
        </p:nvSpPr>
        <p:spPr>
          <a:xfrm>
            <a:off x="219456" y="969264"/>
            <a:ext cx="11704320" cy="22860"/>
          </a:xfrm>
          <a:prstGeom prst="rect">
            <a:avLst/>
          </a:prstGeom>
          <a:solidFill>
            <a:srgbClr val="F5A623">
              <a:alpha val="45000"/>
            </a:srgbClr>
          </a:solidFill>
          <a:ln w="12700">
            <a:solidFill>
              <a:srgbClr val="F5A623">
                <a:alpha val="0"/>
              </a:srgbClr>
            </a:solidFill>
            <a:prstDash val="solid"/>
          </a:ln>
        </p:spPr>
        <p:txBody>
          <a:bodyPr/>
          <a:lstStyle/>
          <a:p>
            <a:endParaRPr lang="en-US"/>
          </a:p>
        </p:txBody>
      </p:sp>
      <p:sp>
        <p:nvSpPr>
          <p:cNvPr id="7" name="Shape 5"/>
          <p:cNvSpPr/>
          <p:nvPr/>
        </p:nvSpPr>
        <p:spPr>
          <a:xfrm>
            <a:off x="219456" y="1042416"/>
            <a:ext cx="5833872" cy="365760"/>
          </a:xfrm>
          <a:prstGeom prst="rect">
            <a:avLst/>
          </a:prstGeom>
          <a:solidFill>
            <a:srgbClr val="0F2040"/>
          </a:solidFill>
          <a:ln w="12700">
            <a:solidFill>
              <a:srgbClr val="F5A623"/>
            </a:solidFill>
            <a:prstDash val="solid"/>
          </a:ln>
          <a:effectLst>
            <a:outerShdw blurRad="101600" dist="1016" dir="8100000" algn="bl" rotWithShape="0">
              <a:srgbClr val="000000">
                <a:alpha val="9000"/>
              </a:srgbClr>
            </a:outerShdw>
          </a:effectLst>
        </p:spPr>
        <p:txBody>
          <a:bodyPr/>
          <a:lstStyle/>
          <a:p>
            <a:endParaRPr lang="en-US"/>
          </a:p>
        </p:txBody>
      </p:sp>
      <p:sp>
        <p:nvSpPr>
          <p:cNvPr id="8" name="Text 6"/>
          <p:cNvSpPr/>
          <p:nvPr/>
        </p:nvSpPr>
        <p:spPr>
          <a:xfrm>
            <a:off x="310896" y="1042416"/>
            <a:ext cx="5650992" cy="365760"/>
          </a:xfrm>
          <a:prstGeom prst="rect">
            <a:avLst/>
          </a:prstGeom>
          <a:noFill/>
          <a:ln/>
        </p:spPr>
        <p:txBody>
          <a:bodyPr wrap="square" lIns="0" tIns="0" rIns="0" bIns="0" rtlCol="0" anchor="ctr"/>
          <a:lstStyle/>
          <a:p>
            <a:pPr marL="0" indent="0" algn="l">
              <a:buNone/>
            </a:pPr>
            <a:r>
              <a:rPr lang="en-US" sz="1000" b="1" dirty="0">
                <a:solidFill>
                  <a:srgbClr val="F5A623"/>
                </a:solidFill>
                <a:latin typeface="Georgia" pitchFamily="34" charset="0"/>
                <a:ea typeface="Georgia" pitchFamily="34" charset="-122"/>
                <a:cs typeface="Georgia" pitchFamily="34" charset="-120"/>
              </a:rPr>
              <a:t>Checkpoint 1  —  BEFORE transformation</a:t>
            </a:r>
            <a:endParaRPr lang="en-US" sz="1000" dirty="0"/>
          </a:p>
        </p:txBody>
      </p:sp>
      <p:sp>
        <p:nvSpPr>
          <p:cNvPr id="9" name="Text 7"/>
          <p:cNvSpPr/>
          <p:nvPr/>
        </p:nvSpPr>
        <p:spPr>
          <a:xfrm>
            <a:off x="219456" y="1481328"/>
            <a:ext cx="5833872" cy="310896"/>
          </a:xfrm>
          <a:prstGeom prst="rect">
            <a:avLst/>
          </a:prstGeom>
          <a:noFill/>
          <a:ln/>
        </p:spPr>
        <p:txBody>
          <a:bodyPr wrap="square" lIns="0" tIns="0" rIns="0" bIns="0" rtlCol="0" anchor="ctr"/>
          <a:lstStyle/>
          <a:p>
            <a:pPr marL="0" indent="0" algn="l">
              <a:buNone/>
            </a:pPr>
            <a:r>
              <a:rPr lang="en-US" sz="1000" i="1" dirty="0">
                <a:solidFill>
                  <a:srgbClr val="2A3C52"/>
                </a:solidFill>
                <a:latin typeface="Georgia" pitchFamily="34" charset="0"/>
                <a:ea typeface="Georgia" pitchFamily="34" charset="-122"/>
                <a:cs typeface="Georgia" pitchFamily="34" charset="-120"/>
              </a:rPr>
              <a:t>Think of it as airport security — no file boards the plane without passing these checks.</a:t>
            </a:r>
            <a:endParaRPr lang="en-US" sz="1000" dirty="0"/>
          </a:p>
        </p:txBody>
      </p:sp>
      <p:sp>
        <p:nvSpPr>
          <p:cNvPr id="10" name="Shape 8"/>
          <p:cNvSpPr/>
          <p:nvPr/>
        </p:nvSpPr>
        <p:spPr>
          <a:xfrm>
            <a:off x="219456" y="1865376"/>
            <a:ext cx="5833872" cy="1005840"/>
          </a:xfrm>
          <a:prstGeom prst="rect">
            <a:avLst/>
          </a:prstGeom>
          <a:solidFill>
            <a:srgbClr val="FEF6E7"/>
          </a:solidFill>
          <a:ln w="7620">
            <a:solidFill>
              <a:srgbClr val="F5A623"/>
            </a:solidFill>
            <a:prstDash val="solid"/>
          </a:ln>
          <a:effectLst>
            <a:outerShdw blurRad="101600" dist="1016" dir="8100000" algn="bl" rotWithShape="0">
              <a:srgbClr val="000000">
                <a:alpha val="9000"/>
              </a:srgbClr>
            </a:outerShdw>
          </a:effectLst>
        </p:spPr>
        <p:txBody>
          <a:bodyPr/>
          <a:lstStyle/>
          <a:p>
            <a:endParaRPr lang="en-US"/>
          </a:p>
        </p:txBody>
      </p:sp>
      <p:sp>
        <p:nvSpPr>
          <p:cNvPr id="11" name="Shape 9"/>
          <p:cNvSpPr/>
          <p:nvPr/>
        </p:nvSpPr>
        <p:spPr>
          <a:xfrm>
            <a:off x="310896" y="2139696"/>
            <a:ext cx="411480" cy="411480"/>
          </a:xfrm>
          <a:prstGeom prst="ellipse">
            <a:avLst/>
          </a:prstGeom>
          <a:solidFill>
            <a:srgbClr val="F5A623"/>
          </a:solidFill>
          <a:ln w="12700">
            <a:solidFill>
              <a:srgbClr val="F5A623">
                <a:alpha val="0"/>
              </a:srgbClr>
            </a:solidFill>
            <a:prstDash val="solid"/>
          </a:ln>
        </p:spPr>
        <p:txBody>
          <a:bodyPr/>
          <a:lstStyle/>
          <a:p>
            <a:endParaRPr lang="en-US"/>
          </a:p>
        </p:txBody>
      </p:sp>
      <p:sp>
        <p:nvSpPr>
          <p:cNvPr id="12" name="Text 10"/>
          <p:cNvSpPr/>
          <p:nvPr/>
        </p:nvSpPr>
        <p:spPr>
          <a:xfrm>
            <a:off x="310896" y="2139696"/>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13" name="Text 11"/>
          <p:cNvSpPr/>
          <p:nvPr/>
        </p:nvSpPr>
        <p:spPr>
          <a:xfrm>
            <a:off x="813816" y="1938528"/>
            <a:ext cx="5148072" cy="274320"/>
          </a:xfrm>
          <a:prstGeom prst="rect">
            <a:avLst/>
          </a:prstGeom>
          <a:noFill/>
          <a:ln/>
        </p:spPr>
        <p:txBody>
          <a:bodyPr wrap="square" lIns="0" tIns="0" rIns="0" bIns="0" rtlCol="0" anchor="ctr"/>
          <a:lstStyle/>
          <a:p>
            <a:pPr marL="0" indent="0" algn="l">
              <a:buNone/>
            </a:pPr>
            <a:r>
              <a:rPr lang="en-US" sz="1100" b="1" dirty="0">
                <a:solidFill>
                  <a:srgbClr val="F5A623"/>
                </a:solidFill>
                <a:latin typeface="Georgia" pitchFamily="34" charset="0"/>
                <a:ea typeface="Georgia" pitchFamily="34" charset="-122"/>
                <a:cs typeface="Georgia" pitchFamily="34" charset="-120"/>
              </a:rPr>
              <a:t>Secret scanner</a:t>
            </a:r>
            <a:endParaRPr lang="en-US" sz="1100" dirty="0"/>
          </a:p>
        </p:txBody>
      </p:sp>
      <p:sp>
        <p:nvSpPr>
          <p:cNvPr id="14" name="Text 12"/>
          <p:cNvSpPr/>
          <p:nvPr/>
        </p:nvSpPr>
        <p:spPr>
          <a:xfrm>
            <a:off x="813816" y="2231136"/>
            <a:ext cx="5148072" cy="585216"/>
          </a:xfrm>
          <a:prstGeom prst="rect">
            <a:avLst/>
          </a:prstGeom>
          <a:noFill/>
          <a:ln/>
        </p:spPr>
        <p:txBody>
          <a:bodyPr wrap="square" lIns="0" tIns="0" rIns="0" bIns="0" rtlCol="0" anchor="ctr"/>
          <a:lstStyle/>
          <a:p>
            <a:pPr marL="0" indent="0" algn="l">
              <a:buNone/>
            </a:pPr>
            <a:r>
              <a:rPr lang="en-US" sz="950" dirty="0">
                <a:solidFill>
                  <a:srgbClr val="2A3C52"/>
                </a:solidFill>
                <a:latin typeface="Calibri" pitchFamily="34" charset="0"/>
                <a:ea typeface="Calibri" pitchFamily="34" charset="-122"/>
                <a:cs typeface="Calibri" pitchFamily="34" charset="-120"/>
              </a:rPr>
              <a:t>Scans every line for embedded passwords, AWS keys, API tokens, or database credentials. If found, the file is immediately BLOCKED and logged — a file containing secrets must never be auto-transformed.</a:t>
            </a:r>
            <a:endParaRPr lang="en-US" sz="950" dirty="0"/>
          </a:p>
        </p:txBody>
      </p:sp>
      <p:sp>
        <p:nvSpPr>
          <p:cNvPr id="15" name="Shape 13"/>
          <p:cNvSpPr/>
          <p:nvPr/>
        </p:nvSpPr>
        <p:spPr>
          <a:xfrm>
            <a:off x="219456" y="2944368"/>
            <a:ext cx="5833872" cy="1005840"/>
          </a:xfrm>
          <a:prstGeom prst="rect">
            <a:avLst/>
          </a:prstGeom>
          <a:solidFill>
            <a:srgbClr val="FEF6E7"/>
          </a:solidFill>
          <a:ln w="7620">
            <a:solidFill>
              <a:srgbClr val="F5A623"/>
            </a:solidFill>
            <a:prstDash val="solid"/>
          </a:ln>
          <a:effectLst>
            <a:outerShdw blurRad="101600" dist="1016" dir="8100000" algn="bl" rotWithShape="0">
              <a:srgbClr val="000000">
                <a:alpha val="9000"/>
              </a:srgbClr>
            </a:outerShdw>
          </a:effectLst>
        </p:spPr>
        <p:txBody>
          <a:bodyPr/>
          <a:lstStyle/>
          <a:p>
            <a:endParaRPr lang="en-US"/>
          </a:p>
        </p:txBody>
      </p:sp>
      <p:sp>
        <p:nvSpPr>
          <p:cNvPr id="16" name="Shape 14"/>
          <p:cNvSpPr/>
          <p:nvPr/>
        </p:nvSpPr>
        <p:spPr>
          <a:xfrm>
            <a:off x="310896" y="3218688"/>
            <a:ext cx="411480" cy="411480"/>
          </a:xfrm>
          <a:prstGeom prst="ellipse">
            <a:avLst/>
          </a:prstGeom>
          <a:solidFill>
            <a:srgbClr val="F5A623"/>
          </a:solidFill>
          <a:ln w="12700">
            <a:solidFill>
              <a:srgbClr val="F5A623">
                <a:alpha val="0"/>
              </a:srgbClr>
            </a:solidFill>
            <a:prstDash val="solid"/>
          </a:ln>
        </p:spPr>
        <p:txBody>
          <a:bodyPr/>
          <a:lstStyle/>
          <a:p>
            <a:endParaRPr lang="en-US"/>
          </a:p>
        </p:txBody>
      </p:sp>
      <p:sp>
        <p:nvSpPr>
          <p:cNvPr id="17" name="Text 15"/>
          <p:cNvSpPr/>
          <p:nvPr/>
        </p:nvSpPr>
        <p:spPr>
          <a:xfrm>
            <a:off x="310896" y="3218688"/>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18" name="Text 16"/>
          <p:cNvSpPr/>
          <p:nvPr/>
        </p:nvSpPr>
        <p:spPr>
          <a:xfrm>
            <a:off x="813816" y="3017520"/>
            <a:ext cx="5148072" cy="274320"/>
          </a:xfrm>
          <a:prstGeom prst="rect">
            <a:avLst/>
          </a:prstGeom>
          <a:noFill/>
          <a:ln/>
        </p:spPr>
        <p:txBody>
          <a:bodyPr wrap="square" lIns="0" tIns="0" rIns="0" bIns="0" rtlCol="0" anchor="ctr"/>
          <a:lstStyle/>
          <a:p>
            <a:pPr marL="0" indent="0" algn="l">
              <a:buNone/>
            </a:pPr>
            <a:r>
              <a:rPr lang="en-US" sz="1100" b="1" dirty="0">
                <a:solidFill>
                  <a:srgbClr val="F5A623"/>
                </a:solidFill>
                <a:latin typeface="Georgia" pitchFamily="34" charset="0"/>
                <a:ea typeface="Georgia" pitchFamily="34" charset="-122"/>
                <a:cs typeface="Georgia" pitchFamily="34" charset="-120"/>
              </a:rPr>
              <a:t>Scope validator</a:t>
            </a:r>
            <a:endParaRPr lang="en-US" sz="1100" dirty="0"/>
          </a:p>
        </p:txBody>
      </p:sp>
      <p:sp>
        <p:nvSpPr>
          <p:cNvPr id="19" name="Text 17"/>
          <p:cNvSpPr/>
          <p:nvPr/>
        </p:nvSpPr>
        <p:spPr>
          <a:xfrm>
            <a:off x="813816" y="3310128"/>
            <a:ext cx="5148072" cy="585216"/>
          </a:xfrm>
          <a:prstGeom prst="rect">
            <a:avLst/>
          </a:prstGeom>
          <a:noFill/>
          <a:ln/>
        </p:spPr>
        <p:txBody>
          <a:bodyPr wrap="square" lIns="0" tIns="0" rIns="0" bIns="0" rtlCol="0" anchor="ctr"/>
          <a:lstStyle/>
          <a:p>
            <a:pPr marL="0" indent="0" algn="l">
              <a:buNone/>
            </a:pPr>
            <a:r>
              <a:rPr lang="en-US" sz="950" dirty="0">
                <a:solidFill>
                  <a:srgbClr val="2A3C52"/>
                </a:solidFill>
                <a:latin typeface="Calibri" pitchFamily="34" charset="0"/>
                <a:ea typeface="Calibri" pitchFamily="34" charset="-122"/>
                <a:cs typeface="Calibri" pitchFamily="34" charset="-120"/>
              </a:rPr>
              <a:t>Confirms this file belongs within the agreed migration scope (correct package name, correct app). Files outside scope are skipped — the agent never touches what it wasn't asked to touch.</a:t>
            </a:r>
            <a:endParaRPr lang="en-US" sz="950" dirty="0"/>
          </a:p>
        </p:txBody>
      </p:sp>
      <p:sp>
        <p:nvSpPr>
          <p:cNvPr id="20" name="Shape 18"/>
          <p:cNvSpPr/>
          <p:nvPr/>
        </p:nvSpPr>
        <p:spPr>
          <a:xfrm>
            <a:off x="219456" y="4023360"/>
            <a:ext cx="5833872" cy="1005840"/>
          </a:xfrm>
          <a:prstGeom prst="rect">
            <a:avLst/>
          </a:prstGeom>
          <a:solidFill>
            <a:srgbClr val="FEF6E7"/>
          </a:solidFill>
          <a:ln w="7620">
            <a:solidFill>
              <a:srgbClr val="F5A623"/>
            </a:solidFill>
            <a:prstDash val="solid"/>
          </a:ln>
          <a:effectLst>
            <a:outerShdw blurRad="101600" dist="1016" dir="8100000" algn="bl" rotWithShape="0">
              <a:srgbClr val="000000">
                <a:alpha val="9000"/>
              </a:srgbClr>
            </a:outerShdw>
          </a:effectLst>
        </p:spPr>
        <p:txBody>
          <a:bodyPr/>
          <a:lstStyle/>
          <a:p>
            <a:endParaRPr lang="en-US"/>
          </a:p>
        </p:txBody>
      </p:sp>
      <p:sp>
        <p:nvSpPr>
          <p:cNvPr id="21" name="Shape 19"/>
          <p:cNvSpPr/>
          <p:nvPr/>
        </p:nvSpPr>
        <p:spPr>
          <a:xfrm>
            <a:off x="310896" y="4297680"/>
            <a:ext cx="411480" cy="411480"/>
          </a:xfrm>
          <a:prstGeom prst="ellipse">
            <a:avLst/>
          </a:prstGeom>
          <a:solidFill>
            <a:srgbClr val="F5A623"/>
          </a:solidFill>
          <a:ln w="12700">
            <a:solidFill>
              <a:srgbClr val="F5A623">
                <a:alpha val="0"/>
              </a:srgbClr>
            </a:solidFill>
            <a:prstDash val="solid"/>
          </a:ln>
        </p:spPr>
        <p:txBody>
          <a:bodyPr/>
          <a:lstStyle/>
          <a:p>
            <a:endParaRPr lang="en-US"/>
          </a:p>
        </p:txBody>
      </p:sp>
      <p:sp>
        <p:nvSpPr>
          <p:cNvPr id="22" name="Text 20"/>
          <p:cNvSpPr/>
          <p:nvPr/>
        </p:nvSpPr>
        <p:spPr>
          <a:xfrm>
            <a:off x="310896" y="4297680"/>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23" name="Text 21"/>
          <p:cNvSpPr/>
          <p:nvPr/>
        </p:nvSpPr>
        <p:spPr>
          <a:xfrm>
            <a:off x="813816" y="4096512"/>
            <a:ext cx="5148072" cy="274320"/>
          </a:xfrm>
          <a:prstGeom prst="rect">
            <a:avLst/>
          </a:prstGeom>
          <a:noFill/>
          <a:ln/>
        </p:spPr>
        <p:txBody>
          <a:bodyPr wrap="square" lIns="0" tIns="0" rIns="0" bIns="0" rtlCol="0" anchor="ctr"/>
          <a:lstStyle/>
          <a:p>
            <a:pPr marL="0" indent="0" algn="l">
              <a:buNone/>
            </a:pPr>
            <a:r>
              <a:rPr lang="en-US" sz="1100" b="1" dirty="0">
                <a:solidFill>
                  <a:srgbClr val="F5A623"/>
                </a:solidFill>
                <a:latin typeface="Georgia" pitchFamily="34" charset="0"/>
                <a:ea typeface="Georgia" pitchFamily="34" charset="-122"/>
                <a:cs typeface="Georgia" pitchFamily="34" charset="-120"/>
              </a:rPr>
              <a:t>PII detector</a:t>
            </a:r>
            <a:endParaRPr lang="en-US" sz="1100" dirty="0"/>
          </a:p>
        </p:txBody>
      </p:sp>
      <p:sp>
        <p:nvSpPr>
          <p:cNvPr id="24" name="Text 22"/>
          <p:cNvSpPr/>
          <p:nvPr/>
        </p:nvSpPr>
        <p:spPr>
          <a:xfrm>
            <a:off x="813816" y="4389120"/>
            <a:ext cx="5148072" cy="585216"/>
          </a:xfrm>
          <a:prstGeom prst="rect">
            <a:avLst/>
          </a:prstGeom>
          <a:noFill/>
          <a:ln/>
        </p:spPr>
        <p:txBody>
          <a:bodyPr wrap="square" lIns="0" tIns="0" rIns="0" bIns="0" rtlCol="0" anchor="ctr"/>
          <a:lstStyle/>
          <a:p>
            <a:pPr marL="0" indent="0" algn="l">
              <a:buNone/>
            </a:pPr>
            <a:r>
              <a:rPr lang="en-US" sz="950" dirty="0">
                <a:solidFill>
                  <a:srgbClr val="2A3C52"/>
                </a:solidFill>
                <a:latin typeface="Calibri" pitchFamily="34" charset="0"/>
                <a:ea typeface="Calibri" pitchFamily="34" charset="-122"/>
                <a:cs typeface="Calibri" pitchFamily="34" charset="-120"/>
              </a:rPr>
              <a:t>Looks for personally identifiable information — email patterns, ID numbers, names in code comments. These are flagged with a WARNING so the team can review them, but the migration is not stopped.</a:t>
            </a:r>
            <a:endParaRPr lang="en-US" sz="950" dirty="0"/>
          </a:p>
        </p:txBody>
      </p:sp>
      <p:sp>
        <p:nvSpPr>
          <p:cNvPr id="25" name="Shape 23"/>
          <p:cNvSpPr/>
          <p:nvPr/>
        </p:nvSpPr>
        <p:spPr>
          <a:xfrm>
            <a:off x="219456" y="5102352"/>
            <a:ext cx="5833872" cy="1005840"/>
          </a:xfrm>
          <a:prstGeom prst="rect">
            <a:avLst/>
          </a:prstGeom>
          <a:solidFill>
            <a:srgbClr val="FEF6E7"/>
          </a:solidFill>
          <a:ln w="7620">
            <a:solidFill>
              <a:srgbClr val="F5A623"/>
            </a:solidFill>
            <a:prstDash val="solid"/>
          </a:ln>
          <a:effectLst>
            <a:outerShdw blurRad="101600" dist="1016" dir="8100000" algn="bl" rotWithShape="0">
              <a:srgbClr val="000000">
                <a:alpha val="9000"/>
              </a:srgbClr>
            </a:outerShdw>
          </a:effectLst>
        </p:spPr>
        <p:txBody>
          <a:bodyPr/>
          <a:lstStyle/>
          <a:p>
            <a:endParaRPr lang="en-US"/>
          </a:p>
        </p:txBody>
      </p:sp>
      <p:sp>
        <p:nvSpPr>
          <p:cNvPr id="26" name="Shape 24"/>
          <p:cNvSpPr/>
          <p:nvPr/>
        </p:nvSpPr>
        <p:spPr>
          <a:xfrm>
            <a:off x="310896" y="5376672"/>
            <a:ext cx="411480" cy="411480"/>
          </a:xfrm>
          <a:prstGeom prst="ellipse">
            <a:avLst/>
          </a:prstGeom>
          <a:solidFill>
            <a:srgbClr val="F5A623"/>
          </a:solidFill>
          <a:ln w="12700">
            <a:solidFill>
              <a:srgbClr val="F5A623">
                <a:alpha val="0"/>
              </a:srgbClr>
            </a:solidFill>
            <a:prstDash val="solid"/>
          </a:ln>
        </p:spPr>
        <p:txBody>
          <a:bodyPr/>
          <a:lstStyle/>
          <a:p>
            <a:endParaRPr lang="en-US"/>
          </a:p>
        </p:txBody>
      </p:sp>
      <p:sp>
        <p:nvSpPr>
          <p:cNvPr id="27" name="Text 25"/>
          <p:cNvSpPr/>
          <p:nvPr/>
        </p:nvSpPr>
        <p:spPr>
          <a:xfrm>
            <a:off x="310896" y="5376672"/>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4</a:t>
            </a:r>
            <a:endParaRPr lang="en-US" sz="1600" dirty="0"/>
          </a:p>
        </p:txBody>
      </p:sp>
      <p:sp>
        <p:nvSpPr>
          <p:cNvPr id="28" name="Text 26"/>
          <p:cNvSpPr/>
          <p:nvPr/>
        </p:nvSpPr>
        <p:spPr>
          <a:xfrm>
            <a:off x="813816" y="5175504"/>
            <a:ext cx="5148072" cy="274320"/>
          </a:xfrm>
          <a:prstGeom prst="rect">
            <a:avLst/>
          </a:prstGeom>
          <a:noFill/>
          <a:ln/>
        </p:spPr>
        <p:txBody>
          <a:bodyPr wrap="square" lIns="0" tIns="0" rIns="0" bIns="0" rtlCol="0" anchor="ctr"/>
          <a:lstStyle/>
          <a:p>
            <a:pPr marL="0" indent="0" algn="l">
              <a:buNone/>
            </a:pPr>
            <a:r>
              <a:rPr lang="en-US" sz="1100" b="1" dirty="0">
                <a:solidFill>
                  <a:srgbClr val="F5A623"/>
                </a:solidFill>
                <a:latin typeface="Georgia" pitchFamily="34" charset="0"/>
                <a:ea typeface="Georgia" pitchFamily="34" charset="-122"/>
                <a:cs typeface="Georgia" pitchFamily="34" charset="-120"/>
              </a:rPr>
              <a:t>Complexity gate</a:t>
            </a:r>
            <a:endParaRPr lang="en-US" sz="1100" dirty="0"/>
          </a:p>
        </p:txBody>
      </p:sp>
      <p:sp>
        <p:nvSpPr>
          <p:cNvPr id="29" name="Text 27"/>
          <p:cNvSpPr/>
          <p:nvPr/>
        </p:nvSpPr>
        <p:spPr>
          <a:xfrm>
            <a:off x="813816" y="5468112"/>
            <a:ext cx="5148072" cy="585216"/>
          </a:xfrm>
          <a:prstGeom prst="rect">
            <a:avLst/>
          </a:prstGeom>
          <a:noFill/>
          <a:ln/>
        </p:spPr>
        <p:txBody>
          <a:bodyPr wrap="square" lIns="0" tIns="0" rIns="0" bIns="0" rtlCol="0" anchor="ctr"/>
          <a:lstStyle/>
          <a:p>
            <a:pPr marL="0" indent="0" algn="l">
              <a:buNone/>
            </a:pPr>
            <a:r>
              <a:rPr lang="en-US" sz="950" dirty="0">
                <a:solidFill>
                  <a:srgbClr val="2A3C52"/>
                </a:solidFill>
                <a:latin typeface="Calibri" pitchFamily="34" charset="0"/>
                <a:ea typeface="Calibri" pitchFamily="34" charset="-122"/>
                <a:cs typeface="Calibri" pitchFamily="34" charset="-120"/>
              </a:rPr>
              <a:t>Measures file size and complexity. A 3,000-line file with 50+ EJB calls is too risky to auto-transform. These go straight to the human review queue, saving wasted AI processing on files that will never pass review.</a:t>
            </a:r>
            <a:endParaRPr lang="en-US" sz="950" dirty="0"/>
          </a:p>
        </p:txBody>
      </p:sp>
      <p:sp>
        <p:nvSpPr>
          <p:cNvPr id="30" name="Shape 28"/>
          <p:cNvSpPr/>
          <p:nvPr/>
        </p:nvSpPr>
        <p:spPr>
          <a:xfrm>
            <a:off x="6217920" y="1042416"/>
            <a:ext cx="5833872" cy="365760"/>
          </a:xfrm>
          <a:prstGeom prst="rect">
            <a:avLst/>
          </a:prstGeom>
          <a:solidFill>
            <a:srgbClr val="0F2040"/>
          </a:solidFill>
          <a:ln w="12700">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31" name="Text 29"/>
          <p:cNvSpPr/>
          <p:nvPr/>
        </p:nvSpPr>
        <p:spPr>
          <a:xfrm>
            <a:off x="6309360" y="1042416"/>
            <a:ext cx="5650992" cy="365760"/>
          </a:xfrm>
          <a:prstGeom prst="rect">
            <a:avLst/>
          </a:prstGeom>
          <a:noFill/>
          <a:ln/>
        </p:spPr>
        <p:txBody>
          <a:bodyPr wrap="square" lIns="0" tIns="0" rIns="0" bIns="0" rtlCol="0" anchor="ctr"/>
          <a:lstStyle/>
          <a:p>
            <a:pPr marL="0" indent="0" algn="l">
              <a:buNone/>
            </a:pPr>
            <a:r>
              <a:rPr lang="en-US" sz="1000" b="1" dirty="0">
                <a:solidFill>
                  <a:srgbClr val="1D9E75"/>
                </a:solidFill>
                <a:latin typeface="Georgia" pitchFamily="34" charset="0"/>
                <a:ea typeface="Georgia" pitchFamily="34" charset="-122"/>
                <a:cs typeface="Georgia" pitchFamily="34" charset="-120"/>
              </a:rPr>
              <a:t>Checkpoint 2  —  AFTER review passes</a:t>
            </a:r>
            <a:endParaRPr lang="en-US" sz="1000" dirty="0"/>
          </a:p>
        </p:txBody>
      </p:sp>
      <p:sp>
        <p:nvSpPr>
          <p:cNvPr id="32" name="Text 30"/>
          <p:cNvSpPr/>
          <p:nvPr/>
        </p:nvSpPr>
        <p:spPr>
          <a:xfrm>
            <a:off x="6217920" y="1481328"/>
            <a:ext cx="5833872" cy="310896"/>
          </a:xfrm>
          <a:prstGeom prst="rect">
            <a:avLst/>
          </a:prstGeom>
          <a:noFill/>
          <a:ln/>
        </p:spPr>
        <p:txBody>
          <a:bodyPr wrap="square" lIns="0" tIns="0" rIns="0" bIns="0" rtlCol="0" anchor="ctr"/>
          <a:lstStyle/>
          <a:p>
            <a:pPr marL="0" indent="0" algn="l">
              <a:buNone/>
            </a:pPr>
            <a:r>
              <a:rPr lang="en-US" sz="1000" i="1" dirty="0">
                <a:solidFill>
                  <a:srgbClr val="2A3C52"/>
                </a:solidFill>
                <a:latin typeface="Georgia" pitchFamily="34" charset="0"/>
                <a:ea typeface="Georgia" pitchFamily="34" charset="-122"/>
                <a:cs typeface="Georgia" pitchFamily="34" charset="-120"/>
              </a:rPr>
              <a:t>Think of it as a final quality stamp before the product ships to the warehouse.</a:t>
            </a:r>
            <a:endParaRPr lang="en-US" sz="1000" dirty="0"/>
          </a:p>
        </p:txBody>
      </p:sp>
      <p:sp>
        <p:nvSpPr>
          <p:cNvPr id="33" name="Shape 31"/>
          <p:cNvSpPr/>
          <p:nvPr/>
        </p:nvSpPr>
        <p:spPr>
          <a:xfrm>
            <a:off x="6217920" y="1865376"/>
            <a:ext cx="5833872" cy="1005840"/>
          </a:xfrm>
          <a:prstGeom prst="rect">
            <a:avLst/>
          </a:prstGeom>
          <a:solidFill>
            <a:srgbClr val="E1F5EE"/>
          </a:solidFill>
          <a:ln w="7620">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34" name="Shape 32"/>
          <p:cNvSpPr/>
          <p:nvPr/>
        </p:nvSpPr>
        <p:spPr>
          <a:xfrm>
            <a:off x="6309360" y="2139696"/>
            <a:ext cx="411480" cy="411480"/>
          </a:xfrm>
          <a:prstGeom prst="ellipse">
            <a:avLst/>
          </a:prstGeom>
          <a:solidFill>
            <a:srgbClr val="1D9E75"/>
          </a:solidFill>
          <a:ln w="12700">
            <a:solidFill>
              <a:srgbClr val="1D9E75">
                <a:alpha val="0"/>
              </a:srgbClr>
            </a:solidFill>
            <a:prstDash val="solid"/>
          </a:ln>
        </p:spPr>
        <p:txBody>
          <a:bodyPr/>
          <a:lstStyle/>
          <a:p>
            <a:endParaRPr lang="en-US"/>
          </a:p>
        </p:txBody>
      </p:sp>
      <p:sp>
        <p:nvSpPr>
          <p:cNvPr id="35" name="Text 33"/>
          <p:cNvSpPr/>
          <p:nvPr/>
        </p:nvSpPr>
        <p:spPr>
          <a:xfrm>
            <a:off x="6309360" y="2139696"/>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36" name="Text 34"/>
          <p:cNvSpPr/>
          <p:nvPr/>
        </p:nvSpPr>
        <p:spPr>
          <a:xfrm>
            <a:off x="6812280" y="1938528"/>
            <a:ext cx="5148072" cy="274320"/>
          </a:xfrm>
          <a:prstGeom prst="rect">
            <a:avLst/>
          </a:prstGeom>
          <a:noFill/>
          <a:ln/>
        </p:spPr>
        <p:txBody>
          <a:bodyPr wrap="square" lIns="0" tIns="0" rIns="0" bIns="0" rtlCol="0" anchor="ctr"/>
          <a:lstStyle/>
          <a:p>
            <a:pPr marL="0" indent="0" algn="l">
              <a:buNone/>
            </a:pPr>
            <a:r>
              <a:rPr lang="en-US" sz="1100" b="1" dirty="0">
                <a:solidFill>
                  <a:srgbClr val="1D9E75"/>
                </a:solidFill>
                <a:latin typeface="Georgia" pitchFamily="34" charset="0"/>
                <a:ea typeface="Georgia" pitchFamily="34" charset="-122"/>
                <a:cs typeface="Georgia" pitchFamily="34" charset="-120"/>
              </a:rPr>
              <a:t>Enterprise naming enforcer</a:t>
            </a:r>
            <a:endParaRPr lang="en-US" sz="1100" dirty="0"/>
          </a:p>
        </p:txBody>
      </p:sp>
      <p:sp>
        <p:nvSpPr>
          <p:cNvPr id="37" name="Text 35"/>
          <p:cNvSpPr/>
          <p:nvPr/>
        </p:nvSpPr>
        <p:spPr>
          <a:xfrm>
            <a:off x="6812280" y="2231136"/>
            <a:ext cx="5148072" cy="585216"/>
          </a:xfrm>
          <a:prstGeom prst="rect">
            <a:avLst/>
          </a:prstGeom>
          <a:noFill/>
          <a:ln/>
        </p:spPr>
        <p:txBody>
          <a:bodyPr wrap="square" lIns="0" tIns="0" rIns="0" bIns="0" rtlCol="0" anchor="ctr"/>
          <a:lstStyle/>
          <a:p>
            <a:pPr marL="0" indent="0" algn="l">
              <a:buNone/>
            </a:pPr>
            <a:r>
              <a:rPr lang="en-US" sz="950" dirty="0">
                <a:solidFill>
                  <a:srgbClr val="2A3C52"/>
                </a:solidFill>
                <a:latin typeface="Calibri" pitchFamily="34" charset="0"/>
                <a:ea typeface="Calibri" pitchFamily="34" charset="-122"/>
                <a:cs typeface="Calibri" pitchFamily="34" charset="-120"/>
              </a:rPr>
              <a:t>Confirms the transformed code uses your company's exact package naming conventions, class naming rules, and controller suffixes. If the AI invented its own convention, this blocks and sends back for correction.</a:t>
            </a:r>
            <a:endParaRPr lang="en-US" sz="950" dirty="0"/>
          </a:p>
        </p:txBody>
      </p:sp>
      <p:sp>
        <p:nvSpPr>
          <p:cNvPr id="38" name="Shape 36"/>
          <p:cNvSpPr/>
          <p:nvPr/>
        </p:nvSpPr>
        <p:spPr>
          <a:xfrm>
            <a:off x="6217920" y="2944368"/>
            <a:ext cx="5833872" cy="1005840"/>
          </a:xfrm>
          <a:prstGeom prst="rect">
            <a:avLst/>
          </a:prstGeom>
          <a:solidFill>
            <a:srgbClr val="E1F5EE"/>
          </a:solidFill>
          <a:ln w="7620">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39" name="Shape 37"/>
          <p:cNvSpPr/>
          <p:nvPr/>
        </p:nvSpPr>
        <p:spPr>
          <a:xfrm>
            <a:off x="6309360" y="3218688"/>
            <a:ext cx="411480" cy="411480"/>
          </a:xfrm>
          <a:prstGeom prst="ellipse">
            <a:avLst/>
          </a:prstGeom>
          <a:solidFill>
            <a:srgbClr val="1D9E75"/>
          </a:solidFill>
          <a:ln w="12700">
            <a:solidFill>
              <a:srgbClr val="1D9E75">
                <a:alpha val="0"/>
              </a:srgbClr>
            </a:solidFill>
            <a:prstDash val="solid"/>
          </a:ln>
        </p:spPr>
        <p:txBody>
          <a:bodyPr/>
          <a:lstStyle/>
          <a:p>
            <a:endParaRPr lang="en-US"/>
          </a:p>
        </p:txBody>
      </p:sp>
      <p:sp>
        <p:nvSpPr>
          <p:cNvPr id="40" name="Text 38"/>
          <p:cNvSpPr/>
          <p:nvPr/>
        </p:nvSpPr>
        <p:spPr>
          <a:xfrm>
            <a:off x="6309360" y="3218688"/>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41" name="Text 39"/>
          <p:cNvSpPr/>
          <p:nvPr/>
        </p:nvSpPr>
        <p:spPr>
          <a:xfrm>
            <a:off x="6812280" y="3017520"/>
            <a:ext cx="5148072" cy="274320"/>
          </a:xfrm>
          <a:prstGeom prst="rect">
            <a:avLst/>
          </a:prstGeom>
          <a:noFill/>
          <a:ln/>
        </p:spPr>
        <p:txBody>
          <a:bodyPr wrap="square" lIns="0" tIns="0" rIns="0" bIns="0" rtlCol="0" anchor="ctr"/>
          <a:lstStyle/>
          <a:p>
            <a:pPr marL="0" indent="0" algn="l">
              <a:buNone/>
            </a:pPr>
            <a:r>
              <a:rPr lang="en-US" sz="1100" b="1" dirty="0">
                <a:solidFill>
                  <a:srgbClr val="1D9E75"/>
                </a:solidFill>
                <a:latin typeface="Georgia" pitchFamily="34" charset="0"/>
                <a:ea typeface="Georgia" pitchFamily="34" charset="-122"/>
                <a:cs typeface="Georgia" pitchFamily="34" charset="-120"/>
              </a:rPr>
              <a:t>Security pattern checker</a:t>
            </a:r>
            <a:endParaRPr lang="en-US" sz="1100" dirty="0"/>
          </a:p>
        </p:txBody>
      </p:sp>
      <p:sp>
        <p:nvSpPr>
          <p:cNvPr id="42" name="Text 40"/>
          <p:cNvSpPr/>
          <p:nvPr/>
        </p:nvSpPr>
        <p:spPr>
          <a:xfrm>
            <a:off x="6812280" y="3310128"/>
            <a:ext cx="5148072" cy="585216"/>
          </a:xfrm>
          <a:prstGeom prst="rect">
            <a:avLst/>
          </a:prstGeom>
          <a:noFill/>
          <a:ln/>
        </p:spPr>
        <p:txBody>
          <a:bodyPr wrap="square" lIns="0" tIns="0" rIns="0" bIns="0" rtlCol="0" anchor="ctr"/>
          <a:lstStyle/>
          <a:p>
            <a:pPr marL="0" indent="0" algn="l">
              <a:buNone/>
            </a:pPr>
            <a:r>
              <a:rPr lang="en-US" sz="950" dirty="0">
                <a:solidFill>
                  <a:srgbClr val="2A3C52"/>
                </a:solidFill>
                <a:latin typeface="Calibri" pitchFamily="34" charset="0"/>
                <a:ea typeface="Calibri" pitchFamily="34" charset="-122"/>
                <a:cs typeface="Calibri" pitchFamily="34" charset="-120"/>
              </a:rPr>
              <a:t>Checks for common security vulnerabilities in the output — missing input validation, exposed error messages, SQL patterns, missing CSRF protection. Critical findings block the file; minor ones are annotated in the report.</a:t>
            </a:r>
            <a:endParaRPr lang="en-US" sz="950" dirty="0"/>
          </a:p>
        </p:txBody>
      </p:sp>
      <p:sp>
        <p:nvSpPr>
          <p:cNvPr id="43" name="Shape 41"/>
          <p:cNvSpPr/>
          <p:nvPr/>
        </p:nvSpPr>
        <p:spPr>
          <a:xfrm>
            <a:off x="6217920" y="4023360"/>
            <a:ext cx="5833872" cy="1005840"/>
          </a:xfrm>
          <a:prstGeom prst="rect">
            <a:avLst/>
          </a:prstGeom>
          <a:solidFill>
            <a:srgbClr val="E1F5EE"/>
          </a:solidFill>
          <a:ln w="7620">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44" name="Shape 42"/>
          <p:cNvSpPr/>
          <p:nvPr/>
        </p:nvSpPr>
        <p:spPr>
          <a:xfrm>
            <a:off x="6309360" y="4297680"/>
            <a:ext cx="411480" cy="411480"/>
          </a:xfrm>
          <a:prstGeom prst="ellipse">
            <a:avLst/>
          </a:prstGeom>
          <a:solidFill>
            <a:srgbClr val="1D9E75"/>
          </a:solidFill>
          <a:ln w="12700">
            <a:solidFill>
              <a:srgbClr val="1D9E75">
                <a:alpha val="0"/>
              </a:srgbClr>
            </a:solidFill>
            <a:prstDash val="solid"/>
          </a:ln>
        </p:spPr>
        <p:txBody>
          <a:bodyPr/>
          <a:lstStyle/>
          <a:p>
            <a:endParaRPr lang="en-US"/>
          </a:p>
        </p:txBody>
      </p:sp>
      <p:sp>
        <p:nvSpPr>
          <p:cNvPr id="45" name="Text 43"/>
          <p:cNvSpPr/>
          <p:nvPr/>
        </p:nvSpPr>
        <p:spPr>
          <a:xfrm>
            <a:off x="6309360" y="4297680"/>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46" name="Text 44"/>
          <p:cNvSpPr/>
          <p:nvPr/>
        </p:nvSpPr>
        <p:spPr>
          <a:xfrm>
            <a:off x="6812280" y="4096512"/>
            <a:ext cx="5148072" cy="274320"/>
          </a:xfrm>
          <a:prstGeom prst="rect">
            <a:avLst/>
          </a:prstGeom>
          <a:noFill/>
          <a:ln/>
        </p:spPr>
        <p:txBody>
          <a:bodyPr wrap="square" lIns="0" tIns="0" rIns="0" bIns="0" rtlCol="0" anchor="ctr"/>
          <a:lstStyle/>
          <a:p>
            <a:pPr marL="0" indent="0" algn="l">
              <a:buNone/>
            </a:pPr>
            <a:r>
              <a:rPr lang="en-US" sz="1100" b="1" dirty="0">
                <a:solidFill>
                  <a:srgbClr val="1D9E75"/>
                </a:solidFill>
                <a:latin typeface="Georgia" pitchFamily="34" charset="0"/>
                <a:ea typeface="Georgia" pitchFamily="34" charset="-122"/>
                <a:cs typeface="Georgia" pitchFamily="34" charset="-120"/>
              </a:rPr>
              <a:t>License header injector</a:t>
            </a:r>
            <a:endParaRPr lang="en-US" sz="1100" dirty="0"/>
          </a:p>
        </p:txBody>
      </p:sp>
      <p:sp>
        <p:nvSpPr>
          <p:cNvPr id="47" name="Text 45"/>
          <p:cNvSpPr/>
          <p:nvPr/>
        </p:nvSpPr>
        <p:spPr>
          <a:xfrm>
            <a:off x="6812280" y="4389120"/>
            <a:ext cx="5148072" cy="585216"/>
          </a:xfrm>
          <a:prstGeom prst="rect">
            <a:avLst/>
          </a:prstGeom>
          <a:noFill/>
          <a:ln/>
        </p:spPr>
        <p:txBody>
          <a:bodyPr wrap="square" lIns="0" tIns="0" rIns="0" bIns="0" rtlCol="0" anchor="ctr"/>
          <a:lstStyle/>
          <a:p>
            <a:pPr marL="0" indent="0" algn="l">
              <a:buNone/>
            </a:pPr>
            <a:r>
              <a:rPr lang="en-US" sz="950" dirty="0">
                <a:solidFill>
                  <a:srgbClr val="2A3C52"/>
                </a:solidFill>
                <a:latin typeface="Calibri" pitchFamily="34" charset="0"/>
                <a:ea typeface="Calibri" pitchFamily="34" charset="-122"/>
                <a:cs typeface="Calibri" pitchFamily="34" charset="-120"/>
              </a:rPr>
              <a:t>Every transformed .java file must carry your enterprise copyright header. If it's missing, this check adds it automatically — no human intervention needed, no blocker.</a:t>
            </a:r>
            <a:endParaRPr lang="en-US" sz="950" dirty="0"/>
          </a:p>
        </p:txBody>
      </p:sp>
      <p:sp>
        <p:nvSpPr>
          <p:cNvPr id="48" name="Shape 46"/>
          <p:cNvSpPr/>
          <p:nvPr/>
        </p:nvSpPr>
        <p:spPr>
          <a:xfrm>
            <a:off x="6217920" y="5102352"/>
            <a:ext cx="5833872" cy="1005840"/>
          </a:xfrm>
          <a:prstGeom prst="rect">
            <a:avLst/>
          </a:prstGeom>
          <a:solidFill>
            <a:srgbClr val="E1F5EE"/>
          </a:solidFill>
          <a:ln w="7620">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49" name="Shape 47"/>
          <p:cNvSpPr/>
          <p:nvPr/>
        </p:nvSpPr>
        <p:spPr>
          <a:xfrm>
            <a:off x="6309360" y="5376672"/>
            <a:ext cx="411480" cy="411480"/>
          </a:xfrm>
          <a:prstGeom prst="ellipse">
            <a:avLst/>
          </a:prstGeom>
          <a:solidFill>
            <a:srgbClr val="1D9E75"/>
          </a:solidFill>
          <a:ln w="12700">
            <a:solidFill>
              <a:srgbClr val="1D9E75">
                <a:alpha val="0"/>
              </a:srgbClr>
            </a:solidFill>
            <a:prstDash val="solid"/>
          </a:ln>
        </p:spPr>
        <p:txBody>
          <a:bodyPr/>
          <a:lstStyle/>
          <a:p>
            <a:endParaRPr lang="en-US"/>
          </a:p>
        </p:txBody>
      </p:sp>
      <p:sp>
        <p:nvSpPr>
          <p:cNvPr id="50" name="Text 48"/>
          <p:cNvSpPr/>
          <p:nvPr/>
        </p:nvSpPr>
        <p:spPr>
          <a:xfrm>
            <a:off x="6309360" y="5376672"/>
            <a:ext cx="411480"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4</a:t>
            </a:r>
            <a:endParaRPr lang="en-US" sz="1600" dirty="0"/>
          </a:p>
        </p:txBody>
      </p:sp>
      <p:sp>
        <p:nvSpPr>
          <p:cNvPr id="51" name="Text 49"/>
          <p:cNvSpPr/>
          <p:nvPr/>
        </p:nvSpPr>
        <p:spPr>
          <a:xfrm>
            <a:off x="6812280" y="5175504"/>
            <a:ext cx="5148072" cy="274320"/>
          </a:xfrm>
          <a:prstGeom prst="rect">
            <a:avLst/>
          </a:prstGeom>
          <a:noFill/>
          <a:ln/>
        </p:spPr>
        <p:txBody>
          <a:bodyPr wrap="square" lIns="0" tIns="0" rIns="0" bIns="0" rtlCol="0" anchor="ctr"/>
          <a:lstStyle/>
          <a:p>
            <a:pPr marL="0" indent="0" algn="l">
              <a:buNone/>
            </a:pPr>
            <a:r>
              <a:rPr lang="en-US" sz="1100" b="1" dirty="0">
                <a:solidFill>
                  <a:srgbClr val="1D9E75"/>
                </a:solidFill>
                <a:latin typeface="Georgia" pitchFamily="34" charset="0"/>
                <a:ea typeface="Georgia" pitchFamily="34" charset="-122"/>
                <a:cs typeface="Georgia" pitchFamily="34" charset="-120"/>
              </a:rPr>
              <a:t>No-regression checker</a:t>
            </a:r>
            <a:endParaRPr lang="en-US" sz="1100" dirty="0"/>
          </a:p>
        </p:txBody>
      </p:sp>
      <p:sp>
        <p:nvSpPr>
          <p:cNvPr id="52" name="Text 50"/>
          <p:cNvSpPr/>
          <p:nvPr/>
        </p:nvSpPr>
        <p:spPr>
          <a:xfrm>
            <a:off x="6812280" y="5468112"/>
            <a:ext cx="5148072" cy="585216"/>
          </a:xfrm>
          <a:prstGeom prst="rect">
            <a:avLst/>
          </a:prstGeom>
          <a:noFill/>
          <a:ln/>
        </p:spPr>
        <p:txBody>
          <a:bodyPr wrap="square" lIns="0" tIns="0" rIns="0" bIns="0" rtlCol="0" anchor="ctr"/>
          <a:lstStyle/>
          <a:p>
            <a:pPr marL="0" indent="0" algn="l">
              <a:buNone/>
            </a:pPr>
            <a:r>
              <a:rPr lang="en-US" sz="950" dirty="0">
                <a:solidFill>
                  <a:srgbClr val="2A3C52"/>
                </a:solidFill>
                <a:latin typeface="Calibri" pitchFamily="34" charset="0"/>
                <a:ea typeface="Calibri" pitchFamily="34" charset="-122"/>
                <a:cs typeface="Calibri" pitchFamily="34" charset="-120"/>
              </a:rPr>
              <a:t>Compares the original file against the transformed output to ensure nothing was accidentally removed — error handlers, logging, null checks. If something was stripped that was in the original, this flags it.</a:t>
            </a:r>
            <a:endParaRPr lang="en-US" sz="950" dirty="0"/>
          </a:p>
        </p:txBody>
      </p:sp>
      <p:sp>
        <p:nvSpPr>
          <p:cNvPr id="53" name="Shape 51"/>
          <p:cNvSpPr/>
          <p:nvPr/>
        </p:nvSpPr>
        <p:spPr>
          <a:xfrm>
            <a:off x="219456" y="6126480"/>
            <a:ext cx="3840480" cy="585216"/>
          </a:xfrm>
          <a:prstGeom prst="rect">
            <a:avLst/>
          </a:prstGeom>
          <a:solidFill>
            <a:srgbClr val="E05252"/>
          </a:solidFill>
          <a:ln w="6350">
            <a:solidFill>
              <a:srgbClr val="E05252"/>
            </a:solidFill>
            <a:prstDash val="solid"/>
          </a:ln>
          <a:effectLst>
            <a:outerShdw blurRad="101600" dist="1016" dir="8100000" algn="bl" rotWithShape="0">
              <a:srgbClr val="000000">
                <a:alpha val="9000"/>
              </a:srgbClr>
            </a:outerShdw>
          </a:effectLst>
        </p:spPr>
        <p:txBody>
          <a:bodyPr/>
          <a:lstStyle/>
          <a:p>
            <a:endParaRPr lang="en-US"/>
          </a:p>
        </p:txBody>
      </p:sp>
      <p:sp>
        <p:nvSpPr>
          <p:cNvPr id="54" name="Text 52"/>
          <p:cNvSpPr/>
          <p:nvPr/>
        </p:nvSpPr>
        <p:spPr>
          <a:xfrm>
            <a:off x="310896" y="6126480"/>
            <a:ext cx="914400" cy="585216"/>
          </a:xfrm>
          <a:prstGeom prst="rect">
            <a:avLst/>
          </a:prstGeom>
          <a:noFill/>
          <a:ln/>
        </p:spPr>
        <p:txBody>
          <a:bodyPr wrap="square" lIns="0" tIns="0" rIns="0" bIns="0"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BLOCK</a:t>
            </a:r>
            <a:endParaRPr lang="en-US" sz="1600" dirty="0"/>
          </a:p>
        </p:txBody>
      </p:sp>
      <p:sp>
        <p:nvSpPr>
          <p:cNvPr id="55" name="Text 53"/>
          <p:cNvSpPr/>
          <p:nvPr/>
        </p:nvSpPr>
        <p:spPr>
          <a:xfrm>
            <a:off x="1316736" y="6126480"/>
            <a:ext cx="2651760" cy="585216"/>
          </a:xfrm>
          <a:prstGeom prst="rect">
            <a:avLst/>
          </a:prstGeom>
          <a:noFill/>
          <a:ln/>
        </p:spPr>
        <p:txBody>
          <a:bodyPr wrap="square" lIns="0" tIns="0" rIns="0" bIns="0" rtlCol="0" anchor="ctr"/>
          <a:lstStyle/>
          <a:p>
            <a:pPr marL="0" indent="0" algn="l">
              <a:buNone/>
            </a:pPr>
            <a:r>
              <a:rPr lang="en-US" sz="950" dirty="0">
                <a:solidFill>
                  <a:srgbClr val="FFFFFF"/>
                </a:solidFill>
                <a:latin typeface="Calibri" pitchFamily="34" charset="0"/>
                <a:ea typeface="Calibri" pitchFamily="34" charset="-122"/>
                <a:cs typeface="Calibri" pitchFamily="34" charset="-120"/>
              </a:rPr>
              <a:t>File stopped. Logged. Team notified.</a:t>
            </a:r>
            <a:endParaRPr lang="en-US" sz="950" dirty="0"/>
          </a:p>
        </p:txBody>
      </p:sp>
      <p:sp>
        <p:nvSpPr>
          <p:cNvPr id="56" name="Shape 54"/>
          <p:cNvSpPr/>
          <p:nvPr/>
        </p:nvSpPr>
        <p:spPr>
          <a:xfrm>
            <a:off x="4187952" y="6126480"/>
            <a:ext cx="3840480" cy="585216"/>
          </a:xfrm>
          <a:prstGeom prst="rect">
            <a:avLst/>
          </a:prstGeom>
          <a:solidFill>
            <a:srgbClr val="F5A623"/>
          </a:solidFill>
          <a:ln w="6350">
            <a:solidFill>
              <a:srgbClr val="F5A623"/>
            </a:solidFill>
            <a:prstDash val="solid"/>
          </a:ln>
          <a:effectLst>
            <a:outerShdw blurRad="101600" dist="1016" dir="8100000" algn="bl" rotWithShape="0">
              <a:srgbClr val="000000">
                <a:alpha val="9000"/>
              </a:srgbClr>
            </a:outerShdw>
          </a:effectLst>
        </p:spPr>
        <p:txBody>
          <a:bodyPr/>
          <a:lstStyle/>
          <a:p>
            <a:endParaRPr lang="en-US"/>
          </a:p>
        </p:txBody>
      </p:sp>
      <p:sp>
        <p:nvSpPr>
          <p:cNvPr id="57" name="Text 55"/>
          <p:cNvSpPr/>
          <p:nvPr/>
        </p:nvSpPr>
        <p:spPr>
          <a:xfrm>
            <a:off x="4279392" y="6126480"/>
            <a:ext cx="914400" cy="585216"/>
          </a:xfrm>
          <a:prstGeom prst="rect">
            <a:avLst/>
          </a:prstGeom>
          <a:noFill/>
          <a:ln/>
        </p:spPr>
        <p:txBody>
          <a:bodyPr wrap="square" lIns="0" tIns="0" rIns="0" bIns="0"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WARN</a:t>
            </a:r>
            <a:endParaRPr lang="en-US" sz="1600" dirty="0"/>
          </a:p>
        </p:txBody>
      </p:sp>
      <p:sp>
        <p:nvSpPr>
          <p:cNvPr id="58" name="Text 56"/>
          <p:cNvSpPr/>
          <p:nvPr/>
        </p:nvSpPr>
        <p:spPr>
          <a:xfrm>
            <a:off x="5285232" y="6126480"/>
            <a:ext cx="2651760" cy="585216"/>
          </a:xfrm>
          <a:prstGeom prst="rect">
            <a:avLst/>
          </a:prstGeom>
          <a:noFill/>
          <a:ln/>
        </p:spPr>
        <p:txBody>
          <a:bodyPr wrap="square" lIns="0" tIns="0" rIns="0" bIns="0" rtlCol="0" anchor="ctr"/>
          <a:lstStyle/>
          <a:p>
            <a:pPr marL="0" indent="0" algn="l">
              <a:buNone/>
            </a:pPr>
            <a:r>
              <a:rPr lang="en-US" sz="950" dirty="0">
                <a:solidFill>
                  <a:srgbClr val="FFFFFF"/>
                </a:solidFill>
                <a:latin typeface="Calibri" pitchFamily="34" charset="0"/>
                <a:ea typeface="Calibri" pitchFamily="34" charset="-122"/>
                <a:cs typeface="Calibri" pitchFamily="34" charset="-120"/>
              </a:rPr>
              <a:t>File proceeds. Issue noted in the migration report.</a:t>
            </a:r>
            <a:endParaRPr lang="en-US" sz="950" dirty="0"/>
          </a:p>
        </p:txBody>
      </p:sp>
      <p:sp>
        <p:nvSpPr>
          <p:cNvPr id="59" name="Shape 57"/>
          <p:cNvSpPr/>
          <p:nvPr/>
        </p:nvSpPr>
        <p:spPr>
          <a:xfrm>
            <a:off x="8156448" y="6126480"/>
            <a:ext cx="3840480" cy="585216"/>
          </a:xfrm>
          <a:prstGeom prst="rect">
            <a:avLst/>
          </a:prstGeom>
          <a:solidFill>
            <a:srgbClr val="1D9E75"/>
          </a:solidFill>
          <a:ln w="6350">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60" name="Text 58"/>
          <p:cNvSpPr/>
          <p:nvPr/>
        </p:nvSpPr>
        <p:spPr>
          <a:xfrm>
            <a:off x="8247888" y="6126480"/>
            <a:ext cx="914400" cy="585216"/>
          </a:xfrm>
          <a:prstGeom prst="rect">
            <a:avLst/>
          </a:prstGeom>
          <a:noFill/>
          <a:ln/>
        </p:spPr>
        <p:txBody>
          <a:bodyPr wrap="square" lIns="0" tIns="0" rIns="0" bIns="0" rtlCol="0" anchor="ctr"/>
          <a:lstStyle/>
          <a:p>
            <a:pPr marL="0" indent="0" algn="ctr">
              <a:buNone/>
            </a:pPr>
            <a:r>
              <a:rPr lang="en-US" sz="1600" b="1" dirty="0">
                <a:solidFill>
                  <a:srgbClr val="FFFFFF"/>
                </a:solidFill>
                <a:latin typeface="Georgia" pitchFamily="34" charset="0"/>
                <a:ea typeface="Georgia" pitchFamily="34" charset="-122"/>
                <a:cs typeface="Georgia" pitchFamily="34" charset="-120"/>
              </a:rPr>
              <a:t>PASS</a:t>
            </a:r>
            <a:endParaRPr lang="en-US" sz="1600" dirty="0"/>
          </a:p>
        </p:txBody>
      </p:sp>
      <p:sp>
        <p:nvSpPr>
          <p:cNvPr id="61" name="Text 59"/>
          <p:cNvSpPr/>
          <p:nvPr/>
        </p:nvSpPr>
        <p:spPr>
          <a:xfrm>
            <a:off x="9253728" y="6126480"/>
            <a:ext cx="2651760" cy="585216"/>
          </a:xfrm>
          <a:prstGeom prst="rect">
            <a:avLst/>
          </a:prstGeom>
          <a:noFill/>
          <a:ln/>
        </p:spPr>
        <p:txBody>
          <a:bodyPr wrap="square" lIns="0" tIns="0" rIns="0" bIns="0" rtlCol="0" anchor="ctr"/>
          <a:lstStyle/>
          <a:p>
            <a:pPr marL="0" indent="0" algn="l">
              <a:buNone/>
            </a:pPr>
            <a:r>
              <a:rPr lang="en-US" sz="950" dirty="0">
                <a:solidFill>
                  <a:srgbClr val="FFFFFF"/>
                </a:solidFill>
                <a:latin typeface="Calibri" pitchFamily="34" charset="0"/>
                <a:ea typeface="Calibri" pitchFamily="34" charset="-122"/>
                <a:cs typeface="Calibri" pitchFamily="34" charset="-120"/>
              </a:rPr>
              <a:t>File clears this checkpoint. Pipeline continues.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623"/>
          </a:solidFill>
          <a:ln w="12700">
            <a:solidFill>
              <a:srgbClr val="F5A623">
                <a:alpha val="0"/>
              </a:srgbClr>
            </a:solidFill>
            <a:prstDash val="solid"/>
          </a:ln>
        </p:spPr>
        <p:txBody>
          <a:bodyPr/>
          <a:lstStyle/>
          <a:p>
            <a:endParaRPr lang="en-US"/>
          </a:p>
        </p:txBody>
      </p:sp>
      <p:sp>
        <p:nvSpPr>
          <p:cNvPr id="3" name="Text 1"/>
          <p:cNvSpPr/>
          <p:nvPr/>
        </p:nvSpPr>
        <p:spPr>
          <a:xfrm>
            <a:off x="219456" y="128016"/>
            <a:ext cx="457200" cy="274320"/>
          </a:xfrm>
          <a:prstGeom prst="rect">
            <a:avLst/>
          </a:prstGeom>
          <a:noFill/>
          <a:ln/>
        </p:spPr>
        <p:txBody>
          <a:bodyPr wrap="square" lIns="0" tIns="0" rIns="0" bIns="0" rtlCol="0" anchor="ctr"/>
          <a:lstStyle/>
          <a:p>
            <a:pPr marL="0" indent="0" algn="l">
              <a:buNone/>
            </a:pPr>
            <a:r>
              <a:rPr lang="en-US" sz="1000" kern="0" spc="200" dirty="0">
                <a:solidFill>
                  <a:srgbClr val="7A95B4"/>
                </a:solidFill>
                <a:latin typeface="Calibri" pitchFamily="34" charset="0"/>
                <a:ea typeface="Calibri" pitchFamily="34" charset="-122"/>
                <a:cs typeface="Calibri" pitchFamily="34" charset="-120"/>
              </a:rPr>
              <a:t>04  ·</a:t>
            </a:r>
            <a:endParaRPr lang="en-US" sz="1000" dirty="0"/>
          </a:p>
        </p:txBody>
      </p:sp>
      <p:sp>
        <p:nvSpPr>
          <p:cNvPr id="4" name="Text 2"/>
          <p:cNvSpPr/>
          <p:nvPr/>
        </p:nvSpPr>
        <p:spPr>
          <a:xfrm>
            <a:off x="219456" y="100584"/>
            <a:ext cx="11704320" cy="475488"/>
          </a:xfrm>
          <a:prstGeom prst="rect">
            <a:avLst/>
          </a:prstGeom>
          <a:noFill/>
          <a:ln/>
        </p:spPr>
        <p:txBody>
          <a:bodyPr wrap="square" lIns="0" tIns="0" rIns="0" bIns="0" rtlCol="0" anchor="ctr"/>
          <a:lstStyle/>
          <a:p>
            <a:pPr marL="0" indent="0" algn="l">
              <a:buNone/>
            </a:pPr>
            <a:r>
              <a:rPr lang="en-US" sz="3000" b="1" dirty="0">
                <a:solidFill>
                  <a:srgbClr val="FFFFFF"/>
                </a:solidFill>
                <a:latin typeface="Georgia" pitchFamily="34" charset="0"/>
                <a:ea typeface="Georgia" pitchFamily="34" charset="-122"/>
                <a:cs typeface="Georgia" pitchFamily="34" charset="-120"/>
              </a:rPr>
              <a:t>The Leader Agent</a:t>
            </a:r>
            <a:endParaRPr lang="en-US" sz="3000" dirty="0"/>
          </a:p>
        </p:txBody>
      </p:sp>
      <p:sp>
        <p:nvSpPr>
          <p:cNvPr id="5" name="Text 3"/>
          <p:cNvSpPr/>
          <p:nvPr/>
        </p:nvSpPr>
        <p:spPr>
          <a:xfrm>
            <a:off x="219456" y="603504"/>
            <a:ext cx="10789920" cy="310896"/>
          </a:xfrm>
          <a:prstGeom prst="rect">
            <a:avLst/>
          </a:prstGeom>
          <a:noFill/>
          <a:ln/>
        </p:spPr>
        <p:txBody>
          <a:bodyPr wrap="square" lIns="0" tIns="0" rIns="0" bIns="0" rtlCol="0" anchor="ctr"/>
          <a:lstStyle/>
          <a:p>
            <a:pPr marL="0" indent="0" algn="l">
              <a:buNone/>
            </a:pPr>
            <a:r>
              <a:rPr lang="en-US" sz="1300" i="1" dirty="0">
                <a:solidFill>
                  <a:srgbClr val="FDD17A"/>
                </a:solidFill>
                <a:latin typeface="Georgia" pitchFamily="34" charset="0"/>
                <a:ea typeface="Georgia" pitchFamily="34" charset="-122"/>
                <a:cs typeface="Georgia" pitchFamily="34" charset="-120"/>
              </a:rPr>
              <a:t>The conductor of the orchestra — never transforms code itself, only coordinates the specialists.</a:t>
            </a:r>
            <a:endParaRPr lang="en-US" sz="1300" dirty="0"/>
          </a:p>
        </p:txBody>
      </p:sp>
      <p:sp>
        <p:nvSpPr>
          <p:cNvPr id="6" name="Shape 4"/>
          <p:cNvSpPr/>
          <p:nvPr/>
        </p:nvSpPr>
        <p:spPr>
          <a:xfrm>
            <a:off x="219456" y="969264"/>
            <a:ext cx="11704320" cy="22860"/>
          </a:xfrm>
          <a:prstGeom prst="rect">
            <a:avLst/>
          </a:prstGeom>
          <a:solidFill>
            <a:srgbClr val="F5A623">
              <a:alpha val="45000"/>
            </a:srgbClr>
          </a:solidFill>
          <a:ln w="12700">
            <a:solidFill>
              <a:srgbClr val="F5A623">
                <a:alpha val="0"/>
              </a:srgbClr>
            </a:solidFill>
            <a:prstDash val="solid"/>
          </a:ln>
        </p:spPr>
        <p:txBody>
          <a:bodyPr/>
          <a:lstStyle/>
          <a:p>
            <a:endParaRPr lang="en-US"/>
          </a:p>
        </p:txBody>
      </p:sp>
      <p:sp>
        <p:nvSpPr>
          <p:cNvPr id="7" name="Shape 5"/>
          <p:cNvSpPr/>
          <p:nvPr/>
        </p:nvSpPr>
        <p:spPr>
          <a:xfrm>
            <a:off x="128016" y="0"/>
            <a:ext cx="91440" cy="6858000"/>
          </a:xfrm>
          <a:prstGeom prst="rect">
            <a:avLst/>
          </a:prstGeom>
          <a:solidFill>
            <a:srgbClr val="1D9E75"/>
          </a:solidFill>
          <a:ln w="12700">
            <a:solidFill>
              <a:srgbClr val="1D9E75">
                <a:alpha val="0"/>
              </a:srgbClr>
            </a:solidFill>
            <a:prstDash val="solid"/>
          </a:ln>
        </p:spPr>
        <p:txBody>
          <a:bodyPr/>
          <a:lstStyle/>
          <a:p>
            <a:endParaRPr lang="en-US"/>
          </a:p>
        </p:txBody>
      </p:sp>
      <p:sp>
        <p:nvSpPr>
          <p:cNvPr id="8" name="Text 6"/>
          <p:cNvSpPr/>
          <p:nvPr/>
        </p:nvSpPr>
        <p:spPr>
          <a:xfrm>
            <a:off x="219456" y="1042416"/>
            <a:ext cx="11704320" cy="502920"/>
          </a:xfrm>
          <a:prstGeom prst="rect">
            <a:avLst/>
          </a:prstGeom>
          <a:noFill/>
          <a:ln/>
        </p:spPr>
        <p:txBody>
          <a:bodyPr wrap="square" lIns="0" tIns="0" rIns="0" bIns="0" rtlCol="0" anchor="ctr"/>
          <a:lstStyle/>
          <a:p>
            <a:pPr marL="0" indent="0" algn="l">
              <a:buNone/>
            </a:pPr>
            <a:r>
              <a:rPr lang="en-US" sz="1150" i="1" dirty="0">
                <a:solidFill>
                  <a:srgbClr val="E8EDF4"/>
                </a:solidFill>
                <a:latin typeface="Georgia" pitchFamily="34" charset="0"/>
                <a:ea typeface="Georgia" pitchFamily="34" charset="-122"/>
                <a:cs typeface="Georgia" pitchFamily="34" charset="-120"/>
              </a:rPr>
              <a:t>Analogy: Think of the Leader Agent as a senior project manager. It reads the workload, assigns the right specialist, checks the result, decides whether to approve or send back for revision, and escalates to human review when needed. It never writes a line of code itself — it orchestrates.</a:t>
            </a:r>
            <a:endParaRPr lang="en-US" sz="1150" dirty="0"/>
          </a:p>
        </p:txBody>
      </p:sp>
      <p:sp>
        <p:nvSpPr>
          <p:cNvPr id="9" name="Shape 7"/>
          <p:cNvSpPr/>
          <p:nvPr/>
        </p:nvSpPr>
        <p:spPr>
          <a:xfrm>
            <a:off x="219456" y="1682496"/>
            <a:ext cx="5833872" cy="1444752"/>
          </a:xfrm>
          <a:prstGeom prst="rect">
            <a:avLst/>
          </a:prstGeom>
          <a:solidFill>
            <a:srgbClr val="E1F5EE"/>
          </a:solidFill>
          <a:ln w="10160">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10" name="Shape 8"/>
          <p:cNvSpPr/>
          <p:nvPr/>
        </p:nvSpPr>
        <p:spPr>
          <a:xfrm>
            <a:off x="347472" y="2185416"/>
            <a:ext cx="475488" cy="475488"/>
          </a:xfrm>
          <a:prstGeom prst="ellipse">
            <a:avLst/>
          </a:prstGeom>
          <a:solidFill>
            <a:srgbClr val="1D9E75"/>
          </a:solidFill>
          <a:ln w="12700">
            <a:solidFill>
              <a:srgbClr val="1D9E75">
                <a:alpha val="0"/>
              </a:srgbClr>
            </a:solidFill>
            <a:prstDash val="solid"/>
          </a:ln>
        </p:spPr>
        <p:txBody>
          <a:bodyPr/>
          <a:lstStyle/>
          <a:p>
            <a:endParaRPr lang="en-US"/>
          </a:p>
        </p:txBody>
      </p:sp>
      <p:sp>
        <p:nvSpPr>
          <p:cNvPr id="11" name="Text 9"/>
          <p:cNvSpPr/>
          <p:nvPr/>
        </p:nvSpPr>
        <p:spPr>
          <a:xfrm>
            <a:off x="347472" y="2185416"/>
            <a:ext cx="475488" cy="475488"/>
          </a:xfrm>
          <a:prstGeom prst="rect">
            <a:avLst/>
          </a:prstGeom>
          <a:noFill/>
          <a:ln/>
        </p:spPr>
        <p:txBody>
          <a:bodyPr wrap="square" lIns="0" tIns="0" rIns="0" bIns="0"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1</a:t>
            </a:r>
            <a:endParaRPr lang="en-US" sz="2000" dirty="0"/>
          </a:p>
        </p:txBody>
      </p:sp>
      <p:sp>
        <p:nvSpPr>
          <p:cNvPr id="12" name="Text 10"/>
          <p:cNvSpPr/>
          <p:nvPr/>
        </p:nvSpPr>
        <p:spPr>
          <a:xfrm>
            <a:off x="950976" y="1773936"/>
            <a:ext cx="4992624" cy="329184"/>
          </a:xfrm>
          <a:prstGeom prst="rect">
            <a:avLst/>
          </a:prstGeom>
          <a:noFill/>
          <a:ln/>
        </p:spPr>
        <p:txBody>
          <a:bodyPr wrap="square" lIns="0" tIns="0" rIns="0" bIns="0" rtlCol="0" anchor="ctr"/>
          <a:lstStyle/>
          <a:p>
            <a:pPr marL="0" indent="0" algn="l">
              <a:buNone/>
            </a:pPr>
            <a:r>
              <a:rPr lang="en-US" sz="1200" b="1" dirty="0">
                <a:solidFill>
                  <a:srgbClr val="1D9E75"/>
                </a:solidFill>
                <a:latin typeface="Georgia" pitchFamily="34" charset="0"/>
                <a:ea typeface="Georgia" pitchFamily="34" charset="-122"/>
                <a:cs typeface="Georgia" pitchFamily="34" charset="-120"/>
              </a:rPr>
              <a:t>Read the project log</a:t>
            </a:r>
            <a:endParaRPr lang="en-US" sz="1200" dirty="0"/>
          </a:p>
        </p:txBody>
      </p:sp>
      <p:sp>
        <p:nvSpPr>
          <p:cNvPr id="13" name="Text 11"/>
          <p:cNvSpPr/>
          <p:nvPr/>
        </p:nvSpPr>
        <p:spPr>
          <a:xfrm>
            <a:off x="950976" y="2103120"/>
            <a:ext cx="4992624" cy="914400"/>
          </a:xfrm>
          <a:prstGeom prst="rect">
            <a:avLst/>
          </a:prstGeom>
          <a:noFill/>
          <a:ln/>
        </p:spPr>
        <p:txBody>
          <a:bodyPr wrap="square" lIns="0" tIns="0" rIns="0" bIns="0" rtlCol="0" anchor="ctr"/>
          <a:lstStyle/>
          <a:p>
            <a:pPr marL="0" indent="0" algn="l">
              <a:buNone/>
            </a:pPr>
            <a:r>
              <a:rPr lang="en-US" sz="950" dirty="0">
                <a:solidFill>
                  <a:srgbClr val="2A3C52"/>
                </a:solidFill>
                <a:latin typeface="Calibri" pitchFamily="34" charset="0"/>
                <a:ea typeface="Calibri" pitchFamily="34" charset="-122"/>
                <a:cs typeface="Calibri" pitchFamily="34" charset="-120"/>
              </a:rPr>
              <a:t>Opens migration-state.json — the live record of every file and its current status. Finds the next file with status PENDING and picks it up for processing.</a:t>
            </a:r>
            <a:endParaRPr lang="en-US" sz="950" dirty="0"/>
          </a:p>
        </p:txBody>
      </p:sp>
      <p:sp>
        <p:nvSpPr>
          <p:cNvPr id="14" name="Shape 12"/>
          <p:cNvSpPr/>
          <p:nvPr/>
        </p:nvSpPr>
        <p:spPr>
          <a:xfrm>
            <a:off x="219456" y="3255264"/>
            <a:ext cx="5833872" cy="1444752"/>
          </a:xfrm>
          <a:prstGeom prst="rect">
            <a:avLst/>
          </a:prstGeom>
          <a:solidFill>
            <a:srgbClr val="E6F1FB"/>
          </a:solidFill>
          <a:ln w="1016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15" name="Shape 13"/>
          <p:cNvSpPr/>
          <p:nvPr/>
        </p:nvSpPr>
        <p:spPr>
          <a:xfrm>
            <a:off x="347472" y="3758184"/>
            <a:ext cx="475488" cy="475488"/>
          </a:xfrm>
          <a:prstGeom prst="ellipse">
            <a:avLst/>
          </a:prstGeom>
          <a:solidFill>
            <a:srgbClr val="3B82C4"/>
          </a:solidFill>
          <a:ln w="12700">
            <a:solidFill>
              <a:srgbClr val="3B82C4">
                <a:alpha val="0"/>
              </a:srgbClr>
            </a:solidFill>
            <a:prstDash val="solid"/>
          </a:ln>
        </p:spPr>
        <p:txBody>
          <a:bodyPr/>
          <a:lstStyle/>
          <a:p>
            <a:endParaRPr lang="en-US"/>
          </a:p>
        </p:txBody>
      </p:sp>
      <p:sp>
        <p:nvSpPr>
          <p:cNvPr id="16" name="Text 14"/>
          <p:cNvSpPr/>
          <p:nvPr/>
        </p:nvSpPr>
        <p:spPr>
          <a:xfrm>
            <a:off x="347472" y="3758184"/>
            <a:ext cx="475488" cy="475488"/>
          </a:xfrm>
          <a:prstGeom prst="rect">
            <a:avLst/>
          </a:prstGeom>
          <a:noFill/>
          <a:ln/>
        </p:spPr>
        <p:txBody>
          <a:bodyPr wrap="square" lIns="0" tIns="0" rIns="0" bIns="0"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2</a:t>
            </a:r>
            <a:endParaRPr lang="en-US" sz="2000" dirty="0"/>
          </a:p>
        </p:txBody>
      </p:sp>
      <p:sp>
        <p:nvSpPr>
          <p:cNvPr id="17" name="Text 15"/>
          <p:cNvSpPr/>
          <p:nvPr/>
        </p:nvSpPr>
        <p:spPr>
          <a:xfrm>
            <a:off x="950976" y="3346704"/>
            <a:ext cx="4992624" cy="329184"/>
          </a:xfrm>
          <a:prstGeom prst="rect">
            <a:avLst/>
          </a:prstGeom>
          <a:noFill/>
          <a:ln/>
        </p:spPr>
        <p:txBody>
          <a:bodyPr wrap="square" lIns="0" tIns="0" rIns="0" bIns="0" rtlCol="0" anchor="ctr"/>
          <a:lstStyle/>
          <a:p>
            <a:pPr marL="0" indent="0" algn="l">
              <a:buNone/>
            </a:pPr>
            <a:r>
              <a:rPr lang="en-US" sz="1200" b="1" dirty="0">
                <a:solidFill>
                  <a:srgbClr val="3B82C4"/>
                </a:solidFill>
                <a:latin typeface="Georgia" pitchFamily="34" charset="0"/>
                <a:ea typeface="Georgia" pitchFamily="34" charset="-122"/>
                <a:cs typeface="Georgia" pitchFamily="34" charset="-120"/>
              </a:rPr>
              <a:t>Select the right specialist</a:t>
            </a:r>
            <a:endParaRPr lang="en-US" sz="1200" dirty="0"/>
          </a:p>
        </p:txBody>
      </p:sp>
      <p:sp>
        <p:nvSpPr>
          <p:cNvPr id="18" name="Text 16"/>
          <p:cNvSpPr/>
          <p:nvPr/>
        </p:nvSpPr>
        <p:spPr>
          <a:xfrm>
            <a:off x="950976" y="3675888"/>
            <a:ext cx="4992624" cy="914400"/>
          </a:xfrm>
          <a:prstGeom prst="rect">
            <a:avLst/>
          </a:prstGeom>
          <a:noFill/>
          <a:ln/>
        </p:spPr>
        <p:txBody>
          <a:bodyPr wrap="square" lIns="0" tIns="0" rIns="0" bIns="0" rtlCol="0" anchor="ctr"/>
          <a:lstStyle/>
          <a:p>
            <a:pPr marL="0" indent="0" algn="l">
              <a:buNone/>
            </a:pPr>
            <a:r>
              <a:rPr lang="en-US" sz="950" dirty="0">
                <a:solidFill>
                  <a:srgbClr val="2A3C52"/>
                </a:solidFill>
                <a:latin typeface="Calibri" pitchFamily="34" charset="0"/>
                <a:ea typeface="Calibri" pitchFamily="34" charset="-122"/>
                <a:cs typeface="Calibri" pitchFamily="34" charset="-120"/>
              </a:rPr>
              <a:t>Looks at the file type, phase, and content to decide which of the 8 transform agents should handle it. A JSP file goes to the Struts2→MVC agent. A Java config file goes to the Spring 5→6 agent.</a:t>
            </a:r>
            <a:endParaRPr lang="en-US" sz="950" dirty="0"/>
          </a:p>
        </p:txBody>
      </p:sp>
      <p:sp>
        <p:nvSpPr>
          <p:cNvPr id="19" name="Shape 17"/>
          <p:cNvSpPr/>
          <p:nvPr/>
        </p:nvSpPr>
        <p:spPr>
          <a:xfrm>
            <a:off x="219456" y="4828032"/>
            <a:ext cx="5833872" cy="1444752"/>
          </a:xfrm>
          <a:prstGeom prst="rect">
            <a:avLst/>
          </a:prstGeom>
          <a:solidFill>
            <a:srgbClr val="E6F1FB"/>
          </a:solidFill>
          <a:ln w="1016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20" name="Shape 18"/>
          <p:cNvSpPr/>
          <p:nvPr/>
        </p:nvSpPr>
        <p:spPr>
          <a:xfrm>
            <a:off x="347472" y="5330952"/>
            <a:ext cx="475488" cy="475488"/>
          </a:xfrm>
          <a:prstGeom prst="ellipse">
            <a:avLst/>
          </a:prstGeom>
          <a:solidFill>
            <a:srgbClr val="3B82C4"/>
          </a:solidFill>
          <a:ln w="12700">
            <a:solidFill>
              <a:srgbClr val="3B82C4">
                <a:alpha val="0"/>
              </a:srgbClr>
            </a:solidFill>
            <a:prstDash val="solid"/>
          </a:ln>
        </p:spPr>
        <p:txBody>
          <a:bodyPr/>
          <a:lstStyle/>
          <a:p>
            <a:endParaRPr lang="en-US"/>
          </a:p>
        </p:txBody>
      </p:sp>
      <p:sp>
        <p:nvSpPr>
          <p:cNvPr id="21" name="Text 19"/>
          <p:cNvSpPr/>
          <p:nvPr/>
        </p:nvSpPr>
        <p:spPr>
          <a:xfrm>
            <a:off x="347472" y="5330952"/>
            <a:ext cx="475488" cy="475488"/>
          </a:xfrm>
          <a:prstGeom prst="rect">
            <a:avLst/>
          </a:prstGeom>
          <a:noFill/>
          <a:ln/>
        </p:spPr>
        <p:txBody>
          <a:bodyPr wrap="square" lIns="0" tIns="0" rIns="0" bIns="0"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3</a:t>
            </a:r>
            <a:endParaRPr lang="en-US" sz="2000" dirty="0"/>
          </a:p>
        </p:txBody>
      </p:sp>
      <p:sp>
        <p:nvSpPr>
          <p:cNvPr id="22" name="Text 20"/>
          <p:cNvSpPr/>
          <p:nvPr/>
        </p:nvSpPr>
        <p:spPr>
          <a:xfrm>
            <a:off x="950976" y="4919472"/>
            <a:ext cx="4992624" cy="329184"/>
          </a:xfrm>
          <a:prstGeom prst="rect">
            <a:avLst/>
          </a:prstGeom>
          <a:noFill/>
          <a:ln/>
        </p:spPr>
        <p:txBody>
          <a:bodyPr wrap="square" lIns="0" tIns="0" rIns="0" bIns="0" rtlCol="0" anchor="ctr"/>
          <a:lstStyle/>
          <a:p>
            <a:pPr marL="0" indent="0" algn="l">
              <a:buNone/>
            </a:pPr>
            <a:r>
              <a:rPr lang="en-US" sz="1200" b="1" dirty="0">
                <a:solidFill>
                  <a:srgbClr val="3B82C4"/>
                </a:solidFill>
                <a:latin typeface="Georgia" pitchFamily="34" charset="0"/>
                <a:ea typeface="Georgia" pitchFamily="34" charset="-122"/>
                <a:cs typeface="Georgia" pitchFamily="34" charset="-120"/>
              </a:rPr>
              <a:t>Send file to transform agent</a:t>
            </a:r>
            <a:endParaRPr lang="en-US" sz="1200" dirty="0"/>
          </a:p>
        </p:txBody>
      </p:sp>
      <p:sp>
        <p:nvSpPr>
          <p:cNvPr id="23" name="Text 21"/>
          <p:cNvSpPr/>
          <p:nvPr/>
        </p:nvSpPr>
        <p:spPr>
          <a:xfrm>
            <a:off x="950976" y="5248656"/>
            <a:ext cx="4992624" cy="914400"/>
          </a:xfrm>
          <a:prstGeom prst="rect">
            <a:avLst/>
          </a:prstGeom>
          <a:noFill/>
          <a:ln/>
        </p:spPr>
        <p:txBody>
          <a:bodyPr wrap="square" lIns="0" tIns="0" rIns="0" bIns="0" rtlCol="0" anchor="ctr"/>
          <a:lstStyle/>
          <a:p>
            <a:pPr marL="0" indent="0" algn="l">
              <a:buNone/>
            </a:pPr>
            <a:r>
              <a:rPr lang="en-US" sz="950" dirty="0">
                <a:solidFill>
                  <a:srgbClr val="2A3C52"/>
                </a:solidFill>
                <a:latin typeface="Calibri" pitchFamily="34" charset="0"/>
                <a:ea typeface="Calibri" pitchFamily="34" charset="-122"/>
                <a:cs typeface="Calibri" pitchFamily="34" charset="-120"/>
              </a:rPr>
              <a:t>Passes the file content, any relevant RAG context, and clear instructions to the chosen specialist agent. On a retry, it also includes the specific feedback from the review agent so the specialist knows exactly what to fix.</a:t>
            </a:r>
            <a:endParaRPr lang="en-US" sz="950" dirty="0"/>
          </a:p>
        </p:txBody>
      </p:sp>
      <p:sp>
        <p:nvSpPr>
          <p:cNvPr id="24" name="Shape 22"/>
          <p:cNvSpPr/>
          <p:nvPr/>
        </p:nvSpPr>
        <p:spPr>
          <a:xfrm>
            <a:off x="6208776" y="1682496"/>
            <a:ext cx="5833872" cy="1444752"/>
          </a:xfrm>
          <a:prstGeom prst="rect">
            <a:avLst/>
          </a:prstGeom>
          <a:solidFill>
            <a:srgbClr val="EEEDFE"/>
          </a:solidFill>
          <a:ln w="1016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25" name="Shape 23"/>
          <p:cNvSpPr/>
          <p:nvPr/>
        </p:nvSpPr>
        <p:spPr>
          <a:xfrm>
            <a:off x="6336792" y="2185416"/>
            <a:ext cx="475488" cy="475488"/>
          </a:xfrm>
          <a:prstGeom prst="ellipse">
            <a:avLst/>
          </a:prstGeom>
          <a:solidFill>
            <a:srgbClr val="534AB7"/>
          </a:solidFill>
          <a:ln w="12700">
            <a:solidFill>
              <a:srgbClr val="534AB7">
                <a:alpha val="0"/>
              </a:srgbClr>
            </a:solidFill>
            <a:prstDash val="solid"/>
          </a:ln>
        </p:spPr>
        <p:txBody>
          <a:bodyPr/>
          <a:lstStyle/>
          <a:p>
            <a:endParaRPr lang="en-US"/>
          </a:p>
        </p:txBody>
      </p:sp>
      <p:sp>
        <p:nvSpPr>
          <p:cNvPr id="26" name="Text 24"/>
          <p:cNvSpPr/>
          <p:nvPr/>
        </p:nvSpPr>
        <p:spPr>
          <a:xfrm>
            <a:off x="6336792" y="2185416"/>
            <a:ext cx="475488" cy="475488"/>
          </a:xfrm>
          <a:prstGeom prst="rect">
            <a:avLst/>
          </a:prstGeom>
          <a:noFill/>
          <a:ln/>
        </p:spPr>
        <p:txBody>
          <a:bodyPr wrap="square" lIns="0" tIns="0" rIns="0" bIns="0"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4</a:t>
            </a:r>
            <a:endParaRPr lang="en-US" sz="2000" dirty="0"/>
          </a:p>
        </p:txBody>
      </p:sp>
      <p:sp>
        <p:nvSpPr>
          <p:cNvPr id="27" name="Text 25"/>
          <p:cNvSpPr/>
          <p:nvPr/>
        </p:nvSpPr>
        <p:spPr>
          <a:xfrm>
            <a:off x="6940296" y="1773936"/>
            <a:ext cx="4992624" cy="329184"/>
          </a:xfrm>
          <a:prstGeom prst="rect">
            <a:avLst/>
          </a:prstGeom>
          <a:noFill/>
          <a:ln/>
        </p:spPr>
        <p:txBody>
          <a:bodyPr wrap="square" lIns="0" tIns="0" rIns="0" bIns="0" rtlCol="0" anchor="ctr"/>
          <a:lstStyle/>
          <a:p>
            <a:pPr marL="0" indent="0" algn="l">
              <a:buNone/>
            </a:pPr>
            <a:r>
              <a:rPr lang="en-US" sz="1200" b="1" dirty="0">
                <a:solidFill>
                  <a:srgbClr val="534AB7"/>
                </a:solidFill>
                <a:latin typeface="Georgia" pitchFamily="34" charset="0"/>
                <a:ea typeface="Georgia" pitchFamily="34" charset="-122"/>
                <a:cs typeface="Georgia" pitchFamily="34" charset="-120"/>
              </a:rPr>
              <a:t>Read the review verdict</a:t>
            </a:r>
            <a:endParaRPr lang="en-US" sz="1200" dirty="0"/>
          </a:p>
        </p:txBody>
      </p:sp>
      <p:sp>
        <p:nvSpPr>
          <p:cNvPr id="28" name="Text 26"/>
          <p:cNvSpPr/>
          <p:nvPr/>
        </p:nvSpPr>
        <p:spPr>
          <a:xfrm>
            <a:off x="6940296" y="2103120"/>
            <a:ext cx="4992624" cy="914400"/>
          </a:xfrm>
          <a:prstGeom prst="rect">
            <a:avLst/>
          </a:prstGeom>
          <a:noFill/>
          <a:ln/>
        </p:spPr>
        <p:txBody>
          <a:bodyPr wrap="square" lIns="0" tIns="0" rIns="0" bIns="0" rtlCol="0" anchor="ctr"/>
          <a:lstStyle/>
          <a:p>
            <a:pPr marL="0" indent="0" algn="l">
              <a:buNone/>
            </a:pPr>
            <a:r>
              <a:rPr lang="en-US" sz="950" dirty="0">
                <a:solidFill>
                  <a:srgbClr val="2A3C52"/>
                </a:solidFill>
                <a:latin typeface="Calibri" pitchFamily="34" charset="0"/>
                <a:ea typeface="Calibri" pitchFamily="34" charset="-122"/>
                <a:cs typeface="Calibri" pitchFamily="34" charset="-120"/>
              </a:rPr>
              <a:t>After the transform agent finishes, the Leader sends the result to the review agent. It then reads the verdict: PASS (score ≥80), RETRY (score 50–79), or MANUAL (score &lt;50).</a:t>
            </a:r>
            <a:endParaRPr lang="en-US" sz="950" dirty="0"/>
          </a:p>
        </p:txBody>
      </p:sp>
      <p:sp>
        <p:nvSpPr>
          <p:cNvPr id="29" name="Shape 27"/>
          <p:cNvSpPr/>
          <p:nvPr/>
        </p:nvSpPr>
        <p:spPr>
          <a:xfrm>
            <a:off x="6208776" y="3255264"/>
            <a:ext cx="5833872" cy="1444752"/>
          </a:xfrm>
          <a:prstGeom prst="rect">
            <a:avLst/>
          </a:prstGeom>
          <a:solidFill>
            <a:srgbClr val="FEF6E7"/>
          </a:solidFill>
          <a:ln w="10160">
            <a:solidFill>
              <a:srgbClr val="F5A623"/>
            </a:solidFill>
            <a:prstDash val="solid"/>
          </a:ln>
          <a:effectLst>
            <a:outerShdw blurRad="101600" dist="1016" dir="8100000" algn="bl" rotWithShape="0">
              <a:srgbClr val="000000">
                <a:alpha val="9000"/>
              </a:srgbClr>
            </a:outerShdw>
          </a:effectLst>
        </p:spPr>
        <p:txBody>
          <a:bodyPr/>
          <a:lstStyle/>
          <a:p>
            <a:endParaRPr lang="en-US"/>
          </a:p>
        </p:txBody>
      </p:sp>
      <p:sp>
        <p:nvSpPr>
          <p:cNvPr id="30" name="Shape 28"/>
          <p:cNvSpPr/>
          <p:nvPr/>
        </p:nvSpPr>
        <p:spPr>
          <a:xfrm>
            <a:off x="6336792" y="3758184"/>
            <a:ext cx="475488" cy="475488"/>
          </a:xfrm>
          <a:prstGeom prst="ellipse">
            <a:avLst/>
          </a:prstGeom>
          <a:solidFill>
            <a:srgbClr val="F5A623"/>
          </a:solidFill>
          <a:ln w="12700">
            <a:solidFill>
              <a:srgbClr val="F5A623">
                <a:alpha val="0"/>
              </a:srgbClr>
            </a:solidFill>
            <a:prstDash val="solid"/>
          </a:ln>
        </p:spPr>
        <p:txBody>
          <a:bodyPr/>
          <a:lstStyle/>
          <a:p>
            <a:endParaRPr lang="en-US"/>
          </a:p>
        </p:txBody>
      </p:sp>
      <p:sp>
        <p:nvSpPr>
          <p:cNvPr id="31" name="Text 29"/>
          <p:cNvSpPr/>
          <p:nvPr/>
        </p:nvSpPr>
        <p:spPr>
          <a:xfrm>
            <a:off x="6336792" y="3758184"/>
            <a:ext cx="475488" cy="475488"/>
          </a:xfrm>
          <a:prstGeom prst="rect">
            <a:avLst/>
          </a:prstGeom>
          <a:noFill/>
          <a:ln/>
        </p:spPr>
        <p:txBody>
          <a:bodyPr wrap="square" lIns="0" tIns="0" rIns="0" bIns="0"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5</a:t>
            </a:r>
            <a:endParaRPr lang="en-US" sz="2000" dirty="0"/>
          </a:p>
        </p:txBody>
      </p:sp>
      <p:sp>
        <p:nvSpPr>
          <p:cNvPr id="32" name="Text 30"/>
          <p:cNvSpPr/>
          <p:nvPr/>
        </p:nvSpPr>
        <p:spPr>
          <a:xfrm>
            <a:off x="6940296" y="3346704"/>
            <a:ext cx="4992624" cy="329184"/>
          </a:xfrm>
          <a:prstGeom prst="rect">
            <a:avLst/>
          </a:prstGeom>
          <a:noFill/>
          <a:ln/>
        </p:spPr>
        <p:txBody>
          <a:bodyPr wrap="square" lIns="0" tIns="0" rIns="0" bIns="0" rtlCol="0" anchor="ctr"/>
          <a:lstStyle/>
          <a:p>
            <a:pPr marL="0" indent="0" algn="l">
              <a:buNone/>
            </a:pPr>
            <a:r>
              <a:rPr lang="en-US" sz="1200" b="1" dirty="0">
                <a:solidFill>
                  <a:srgbClr val="F5A623"/>
                </a:solidFill>
                <a:latin typeface="Georgia" pitchFamily="34" charset="0"/>
                <a:ea typeface="Georgia" pitchFamily="34" charset="-122"/>
                <a:cs typeface="Georgia" pitchFamily="34" charset="-120"/>
              </a:rPr>
              <a:t>Decide: approve, retry, or escalate</a:t>
            </a:r>
            <a:endParaRPr lang="en-US" sz="1200" dirty="0"/>
          </a:p>
        </p:txBody>
      </p:sp>
      <p:sp>
        <p:nvSpPr>
          <p:cNvPr id="33" name="Text 31"/>
          <p:cNvSpPr/>
          <p:nvPr/>
        </p:nvSpPr>
        <p:spPr>
          <a:xfrm>
            <a:off x="6940296" y="3675888"/>
            <a:ext cx="4992624" cy="914400"/>
          </a:xfrm>
          <a:prstGeom prst="rect">
            <a:avLst/>
          </a:prstGeom>
          <a:noFill/>
          <a:ln/>
        </p:spPr>
        <p:txBody>
          <a:bodyPr wrap="square" lIns="0" tIns="0" rIns="0" bIns="0" rtlCol="0" anchor="ctr"/>
          <a:lstStyle/>
          <a:p>
            <a:pPr marL="0" indent="0" algn="l">
              <a:buNone/>
            </a:pPr>
            <a:r>
              <a:rPr lang="en-US" sz="950" dirty="0">
                <a:solidFill>
                  <a:srgbClr val="2A3C52"/>
                </a:solidFill>
                <a:latin typeface="Calibri" pitchFamily="34" charset="0"/>
                <a:ea typeface="Calibri" pitchFamily="34" charset="-122"/>
                <a:cs typeface="Calibri" pitchFamily="34" charset="-120"/>
              </a:rPr>
              <a:t>PASS → writes the file to ./migrated/. RETRY → sends back to the transform agent with review feedback injected (max 2 retries). MANUAL or retry limit exceeded → pushes to the human review queue with full context.</a:t>
            </a:r>
            <a:endParaRPr lang="en-US" sz="950" dirty="0"/>
          </a:p>
        </p:txBody>
      </p:sp>
      <p:sp>
        <p:nvSpPr>
          <p:cNvPr id="34" name="Shape 32"/>
          <p:cNvSpPr/>
          <p:nvPr/>
        </p:nvSpPr>
        <p:spPr>
          <a:xfrm>
            <a:off x="6208776" y="4828032"/>
            <a:ext cx="5833872" cy="1444752"/>
          </a:xfrm>
          <a:prstGeom prst="rect">
            <a:avLst/>
          </a:prstGeom>
          <a:solidFill>
            <a:srgbClr val="E1F5EE"/>
          </a:solidFill>
          <a:ln w="10160">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35" name="Shape 33"/>
          <p:cNvSpPr/>
          <p:nvPr/>
        </p:nvSpPr>
        <p:spPr>
          <a:xfrm>
            <a:off x="6336792" y="5330952"/>
            <a:ext cx="475488" cy="475488"/>
          </a:xfrm>
          <a:prstGeom prst="ellipse">
            <a:avLst/>
          </a:prstGeom>
          <a:solidFill>
            <a:srgbClr val="1D9E75"/>
          </a:solidFill>
          <a:ln w="12700">
            <a:solidFill>
              <a:srgbClr val="1D9E75">
                <a:alpha val="0"/>
              </a:srgbClr>
            </a:solidFill>
            <a:prstDash val="solid"/>
          </a:ln>
        </p:spPr>
        <p:txBody>
          <a:bodyPr/>
          <a:lstStyle/>
          <a:p>
            <a:endParaRPr lang="en-US"/>
          </a:p>
        </p:txBody>
      </p:sp>
      <p:sp>
        <p:nvSpPr>
          <p:cNvPr id="36" name="Text 34"/>
          <p:cNvSpPr/>
          <p:nvPr/>
        </p:nvSpPr>
        <p:spPr>
          <a:xfrm>
            <a:off x="6336792" y="5330952"/>
            <a:ext cx="475488" cy="475488"/>
          </a:xfrm>
          <a:prstGeom prst="rect">
            <a:avLst/>
          </a:prstGeom>
          <a:noFill/>
          <a:ln/>
        </p:spPr>
        <p:txBody>
          <a:bodyPr wrap="square" lIns="0" tIns="0" rIns="0" bIns="0" rtlCol="0" anchor="ctr"/>
          <a:lstStyle/>
          <a:p>
            <a:pPr marL="0" indent="0" algn="ctr">
              <a:buNone/>
            </a:pPr>
            <a:r>
              <a:rPr lang="en-US" sz="2000" b="1" dirty="0">
                <a:solidFill>
                  <a:srgbClr val="FFFFFF"/>
                </a:solidFill>
                <a:latin typeface="Georgia" pitchFamily="34" charset="0"/>
                <a:ea typeface="Georgia" pitchFamily="34" charset="-122"/>
                <a:cs typeface="Georgia" pitchFamily="34" charset="-120"/>
              </a:rPr>
              <a:t>6</a:t>
            </a:r>
            <a:endParaRPr lang="en-US" sz="2000" dirty="0"/>
          </a:p>
        </p:txBody>
      </p:sp>
      <p:sp>
        <p:nvSpPr>
          <p:cNvPr id="37" name="Text 35"/>
          <p:cNvSpPr/>
          <p:nvPr/>
        </p:nvSpPr>
        <p:spPr>
          <a:xfrm>
            <a:off x="6940296" y="4919472"/>
            <a:ext cx="4992624" cy="329184"/>
          </a:xfrm>
          <a:prstGeom prst="rect">
            <a:avLst/>
          </a:prstGeom>
          <a:noFill/>
          <a:ln/>
        </p:spPr>
        <p:txBody>
          <a:bodyPr wrap="square" lIns="0" tIns="0" rIns="0" bIns="0" rtlCol="0" anchor="ctr"/>
          <a:lstStyle/>
          <a:p>
            <a:pPr marL="0" indent="0" algn="l">
              <a:buNone/>
            </a:pPr>
            <a:r>
              <a:rPr lang="en-US" sz="1200" b="1" dirty="0">
                <a:solidFill>
                  <a:srgbClr val="1D9E75"/>
                </a:solidFill>
                <a:latin typeface="Georgia" pitchFamily="34" charset="0"/>
                <a:ea typeface="Georgia" pitchFamily="34" charset="-122"/>
                <a:cs typeface="Georgia" pitchFamily="34" charset="-120"/>
              </a:rPr>
              <a:t>Update the project log</a:t>
            </a:r>
            <a:endParaRPr lang="en-US" sz="1200" dirty="0"/>
          </a:p>
        </p:txBody>
      </p:sp>
      <p:sp>
        <p:nvSpPr>
          <p:cNvPr id="38" name="Text 36"/>
          <p:cNvSpPr/>
          <p:nvPr/>
        </p:nvSpPr>
        <p:spPr>
          <a:xfrm>
            <a:off x="6940296" y="5248656"/>
            <a:ext cx="4992624" cy="914400"/>
          </a:xfrm>
          <a:prstGeom prst="rect">
            <a:avLst/>
          </a:prstGeom>
          <a:noFill/>
          <a:ln/>
        </p:spPr>
        <p:txBody>
          <a:bodyPr wrap="square" lIns="0" tIns="0" rIns="0" bIns="0" rtlCol="0" anchor="ctr"/>
          <a:lstStyle/>
          <a:p>
            <a:pPr marL="0" indent="0" algn="l">
              <a:buNone/>
            </a:pPr>
            <a:r>
              <a:rPr lang="en-US" sz="950" dirty="0">
                <a:solidFill>
                  <a:srgbClr val="2A3C52"/>
                </a:solidFill>
                <a:latin typeface="Calibri" pitchFamily="34" charset="0"/>
                <a:ea typeface="Calibri" pitchFamily="34" charset="-122"/>
                <a:cs typeface="Calibri" pitchFamily="34" charset="-120"/>
              </a:rPr>
              <a:t>Updates migration-state.json with the final outcome — status, review score, model pair used, retry count, and any guardrail findings. Every decision is recorded. Nothing is a black box.</a:t>
            </a:r>
            <a:endParaRPr lang="en-US" sz="950" dirty="0"/>
          </a:p>
        </p:txBody>
      </p:sp>
      <p:sp>
        <p:nvSpPr>
          <p:cNvPr id="39" name="Shape 37"/>
          <p:cNvSpPr/>
          <p:nvPr/>
        </p:nvSpPr>
        <p:spPr>
          <a:xfrm>
            <a:off x="219456" y="6382512"/>
            <a:ext cx="11704320" cy="384048"/>
          </a:xfrm>
          <a:prstGeom prst="rect">
            <a:avLst/>
          </a:prstGeom>
          <a:solidFill>
            <a:srgbClr val="C47E0F"/>
          </a:solidFill>
          <a:ln w="12700">
            <a:solidFill>
              <a:srgbClr val="C47E0F">
                <a:alpha val="0"/>
              </a:srgbClr>
            </a:solidFill>
            <a:prstDash val="solid"/>
          </a:ln>
        </p:spPr>
        <p:txBody>
          <a:bodyPr/>
          <a:lstStyle/>
          <a:p>
            <a:endParaRPr lang="en-US"/>
          </a:p>
        </p:txBody>
      </p:sp>
      <p:sp>
        <p:nvSpPr>
          <p:cNvPr id="40" name="Text 38"/>
          <p:cNvSpPr/>
          <p:nvPr/>
        </p:nvSpPr>
        <p:spPr>
          <a:xfrm>
            <a:off x="347472" y="6382512"/>
            <a:ext cx="11521440" cy="384048"/>
          </a:xfrm>
          <a:prstGeom prst="rect">
            <a:avLst/>
          </a:prstGeom>
          <a:noFill/>
          <a:ln/>
        </p:spPr>
        <p:txBody>
          <a:bodyPr wrap="square" lIns="0" tIns="0" rIns="0" bIns="0" rtlCol="0" anchor="ctr"/>
          <a:lstStyle/>
          <a:p>
            <a:pPr marL="0" indent="0" algn="l">
              <a:buNone/>
            </a:pPr>
            <a:r>
              <a:rPr lang="en-US" sz="1050" b="1" dirty="0">
                <a:solidFill>
                  <a:srgbClr val="FFFFFF"/>
                </a:solidFill>
                <a:latin typeface="Georgia" pitchFamily="34" charset="0"/>
                <a:ea typeface="Georgia" pitchFamily="34" charset="-122"/>
                <a:cs typeface="Georgia" pitchFamily="34" charset="-120"/>
              </a:rPr>
              <a:t>Business impact: The Leader Agent is why FORGE never needs human intervention for routine files. It handles retry logic, feedback injection, and escalation automatically — humans only see the genuinely complex cases.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4F9"/>
        </a:solidFill>
        <a:effectLst/>
      </p:bgPr>
    </p:bg>
    <p:spTree>
      <p:nvGrpSpPr>
        <p:cNvPr id="1" name=""/>
        <p:cNvGrpSpPr/>
        <p:nvPr/>
      </p:nvGrpSpPr>
      <p:grpSpPr>
        <a:xfrm>
          <a:off x="0" y="0"/>
          <a:ext cx="0" cy="0"/>
          <a:chOff x="0" y="0"/>
          <a:chExt cx="0" cy="0"/>
        </a:xfrm>
      </p:grpSpPr>
      <p:sp>
        <p:nvSpPr>
          <p:cNvPr id="2" name="Shape 0"/>
          <p:cNvSpPr/>
          <p:nvPr/>
        </p:nvSpPr>
        <p:spPr>
          <a:xfrm>
            <a:off x="0" y="0"/>
            <a:ext cx="12161520" cy="1225296"/>
          </a:xfrm>
          <a:prstGeom prst="rect">
            <a:avLst/>
          </a:prstGeom>
          <a:solidFill>
            <a:srgbClr val="0A1628"/>
          </a:solidFill>
          <a:ln w="12700">
            <a:solidFill>
              <a:srgbClr val="0A1628">
                <a:alpha val="0"/>
              </a:srgbClr>
            </a:solidFill>
            <a:prstDash val="solid"/>
          </a:ln>
        </p:spPr>
        <p:txBody>
          <a:bodyPr/>
          <a:lstStyle/>
          <a:p>
            <a:endParaRPr lang="en-US"/>
          </a:p>
        </p:txBody>
      </p:sp>
      <p:sp>
        <p:nvSpPr>
          <p:cNvPr id="3" name="Shape 1"/>
          <p:cNvSpPr/>
          <p:nvPr/>
        </p:nvSpPr>
        <p:spPr>
          <a:xfrm>
            <a:off x="0" y="1225296"/>
            <a:ext cx="12161520" cy="50292"/>
          </a:xfrm>
          <a:prstGeom prst="rect">
            <a:avLst/>
          </a:prstGeom>
          <a:solidFill>
            <a:srgbClr val="F5A623"/>
          </a:solidFill>
          <a:ln w="12700">
            <a:solidFill>
              <a:srgbClr val="F5A623">
                <a:alpha val="0"/>
              </a:srgbClr>
            </a:solidFill>
            <a:prstDash val="solid"/>
          </a:ln>
        </p:spPr>
        <p:txBody>
          <a:bodyPr/>
          <a:lstStyle/>
          <a:p>
            <a:endParaRPr lang="en-US"/>
          </a:p>
        </p:txBody>
      </p:sp>
      <p:sp>
        <p:nvSpPr>
          <p:cNvPr id="4" name="Text 2"/>
          <p:cNvSpPr/>
          <p:nvPr/>
        </p:nvSpPr>
        <p:spPr>
          <a:xfrm>
            <a:off x="411480" y="109728"/>
            <a:ext cx="11247120" cy="256032"/>
          </a:xfrm>
          <a:prstGeom prst="rect">
            <a:avLst/>
          </a:prstGeom>
          <a:noFill/>
          <a:ln/>
        </p:spPr>
        <p:txBody>
          <a:bodyPr wrap="square" lIns="0" tIns="0" rIns="0" bIns="0" rtlCol="0" anchor="ctr"/>
          <a:lstStyle/>
          <a:p>
            <a:pPr marL="0" indent="0" algn="l">
              <a:buNone/>
            </a:pPr>
            <a:r>
              <a:rPr lang="en-US" sz="1000" kern="0" spc="200" dirty="0">
                <a:solidFill>
                  <a:srgbClr val="7A95B4"/>
                </a:solidFill>
                <a:latin typeface="Calibri" pitchFamily="34" charset="0"/>
                <a:ea typeface="Calibri" pitchFamily="34" charset="-122"/>
                <a:cs typeface="Calibri" pitchFamily="34" charset="-120"/>
              </a:rPr>
              <a:t>05  ·  Discovery + Risk Agents</a:t>
            </a:r>
            <a:endParaRPr lang="en-US" sz="1000" dirty="0"/>
          </a:p>
        </p:txBody>
      </p:sp>
      <p:sp>
        <p:nvSpPr>
          <p:cNvPr id="5" name="Text 3"/>
          <p:cNvSpPr/>
          <p:nvPr/>
        </p:nvSpPr>
        <p:spPr>
          <a:xfrm>
            <a:off x="411480" y="347472"/>
            <a:ext cx="11247120" cy="749808"/>
          </a:xfrm>
          <a:prstGeom prst="rect">
            <a:avLst/>
          </a:prstGeom>
          <a:noFill/>
          <a:ln/>
        </p:spPr>
        <p:txBody>
          <a:bodyPr wrap="square" lIns="0" tIns="0" rIns="0" bIns="0" rtlCol="0" anchor="ctr"/>
          <a:lstStyle/>
          <a:p>
            <a:pPr marL="0" indent="0" algn="l">
              <a:buNone/>
            </a:pPr>
            <a:r>
              <a:rPr lang="en-US" sz="2600" b="1" dirty="0">
                <a:solidFill>
                  <a:srgbClr val="FFFFFF"/>
                </a:solidFill>
                <a:latin typeface="Georgia" pitchFamily="34" charset="0"/>
                <a:ea typeface="Georgia" pitchFamily="34" charset="-122"/>
                <a:cs typeface="Georgia" pitchFamily="34" charset="-120"/>
              </a:rPr>
              <a:t>The reconnaissance team — maps the codebase completely before any transformation begins.</a:t>
            </a:r>
            <a:endParaRPr lang="en-US" sz="2600" dirty="0"/>
          </a:p>
        </p:txBody>
      </p:sp>
      <p:sp>
        <p:nvSpPr>
          <p:cNvPr id="6" name="Shape 4"/>
          <p:cNvSpPr/>
          <p:nvPr/>
        </p:nvSpPr>
        <p:spPr>
          <a:xfrm>
            <a:off x="365760" y="1389888"/>
            <a:ext cx="5669280" cy="475488"/>
          </a:xfrm>
          <a:prstGeom prst="rect">
            <a:avLst/>
          </a:prstGeom>
          <a:solidFill>
            <a:srgbClr val="0A1628"/>
          </a:solidFill>
          <a:ln w="1270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7" name="Text 5"/>
          <p:cNvSpPr/>
          <p:nvPr/>
        </p:nvSpPr>
        <p:spPr>
          <a:xfrm>
            <a:off x="457200" y="1389888"/>
            <a:ext cx="2834640" cy="475488"/>
          </a:xfrm>
          <a:prstGeom prst="rect">
            <a:avLst/>
          </a:prstGeom>
          <a:noFill/>
          <a:ln/>
        </p:spPr>
        <p:txBody>
          <a:bodyPr wrap="square" lIns="0" tIns="0" rIns="0" bIns="0" rtlCol="0" anchor="ctr"/>
          <a:lstStyle/>
          <a:p>
            <a:pPr marL="0" indent="0" algn="l">
              <a:buNone/>
            </a:pPr>
            <a:r>
              <a:rPr lang="en-US" sz="1400" b="1" dirty="0">
                <a:solidFill>
                  <a:srgbClr val="FFFFFF"/>
                </a:solidFill>
                <a:latin typeface="Georgia" pitchFamily="34" charset="0"/>
                <a:ea typeface="Georgia" pitchFamily="34" charset="-122"/>
                <a:cs typeface="Georgia" pitchFamily="34" charset="-120"/>
              </a:rPr>
              <a:t>Discovery Agent</a:t>
            </a:r>
            <a:endParaRPr lang="en-US" sz="1400" dirty="0"/>
          </a:p>
        </p:txBody>
      </p:sp>
      <p:sp>
        <p:nvSpPr>
          <p:cNvPr id="8" name="Text 6"/>
          <p:cNvSpPr/>
          <p:nvPr/>
        </p:nvSpPr>
        <p:spPr>
          <a:xfrm>
            <a:off x="3200400" y="1389888"/>
            <a:ext cx="2743200" cy="475488"/>
          </a:xfrm>
          <a:prstGeom prst="rect">
            <a:avLst/>
          </a:prstGeom>
          <a:noFill/>
          <a:ln/>
        </p:spPr>
        <p:txBody>
          <a:bodyPr wrap="square" lIns="0" tIns="0" rIns="0" bIns="0" rtlCol="0" anchor="ctr"/>
          <a:lstStyle/>
          <a:p>
            <a:pPr marL="0" indent="0" algn="r">
              <a:buNone/>
            </a:pPr>
            <a:r>
              <a:rPr lang="en-US" sz="1100" i="1" dirty="0">
                <a:solidFill>
                  <a:srgbClr val="3B82C4"/>
                </a:solidFill>
                <a:latin typeface="Georgia" pitchFamily="34" charset="0"/>
                <a:ea typeface="Georgia" pitchFamily="34" charset="-122"/>
                <a:cs typeface="Georgia" pitchFamily="34" charset="-120"/>
              </a:rPr>
              <a:t>"The Cartographer"</a:t>
            </a:r>
            <a:endParaRPr lang="en-US" sz="1100" dirty="0"/>
          </a:p>
        </p:txBody>
      </p:sp>
      <p:sp>
        <p:nvSpPr>
          <p:cNvPr id="9" name="Shape 7"/>
          <p:cNvSpPr/>
          <p:nvPr/>
        </p:nvSpPr>
        <p:spPr>
          <a:xfrm>
            <a:off x="365760" y="1920240"/>
            <a:ext cx="5669280" cy="457200"/>
          </a:xfrm>
          <a:prstGeom prst="rect">
            <a:avLst/>
          </a:prstGeom>
          <a:solidFill>
            <a:srgbClr val="0F2040"/>
          </a:solidFill>
          <a:ln w="635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10" name="Text 8"/>
          <p:cNvSpPr/>
          <p:nvPr/>
        </p:nvSpPr>
        <p:spPr>
          <a:xfrm>
            <a:off x="457200" y="1920240"/>
            <a:ext cx="5486400" cy="457200"/>
          </a:xfrm>
          <a:prstGeom prst="rect">
            <a:avLst/>
          </a:prstGeom>
          <a:noFill/>
          <a:ln/>
        </p:spPr>
        <p:txBody>
          <a:bodyPr wrap="square" lIns="0" tIns="0" rIns="0" bIns="0" rtlCol="0" anchor="ctr"/>
          <a:lstStyle/>
          <a:p>
            <a:pPr marL="0" indent="0" algn="l">
              <a:buNone/>
            </a:pPr>
            <a:r>
              <a:rPr lang="en-US" sz="950" i="1" dirty="0">
                <a:solidFill>
                  <a:srgbClr val="E8EDF4"/>
                </a:solidFill>
                <a:latin typeface="Georgia" pitchFamily="34" charset="0"/>
                <a:ea typeface="Georgia" pitchFamily="34" charset="-122"/>
                <a:cs typeface="Georgia" pitchFamily="34" charset="-120"/>
              </a:rPr>
              <a:t>Before any builder breaks ground, a surveyor maps the land. The Discovery Agent does the same for your codebase — a complete map before a single line is changed.</a:t>
            </a:r>
            <a:endParaRPr lang="en-US" sz="950" dirty="0"/>
          </a:p>
        </p:txBody>
      </p:sp>
      <p:sp>
        <p:nvSpPr>
          <p:cNvPr id="11" name="Shape 9"/>
          <p:cNvSpPr/>
          <p:nvPr/>
        </p:nvSpPr>
        <p:spPr>
          <a:xfrm>
            <a:off x="365760" y="2450592"/>
            <a:ext cx="5669280" cy="969264"/>
          </a:xfrm>
          <a:prstGeom prst="rect">
            <a:avLst/>
          </a:prstGeom>
          <a:solidFill>
            <a:srgbClr val="E6F1FB"/>
          </a:solidFill>
          <a:ln w="635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12" name="Shape 10"/>
          <p:cNvSpPr/>
          <p:nvPr/>
        </p:nvSpPr>
        <p:spPr>
          <a:xfrm>
            <a:off x="457200" y="2688336"/>
            <a:ext cx="384048" cy="384048"/>
          </a:xfrm>
          <a:prstGeom prst="ellipse">
            <a:avLst/>
          </a:prstGeom>
          <a:solidFill>
            <a:srgbClr val="3B82C4"/>
          </a:solidFill>
          <a:ln w="12700">
            <a:solidFill>
              <a:srgbClr val="3B82C4">
                <a:alpha val="0"/>
              </a:srgbClr>
            </a:solidFill>
            <a:prstDash val="solid"/>
          </a:ln>
        </p:spPr>
        <p:txBody>
          <a:bodyPr/>
          <a:lstStyle/>
          <a:p>
            <a:endParaRPr lang="en-US"/>
          </a:p>
        </p:txBody>
      </p:sp>
      <p:sp>
        <p:nvSpPr>
          <p:cNvPr id="13" name="Text 11"/>
          <p:cNvSpPr/>
          <p:nvPr/>
        </p:nvSpPr>
        <p:spPr>
          <a:xfrm>
            <a:off x="457200" y="2688336"/>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4" name="Text 12"/>
          <p:cNvSpPr/>
          <p:nvPr/>
        </p:nvSpPr>
        <p:spPr>
          <a:xfrm>
            <a:off x="932688" y="2505456"/>
            <a:ext cx="5010912" cy="256032"/>
          </a:xfrm>
          <a:prstGeom prst="rect">
            <a:avLst/>
          </a:prstGeom>
          <a:noFill/>
          <a:ln/>
        </p:spPr>
        <p:txBody>
          <a:bodyPr wrap="square" lIns="0" tIns="0" rIns="0" bIns="0" rtlCol="0" anchor="ctr"/>
          <a:lstStyle/>
          <a:p>
            <a:pPr marL="0" indent="0" algn="l">
              <a:buNone/>
            </a:pPr>
            <a:r>
              <a:rPr lang="en-US" sz="1000" b="1" dirty="0">
                <a:solidFill>
                  <a:srgbClr val="3B82C4"/>
                </a:solidFill>
                <a:latin typeface="Georgia" pitchFamily="34" charset="0"/>
                <a:ea typeface="Georgia" pitchFamily="34" charset="-122"/>
                <a:cs typeface="Georgia" pitchFamily="34" charset="-120"/>
              </a:rPr>
              <a:t>Scan every directory</a:t>
            </a:r>
            <a:endParaRPr lang="en-US" sz="1000" dirty="0"/>
          </a:p>
        </p:txBody>
      </p:sp>
      <p:sp>
        <p:nvSpPr>
          <p:cNvPr id="15" name="Text 13"/>
          <p:cNvSpPr/>
          <p:nvPr/>
        </p:nvSpPr>
        <p:spPr>
          <a:xfrm>
            <a:off x="932688" y="2779776"/>
            <a:ext cx="5010912" cy="585216"/>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Walks the entire repository tree and catalogues every file — .java, .jsp, .xml, .properties. Builds a complete inventory in minutes, not days.</a:t>
            </a:r>
            <a:endParaRPr lang="en-US" sz="900" dirty="0"/>
          </a:p>
        </p:txBody>
      </p:sp>
      <p:sp>
        <p:nvSpPr>
          <p:cNvPr id="16" name="Shape 14"/>
          <p:cNvSpPr/>
          <p:nvPr/>
        </p:nvSpPr>
        <p:spPr>
          <a:xfrm>
            <a:off x="365760" y="3511296"/>
            <a:ext cx="5669280" cy="969264"/>
          </a:xfrm>
          <a:prstGeom prst="rect">
            <a:avLst/>
          </a:prstGeom>
          <a:solidFill>
            <a:srgbClr val="E6F1FB"/>
          </a:solidFill>
          <a:ln w="635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17" name="Shape 15"/>
          <p:cNvSpPr/>
          <p:nvPr/>
        </p:nvSpPr>
        <p:spPr>
          <a:xfrm>
            <a:off x="457200" y="3749040"/>
            <a:ext cx="384048" cy="384048"/>
          </a:xfrm>
          <a:prstGeom prst="ellipse">
            <a:avLst/>
          </a:prstGeom>
          <a:solidFill>
            <a:srgbClr val="3B82C4"/>
          </a:solidFill>
          <a:ln w="12700">
            <a:solidFill>
              <a:srgbClr val="3B82C4">
                <a:alpha val="0"/>
              </a:srgbClr>
            </a:solidFill>
            <a:prstDash val="solid"/>
          </a:ln>
        </p:spPr>
        <p:txBody>
          <a:bodyPr/>
          <a:lstStyle/>
          <a:p>
            <a:endParaRPr lang="en-US"/>
          </a:p>
        </p:txBody>
      </p:sp>
      <p:sp>
        <p:nvSpPr>
          <p:cNvPr id="18" name="Text 16"/>
          <p:cNvSpPr/>
          <p:nvPr/>
        </p:nvSpPr>
        <p:spPr>
          <a:xfrm>
            <a:off x="457200" y="374904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9" name="Text 17"/>
          <p:cNvSpPr/>
          <p:nvPr/>
        </p:nvSpPr>
        <p:spPr>
          <a:xfrm>
            <a:off x="932688" y="3566160"/>
            <a:ext cx="5010912" cy="256032"/>
          </a:xfrm>
          <a:prstGeom prst="rect">
            <a:avLst/>
          </a:prstGeom>
          <a:noFill/>
          <a:ln/>
        </p:spPr>
        <p:txBody>
          <a:bodyPr wrap="square" lIns="0" tIns="0" rIns="0" bIns="0" rtlCol="0" anchor="ctr"/>
          <a:lstStyle/>
          <a:p>
            <a:pPr marL="0" indent="0" algn="l">
              <a:buNone/>
            </a:pPr>
            <a:r>
              <a:rPr lang="en-US" sz="1000" b="1" dirty="0">
                <a:solidFill>
                  <a:srgbClr val="3B82C4"/>
                </a:solidFill>
                <a:latin typeface="Georgia" pitchFamily="34" charset="0"/>
                <a:ea typeface="Georgia" pitchFamily="34" charset="-122"/>
                <a:cs typeface="Georgia" pitchFamily="34" charset="-120"/>
              </a:rPr>
              <a:t>Classify each file</a:t>
            </a:r>
            <a:endParaRPr lang="en-US" sz="1000" dirty="0"/>
          </a:p>
        </p:txBody>
      </p:sp>
      <p:sp>
        <p:nvSpPr>
          <p:cNvPr id="20" name="Text 18"/>
          <p:cNvSpPr/>
          <p:nvPr/>
        </p:nvSpPr>
        <p:spPr>
          <a:xfrm>
            <a:off x="932688" y="3840480"/>
            <a:ext cx="5010912" cy="585216"/>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Determines what each file is: an action class, a form bean, a JSP view, a config file, a test, or something to skip (generated code, binary, out of scope).</a:t>
            </a:r>
            <a:endParaRPr lang="en-US" sz="900" dirty="0"/>
          </a:p>
        </p:txBody>
      </p:sp>
      <p:sp>
        <p:nvSpPr>
          <p:cNvPr id="21" name="Shape 19"/>
          <p:cNvSpPr/>
          <p:nvPr/>
        </p:nvSpPr>
        <p:spPr>
          <a:xfrm>
            <a:off x="365760" y="4572000"/>
            <a:ext cx="5669280" cy="969264"/>
          </a:xfrm>
          <a:prstGeom prst="rect">
            <a:avLst/>
          </a:prstGeom>
          <a:solidFill>
            <a:srgbClr val="E6F1FB"/>
          </a:solidFill>
          <a:ln w="635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22" name="Shape 20"/>
          <p:cNvSpPr/>
          <p:nvPr/>
        </p:nvSpPr>
        <p:spPr>
          <a:xfrm>
            <a:off x="457200" y="4809744"/>
            <a:ext cx="384048" cy="384048"/>
          </a:xfrm>
          <a:prstGeom prst="ellipse">
            <a:avLst/>
          </a:prstGeom>
          <a:solidFill>
            <a:srgbClr val="3B82C4"/>
          </a:solidFill>
          <a:ln w="12700">
            <a:solidFill>
              <a:srgbClr val="3B82C4">
                <a:alpha val="0"/>
              </a:srgbClr>
            </a:solidFill>
            <a:prstDash val="solid"/>
          </a:ln>
        </p:spPr>
        <p:txBody>
          <a:bodyPr/>
          <a:lstStyle/>
          <a:p>
            <a:endParaRPr lang="en-US"/>
          </a:p>
        </p:txBody>
      </p:sp>
      <p:sp>
        <p:nvSpPr>
          <p:cNvPr id="23" name="Text 21"/>
          <p:cNvSpPr/>
          <p:nvPr/>
        </p:nvSpPr>
        <p:spPr>
          <a:xfrm>
            <a:off x="457200" y="4809744"/>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4" name="Text 22"/>
          <p:cNvSpPr/>
          <p:nvPr/>
        </p:nvSpPr>
        <p:spPr>
          <a:xfrm>
            <a:off x="932688" y="4626864"/>
            <a:ext cx="5010912" cy="256032"/>
          </a:xfrm>
          <a:prstGeom prst="rect">
            <a:avLst/>
          </a:prstGeom>
          <a:noFill/>
          <a:ln/>
        </p:spPr>
        <p:txBody>
          <a:bodyPr wrap="square" lIns="0" tIns="0" rIns="0" bIns="0" rtlCol="0" anchor="ctr"/>
          <a:lstStyle/>
          <a:p>
            <a:pPr marL="0" indent="0" algn="l">
              <a:buNone/>
            </a:pPr>
            <a:r>
              <a:rPr lang="en-US" sz="1000" b="1" dirty="0">
                <a:solidFill>
                  <a:srgbClr val="3B82C4"/>
                </a:solidFill>
                <a:latin typeface="Georgia" pitchFamily="34" charset="0"/>
                <a:ea typeface="Georgia" pitchFamily="34" charset="-122"/>
                <a:cs typeface="Georgia" pitchFamily="34" charset="-120"/>
              </a:rPr>
              <a:t>Identify dependencies</a:t>
            </a:r>
            <a:endParaRPr lang="en-US" sz="1000" dirty="0"/>
          </a:p>
        </p:txBody>
      </p:sp>
      <p:sp>
        <p:nvSpPr>
          <p:cNvPr id="25" name="Text 23"/>
          <p:cNvSpPr/>
          <p:nvPr/>
        </p:nvSpPr>
        <p:spPr>
          <a:xfrm>
            <a:off x="932688" y="4901184"/>
            <a:ext cx="5010912" cy="585216"/>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Maps which files depend on which others. An action class that uses a service must be migrated before the service test. The agent determines the correct processing order.</a:t>
            </a:r>
            <a:endParaRPr lang="en-US" sz="900" dirty="0"/>
          </a:p>
        </p:txBody>
      </p:sp>
      <p:sp>
        <p:nvSpPr>
          <p:cNvPr id="26" name="Shape 24"/>
          <p:cNvSpPr/>
          <p:nvPr/>
        </p:nvSpPr>
        <p:spPr>
          <a:xfrm>
            <a:off x="365760" y="5632704"/>
            <a:ext cx="5669280" cy="969264"/>
          </a:xfrm>
          <a:prstGeom prst="rect">
            <a:avLst/>
          </a:prstGeom>
          <a:solidFill>
            <a:srgbClr val="E6F1FB"/>
          </a:solidFill>
          <a:ln w="635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27" name="Shape 25"/>
          <p:cNvSpPr/>
          <p:nvPr/>
        </p:nvSpPr>
        <p:spPr>
          <a:xfrm>
            <a:off x="457200" y="5870448"/>
            <a:ext cx="384048" cy="384048"/>
          </a:xfrm>
          <a:prstGeom prst="ellipse">
            <a:avLst/>
          </a:prstGeom>
          <a:solidFill>
            <a:srgbClr val="3B82C4"/>
          </a:solidFill>
          <a:ln w="12700">
            <a:solidFill>
              <a:srgbClr val="3B82C4">
                <a:alpha val="0"/>
              </a:srgbClr>
            </a:solidFill>
            <a:prstDash val="solid"/>
          </a:ln>
        </p:spPr>
        <p:txBody>
          <a:bodyPr/>
          <a:lstStyle/>
          <a:p>
            <a:endParaRPr lang="en-US"/>
          </a:p>
        </p:txBody>
      </p:sp>
      <p:sp>
        <p:nvSpPr>
          <p:cNvPr id="28" name="Text 26"/>
          <p:cNvSpPr/>
          <p:nvPr/>
        </p:nvSpPr>
        <p:spPr>
          <a:xfrm>
            <a:off x="457200" y="587044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29" name="Text 27"/>
          <p:cNvSpPr/>
          <p:nvPr/>
        </p:nvSpPr>
        <p:spPr>
          <a:xfrm>
            <a:off x="932688" y="5687568"/>
            <a:ext cx="5010912" cy="256032"/>
          </a:xfrm>
          <a:prstGeom prst="rect">
            <a:avLst/>
          </a:prstGeom>
          <a:noFill/>
          <a:ln/>
        </p:spPr>
        <p:txBody>
          <a:bodyPr wrap="square" lIns="0" tIns="0" rIns="0" bIns="0" rtlCol="0" anchor="ctr"/>
          <a:lstStyle/>
          <a:p>
            <a:pPr marL="0" indent="0" algn="l">
              <a:buNone/>
            </a:pPr>
            <a:r>
              <a:rPr lang="en-US" sz="1000" b="1" dirty="0">
                <a:solidFill>
                  <a:srgbClr val="3B82C4"/>
                </a:solidFill>
                <a:latin typeface="Georgia" pitchFamily="34" charset="0"/>
                <a:ea typeface="Georgia" pitchFamily="34" charset="-122"/>
                <a:cs typeface="Georgia" pitchFamily="34" charset="-120"/>
              </a:rPr>
              <a:t>Produce the migration manifest</a:t>
            </a:r>
            <a:endParaRPr lang="en-US" sz="1000" dirty="0"/>
          </a:p>
        </p:txBody>
      </p:sp>
      <p:sp>
        <p:nvSpPr>
          <p:cNvPr id="30" name="Text 28"/>
          <p:cNvSpPr/>
          <p:nvPr/>
        </p:nvSpPr>
        <p:spPr>
          <a:xfrm>
            <a:off x="932688" y="5961888"/>
            <a:ext cx="5010912" cy="585216"/>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Outputs a structured manifest: total file count, type breakdown, dependency graph, and the processing order. This is what the Leader Agent uses to queue work.</a:t>
            </a:r>
            <a:endParaRPr lang="en-US" sz="900" dirty="0"/>
          </a:p>
        </p:txBody>
      </p:sp>
      <p:sp>
        <p:nvSpPr>
          <p:cNvPr id="31" name="Shape 29"/>
          <p:cNvSpPr/>
          <p:nvPr/>
        </p:nvSpPr>
        <p:spPr>
          <a:xfrm>
            <a:off x="4069080" y="6528816"/>
            <a:ext cx="1920240" cy="237744"/>
          </a:xfrm>
          <a:prstGeom prst="rect">
            <a:avLst/>
          </a:prstGeom>
          <a:solidFill>
            <a:srgbClr val="E6F1FB"/>
          </a:solidFill>
          <a:ln w="9525">
            <a:solidFill>
              <a:srgbClr val="3B82C4"/>
            </a:solidFill>
            <a:prstDash val="solid"/>
          </a:ln>
        </p:spPr>
        <p:txBody>
          <a:bodyPr/>
          <a:lstStyle/>
          <a:p>
            <a:endParaRPr lang="en-US"/>
          </a:p>
        </p:txBody>
      </p:sp>
      <p:sp>
        <p:nvSpPr>
          <p:cNvPr id="32" name="Text 30"/>
          <p:cNvSpPr/>
          <p:nvPr/>
        </p:nvSpPr>
        <p:spPr>
          <a:xfrm>
            <a:off x="4069080" y="6528816"/>
            <a:ext cx="1920240" cy="237744"/>
          </a:xfrm>
          <a:prstGeom prst="rect">
            <a:avLst/>
          </a:prstGeom>
          <a:noFill/>
          <a:ln/>
        </p:spPr>
        <p:txBody>
          <a:bodyPr wrap="square" lIns="0" tIns="0" rIns="0" bIns="0" rtlCol="0" anchor="ctr"/>
          <a:lstStyle/>
          <a:p>
            <a:pPr marL="0" indent="0" algn="ctr">
              <a:buNone/>
            </a:pPr>
            <a:r>
              <a:rPr lang="en-US" sz="900" b="1" dirty="0">
                <a:solidFill>
                  <a:srgbClr val="042C53"/>
                </a:solidFill>
                <a:latin typeface="Calibri" pitchFamily="34" charset="0"/>
                <a:ea typeface="Calibri" pitchFamily="34" charset="-122"/>
                <a:cs typeface="Calibri" pitchFamily="34" charset="-120"/>
              </a:rPr>
              <a:t>Claude Sonnet 4.5</a:t>
            </a:r>
            <a:endParaRPr lang="en-US" sz="900" dirty="0"/>
          </a:p>
        </p:txBody>
      </p:sp>
      <p:sp>
        <p:nvSpPr>
          <p:cNvPr id="33" name="Shape 31"/>
          <p:cNvSpPr/>
          <p:nvPr/>
        </p:nvSpPr>
        <p:spPr>
          <a:xfrm>
            <a:off x="6217920" y="1389888"/>
            <a:ext cx="5669280" cy="475488"/>
          </a:xfrm>
          <a:prstGeom prst="rect">
            <a:avLst/>
          </a:prstGeom>
          <a:solidFill>
            <a:srgbClr val="0A1628"/>
          </a:solidFill>
          <a:ln w="1270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34" name="Text 32"/>
          <p:cNvSpPr/>
          <p:nvPr/>
        </p:nvSpPr>
        <p:spPr>
          <a:xfrm>
            <a:off x="6309360" y="1389888"/>
            <a:ext cx="2834640" cy="475488"/>
          </a:xfrm>
          <a:prstGeom prst="rect">
            <a:avLst/>
          </a:prstGeom>
          <a:noFill/>
          <a:ln/>
        </p:spPr>
        <p:txBody>
          <a:bodyPr wrap="square" lIns="0" tIns="0" rIns="0" bIns="0" rtlCol="0" anchor="ctr"/>
          <a:lstStyle/>
          <a:p>
            <a:pPr marL="0" indent="0" algn="l">
              <a:buNone/>
            </a:pPr>
            <a:r>
              <a:rPr lang="en-US" sz="1400" b="1" dirty="0">
                <a:solidFill>
                  <a:srgbClr val="FFFFFF"/>
                </a:solidFill>
                <a:latin typeface="Georgia" pitchFamily="34" charset="0"/>
                <a:ea typeface="Georgia" pitchFamily="34" charset="-122"/>
                <a:cs typeface="Georgia" pitchFamily="34" charset="-120"/>
              </a:rPr>
              <a:t>Risk Scorer Agent</a:t>
            </a:r>
            <a:endParaRPr lang="en-US" sz="1400" dirty="0"/>
          </a:p>
        </p:txBody>
      </p:sp>
      <p:sp>
        <p:nvSpPr>
          <p:cNvPr id="35" name="Text 33"/>
          <p:cNvSpPr/>
          <p:nvPr/>
        </p:nvSpPr>
        <p:spPr>
          <a:xfrm>
            <a:off x="9052560" y="1389888"/>
            <a:ext cx="2743200" cy="475488"/>
          </a:xfrm>
          <a:prstGeom prst="rect">
            <a:avLst/>
          </a:prstGeom>
          <a:noFill/>
          <a:ln/>
        </p:spPr>
        <p:txBody>
          <a:bodyPr wrap="square" lIns="0" tIns="0" rIns="0" bIns="0" rtlCol="0" anchor="ctr"/>
          <a:lstStyle/>
          <a:p>
            <a:pPr marL="0" indent="0" algn="r">
              <a:buNone/>
            </a:pPr>
            <a:r>
              <a:rPr lang="en-US" sz="1100" i="1" dirty="0">
                <a:solidFill>
                  <a:srgbClr val="534AB7"/>
                </a:solidFill>
                <a:latin typeface="Georgia" pitchFamily="34" charset="0"/>
                <a:ea typeface="Georgia" pitchFamily="34" charset="-122"/>
                <a:cs typeface="Georgia" pitchFamily="34" charset="-120"/>
              </a:rPr>
              <a:t>"The Risk Assessor"</a:t>
            </a:r>
            <a:endParaRPr lang="en-US" sz="1100" dirty="0"/>
          </a:p>
        </p:txBody>
      </p:sp>
      <p:sp>
        <p:nvSpPr>
          <p:cNvPr id="36" name="Shape 34"/>
          <p:cNvSpPr/>
          <p:nvPr/>
        </p:nvSpPr>
        <p:spPr>
          <a:xfrm>
            <a:off x="6217920" y="1920240"/>
            <a:ext cx="5669280" cy="457200"/>
          </a:xfrm>
          <a:prstGeom prst="rect">
            <a:avLst/>
          </a:prstGeom>
          <a:solidFill>
            <a:srgbClr val="0F2040"/>
          </a:solidFill>
          <a:ln w="635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37" name="Text 35"/>
          <p:cNvSpPr/>
          <p:nvPr/>
        </p:nvSpPr>
        <p:spPr>
          <a:xfrm>
            <a:off x="6309360" y="1920240"/>
            <a:ext cx="5486400" cy="457200"/>
          </a:xfrm>
          <a:prstGeom prst="rect">
            <a:avLst/>
          </a:prstGeom>
          <a:noFill/>
          <a:ln/>
        </p:spPr>
        <p:txBody>
          <a:bodyPr wrap="square" lIns="0" tIns="0" rIns="0" bIns="0" rtlCol="0" anchor="ctr"/>
          <a:lstStyle/>
          <a:p>
            <a:pPr marL="0" indent="0" algn="l">
              <a:buNone/>
            </a:pPr>
            <a:r>
              <a:rPr lang="en-US" sz="950" i="1" dirty="0">
                <a:solidFill>
                  <a:srgbClr val="E8EDF4"/>
                </a:solidFill>
                <a:latin typeface="Georgia" pitchFamily="34" charset="0"/>
                <a:ea typeface="Georgia" pitchFamily="34" charset="-122"/>
                <a:cs typeface="Georgia" pitchFamily="34" charset="-120"/>
              </a:rPr>
              <a:t>Not all files are equally complex. The Risk Scorer reads the discovery manifest and scores each module — giving the team clarity on where the easy wins are and where the land mines are buried.</a:t>
            </a:r>
            <a:endParaRPr lang="en-US" sz="950" dirty="0"/>
          </a:p>
        </p:txBody>
      </p:sp>
      <p:sp>
        <p:nvSpPr>
          <p:cNvPr id="38" name="Shape 36"/>
          <p:cNvSpPr/>
          <p:nvPr/>
        </p:nvSpPr>
        <p:spPr>
          <a:xfrm>
            <a:off x="6217920" y="2450592"/>
            <a:ext cx="5669280" cy="969264"/>
          </a:xfrm>
          <a:prstGeom prst="rect">
            <a:avLst/>
          </a:prstGeom>
          <a:solidFill>
            <a:srgbClr val="EEEDFE"/>
          </a:solidFill>
          <a:ln w="635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39" name="Shape 37"/>
          <p:cNvSpPr/>
          <p:nvPr/>
        </p:nvSpPr>
        <p:spPr>
          <a:xfrm>
            <a:off x="6309360" y="2688336"/>
            <a:ext cx="384048" cy="384048"/>
          </a:xfrm>
          <a:prstGeom prst="ellipse">
            <a:avLst/>
          </a:prstGeom>
          <a:solidFill>
            <a:srgbClr val="534AB7"/>
          </a:solidFill>
          <a:ln w="12700">
            <a:solidFill>
              <a:srgbClr val="534AB7">
                <a:alpha val="0"/>
              </a:srgbClr>
            </a:solidFill>
            <a:prstDash val="solid"/>
          </a:ln>
        </p:spPr>
        <p:txBody>
          <a:bodyPr/>
          <a:lstStyle/>
          <a:p>
            <a:endParaRPr lang="en-US"/>
          </a:p>
        </p:txBody>
      </p:sp>
      <p:sp>
        <p:nvSpPr>
          <p:cNvPr id="40" name="Text 38"/>
          <p:cNvSpPr/>
          <p:nvPr/>
        </p:nvSpPr>
        <p:spPr>
          <a:xfrm>
            <a:off x="6309360" y="2688336"/>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41" name="Text 39"/>
          <p:cNvSpPr/>
          <p:nvPr/>
        </p:nvSpPr>
        <p:spPr>
          <a:xfrm>
            <a:off x="6784848" y="2505456"/>
            <a:ext cx="5010912" cy="256032"/>
          </a:xfrm>
          <a:prstGeom prst="rect">
            <a:avLst/>
          </a:prstGeom>
          <a:noFill/>
          <a:ln/>
        </p:spPr>
        <p:txBody>
          <a:bodyPr wrap="square" lIns="0" tIns="0" rIns="0" bIns="0" rtlCol="0" anchor="ctr"/>
          <a:lstStyle/>
          <a:p>
            <a:pPr marL="0" indent="0" algn="l">
              <a:buNone/>
            </a:pPr>
            <a:r>
              <a:rPr lang="en-US" sz="1000" b="1" dirty="0">
                <a:solidFill>
                  <a:srgbClr val="534AB7"/>
                </a:solidFill>
                <a:latin typeface="Georgia" pitchFamily="34" charset="0"/>
                <a:ea typeface="Georgia" pitchFamily="34" charset="-122"/>
                <a:cs typeface="Georgia" pitchFamily="34" charset="-120"/>
              </a:rPr>
              <a:t>Score each module</a:t>
            </a:r>
            <a:endParaRPr lang="en-US" sz="1000" dirty="0"/>
          </a:p>
        </p:txBody>
      </p:sp>
      <p:sp>
        <p:nvSpPr>
          <p:cNvPr id="42" name="Text 40"/>
          <p:cNvSpPr/>
          <p:nvPr/>
        </p:nvSpPr>
        <p:spPr>
          <a:xfrm>
            <a:off x="6784848" y="2779776"/>
            <a:ext cx="5010912" cy="585216"/>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Reads each file and assigns a complexity score based on: number of OGNL expressions, number of custom interceptors, EJB dependency count, file size, and number of action methods.</a:t>
            </a:r>
            <a:endParaRPr lang="en-US" sz="900" dirty="0"/>
          </a:p>
        </p:txBody>
      </p:sp>
      <p:sp>
        <p:nvSpPr>
          <p:cNvPr id="43" name="Shape 41"/>
          <p:cNvSpPr/>
          <p:nvPr/>
        </p:nvSpPr>
        <p:spPr>
          <a:xfrm>
            <a:off x="6217920" y="3511296"/>
            <a:ext cx="5669280" cy="969264"/>
          </a:xfrm>
          <a:prstGeom prst="rect">
            <a:avLst/>
          </a:prstGeom>
          <a:solidFill>
            <a:srgbClr val="EEEDFE"/>
          </a:solidFill>
          <a:ln w="635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44" name="Shape 42"/>
          <p:cNvSpPr/>
          <p:nvPr/>
        </p:nvSpPr>
        <p:spPr>
          <a:xfrm>
            <a:off x="6309360" y="3749040"/>
            <a:ext cx="384048" cy="384048"/>
          </a:xfrm>
          <a:prstGeom prst="ellipse">
            <a:avLst/>
          </a:prstGeom>
          <a:solidFill>
            <a:srgbClr val="534AB7"/>
          </a:solidFill>
          <a:ln w="12700">
            <a:solidFill>
              <a:srgbClr val="534AB7">
                <a:alpha val="0"/>
              </a:srgbClr>
            </a:solidFill>
            <a:prstDash val="solid"/>
          </a:ln>
        </p:spPr>
        <p:txBody>
          <a:bodyPr/>
          <a:lstStyle/>
          <a:p>
            <a:endParaRPr lang="en-US"/>
          </a:p>
        </p:txBody>
      </p:sp>
      <p:sp>
        <p:nvSpPr>
          <p:cNvPr id="45" name="Text 43"/>
          <p:cNvSpPr/>
          <p:nvPr/>
        </p:nvSpPr>
        <p:spPr>
          <a:xfrm>
            <a:off x="6309360" y="374904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46" name="Text 44"/>
          <p:cNvSpPr/>
          <p:nvPr/>
        </p:nvSpPr>
        <p:spPr>
          <a:xfrm>
            <a:off x="6784848" y="3566160"/>
            <a:ext cx="5010912" cy="256032"/>
          </a:xfrm>
          <a:prstGeom prst="rect">
            <a:avLst/>
          </a:prstGeom>
          <a:noFill/>
          <a:ln/>
        </p:spPr>
        <p:txBody>
          <a:bodyPr wrap="square" lIns="0" tIns="0" rIns="0" bIns="0" rtlCol="0" anchor="ctr"/>
          <a:lstStyle/>
          <a:p>
            <a:pPr marL="0" indent="0" algn="l">
              <a:buNone/>
            </a:pPr>
            <a:r>
              <a:rPr lang="en-US" sz="1000" b="1" dirty="0">
                <a:solidFill>
                  <a:srgbClr val="534AB7"/>
                </a:solidFill>
                <a:latin typeface="Georgia" pitchFamily="34" charset="0"/>
                <a:ea typeface="Georgia" pitchFamily="34" charset="-122"/>
                <a:cs typeface="Georgia" pitchFamily="34" charset="-120"/>
              </a:rPr>
              <a:t>Assign risk tier</a:t>
            </a:r>
            <a:endParaRPr lang="en-US" sz="1000" dirty="0"/>
          </a:p>
        </p:txBody>
      </p:sp>
      <p:sp>
        <p:nvSpPr>
          <p:cNvPr id="47" name="Text 45"/>
          <p:cNvSpPr/>
          <p:nvPr/>
        </p:nvSpPr>
        <p:spPr>
          <a:xfrm>
            <a:off x="6784848" y="3840480"/>
            <a:ext cx="5010912" cy="585216"/>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LOW risk: standard action class, simple results, no OGNL projections — high confidence the transform agent will pass first time. MEDIUM: ModelDriven pattern or complex validation. HIGH: EJB coupling, OGNL projections, custom result types.</a:t>
            </a:r>
            <a:endParaRPr lang="en-US" sz="900" dirty="0"/>
          </a:p>
        </p:txBody>
      </p:sp>
      <p:sp>
        <p:nvSpPr>
          <p:cNvPr id="48" name="Shape 46"/>
          <p:cNvSpPr/>
          <p:nvPr/>
        </p:nvSpPr>
        <p:spPr>
          <a:xfrm>
            <a:off x="6217920" y="4572000"/>
            <a:ext cx="5669280" cy="969264"/>
          </a:xfrm>
          <a:prstGeom prst="rect">
            <a:avLst/>
          </a:prstGeom>
          <a:solidFill>
            <a:srgbClr val="EEEDFE"/>
          </a:solidFill>
          <a:ln w="635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49" name="Shape 47"/>
          <p:cNvSpPr/>
          <p:nvPr/>
        </p:nvSpPr>
        <p:spPr>
          <a:xfrm>
            <a:off x="6309360" y="4809744"/>
            <a:ext cx="384048" cy="384048"/>
          </a:xfrm>
          <a:prstGeom prst="ellipse">
            <a:avLst/>
          </a:prstGeom>
          <a:solidFill>
            <a:srgbClr val="534AB7"/>
          </a:solidFill>
          <a:ln w="12700">
            <a:solidFill>
              <a:srgbClr val="534AB7">
                <a:alpha val="0"/>
              </a:srgbClr>
            </a:solidFill>
            <a:prstDash val="solid"/>
          </a:ln>
        </p:spPr>
        <p:txBody>
          <a:bodyPr/>
          <a:lstStyle/>
          <a:p>
            <a:endParaRPr lang="en-US"/>
          </a:p>
        </p:txBody>
      </p:sp>
      <p:sp>
        <p:nvSpPr>
          <p:cNvPr id="50" name="Text 48"/>
          <p:cNvSpPr/>
          <p:nvPr/>
        </p:nvSpPr>
        <p:spPr>
          <a:xfrm>
            <a:off x="6309360" y="4809744"/>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51" name="Text 49"/>
          <p:cNvSpPr/>
          <p:nvPr/>
        </p:nvSpPr>
        <p:spPr>
          <a:xfrm>
            <a:off x="6784848" y="4626864"/>
            <a:ext cx="5010912" cy="256032"/>
          </a:xfrm>
          <a:prstGeom prst="rect">
            <a:avLst/>
          </a:prstGeom>
          <a:noFill/>
          <a:ln/>
        </p:spPr>
        <p:txBody>
          <a:bodyPr wrap="square" lIns="0" tIns="0" rIns="0" bIns="0" rtlCol="0" anchor="ctr"/>
          <a:lstStyle/>
          <a:p>
            <a:pPr marL="0" indent="0" algn="l">
              <a:buNone/>
            </a:pPr>
            <a:r>
              <a:rPr lang="en-US" sz="1000" b="1" dirty="0">
                <a:solidFill>
                  <a:srgbClr val="534AB7"/>
                </a:solidFill>
                <a:latin typeface="Georgia" pitchFamily="34" charset="0"/>
                <a:ea typeface="Georgia" pitchFamily="34" charset="-122"/>
                <a:cs typeface="Georgia" pitchFamily="34" charset="-120"/>
              </a:rPr>
              <a:t>Order the migration</a:t>
            </a:r>
            <a:endParaRPr lang="en-US" sz="1000" dirty="0"/>
          </a:p>
        </p:txBody>
      </p:sp>
      <p:sp>
        <p:nvSpPr>
          <p:cNvPr id="52" name="Text 50"/>
          <p:cNvSpPr/>
          <p:nvPr/>
        </p:nvSpPr>
        <p:spPr>
          <a:xfrm>
            <a:off x="6784848" y="4901184"/>
            <a:ext cx="5010912" cy="585216"/>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Sequences files: LOW risk first (builds team confidence, calibrates the agents), HIGH risk last (by then the agents have been fine-tuned on real output from your codebase).</a:t>
            </a:r>
            <a:endParaRPr lang="en-US" sz="900" dirty="0"/>
          </a:p>
        </p:txBody>
      </p:sp>
      <p:sp>
        <p:nvSpPr>
          <p:cNvPr id="53" name="Shape 51"/>
          <p:cNvSpPr/>
          <p:nvPr/>
        </p:nvSpPr>
        <p:spPr>
          <a:xfrm>
            <a:off x="6217920" y="5632704"/>
            <a:ext cx="5669280" cy="969264"/>
          </a:xfrm>
          <a:prstGeom prst="rect">
            <a:avLst/>
          </a:prstGeom>
          <a:solidFill>
            <a:srgbClr val="EEEDFE"/>
          </a:solidFill>
          <a:ln w="635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54" name="Shape 52"/>
          <p:cNvSpPr/>
          <p:nvPr/>
        </p:nvSpPr>
        <p:spPr>
          <a:xfrm>
            <a:off x="6309360" y="5870448"/>
            <a:ext cx="384048" cy="384048"/>
          </a:xfrm>
          <a:prstGeom prst="ellipse">
            <a:avLst/>
          </a:prstGeom>
          <a:solidFill>
            <a:srgbClr val="534AB7"/>
          </a:solidFill>
          <a:ln w="12700">
            <a:solidFill>
              <a:srgbClr val="534AB7">
                <a:alpha val="0"/>
              </a:srgbClr>
            </a:solidFill>
            <a:prstDash val="solid"/>
          </a:ln>
        </p:spPr>
        <p:txBody>
          <a:bodyPr/>
          <a:lstStyle/>
          <a:p>
            <a:endParaRPr lang="en-US"/>
          </a:p>
        </p:txBody>
      </p:sp>
      <p:sp>
        <p:nvSpPr>
          <p:cNvPr id="55" name="Text 53"/>
          <p:cNvSpPr/>
          <p:nvPr/>
        </p:nvSpPr>
        <p:spPr>
          <a:xfrm>
            <a:off x="6309360" y="587044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56" name="Text 54"/>
          <p:cNvSpPr/>
          <p:nvPr/>
        </p:nvSpPr>
        <p:spPr>
          <a:xfrm>
            <a:off x="6784848" y="5687568"/>
            <a:ext cx="5010912" cy="256032"/>
          </a:xfrm>
          <a:prstGeom prst="rect">
            <a:avLst/>
          </a:prstGeom>
          <a:noFill/>
          <a:ln/>
        </p:spPr>
        <p:txBody>
          <a:bodyPr wrap="square" lIns="0" tIns="0" rIns="0" bIns="0" rtlCol="0" anchor="ctr"/>
          <a:lstStyle/>
          <a:p>
            <a:pPr marL="0" indent="0" algn="l">
              <a:buNone/>
            </a:pPr>
            <a:r>
              <a:rPr lang="en-US" sz="1000" b="1" dirty="0">
                <a:solidFill>
                  <a:srgbClr val="534AB7"/>
                </a:solidFill>
                <a:latin typeface="Georgia" pitchFamily="34" charset="0"/>
                <a:ea typeface="Georgia" pitchFamily="34" charset="-122"/>
                <a:cs typeface="Georgia" pitchFamily="34" charset="-120"/>
              </a:rPr>
              <a:t>Flag pre-emptive manual items</a:t>
            </a:r>
            <a:endParaRPr lang="en-US" sz="1000" dirty="0"/>
          </a:p>
        </p:txBody>
      </p:sp>
      <p:sp>
        <p:nvSpPr>
          <p:cNvPr id="57" name="Text 55"/>
          <p:cNvSpPr/>
          <p:nvPr/>
        </p:nvSpPr>
        <p:spPr>
          <a:xfrm>
            <a:off x="6784848" y="5961888"/>
            <a:ext cx="5010912" cy="585216"/>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Any file scoring above a maximum threshold goes directly to the human review queue before transformation is even attempted — saving wasted Bedrock API calls on files that are certain to fail.</a:t>
            </a:r>
            <a:endParaRPr lang="en-US" sz="900" dirty="0"/>
          </a:p>
        </p:txBody>
      </p:sp>
      <p:sp>
        <p:nvSpPr>
          <p:cNvPr id="58" name="Shape 56"/>
          <p:cNvSpPr/>
          <p:nvPr/>
        </p:nvSpPr>
        <p:spPr>
          <a:xfrm>
            <a:off x="9921240" y="6528816"/>
            <a:ext cx="1920240" cy="237744"/>
          </a:xfrm>
          <a:prstGeom prst="rect">
            <a:avLst/>
          </a:prstGeom>
          <a:solidFill>
            <a:srgbClr val="E6F1FB"/>
          </a:solidFill>
          <a:ln w="9525">
            <a:solidFill>
              <a:srgbClr val="3B82C4"/>
            </a:solidFill>
            <a:prstDash val="solid"/>
          </a:ln>
        </p:spPr>
        <p:txBody>
          <a:bodyPr/>
          <a:lstStyle/>
          <a:p>
            <a:endParaRPr lang="en-US"/>
          </a:p>
        </p:txBody>
      </p:sp>
      <p:sp>
        <p:nvSpPr>
          <p:cNvPr id="59" name="Text 57"/>
          <p:cNvSpPr/>
          <p:nvPr/>
        </p:nvSpPr>
        <p:spPr>
          <a:xfrm>
            <a:off x="9921240" y="6528816"/>
            <a:ext cx="1920240" cy="237744"/>
          </a:xfrm>
          <a:prstGeom prst="rect">
            <a:avLst/>
          </a:prstGeom>
          <a:noFill/>
          <a:ln/>
        </p:spPr>
        <p:txBody>
          <a:bodyPr wrap="square" lIns="0" tIns="0" rIns="0" bIns="0" rtlCol="0" anchor="ctr"/>
          <a:lstStyle/>
          <a:p>
            <a:pPr marL="0" indent="0" algn="ctr">
              <a:buNone/>
            </a:pPr>
            <a:r>
              <a:rPr lang="en-US" sz="900" b="1" dirty="0">
                <a:solidFill>
                  <a:srgbClr val="042C53"/>
                </a:solidFill>
                <a:latin typeface="Calibri" pitchFamily="34" charset="0"/>
                <a:ea typeface="Calibri" pitchFamily="34" charset="-122"/>
                <a:cs typeface="Calibri" pitchFamily="34" charset="-120"/>
              </a:rPr>
              <a:t>Claude Sonnet 4.5</a:t>
            </a:r>
            <a:endParaRPr lang="en-US" sz="900" dirty="0"/>
          </a:p>
        </p:txBody>
      </p:sp>
      <p:sp>
        <p:nvSpPr>
          <p:cNvPr id="60" name="Shape 58"/>
          <p:cNvSpPr/>
          <p:nvPr/>
        </p:nvSpPr>
        <p:spPr>
          <a:xfrm>
            <a:off x="219456" y="6382512"/>
            <a:ext cx="11704320" cy="384048"/>
          </a:xfrm>
          <a:prstGeom prst="rect">
            <a:avLst/>
          </a:prstGeom>
          <a:solidFill>
            <a:srgbClr val="C47E0F"/>
          </a:solidFill>
          <a:ln w="12700">
            <a:solidFill>
              <a:srgbClr val="C47E0F">
                <a:alpha val="0"/>
              </a:srgbClr>
            </a:solidFill>
            <a:prstDash val="solid"/>
          </a:ln>
        </p:spPr>
        <p:txBody>
          <a:bodyPr/>
          <a:lstStyle/>
          <a:p>
            <a:endParaRPr lang="en-US"/>
          </a:p>
        </p:txBody>
      </p:sp>
      <p:sp>
        <p:nvSpPr>
          <p:cNvPr id="61" name="Text 59"/>
          <p:cNvSpPr/>
          <p:nvPr/>
        </p:nvSpPr>
        <p:spPr>
          <a:xfrm>
            <a:off x="347472" y="6382512"/>
            <a:ext cx="11521440" cy="384048"/>
          </a:xfrm>
          <a:prstGeom prst="rect">
            <a:avLst/>
          </a:prstGeom>
          <a:noFill/>
          <a:ln/>
        </p:spPr>
        <p:txBody>
          <a:bodyPr wrap="square" lIns="0" tIns="0" rIns="0" bIns="0" rtlCol="0" anchor="ctr"/>
          <a:lstStyle/>
          <a:p>
            <a:pPr marL="0" indent="0" algn="l">
              <a:buNone/>
            </a:pPr>
            <a:r>
              <a:rPr lang="en-US" sz="1050" b="1" dirty="0">
                <a:solidFill>
                  <a:srgbClr val="FFFFFF"/>
                </a:solidFill>
                <a:latin typeface="Georgia" pitchFamily="34" charset="0"/>
                <a:ea typeface="Georgia" pitchFamily="34" charset="-122"/>
                <a:cs typeface="Georgia" pitchFamily="34" charset="-120"/>
              </a:rPr>
              <a:t>Business impact: These two agents are run once before migration begins. Together they save weeks of manual analysis and prevent the team from spending AI budget on files that should go straight to human review.</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4F9"/>
        </a:solidFill>
        <a:effectLst/>
      </p:bgPr>
    </p:bg>
    <p:spTree>
      <p:nvGrpSpPr>
        <p:cNvPr id="1" name=""/>
        <p:cNvGrpSpPr/>
        <p:nvPr/>
      </p:nvGrpSpPr>
      <p:grpSpPr>
        <a:xfrm>
          <a:off x="0" y="0"/>
          <a:ext cx="0" cy="0"/>
          <a:chOff x="0" y="0"/>
          <a:chExt cx="0" cy="0"/>
        </a:xfrm>
      </p:grpSpPr>
      <p:sp>
        <p:nvSpPr>
          <p:cNvPr id="2" name="Shape 0"/>
          <p:cNvSpPr/>
          <p:nvPr/>
        </p:nvSpPr>
        <p:spPr>
          <a:xfrm>
            <a:off x="0" y="0"/>
            <a:ext cx="12161520" cy="1225296"/>
          </a:xfrm>
          <a:prstGeom prst="rect">
            <a:avLst/>
          </a:prstGeom>
          <a:solidFill>
            <a:srgbClr val="0A1628"/>
          </a:solidFill>
          <a:ln w="12700">
            <a:solidFill>
              <a:srgbClr val="0A1628">
                <a:alpha val="0"/>
              </a:srgbClr>
            </a:solidFill>
            <a:prstDash val="solid"/>
          </a:ln>
        </p:spPr>
        <p:txBody>
          <a:bodyPr/>
          <a:lstStyle/>
          <a:p>
            <a:endParaRPr lang="en-US"/>
          </a:p>
        </p:txBody>
      </p:sp>
      <p:sp>
        <p:nvSpPr>
          <p:cNvPr id="3" name="Shape 1"/>
          <p:cNvSpPr/>
          <p:nvPr/>
        </p:nvSpPr>
        <p:spPr>
          <a:xfrm>
            <a:off x="0" y="1225296"/>
            <a:ext cx="12161520" cy="50292"/>
          </a:xfrm>
          <a:prstGeom prst="rect">
            <a:avLst/>
          </a:prstGeom>
          <a:solidFill>
            <a:srgbClr val="F5A623"/>
          </a:solidFill>
          <a:ln w="12700">
            <a:solidFill>
              <a:srgbClr val="F5A623">
                <a:alpha val="0"/>
              </a:srgbClr>
            </a:solidFill>
            <a:prstDash val="solid"/>
          </a:ln>
        </p:spPr>
        <p:txBody>
          <a:bodyPr/>
          <a:lstStyle/>
          <a:p>
            <a:endParaRPr lang="en-US"/>
          </a:p>
        </p:txBody>
      </p:sp>
      <p:sp>
        <p:nvSpPr>
          <p:cNvPr id="4" name="Text 2"/>
          <p:cNvSpPr/>
          <p:nvPr/>
        </p:nvSpPr>
        <p:spPr>
          <a:xfrm>
            <a:off x="411480" y="109728"/>
            <a:ext cx="11247120" cy="256032"/>
          </a:xfrm>
          <a:prstGeom prst="rect">
            <a:avLst/>
          </a:prstGeom>
          <a:noFill/>
          <a:ln/>
        </p:spPr>
        <p:txBody>
          <a:bodyPr wrap="square" lIns="0" tIns="0" rIns="0" bIns="0" rtlCol="0" anchor="ctr"/>
          <a:lstStyle/>
          <a:p>
            <a:pPr marL="0" indent="0" algn="l">
              <a:buNone/>
            </a:pPr>
            <a:r>
              <a:rPr lang="en-US" sz="1000" kern="0" spc="200" dirty="0">
                <a:solidFill>
                  <a:srgbClr val="7A95B4"/>
                </a:solidFill>
                <a:latin typeface="Calibri" pitchFamily="34" charset="0"/>
                <a:ea typeface="Calibri" pitchFamily="34" charset="-122"/>
                <a:cs typeface="Calibri" pitchFamily="34" charset="-120"/>
              </a:rPr>
              <a:t>06  ·  Java + Spring Transform Agents</a:t>
            </a:r>
            <a:endParaRPr lang="en-US" sz="1000" dirty="0"/>
          </a:p>
        </p:txBody>
      </p:sp>
      <p:sp>
        <p:nvSpPr>
          <p:cNvPr id="5" name="Text 3"/>
          <p:cNvSpPr/>
          <p:nvPr/>
        </p:nvSpPr>
        <p:spPr>
          <a:xfrm>
            <a:off x="411480" y="347472"/>
            <a:ext cx="11247120" cy="749808"/>
          </a:xfrm>
          <a:prstGeom prst="rect">
            <a:avLst/>
          </a:prstGeom>
          <a:noFill/>
          <a:ln/>
        </p:spPr>
        <p:txBody>
          <a:bodyPr wrap="square" lIns="0" tIns="0" rIns="0" bIns="0" rtlCol="0" anchor="ctr"/>
          <a:lstStyle/>
          <a:p>
            <a:pPr marL="0" indent="0" algn="l">
              <a:buNone/>
            </a:pPr>
            <a:r>
              <a:rPr lang="en-US" sz="2600" b="1" dirty="0">
                <a:solidFill>
                  <a:srgbClr val="FFFFFF"/>
                </a:solidFill>
                <a:latin typeface="Georgia" pitchFamily="34" charset="0"/>
                <a:ea typeface="Georgia" pitchFamily="34" charset="-122"/>
                <a:cs typeface="Georgia" pitchFamily="34" charset="-120"/>
              </a:rPr>
              <a:t>The language and framework modernisers — updating the foundation before eliminating Struts.</a:t>
            </a:r>
            <a:endParaRPr lang="en-US" sz="2600" dirty="0"/>
          </a:p>
        </p:txBody>
      </p:sp>
      <p:sp>
        <p:nvSpPr>
          <p:cNvPr id="6" name="Shape 4"/>
          <p:cNvSpPr/>
          <p:nvPr/>
        </p:nvSpPr>
        <p:spPr>
          <a:xfrm>
            <a:off x="365760" y="1389888"/>
            <a:ext cx="5669280" cy="475488"/>
          </a:xfrm>
          <a:prstGeom prst="rect">
            <a:avLst/>
          </a:prstGeom>
          <a:solidFill>
            <a:srgbClr val="0A1628"/>
          </a:solidFill>
          <a:ln w="1270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7" name="Text 5"/>
          <p:cNvSpPr/>
          <p:nvPr/>
        </p:nvSpPr>
        <p:spPr>
          <a:xfrm>
            <a:off x="457200" y="1389888"/>
            <a:ext cx="2834640" cy="475488"/>
          </a:xfrm>
          <a:prstGeom prst="rect">
            <a:avLst/>
          </a:prstGeom>
          <a:noFill/>
          <a:ln/>
        </p:spPr>
        <p:txBody>
          <a:bodyPr wrap="square" lIns="0" tIns="0" rIns="0" bIns="0" rtlCol="0" anchor="ctr"/>
          <a:lstStyle/>
          <a:p>
            <a:pPr marL="0" indent="0" algn="l">
              <a:buNone/>
            </a:pPr>
            <a:r>
              <a:rPr lang="en-US" sz="1400" b="1" dirty="0">
                <a:solidFill>
                  <a:srgbClr val="FFFFFF"/>
                </a:solidFill>
                <a:latin typeface="Georgia" pitchFamily="34" charset="0"/>
                <a:ea typeface="Georgia" pitchFamily="34" charset="-122"/>
                <a:cs typeface="Georgia" pitchFamily="34" charset="-120"/>
              </a:rPr>
              <a:t>Java 8 → 21 Agent</a:t>
            </a:r>
            <a:endParaRPr lang="en-US" sz="1400" dirty="0"/>
          </a:p>
        </p:txBody>
      </p:sp>
      <p:sp>
        <p:nvSpPr>
          <p:cNvPr id="8" name="Text 6"/>
          <p:cNvSpPr/>
          <p:nvPr/>
        </p:nvSpPr>
        <p:spPr>
          <a:xfrm>
            <a:off x="3200400" y="1389888"/>
            <a:ext cx="2743200" cy="475488"/>
          </a:xfrm>
          <a:prstGeom prst="rect">
            <a:avLst/>
          </a:prstGeom>
          <a:noFill/>
          <a:ln/>
        </p:spPr>
        <p:txBody>
          <a:bodyPr wrap="square" lIns="0" tIns="0" rIns="0" bIns="0" rtlCol="0" anchor="ctr"/>
          <a:lstStyle/>
          <a:p>
            <a:pPr marL="0" indent="0" algn="r">
              <a:buNone/>
            </a:pPr>
            <a:r>
              <a:rPr lang="en-US" sz="1100" i="1" dirty="0">
                <a:solidFill>
                  <a:srgbClr val="FDD17A"/>
                </a:solidFill>
                <a:latin typeface="Georgia" pitchFamily="34" charset="0"/>
                <a:ea typeface="Georgia" pitchFamily="34" charset="-122"/>
                <a:cs typeface="Georgia" pitchFamily="34" charset="-120"/>
              </a:rPr>
              <a:t>"The Language Moderniser"</a:t>
            </a:r>
            <a:endParaRPr lang="en-US" sz="1100" dirty="0"/>
          </a:p>
        </p:txBody>
      </p:sp>
      <p:sp>
        <p:nvSpPr>
          <p:cNvPr id="9" name="Shape 7"/>
          <p:cNvSpPr/>
          <p:nvPr/>
        </p:nvSpPr>
        <p:spPr>
          <a:xfrm>
            <a:off x="365760" y="1920240"/>
            <a:ext cx="5669280" cy="457200"/>
          </a:xfrm>
          <a:prstGeom prst="rect">
            <a:avLst/>
          </a:prstGeom>
          <a:solidFill>
            <a:srgbClr val="0F2040"/>
          </a:solidFill>
          <a:ln w="635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10" name="Text 8"/>
          <p:cNvSpPr/>
          <p:nvPr/>
        </p:nvSpPr>
        <p:spPr>
          <a:xfrm>
            <a:off x="457200" y="1920240"/>
            <a:ext cx="5486400" cy="457200"/>
          </a:xfrm>
          <a:prstGeom prst="rect">
            <a:avLst/>
          </a:prstGeom>
          <a:noFill/>
          <a:ln/>
        </p:spPr>
        <p:txBody>
          <a:bodyPr wrap="square" lIns="0" tIns="0" rIns="0" bIns="0" rtlCol="0" anchor="ctr"/>
          <a:lstStyle/>
          <a:p>
            <a:pPr marL="0" indent="0" algn="l">
              <a:buNone/>
            </a:pPr>
            <a:r>
              <a:rPr lang="en-US" sz="950" i="1" dirty="0">
                <a:solidFill>
                  <a:srgbClr val="E8EDF4"/>
                </a:solidFill>
                <a:latin typeface="Georgia" pitchFamily="34" charset="0"/>
                <a:ea typeface="Georgia" pitchFamily="34" charset="-122"/>
                <a:cs typeface="Georgia" pitchFamily="34" charset="-120"/>
              </a:rPr>
              <a:t>Imagine a copyeditor updating a 15-year-old legal document — every outdated clause replaced with the modern equivalent, nothing removed without cause.</a:t>
            </a:r>
            <a:endParaRPr lang="en-US" sz="950" dirty="0"/>
          </a:p>
        </p:txBody>
      </p:sp>
      <p:sp>
        <p:nvSpPr>
          <p:cNvPr id="11" name="Shape 9"/>
          <p:cNvSpPr/>
          <p:nvPr/>
        </p:nvSpPr>
        <p:spPr>
          <a:xfrm>
            <a:off x="365760" y="2450592"/>
            <a:ext cx="5669280" cy="969264"/>
          </a:xfrm>
          <a:prstGeom prst="rect">
            <a:avLst/>
          </a:prstGeom>
          <a:solidFill>
            <a:srgbClr val="E6F1FB"/>
          </a:solidFill>
          <a:ln w="635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12" name="Shape 10"/>
          <p:cNvSpPr/>
          <p:nvPr/>
        </p:nvSpPr>
        <p:spPr>
          <a:xfrm>
            <a:off x="457200" y="2688336"/>
            <a:ext cx="384048" cy="384048"/>
          </a:xfrm>
          <a:prstGeom prst="ellipse">
            <a:avLst/>
          </a:prstGeom>
          <a:solidFill>
            <a:srgbClr val="3B82C4"/>
          </a:solidFill>
          <a:ln w="12700">
            <a:solidFill>
              <a:srgbClr val="3B82C4">
                <a:alpha val="0"/>
              </a:srgbClr>
            </a:solidFill>
            <a:prstDash val="solid"/>
          </a:ln>
        </p:spPr>
        <p:txBody>
          <a:bodyPr/>
          <a:lstStyle/>
          <a:p>
            <a:endParaRPr lang="en-US"/>
          </a:p>
        </p:txBody>
      </p:sp>
      <p:sp>
        <p:nvSpPr>
          <p:cNvPr id="13" name="Text 11"/>
          <p:cNvSpPr/>
          <p:nvPr/>
        </p:nvSpPr>
        <p:spPr>
          <a:xfrm>
            <a:off x="457200" y="2688336"/>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4" name="Text 12"/>
          <p:cNvSpPr/>
          <p:nvPr/>
        </p:nvSpPr>
        <p:spPr>
          <a:xfrm>
            <a:off x="932688" y="2505456"/>
            <a:ext cx="5010912" cy="256032"/>
          </a:xfrm>
          <a:prstGeom prst="rect">
            <a:avLst/>
          </a:prstGeom>
          <a:noFill/>
          <a:ln/>
        </p:spPr>
        <p:txBody>
          <a:bodyPr wrap="square" lIns="0" tIns="0" rIns="0" bIns="0" rtlCol="0" anchor="ctr"/>
          <a:lstStyle/>
          <a:p>
            <a:pPr marL="0" indent="0" algn="l">
              <a:buNone/>
            </a:pPr>
            <a:r>
              <a:rPr lang="en-US" sz="1000" b="1" dirty="0">
                <a:solidFill>
                  <a:srgbClr val="3B82C4"/>
                </a:solidFill>
                <a:latin typeface="Georgia" pitchFamily="34" charset="0"/>
                <a:ea typeface="Georgia" pitchFamily="34" charset="-122"/>
                <a:cs typeface="Georgia" pitchFamily="34" charset="-120"/>
              </a:rPr>
              <a:t>Detect Java 8 patterns</a:t>
            </a:r>
            <a:endParaRPr lang="en-US" sz="1000" dirty="0"/>
          </a:p>
        </p:txBody>
      </p:sp>
      <p:sp>
        <p:nvSpPr>
          <p:cNvPr id="15" name="Text 13"/>
          <p:cNvSpPr/>
          <p:nvPr/>
        </p:nvSpPr>
        <p:spPr>
          <a:xfrm>
            <a:off x="932688" y="2779776"/>
            <a:ext cx="5010912" cy="585216"/>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Scans for every deprecated Java 8 construct: javax.* imports (must become jakarta.*), Thread.stop() calls, finalize() methods, old reflection patterns. Produces a complete list before changing anything.</a:t>
            </a:r>
            <a:endParaRPr lang="en-US" sz="900" dirty="0"/>
          </a:p>
        </p:txBody>
      </p:sp>
      <p:sp>
        <p:nvSpPr>
          <p:cNvPr id="16" name="Shape 14"/>
          <p:cNvSpPr/>
          <p:nvPr/>
        </p:nvSpPr>
        <p:spPr>
          <a:xfrm>
            <a:off x="365760" y="3511296"/>
            <a:ext cx="5669280" cy="969264"/>
          </a:xfrm>
          <a:prstGeom prst="rect">
            <a:avLst/>
          </a:prstGeom>
          <a:solidFill>
            <a:srgbClr val="E6F1FB"/>
          </a:solidFill>
          <a:ln w="635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17" name="Shape 15"/>
          <p:cNvSpPr/>
          <p:nvPr/>
        </p:nvSpPr>
        <p:spPr>
          <a:xfrm>
            <a:off x="457200" y="3749040"/>
            <a:ext cx="384048" cy="384048"/>
          </a:xfrm>
          <a:prstGeom prst="ellipse">
            <a:avLst/>
          </a:prstGeom>
          <a:solidFill>
            <a:srgbClr val="3B82C4"/>
          </a:solidFill>
          <a:ln w="12700">
            <a:solidFill>
              <a:srgbClr val="3B82C4">
                <a:alpha val="0"/>
              </a:srgbClr>
            </a:solidFill>
            <a:prstDash val="solid"/>
          </a:ln>
        </p:spPr>
        <p:txBody>
          <a:bodyPr/>
          <a:lstStyle/>
          <a:p>
            <a:endParaRPr lang="en-US"/>
          </a:p>
        </p:txBody>
      </p:sp>
      <p:sp>
        <p:nvSpPr>
          <p:cNvPr id="18" name="Text 16"/>
          <p:cNvSpPr/>
          <p:nvPr/>
        </p:nvSpPr>
        <p:spPr>
          <a:xfrm>
            <a:off x="457200" y="374904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9" name="Text 17"/>
          <p:cNvSpPr/>
          <p:nvPr/>
        </p:nvSpPr>
        <p:spPr>
          <a:xfrm>
            <a:off x="932688" y="3566160"/>
            <a:ext cx="5010912" cy="256032"/>
          </a:xfrm>
          <a:prstGeom prst="rect">
            <a:avLst/>
          </a:prstGeom>
          <a:noFill/>
          <a:ln/>
        </p:spPr>
        <p:txBody>
          <a:bodyPr wrap="square" lIns="0" tIns="0" rIns="0" bIns="0" rtlCol="0" anchor="ctr"/>
          <a:lstStyle/>
          <a:p>
            <a:pPr marL="0" indent="0" algn="l">
              <a:buNone/>
            </a:pPr>
            <a:r>
              <a:rPr lang="en-US" sz="1000" b="1" dirty="0">
                <a:solidFill>
                  <a:srgbClr val="3B82C4"/>
                </a:solidFill>
                <a:latin typeface="Georgia" pitchFamily="34" charset="0"/>
                <a:ea typeface="Georgia" pitchFamily="34" charset="-122"/>
                <a:cs typeface="Georgia" pitchFamily="34" charset="-120"/>
              </a:rPr>
              <a:t>Update namespace imports</a:t>
            </a:r>
            <a:endParaRPr lang="en-US" sz="1000" dirty="0"/>
          </a:p>
        </p:txBody>
      </p:sp>
      <p:sp>
        <p:nvSpPr>
          <p:cNvPr id="20" name="Text 18"/>
          <p:cNvSpPr/>
          <p:nvPr/>
        </p:nvSpPr>
        <p:spPr>
          <a:xfrm>
            <a:off x="932688" y="3840480"/>
            <a:ext cx="5010912" cy="585216"/>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Rewrites every javax.* import to the modern jakarta.* equivalent — the single biggest change in Java 8 to 21. One file can have dozens of these. The agent handles them all systematically.</a:t>
            </a:r>
            <a:endParaRPr lang="en-US" sz="900" dirty="0"/>
          </a:p>
        </p:txBody>
      </p:sp>
      <p:sp>
        <p:nvSpPr>
          <p:cNvPr id="21" name="Shape 19"/>
          <p:cNvSpPr/>
          <p:nvPr/>
        </p:nvSpPr>
        <p:spPr>
          <a:xfrm>
            <a:off x="365760" y="4572000"/>
            <a:ext cx="5669280" cy="969264"/>
          </a:xfrm>
          <a:prstGeom prst="rect">
            <a:avLst/>
          </a:prstGeom>
          <a:solidFill>
            <a:srgbClr val="E6F1FB"/>
          </a:solidFill>
          <a:ln w="635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22" name="Shape 20"/>
          <p:cNvSpPr/>
          <p:nvPr/>
        </p:nvSpPr>
        <p:spPr>
          <a:xfrm>
            <a:off x="457200" y="4809744"/>
            <a:ext cx="384048" cy="384048"/>
          </a:xfrm>
          <a:prstGeom prst="ellipse">
            <a:avLst/>
          </a:prstGeom>
          <a:solidFill>
            <a:srgbClr val="3B82C4"/>
          </a:solidFill>
          <a:ln w="12700">
            <a:solidFill>
              <a:srgbClr val="3B82C4">
                <a:alpha val="0"/>
              </a:srgbClr>
            </a:solidFill>
            <a:prstDash val="solid"/>
          </a:ln>
        </p:spPr>
        <p:txBody>
          <a:bodyPr/>
          <a:lstStyle/>
          <a:p>
            <a:endParaRPr lang="en-US"/>
          </a:p>
        </p:txBody>
      </p:sp>
      <p:sp>
        <p:nvSpPr>
          <p:cNvPr id="23" name="Text 21"/>
          <p:cNvSpPr/>
          <p:nvPr/>
        </p:nvSpPr>
        <p:spPr>
          <a:xfrm>
            <a:off x="457200" y="4809744"/>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4" name="Text 22"/>
          <p:cNvSpPr/>
          <p:nvPr/>
        </p:nvSpPr>
        <p:spPr>
          <a:xfrm>
            <a:off x="932688" y="4626864"/>
            <a:ext cx="5010912" cy="256032"/>
          </a:xfrm>
          <a:prstGeom prst="rect">
            <a:avLst/>
          </a:prstGeom>
          <a:noFill/>
          <a:ln/>
        </p:spPr>
        <p:txBody>
          <a:bodyPr wrap="square" lIns="0" tIns="0" rIns="0" bIns="0" rtlCol="0" anchor="ctr"/>
          <a:lstStyle/>
          <a:p>
            <a:pPr marL="0" indent="0" algn="l">
              <a:buNone/>
            </a:pPr>
            <a:r>
              <a:rPr lang="en-US" sz="1000" b="1" dirty="0">
                <a:solidFill>
                  <a:srgbClr val="3B82C4"/>
                </a:solidFill>
                <a:latin typeface="Georgia" pitchFamily="34" charset="0"/>
                <a:ea typeface="Georgia" pitchFamily="34" charset="-122"/>
                <a:cs typeface="Georgia" pitchFamily="34" charset="-120"/>
              </a:rPr>
              <a:t>Replace deprecated API calls</a:t>
            </a:r>
            <a:endParaRPr lang="en-US" sz="1000" dirty="0"/>
          </a:p>
        </p:txBody>
      </p:sp>
      <p:sp>
        <p:nvSpPr>
          <p:cNvPr id="25" name="Text 23"/>
          <p:cNvSpPr/>
          <p:nvPr/>
        </p:nvSpPr>
        <p:spPr>
          <a:xfrm>
            <a:off x="932688" y="4901184"/>
            <a:ext cx="5010912" cy="585216"/>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Substitutes every deprecated API call with the recommended modern replacement. For example, the old Date class replaced with java.time equivalents. No deprecated patterns remain in the output.</a:t>
            </a:r>
            <a:endParaRPr lang="en-US" sz="900" dirty="0"/>
          </a:p>
        </p:txBody>
      </p:sp>
      <p:sp>
        <p:nvSpPr>
          <p:cNvPr id="26" name="Shape 24"/>
          <p:cNvSpPr/>
          <p:nvPr/>
        </p:nvSpPr>
        <p:spPr>
          <a:xfrm>
            <a:off x="365760" y="5632704"/>
            <a:ext cx="5669280" cy="969264"/>
          </a:xfrm>
          <a:prstGeom prst="rect">
            <a:avLst/>
          </a:prstGeom>
          <a:solidFill>
            <a:srgbClr val="E6F1FB"/>
          </a:solidFill>
          <a:ln w="635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27" name="Shape 25"/>
          <p:cNvSpPr/>
          <p:nvPr/>
        </p:nvSpPr>
        <p:spPr>
          <a:xfrm>
            <a:off x="457200" y="5870448"/>
            <a:ext cx="384048" cy="384048"/>
          </a:xfrm>
          <a:prstGeom prst="ellipse">
            <a:avLst/>
          </a:prstGeom>
          <a:solidFill>
            <a:srgbClr val="3B82C4"/>
          </a:solidFill>
          <a:ln w="12700">
            <a:solidFill>
              <a:srgbClr val="3B82C4">
                <a:alpha val="0"/>
              </a:srgbClr>
            </a:solidFill>
            <a:prstDash val="solid"/>
          </a:ln>
        </p:spPr>
        <p:txBody>
          <a:bodyPr/>
          <a:lstStyle/>
          <a:p>
            <a:endParaRPr lang="en-US"/>
          </a:p>
        </p:txBody>
      </p:sp>
      <p:sp>
        <p:nvSpPr>
          <p:cNvPr id="28" name="Text 26"/>
          <p:cNvSpPr/>
          <p:nvPr/>
        </p:nvSpPr>
        <p:spPr>
          <a:xfrm>
            <a:off x="457200" y="587044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29" name="Text 27"/>
          <p:cNvSpPr/>
          <p:nvPr/>
        </p:nvSpPr>
        <p:spPr>
          <a:xfrm>
            <a:off x="932688" y="5687568"/>
            <a:ext cx="5010912" cy="256032"/>
          </a:xfrm>
          <a:prstGeom prst="rect">
            <a:avLst/>
          </a:prstGeom>
          <a:noFill/>
          <a:ln/>
        </p:spPr>
        <p:txBody>
          <a:bodyPr wrap="square" lIns="0" tIns="0" rIns="0" bIns="0" rtlCol="0" anchor="ctr"/>
          <a:lstStyle/>
          <a:p>
            <a:pPr marL="0" indent="0" algn="l">
              <a:buNone/>
            </a:pPr>
            <a:r>
              <a:rPr lang="en-US" sz="1000" b="1" dirty="0">
                <a:solidFill>
                  <a:srgbClr val="3B82C4"/>
                </a:solidFill>
                <a:latin typeface="Georgia" pitchFamily="34" charset="0"/>
                <a:ea typeface="Georgia" pitchFamily="34" charset="-122"/>
                <a:cs typeface="Georgia" pitchFamily="34" charset="-120"/>
              </a:rPr>
              <a:t>Apply modern Java features</a:t>
            </a:r>
            <a:endParaRPr lang="en-US" sz="1000" dirty="0"/>
          </a:p>
        </p:txBody>
      </p:sp>
      <p:sp>
        <p:nvSpPr>
          <p:cNvPr id="30" name="Text 28"/>
          <p:cNvSpPr/>
          <p:nvPr/>
        </p:nvSpPr>
        <p:spPr>
          <a:xfrm>
            <a:off x="932688" y="5961888"/>
            <a:ext cx="5010912" cy="585216"/>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Where it is safe to do so, introduces modern Java syntax: the 'var' keyword for local variables, text blocks for multi-line strings. Flags any file where records could replace a class — but does not auto-apply records.</a:t>
            </a:r>
            <a:endParaRPr lang="en-US" sz="900" dirty="0"/>
          </a:p>
        </p:txBody>
      </p:sp>
      <p:sp>
        <p:nvSpPr>
          <p:cNvPr id="31" name="Shape 29"/>
          <p:cNvSpPr/>
          <p:nvPr/>
        </p:nvSpPr>
        <p:spPr>
          <a:xfrm>
            <a:off x="4069080" y="6528816"/>
            <a:ext cx="1920240" cy="237744"/>
          </a:xfrm>
          <a:prstGeom prst="rect">
            <a:avLst/>
          </a:prstGeom>
          <a:solidFill>
            <a:srgbClr val="E6F1FB"/>
          </a:solidFill>
          <a:ln w="9525">
            <a:solidFill>
              <a:srgbClr val="3B82C4"/>
            </a:solidFill>
            <a:prstDash val="solid"/>
          </a:ln>
        </p:spPr>
        <p:txBody>
          <a:bodyPr/>
          <a:lstStyle/>
          <a:p>
            <a:endParaRPr lang="en-US"/>
          </a:p>
        </p:txBody>
      </p:sp>
      <p:sp>
        <p:nvSpPr>
          <p:cNvPr id="32" name="Text 30"/>
          <p:cNvSpPr/>
          <p:nvPr/>
        </p:nvSpPr>
        <p:spPr>
          <a:xfrm>
            <a:off x="4069080" y="6528816"/>
            <a:ext cx="1920240" cy="237744"/>
          </a:xfrm>
          <a:prstGeom prst="rect">
            <a:avLst/>
          </a:prstGeom>
          <a:noFill/>
          <a:ln/>
        </p:spPr>
        <p:txBody>
          <a:bodyPr wrap="square" lIns="0" tIns="0" rIns="0" bIns="0" rtlCol="0" anchor="ctr"/>
          <a:lstStyle/>
          <a:p>
            <a:pPr marL="0" indent="0" algn="ctr">
              <a:buNone/>
            </a:pPr>
            <a:r>
              <a:rPr lang="en-US" sz="900" b="1" dirty="0">
                <a:solidFill>
                  <a:srgbClr val="042C53"/>
                </a:solidFill>
                <a:latin typeface="Calibri" pitchFamily="34" charset="0"/>
                <a:ea typeface="Calibri" pitchFamily="34" charset="-122"/>
                <a:cs typeface="Calibri" pitchFamily="34" charset="-120"/>
              </a:rPr>
              <a:t>Claude Sonnet 4.5 + RAG</a:t>
            </a:r>
            <a:endParaRPr lang="en-US" sz="900" dirty="0"/>
          </a:p>
        </p:txBody>
      </p:sp>
      <p:sp>
        <p:nvSpPr>
          <p:cNvPr id="33" name="Shape 31"/>
          <p:cNvSpPr/>
          <p:nvPr/>
        </p:nvSpPr>
        <p:spPr>
          <a:xfrm>
            <a:off x="6309360" y="1389888"/>
            <a:ext cx="5669280" cy="475488"/>
          </a:xfrm>
          <a:prstGeom prst="rect">
            <a:avLst/>
          </a:prstGeom>
          <a:solidFill>
            <a:srgbClr val="0A1628"/>
          </a:solidFill>
          <a:ln w="12700">
            <a:solidFill>
              <a:srgbClr val="028090"/>
            </a:solidFill>
            <a:prstDash val="solid"/>
          </a:ln>
          <a:effectLst>
            <a:outerShdw blurRad="101600" dist="1016" dir="8100000" algn="bl" rotWithShape="0">
              <a:srgbClr val="000000">
                <a:alpha val="9000"/>
              </a:srgbClr>
            </a:outerShdw>
          </a:effectLst>
        </p:spPr>
        <p:txBody>
          <a:bodyPr/>
          <a:lstStyle/>
          <a:p>
            <a:endParaRPr lang="en-US"/>
          </a:p>
        </p:txBody>
      </p:sp>
      <p:sp>
        <p:nvSpPr>
          <p:cNvPr id="34" name="Text 32"/>
          <p:cNvSpPr/>
          <p:nvPr/>
        </p:nvSpPr>
        <p:spPr>
          <a:xfrm>
            <a:off x="6400800" y="1389888"/>
            <a:ext cx="2834640" cy="475488"/>
          </a:xfrm>
          <a:prstGeom prst="rect">
            <a:avLst/>
          </a:prstGeom>
          <a:noFill/>
          <a:ln/>
        </p:spPr>
        <p:txBody>
          <a:bodyPr wrap="square" lIns="0" tIns="0" rIns="0" bIns="0" rtlCol="0" anchor="ctr"/>
          <a:lstStyle/>
          <a:p>
            <a:pPr marL="0" indent="0" algn="l">
              <a:buNone/>
            </a:pPr>
            <a:r>
              <a:rPr lang="en-US" sz="1400" b="1" dirty="0">
                <a:solidFill>
                  <a:srgbClr val="FFFFFF"/>
                </a:solidFill>
                <a:latin typeface="Georgia" pitchFamily="34" charset="0"/>
                <a:ea typeface="Georgia" pitchFamily="34" charset="-122"/>
                <a:cs typeface="Georgia" pitchFamily="34" charset="-120"/>
              </a:rPr>
              <a:t>Spring 5 → 6 Agent</a:t>
            </a:r>
            <a:endParaRPr lang="en-US" sz="1400" dirty="0"/>
          </a:p>
        </p:txBody>
      </p:sp>
      <p:sp>
        <p:nvSpPr>
          <p:cNvPr id="35" name="Text 33"/>
          <p:cNvSpPr/>
          <p:nvPr/>
        </p:nvSpPr>
        <p:spPr>
          <a:xfrm>
            <a:off x="9144000" y="1389888"/>
            <a:ext cx="2743200" cy="475488"/>
          </a:xfrm>
          <a:prstGeom prst="rect">
            <a:avLst/>
          </a:prstGeom>
          <a:noFill/>
          <a:ln/>
        </p:spPr>
        <p:txBody>
          <a:bodyPr wrap="square" lIns="0" tIns="0" rIns="0" bIns="0" rtlCol="0" anchor="ctr"/>
          <a:lstStyle/>
          <a:p>
            <a:pPr marL="0" indent="0" algn="r">
              <a:buNone/>
            </a:pPr>
            <a:r>
              <a:rPr lang="en-US" sz="1100" i="1" dirty="0">
                <a:solidFill>
                  <a:srgbClr val="FDD17A"/>
                </a:solidFill>
                <a:latin typeface="Georgia" pitchFamily="34" charset="0"/>
                <a:ea typeface="Georgia" pitchFamily="34" charset="-122"/>
                <a:cs typeface="Georgia" pitchFamily="34" charset="-120"/>
              </a:rPr>
              <a:t>"The Framework Upgrader"</a:t>
            </a:r>
            <a:endParaRPr lang="en-US" sz="1100" dirty="0"/>
          </a:p>
        </p:txBody>
      </p:sp>
      <p:sp>
        <p:nvSpPr>
          <p:cNvPr id="36" name="Shape 34"/>
          <p:cNvSpPr/>
          <p:nvPr/>
        </p:nvSpPr>
        <p:spPr>
          <a:xfrm>
            <a:off x="6309360" y="1920240"/>
            <a:ext cx="5669280" cy="457200"/>
          </a:xfrm>
          <a:prstGeom prst="rect">
            <a:avLst/>
          </a:prstGeom>
          <a:solidFill>
            <a:srgbClr val="0F2040"/>
          </a:solidFill>
          <a:ln w="6350">
            <a:solidFill>
              <a:srgbClr val="028090"/>
            </a:solidFill>
            <a:prstDash val="solid"/>
          </a:ln>
          <a:effectLst>
            <a:outerShdw blurRad="101600" dist="1016" dir="8100000" algn="bl" rotWithShape="0">
              <a:srgbClr val="000000">
                <a:alpha val="9000"/>
              </a:srgbClr>
            </a:outerShdw>
          </a:effectLst>
        </p:spPr>
        <p:txBody>
          <a:bodyPr/>
          <a:lstStyle/>
          <a:p>
            <a:endParaRPr lang="en-US"/>
          </a:p>
        </p:txBody>
      </p:sp>
      <p:sp>
        <p:nvSpPr>
          <p:cNvPr id="37" name="Text 35"/>
          <p:cNvSpPr/>
          <p:nvPr/>
        </p:nvSpPr>
        <p:spPr>
          <a:xfrm>
            <a:off x="6400800" y="1920240"/>
            <a:ext cx="5486400" cy="457200"/>
          </a:xfrm>
          <a:prstGeom prst="rect">
            <a:avLst/>
          </a:prstGeom>
          <a:noFill/>
          <a:ln/>
        </p:spPr>
        <p:txBody>
          <a:bodyPr wrap="square" lIns="0" tIns="0" rIns="0" bIns="0" rtlCol="0" anchor="ctr"/>
          <a:lstStyle/>
          <a:p>
            <a:pPr marL="0" indent="0" algn="l">
              <a:buNone/>
            </a:pPr>
            <a:r>
              <a:rPr lang="en-US" sz="950" i="1" dirty="0">
                <a:solidFill>
                  <a:srgbClr val="E8EDF4"/>
                </a:solidFill>
                <a:latin typeface="Georgia" pitchFamily="34" charset="0"/>
                <a:ea typeface="Georgia" pitchFamily="34" charset="-122"/>
                <a:cs typeface="Georgia" pitchFamily="34" charset="-120"/>
              </a:rPr>
              <a:t>Like a building inspector updating a structure to meet the new code — the building stays standing throughout, but every non-compliant element is replaced.</a:t>
            </a:r>
            <a:endParaRPr lang="en-US" sz="950" dirty="0"/>
          </a:p>
        </p:txBody>
      </p:sp>
      <p:sp>
        <p:nvSpPr>
          <p:cNvPr id="38" name="Shape 36"/>
          <p:cNvSpPr/>
          <p:nvPr/>
        </p:nvSpPr>
        <p:spPr>
          <a:xfrm>
            <a:off x="6309360" y="2450592"/>
            <a:ext cx="5669280" cy="969264"/>
          </a:xfrm>
          <a:prstGeom prst="rect">
            <a:avLst/>
          </a:prstGeom>
          <a:solidFill>
            <a:srgbClr val="E1F5EE"/>
          </a:solidFill>
          <a:ln w="6350">
            <a:solidFill>
              <a:srgbClr val="028090"/>
            </a:solidFill>
            <a:prstDash val="solid"/>
          </a:ln>
          <a:effectLst>
            <a:outerShdw blurRad="101600" dist="1016" dir="8100000" algn="bl" rotWithShape="0">
              <a:srgbClr val="000000">
                <a:alpha val="9000"/>
              </a:srgbClr>
            </a:outerShdw>
          </a:effectLst>
        </p:spPr>
        <p:txBody>
          <a:bodyPr/>
          <a:lstStyle/>
          <a:p>
            <a:endParaRPr lang="en-US"/>
          </a:p>
        </p:txBody>
      </p:sp>
      <p:sp>
        <p:nvSpPr>
          <p:cNvPr id="39" name="Shape 37"/>
          <p:cNvSpPr/>
          <p:nvPr/>
        </p:nvSpPr>
        <p:spPr>
          <a:xfrm>
            <a:off x="6400800" y="2688336"/>
            <a:ext cx="384048" cy="384048"/>
          </a:xfrm>
          <a:prstGeom prst="ellipse">
            <a:avLst/>
          </a:prstGeom>
          <a:solidFill>
            <a:srgbClr val="028090"/>
          </a:solidFill>
          <a:ln w="12700">
            <a:solidFill>
              <a:srgbClr val="028090">
                <a:alpha val="0"/>
              </a:srgbClr>
            </a:solidFill>
            <a:prstDash val="solid"/>
          </a:ln>
        </p:spPr>
        <p:txBody>
          <a:bodyPr/>
          <a:lstStyle/>
          <a:p>
            <a:endParaRPr lang="en-US"/>
          </a:p>
        </p:txBody>
      </p:sp>
      <p:sp>
        <p:nvSpPr>
          <p:cNvPr id="40" name="Text 38"/>
          <p:cNvSpPr/>
          <p:nvPr/>
        </p:nvSpPr>
        <p:spPr>
          <a:xfrm>
            <a:off x="6400800" y="2688336"/>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41" name="Text 39"/>
          <p:cNvSpPr/>
          <p:nvPr/>
        </p:nvSpPr>
        <p:spPr>
          <a:xfrm>
            <a:off x="6876288" y="2505456"/>
            <a:ext cx="5010912" cy="256032"/>
          </a:xfrm>
          <a:prstGeom prst="rect">
            <a:avLst/>
          </a:prstGeom>
          <a:noFill/>
          <a:ln/>
        </p:spPr>
        <p:txBody>
          <a:bodyPr wrap="square" lIns="0" tIns="0" rIns="0" bIns="0" rtlCol="0" anchor="ctr"/>
          <a:lstStyle/>
          <a:p>
            <a:pPr marL="0" indent="0" algn="l">
              <a:buNone/>
            </a:pPr>
            <a:r>
              <a:rPr lang="en-US" sz="1000" b="1" dirty="0">
                <a:solidFill>
                  <a:srgbClr val="028090"/>
                </a:solidFill>
                <a:latin typeface="Georgia" pitchFamily="34" charset="0"/>
                <a:ea typeface="Georgia" pitchFamily="34" charset="-122"/>
                <a:cs typeface="Georgia" pitchFamily="34" charset="-120"/>
              </a:rPr>
              <a:t>Detect Spring 5 security patterns</a:t>
            </a:r>
            <a:endParaRPr lang="en-US" sz="1000" dirty="0"/>
          </a:p>
        </p:txBody>
      </p:sp>
      <p:sp>
        <p:nvSpPr>
          <p:cNvPr id="42" name="Text 40"/>
          <p:cNvSpPr/>
          <p:nvPr/>
        </p:nvSpPr>
        <p:spPr>
          <a:xfrm>
            <a:off x="6876288" y="2779776"/>
            <a:ext cx="5010912" cy="585216"/>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Finds every instance of the deprecated WebSecurityConfigurerAdapter class and antMatchers() method — the two most common Spring Security patterns that Spring 6 no longer supports.</a:t>
            </a:r>
            <a:endParaRPr lang="en-US" sz="900" dirty="0"/>
          </a:p>
        </p:txBody>
      </p:sp>
      <p:sp>
        <p:nvSpPr>
          <p:cNvPr id="43" name="Shape 41"/>
          <p:cNvSpPr/>
          <p:nvPr/>
        </p:nvSpPr>
        <p:spPr>
          <a:xfrm>
            <a:off x="6309360" y="3511296"/>
            <a:ext cx="5669280" cy="969264"/>
          </a:xfrm>
          <a:prstGeom prst="rect">
            <a:avLst/>
          </a:prstGeom>
          <a:solidFill>
            <a:srgbClr val="E1F5EE"/>
          </a:solidFill>
          <a:ln w="6350">
            <a:solidFill>
              <a:srgbClr val="028090"/>
            </a:solidFill>
            <a:prstDash val="solid"/>
          </a:ln>
          <a:effectLst>
            <a:outerShdw blurRad="101600" dist="1016" dir="8100000" algn="bl" rotWithShape="0">
              <a:srgbClr val="000000">
                <a:alpha val="9000"/>
              </a:srgbClr>
            </a:outerShdw>
          </a:effectLst>
        </p:spPr>
        <p:txBody>
          <a:bodyPr/>
          <a:lstStyle/>
          <a:p>
            <a:endParaRPr lang="en-US"/>
          </a:p>
        </p:txBody>
      </p:sp>
      <p:sp>
        <p:nvSpPr>
          <p:cNvPr id="44" name="Shape 42"/>
          <p:cNvSpPr/>
          <p:nvPr/>
        </p:nvSpPr>
        <p:spPr>
          <a:xfrm>
            <a:off x="6400800" y="3749040"/>
            <a:ext cx="384048" cy="384048"/>
          </a:xfrm>
          <a:prstGeom prst="ellipse">
            <a:avLst/>
          </a:prstGeom>
          <a:solidFill>
            <a:srgbClr val="028090"/>
          </a:solidFill>
          <a:ln w="12700">
            <a:solidFill>
              <a:srgbClr val="028090">
                <a:alpha val="0"/>
              </a:srgbClr>
            </a:solidFill>
            <a:prstDash val="solid"/>
          </a:ln>
        </p:spPr>
        <p:txBody>
          <a:bodyPr/>
          <a:lstStyle/>
          <a:p>
            <a:endParaRPr lang="en-US"/>
          </a:p>
        </p:txBody>
      </p:sp>
      <p:sp>
        <p:nvSpPr>
          <p:cNvPr id="45" name="Text 43"/>
          <p:cNvSpPr/>
          <p:nvPr/>
        </p:nvSpPr>
        <p:spPr>
          <a:xfrm>
            <a:off x="6400800" y="374904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46" name="Text 44"/>
          <p:cNvSpPr/>
          <p:nvPr/>
        </p:nvSpPr>
        <p:spPr>
          <a:xfrm>
            <a:off x="6876288" y="3566160"/>
            <a:ext cx="5010912" cy="256032"/>
          </a:xfrm>
          <a:prstGeom prst="rect">
            <a:avLst/>
          </a:prstGeom>
          <a:noFill/>
          <a:ln/>
        </p:spPr>
        <p:txBody>
          <a:bodyPr wrap="square" lIns="0" tIns="0" rIns="0" bIns="0" rtlCol="0" anchor="ctr"/>
          <a:lstStyle/>
          <a:p>
            <a:pPr marL="0" indent="0" algn="l">
              <a:buNone/>
            </a:pPr>
            <a:r>
              <a:rPr lang="en-US" sz="1000" b="1" dirty="0">
                <a:solidFill>
                  <a:srgbClr val="028090"/>
                </a:solidFill>
                <a:latin typeface="Georgia" pitchFamily="34" charset="0"/>
                <a:ea typeface="Georgia" pitchFamily="34" charset="-122"/>
                <a:cs typeface="Georgia" pitchFamily="34" charset="-120"/>
              </a:rPr>
              <a:t>Rewrite security configuration</a:t>
            </a:r>
            <a:endParaRPr lang="en-US" sz="1000" dirty="0"/>
          </a:p>
        </p:txBody>
      </p:sp>
      <p:sp>
        <p:nvSpPr>
          <p:cNvPr id="47" name="Text 45"/>
          <p:cNvSpPr/>
          <p:nvPr/>
        </p:nvSpPr>
        <p:spPr>
          <a:xfrm>
            <a:off x="6876288" y="3840480"/>
            <a:ext cx="5010912" cy="585216"/>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Replaces the old class-extension security config with the new Spring 6 SecurityFilterChain @Bean pattern. Rewrites antMatchers to requestMatchers. The security rules are preserved; only the mechanism changes.</a:t>
            </a:r>
            <a:endParaRPr lang="en-US" sz="900" dirty="0"/>
          </a:p>
        </p:txBody>
      </p:sp>
      <p:sp>
        <p:nvSpPr>
          <p:cNvPr id="48" name="Shape 46"/>
          <p:cNvSpPr/>
          <p:nvPr/>
        </p:nvSpPr>
        <p:spPr>
          <a:xfrm>
            <a:off x="6309360" y="4572000"/>
            <a:ext cx="5669280" cy="969264"/>
          </a:xfrm>
          <a:prstGeom prst="rect">
            <a:avLst/>
          </a:prstGeom>
          <a:solidFill>
            <a:srgbClr val="E1F5EE"/>
          </a:solidFill>
          <a:ln w="6350">
            <a:solidFill>
              <a:srgbClr val="028090"/>
            </a:solidFill>
            <a:prstDash val="solid"/>
          </a:ln>
          <a:effectLst>
            <a:outerShdw blurRad="101600" dist="1016" dir="8100000" algn="bl" rotWithShape="0">
              <a:srgbClr val="000000">
                <a:alpha val="9000"/>
              </a:srgbClr>
            </a:outerShdw>
          </a:effectLst>
        </p:spPr>
        <p:txBody>
          <a:bodyPr/>
          <a:lstStyle/>
          <a:p>
            <a:endParaRPr lang="en-US"/>
          </a:p>
        </p:txBody>
      </p:sp>
      <p:sp>
        <p:nvSpPr>
          <p:cNvPr id="49" name="Shape 47"/>
          <p:cNvSpPr/>
          <p:nvPr/>
        </p:nvSpPr>
        <p:spPr>
          <a:xfrm>
            <a:off x="6400800" y="4809744"/>
            <a:ext cx="384048" cy="384048"/>
          </a:xfrm>
          <a:prstGeom prst="ellipse">
            <a:avLst/>
          </a:prstGeom>
          <a:solidFill>
            <a:srgbClr val="028090"/>
          </a:solidFill>
          <a:ln w="12700">
            <a:solidFill>
              <a:srgbClr val="028090">
                <a:alpha val="0"/>
              </a:srgbClr>
            </a:solidFill>
            <a:prstDash val="solid"/>
          </a:ln>
        </p:spPr>
        <p:txBody>
          <a:bodyPr/>
          <a:lstStyle/>
          <a:p>
            <a:endParaRPr lang="en-US"/>
          </a:p>
        </p:txBody>
      </p:sp>
      <p:sp>
        <p:nvSpPr>
          <p:cNvPr id="50" name="Text 48"/>
          <p:cNvSpPr/>
          <p:nvPr/>
        </p:nvSpPr>
        <p:spPr>
          <a:xfrm>
            <a:off x="6400800" y="4809744"/>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51" name="Text 49"/>
          <p:cNvSpPr/>
          <p:nvPr/>
        </p:nvSpPr>
        <p:spPr>
          <a:xfrm>
            <a:off x="6876288" y="4626864"/>
            <a:ext cx="5010912" cy="256032"/>
          </a:xfrm>
          <a:prstGeom prst="rect">
            <a:avLst/>
          </a:prstGeom>
          <a:noFill/>
          <a:ln/>
        </p:spPr>
        <p:txBody>
          <a:bodyPr wrap="square" lIns="0" tIns="0" rIns="0" bIns="0" rtlCol="0" anchor="ctr"/>
          <a:lstStyle/>
          <a:p>
            <a:pPr marL="0" indent="0" algn="l">
              <a:buNone/>
            </a:pPr>
            <a:r>
              <a:rPr lang="en-US" sz="1000" b="1" dirty="0">
                <a:solidFill>
                  <a:srgbClr val="028090"/>
                </a:solidFill>
                <a:latin typeface="Georgia" pitchFamily="34" charset="0"/>
                <a:ea typeface="Georgia" pitchFamily="34" charset="-122"/>
                <a:cs typeface="Georgia" pitchFamily="34" charset="-120"/>
              </a:rPr>
              <a:t>Update serialisation patterns</a:t>
            </a:r>
            <a:endParaRPr lang="en-US" sz="1000" dirty="0"/>
          </a:p>
        </p:txBody>
      </p:sp>
      <p:sp>
        <p:nvSpPr>
          <p:cNvPr id="52" name="Text 50"/>
          <p:cNvSpPr/>
          <p:nvPr/>
        </p:nvSpPr>
        <p:spPr>
          <a:xfrm>
            <a:off x="6876288" y="4901184"/>
            <a:ext cx="5010912" cy="585216"/>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Spring 6 changed how Jackson (the JSON library) handles certain data types. The agent detects and updates these patterns so that JSON serialisation works correctly under the new version.</a:t>
            </a:r>
            <a:endParaRPr lang="en-US" sz="900" dirty="0"/>
          </a:p>
        </p:txBody>
      </p:sp>
      <p:sp>
        <p:nvSpPr>
          <p:cNvPr id="53" name="Shape 51"/>
          <p:cNvSpPr/>
          <p:nvPr/>
        </p:nvSpPr>
        <p:spPr>
          <a:xfrm>
            <a:off x="6309360" y="5632704"/>
            <a:ext cx="5669280" cy="969264"/>
          </a:xfrm>
          <a:prstGeom prst="rect">
            <a:avLst/>
          </a:prstGeom>
          <a:solidFill>
            <a:srgbClr val="E1F5EE"/>
          </a:solidFill>
          <a:ln w="6350">
            <a:solidFill>
              <a:srgbClr val="028090"/>
            </a:solidFill>
            <a:prstDash val="solid"/>
          </a:ln>
          <a:effectLst>
            <a:outerShdw blurRad="101600" dist="1016" dir="8100000" algn="bl" rotWithShape="0">
              <a:srgbClr val="000000">
                <a:alpha val="9000"/>
              </a:srgbClr>
            </a:outerShdw>
          </a:effectLst>
        </p:spPr>
        <p:txBody>
          <a:bodyPr/>
          <a:lstStyle/>
          <a:p>
            <a:endParaRPr lang="en-US"/>
          </a:p>
        </p:txBody>
      </p:sp>
      <p:sp>
        <p:nvSpPr>
          <p:cNvPr id="54" name="Shape 52"/>
          <p:cNvSpPr/>
          <p:nvPr/>
        </p:nvSpPr>
        <p:spPr>
          <a:xfrm>
            <a:off x="6400800" y="5870448"/>
            <a:ext cx="384048" cy="384048"/>
          </a:xfrm>
          <a:prstGeom prst="ellipse">
            <a:avLst/>
          </a:prstGeom>
          <a:solidFill>
            <a:srgbClr val="028090"/>
          </a:solidFill>
          <a:ln w="12700">
            <a:solidFill>
              <a:srgbClr val="028090">
                <a:alpha val="0"/>
              </a:srgbClr>
            </a:solidFill>
            <a:prstDash val="solid"/>
          </a:ln>
        </p:spPr>
        <p:txBody>
          <a:bodyPr/>
          <a:lstStyle/>
          <a:p>
            <a:endParaRPr lang="en-US"/>
          </a:p>
        </p:txBody>
      </p:sp>
      <p:sp>
        <p:nvSpPr>
          <p:cNvPr id="55" name="Text 53"/>
          <p:cNvSpPr/>
          <p:nvPr/>
        </p:nvSpPr>
        <p:spPr>
          <a:xfrm>
            <a:off x="6400800" y="587044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56" name="Text 54"/>
          <p:cNvSpPr/>
          <p:nvPr/>
        </p:nvSpPr>
        <p:spPr>
          <a:xfrm>
            <a:off x="6876288" y="5687568"/>
            <a:ext cx="5010912" cy="256032"/>
          </a:xfrm>
          <a:prstGeom prst="rect">
            <a:avLst/>
          </a:prstGeom>
          <a:noFill/>
          <a:ln/>
        </p:spPr>
        <p:txBody>
          <a:bodyPr wrap="square" lIns="0" tIns="0" rIns="0" bIns="0" rtlCol="0" anchor="ctr"/>
          <a:lstStyle/>
          <a:p>
            <a:pPr marL="0" indent="0" algn="l">
              <a:buNone/>
            </a:pPr>
            <a:r>
              <a:rPr lang="en-US" sz="1000" b="1" dirty="0">
                <a:solidFill>
                  <a:srgbClr val="028090"/>
                </a:solidFill>
                <a:latin typeface="Georgia" pitchFamily="34" charset="0"/>
                <a:ea typeface="Georgia" pitchFamily="34" charset="-122"/>
                <a:cs typeface="Georgia" pitchFamily="34" charset="-120"/>
              </a:rPr>
              <a:t>Validate the build file</a:t>
            </a:r>
            <a:endParaRPr lang="en-US" sz="1000" dirty="0"/>
          </a:p>
        </p:txBody>
      </p:sp>
      <p:sp>
        <p:nvSpPr>
          <p:cNvPr id="57" name="Text 55"/>
          <p:cNvSpPr/>
          <p:nvPr/>
        </p:nvSpPr>
        <p:spPr>
          <a:xfrm>
            <a:off x="6876288" y="5961888"/>
            <a:ext cx="5010912" cy="585216"/>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Checks pom.xml to confirm the Spring Boot version matches Spring 6 requirements. Flags any dependency version mismatches that could cause the application to fail to compile after migration.</a:t>
            </a:r>
            <a:endParaRPr lang="en-US" sz="900" dirty="0"/>
          </a:p>
        </p:txBody>
      </p:sp>
      <p:sp>
        <p:nvSpPr>
          <p:cNvPr id="58" name="Shape 56"/>
          <p:cNvSpPr/>
          <p:nvPr/>
        </p:nvSpPr>
        <p:spPr>
          <a:xfrm>
            <a:off x="10012680" y="6528816"/>
            <a:ext cx="1920240" cy="237744"/>
          </a:xfrm>
          <a:prstGeom prst="rect">
            <a:avLst/>
          </a:prstGeom>
          <a:solidFill>
            <a:srgbClr val="E6F1FB"/>
          </a:solidFill>
          <a:ln w="9525">
            <a:solidFill>
              <a:srgbClr val="3B82C4"/>
            </a:solidFill>
            <a:prstDash val="solid"/>
          </a:ln>
        </p:spPr>
        <p:txBody>
          <a:bodyPr/>
          <a:lstStyle/>
          <a:p>
            <a:endParaRPr lang="en-US"/>
          </a:p>
        </p:txBody>
      </p:sp>
      <p:sp>
        <p:nvSpPr>
          <p:cNvPr id="59" name="Text 57"/>
          <p:cNvSpPr/>
          <p:nvPr/>
        </p:nvSpPr>
        <p:spPr>
          <a:xfrm>
            <a:off x="10012680" y="6528816"/>
            <a:ext cx="1920240" cy="237744"/>
          </a:xfrm>
          <a:prstGeom prst="rect">
            <a:avLst/>
          </a:prstGeom>
          <a:noFill/>
          <a:ln/>
        </p:spPr>
        <p:txBody>
          <a:bodyPr wrap="square" lIns="0" tIns="0" rIns="0" bIns="0" rtlCol="0" anchor="ctr"/>
          <a:lstStyle/>
          <a:p>
            <a:pPr marL="0" indent="0" algn="ctr">
              <a:buNone/>
            </a:pPr>
            <a:r>
              <a:rPr lang="en-US" sz="900" b="1" dirty="0">
                <a:solidFill>
                  <a:srgbClr val="042C53"/>
                </a:solidFill>
                <a:latin typeface="Calibri" pitchFamily="34" charset="0"/>
                <a:ea typeface="Calibri" pitchFamily="34" charset="-122"/>
                <a:cs typeface="Calibri" pitchFamily="34" charset="-120"/>
              </a:rPr>
              <a:t>Claude Sonnet 4.5 + RAG</a:t>
            </a:r>
            <a:endParaRPr lang="en-US" sz="900" dirty="0"/>
          </a:p>
        </p:txBody>
      </p:sp>
      <p:sp>
        <p:nvSpPr>
          <p:cNvPr id="60" name="Shape 58"/>
          <p:cNvSpPr/>
          <p:nvPr/>
        </p:nvSpPr>
        <p:spPr>
          <a:xfrm>
            <a:off x="219456" y="6382512"/>
            <a:ext cx="11704320" cy="384048"/>
          </a:xfrm>
          <a:prstGeom prst="rect">
            <a:avLst/>
          </a:prstGeom>
          <a:solidFill>
            <a:srgbClr val="C47E0F"/>
          </a:solidFill>
          <a:ln w="12700">
            <a:solidFill>
              <a:srgbClr val="C47E0F">
                <a:alpha val="0"/>
              </a:srgbClr>
            </a:solidFill>
            <a:prstDash val="solid"/>
          </a:ln>
        </p:spPr>
        <p:txBody>
          <a:bodyPr/>
          <a:lstStyle/>
          <a:p>
            <a:endParaRPr lang="en-US"/>
          </a:p>
        </p:txBody>
      </p:sp>
      <p:sp>
        <p:nvSpPr>
          <p:cNvPr id="61" name="Text 59"/>
          <p:cNvSpPr/>
          <p:nvPr/>
        </p:nvSpPr>
        <p:spPr>
          <a:xfrm>
            <a:off x="347472" y="6382512"/>
            <a:ext cx="11521440" cy="384048"/>
          </a:xfrm>
          <a:prstGeom prst="rect">
            <a:avLst/>
          </a:prstGeom>
          <a:noFill/>
          <a:ln/>
        </p:spPr>
        <p:txBody>
          <a:bodyPr wrap="square" lIns="0" tIns="0" rIns="0" bIns="0" rtlCol="0" anchor="ctr"/>
          <a:lstStyle/>
          <a:p>
            <a:pPr marL="0" indent="0" algn="l">
              <a:buNone/>
            </a:pPr>
            <a:r>
              <a:rPr lang="en-US" sz="1050" b="1" dirty="0">
                <a:solidFill>
                  <a:srgbClr val="FFFFFF"/>
                </a:solidFill>
                <a:latin typeface="Georgia" pitchFamily="34" charset="0"/>
                <a:ea typeface="Georgia" pitchFamily="34" charset="-122"/>
                <a:cs typeface="Georgia" pitchFamily="34" charset="-120"/>
              </a:rPr>
              <a:t>Business impact: These two agents run first on every file. By the time the Struts elimination agents run, the Java language and Spring framework are already fully modernised — making the Struts migration cleaner and more reliable.</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05252"/>
          </a:solidFill>
          <a:ln w="12700">
            <a:solidFill>
              <a:srgbClr val="E05252">
                <a:alpha val="0"/>
              </a:srgbClr>
            </a:solidFill>
            <a:prstDash val="solid"/>
          </a:ln>
        </p:spPr>
        <p:txBody>
          <a:bodyPr/>
          <a:lstStyle/>
          <a:p>
            <a:endParaRPr lang="en-US"/>
          </a:p>
        </p:txBody>
      </p:sp>
      <p:sp>
        <p:nvSpPr>
          <p:cNvPr id="3" name="Text 1"/>
          <p:cNvSpPr/>
          <p:nvPr/>
        </p:nvSpPr>
        <p:spPr>
          <a:xfrm>
            <a:off x="219456" y="128016"/>
            <a:ext cx="457200" cy="274320"/>
          </a:xfrm>
          <a:prstGeom prst="rect">
            <a:avLst/>
          </a:prstGeom>
          <a:noFill/>
          <a:ln/>
        </p:spPr>
        <p:txBody>
          <a:bodyPr wrap="square" lIns="0" tIns="0" rIns="0" bIns="0" rtlCol="0" anchor="ctr"/>
          <a:lstStyle/>
          <a:p>
            <a:pPr marL="0" indent="0" algn="l">
              <a:buNone/>
            </a:pPr>
            <a:r>
              <a:rPr lang="en-US" sz="1000" kern="0" spc="200" dirty="0">
                <a:solidFill>
                  <a:srgbClr val="7A95B4"/>
                </a:solidFill>
                <a:latin typeface="Calibri" pitchFamily="34" charset="0"/>
                <a:ea typeface="Calibri" pitchFamily="34" charset="-122"/>
                <a:cs typeface="Calibri" pitchFamily="34" charset="-120"/>
              </a:rPr>
              <a:t>07  ·</a:t>
            </a:r>
            <a:endParaRPr lang="en-US" sz="1000" dirty="0"/>
          </a:p>
        </p:txBody>
      </p:sp>
      <p:sp>
        <p:nvSpPr>
          <p:cNvPr id="4" name="Text 2"/>
          <p:cNvSpPr/>
          <p:nvPr/>
        </p:nvSpPr>
        <p:spPr>
          <a:xfrm>
            <a:off x="219456" y="100584"/>
            <a:ext cx="11704320" cy="475488"/>
          </a:xfrm>
          <a:prstGeom prst="rect">
            <a:avLst/>
          </a:prstGeom>
          <a:noFill/>
          <a:ln/>
        </p:spPr>
        <p:txBody>
          <a:bodyPr wrap="square" lIns="0" tIns="0" rIns="0" bIns="0" rtlCol="0" anchor="ctr"/>
          <a:lstStyle/>
          <a:p>
            <a:pPr marL="0" indent="0" algn="l">
              <a:buNone/>
            </a:pPr>
            <a:r>
              <a:rPr lang="en-US" sz="2800" b="1" dirty="0">
                <a:solidFill>
                  <a:srgbClr val="FFFFFF"/>
                </a:solidFill>
                <a:latin typeface="Georgia" pitchFamily="34" charset="0"/>
                <a:ea typeface="Georgia" pitchFamily="34" charset="-122"/>
                <a:cs typeface="Georgia" pitchFamily="34" charset="-120"/>
              </a:rPr>
              <a:t>The Struts Elimination Agents</a:t>
            </a:r>
            <a:endParaRPr lang="en-US" sz="2800" dirty="0"/>
          </a:p>
        </p:txBody>
      </p:sp>
      <p:sp>
        <p:nvSpPr>
          <p:cNvPr id="5" name="Text 3"/>
          <p:cNvSpPr/>
          <p:nvPr/>
        </p:nvSpPr>
        <p:spPr>
          <a:xfrm>
            <a:off x="219456" y="603504"/>
            <a:ext cx="10789920" cy="329184"/>
          </a:xfrm>
          <a:prstGeom prst="rect">
            <a:avLst/>
          </a:prstGeom>
          <a:noFill/>
          <a:ln/>
        </p:spPr>
        <p:txBody>
          <a:bodyPr wrap="square" lIns="0" tIns="0" rIns="0" bIns="0" rtlCol="0" anchor="ctr"/>
          <a:lstStyle/>
          <a:p>
            <a:pPr marL="0" indent="0" algn="l">
              <a:buNone/>
            </a:pPr>
            <a:r>
              <a:rPr lang="en-US" sz="1300" i="1" dirty="0">
                <a:solidFill>
                  <a:srgbClr val="FDD17A"/>
                </a:solidFill>
                <a:latin typeface="Georgia" pitchFamily="34" charset="0"/>
                <a:ea typeface="Georgia" pitchFamily="34" charset="-122"/>
                <a:cs typeface="Georgia" pitchFamily="34" charset="-120"/>
              </a:rPr>
              <a:t>The core mission — two agents that permanently remove Struts 1.x and Struts 2.x from the codebase.</a:t>
            </a:r>
            <a:endParaRPr lang="en-US" sz="1300" dirty="0"/>
          </a:p>
        </p:txBody>
      </p:sp>
      <p:sp>
        <p:nvSpPr>
          <p:cNvPr id="6" name="Shape 4"/>
          <p:cNvSpPr/>
          <p:nvPr/>
        </p:nvSpPr>
        <p:spPr>
          <a:xfrm>
            <a:off x="219456" y="969264"/>
            <a:ext cx="11704320" cy="22860"/>
          </a:xfrm>
          <a:prstGeom prst="rect">
            <a:avLst/>
          </a:prstGeom>
          <a:solidFill>
            <a:srgbClr val="E05252">
              <a:alpha val="60000"/>
            </a:srgbClr>
          </a:solidFill>
          <a:ln w="12700">
            <a:solidFill>
              <a:srgbClr val="E05252">
                <a:alpha val="0"/>
              </a:srgbClr>
            </a:solidFill>
            <a:prstDash val="solid"/>
          </a:ln>
        </p:spPr>
        <p:txBody>
          <a:bodyPr/>
          <a:lstStyle/>
          <a:p>
            <a:endParaRPr lang="en-US"/>
          </a:p>
        </p:txBody>
      </p:sp>
      <p:sp>
        <p:nvSpPr>
          <p:cNvPr id="7" name="Shape 5"/>
          <p:cNvSpPr/>
          <p:nvPr/>
        </p:nvSpPr>
        <p:spPr>
          <a:xfrm>
            <a:off x="219456" y="1042416"/>
            <a:ext cx="11704320" cy="512064"/>
          </a:xfrm>
          <a:prstGeom prst="rect">
            <a:avLst/>
          </a:prstGeom>
          <a:solidFill>
            <a:srgbClr val="0F2040"/>
          </a:solidFill>
          <a:ln w="9525">
            <a:solidFill>
              <a:srgbClr val="E05252"/>
            </a:solidFill>
            <a:prstDash val="solid"/>
          </a:ln>
          <a:effectLst>
            <a:outerShdw blurRad="101600" dist="1016" dir="8100000" algn="bl" rotWithShape="0">
              <a:srgbClr val="000000">
                <a:alpha val="9000"/>
              </a:srgbClr>
            </a:outerShdw>
          </a:effectLst>
        </p:spPr>
        <p:txBody>
          <a:bodyPr/>
          <a:lstStyle/>
          <a:p>
            <a:endParaRPr lang="en-US"/>
          </a:p>
        </p:txBody>
      </p:sp>
      <p:sp>
        <p:nvSpPr>
          <p:cNvPr id="8" name="Text 6"/>
          <p:cNvSpPr/>
          <p:nvPr/>
        </p:nvSpPr>
        <p:spPr>
          <a:xfrm>
            <a:off x="347472" y="1042416"/>
            <a:ext cx="11521440" cy="512064"/>
          </a:xfrm>
          <a:prstGeom prst="rect">
            <a:avLst/>
          </a:prstGeom>
          <a:noFill/>
          <a:ln/>
        </p:spPr>
        <p:txBody>
          <a:bodyPr wrap="square" lIns="0" tIns="0" rIns="0" bIns="0" rtlCol="0" anchor="ctr"/>
          <a:lstStyle/>
          <a:p>
            <a:pPr marL="0" indent="0" algn="l">
              <a:buNone/>
            </a:pPr>
            <a:r>
              <a:rPr lang="en-US" sz="1100" i="1" dirty="0">
                <a:solidFill>
                  <a:srgbClr val="E8EDF4"/>
                </a:solidFill>
                <a:latin typeface="Georgia" pitchFamily="34" charset="0"/>
                <a:ea typeface="Georgia" pitchFamily="34" charset="-122"/>
                <a:cs typeface="Georgia" pitchFamily="34" charset="-120"/>
              </a:rPr>
              <a:t>After these two agents run: zero Struts classes, zero struts.xml routing, zero OGNL expressions, zero &lt;s:&gt; JSP tags. The output is pure Spring MVC. If it says Struts anywhere, the Guardrails Agent blocks it.</a:t>
            </a:r>
            <a:endParaRPr lang="en-US" sz="1100" dirty="0"/>
          </a:p>
        </p:txBody>
      </p:sp>
      <p:sp>
        <p:nvSpPr>
          <p:cNvPr id="9" name="Shape 7"/>
          <p:cNvSpPr/>
          <p:nvPr/>
        </p:nvSpPr>
        <p:spPr>
          <a:xfrm>
            <a:off x="219456" y="1645920"/>
            <a:ext cx="5833872" cy="438912"/>
          </a:xfrm>
          <a:prstGeom prst="rect">
            <a:avLst/>
          </a:prstGeom>
          <a:solidFill>
            <a:srgbClr val="E05252"/>
          </a:solidFill>
          <a:ln w="6350">
            <a:solidFill>
              <a:srgbClr val="E05252"/>
            </a:solidFill>
            <a:prstDash val="solid"/>
          </a:ln>
          <a:effectLst>
            <a:outerShdw blurRad="101600" dist="1016" dir="8100000" algn="bl" rotWithShape="0">
              <a:srgbClr val="000000">
                <a:alpha val="9000"/>
              </a:srgbClr>
            </a:outerShdw>
          </a:effectLst>
        </p:spPr>
        <p:txBody>
          <a:bodyPr/>
          <a:lstStyle/>
          <a:p>
            <a:endParaRPr lang="en-US"/>
          </a:p>
        </p:txBody>
      </p:sp>
      <p:sp>
        <p:nvSpPr>
          <p:cNvPr id="10" name="Text 8"/>
          <p:cNvSpPr/>
          <p:nvPr/>
        </p:nvSpPr>
        <p:spPr>
          <a:xfrm>
            <a:off x="310896" y="1645920"/>
            <a:ext cx="5650992" cy="256032"/>
          </a:xfrm>
          <a:prstGeom prst="rect">
            <a:avLst/>
          </a:prstGeom>
          <a:noFill/>
          <a:ln/>
        </p:spPr>
        <p:txBody>
          <a:bodyPr wrap="square" lIns="0" tIns="0" rIns="0" bIns="0" rtlCol="0" anchor="ctr"/>
          <a:lstStyle/>
          <a:p>
            <a:pPr marL="0" indent="0" algn="l">
              <a:buNone/>
            </a:pPr>
            <a:r>
              <a:rPr lang="en-US" sz="1300" b="1" dirty="0">
                <a:solidFill>
                  <a:srgbClr val="FFFFFF"/>
                </a:solidFill>
                <a:latin typeface="Georgia" pitchFamily="34" charset="0"/>
                <a:ea typeface="Georgia" pitchFamily="34" charset="-122"/>
                <a:cs typeface="Georgia" pitchFamily="34" charset="-120"/>
              </a:rPr>
              <a:t>Struts 1.x → Spring MVC</a:t>
            </a:r>
            <a:endParaRPr lang="en-US" sz="1300" dirty="0"/>
          </a:p>
        </p:txBody>
      </p:sp>
      <p:sp>
        <p:nvSpPr>
          <p:cNvPr id="11" name="Text 9"/>
          <p:cNvSpPr/>
          <p:nvPr/>
        </p:nvSpPr>
        <p:spPr>
          <a:xfrm>
            <a:off x="310896" y="1920240"/>
            <a:ext cx="5650992" cy="146304"/>
          </a:xfrm>
          <a:prstGeom prst="rect">
            <a:avLst/>
          </a:prstGeom>
          <a:noFill/>
          <a:ln/>
        </p:spPr>
        <p:txBody>
          <a:bodyPr wrap="square" lIns="0" tIns="0" rIns="0" bIns="0" rtlCol="0" anchor="ctr"/>
          <a:lstStyle/>
          <a:p>
            <a:pPr marL="0" indent="0" algn="l">
              <a:buNone/>
            </a:pPr>
            <a:r>
              <a:rPr lang="en-US" sz="850" i="1" dirty="0">
                <a:solidFill>
                  <a:srgbClr val="FFFFFF"/>
                </a:solidFill>
                <a:latin typeface="Calibri" pitchFamily="34" charset="0"/>
                <a:ea typeface="Calibri" pitchFamily="34" charset="-122"/>
                <a:cs typeface="Calibri" pitchFamily="34" charset="-120"/>
              </a:rPr>
              <a:t>Struts 1.x is the older pattern (circa 2001). Actions extend the Action class, form data is bound to ActionForm classes, routing is defined in struts-config.xml.</a:t>
            </a:r>
            <a:endParaRPr lang="en-US" sz="850" dirty="0"/>
          </a:p>
        </p:txBody>
      </p:sp>
      <p:sp>
        <p:nvSpPr>
          <p:cNvPr id="12" name="Shape 10"/>
          <p:cNvSpPr/>
          <p:nvPr/>
        </p:nvSpPr>
        <p:spPr>
          <a:xfrm>
            <a:off x="219456" y="2157984"/>
            <a:ext cx="5833872" cy="914400"/>
          </a:xfrm>
          <a:prstGeom prst="rect">
            <a:avLst/>
          </a:prstGeom>
          <a:solidFill>
            <a:srgbClr val="FCEBEB"/>
          </a:solidFill>
          <a:ln w="6350">
            <a:solidFill>
              <a:srgbClr val="E05252"/>
            </a:solidFill>
            <a:prstDash val="solid"/>
          </a:ln>
          <a:effectLst>
            <a:outerShdw blurRad="101600" dist="1016" dir="8100000" algn="bl" rotWithShape="0">
              <a:srgbClr val="000000">
                <a:alpha val="9000"/>
              </a:srgbClr>
            </a:outerShdw>
          </a:effectLst>
        </p:spPr>
        <p:txBody>
          <a:bodyPr/>
          <a:lstStyle/>
          <a:p>
            <a:endParaRPr lang="en-US"/>
          </a:p>
        </p:txBody>
      </p:sp>
      <p:sp>
        <p:nvSpPr>
          <p:cNvPr id="13" name="Shape 11"/>
          <p:cNvSpPr/>
          <p:nvPr/>
        </p:nvSpPr>
        <p:spPr>
          <a:xfrm>
            <a:off x="310896" y="2377440"/>
            <a:ext cx="384048" cy="384048"/>
          </a:xfrm>
          <a:prstGeom prst="ellipse">
            <a:avLst/>
          </a:prstGeom>
          <a:solidFill>
            <a:srgbClr val="E05252"/>
          </a:solidFill>
          <a:ln w="12700">
            <a:solidFill>
              <a:srgbClr val="E05252">
                <a:alpha val="0"/>
              </a:srgbClr>
            </a:solidFill>
            <a:prstDash val="solid"/>
          </a:ln>
        </p:spPr>
        <p:txBody>
          <a:bodyPr/>
          <a:lstStyle/>
          <a:p>
            <a:endParaRPr lang="en-US"/>
          </a:p>
        </p:txBody>
      </p:sp>
      <p:sp>
        <p:nvSpPr>
          <p:cNvPr id="14" name="Text 12"/>
          <p:cNvSpPr/>
          <p:nvPr/>
        </p:nvSpPr>
        <p:spPr>
          <a:xfrm>
            <a:off x="310896" y="237744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5" name="Text 13"/>
          <p:cNvSpPr/>
          <p:nvPr/>
        </p:nvSpPr>
        <p:spPr>
          <a:xfrm>
            <a:off x="786384" y="2212848"/>
            <a:ext cx="5175504" cy="237744"/>
          </a:xfrm>
          <a:prstGeom prst="rect">
            <a:avLst/>
          </a:prstGeom>
          <a:noFill/>
          <a:ln/>
        </p:spPr>
        <p:txBody>
          <a:bodyPr wrap="square" lIns="0" tIns="0" rIns="0" bIns="0" rtlCol="0" anchor="ctr"/>
          <a:lstStyle/>
          <a:p>
            <a:pPr marL="0" indent="0" algn="l">
              <a:buNone/>
            </a:pPr>
            <a:r>
              <a:rPr lang="en-US" sz="1000" b="1" dirty="0">
                <a:solidFill>
                  <a:srgbClr val="E05252"/>
                </a:solidFill>
                <a:latin typeface="Georgia" pitchFamily="34" charset="0"/>
                <a:ea typeface="Georgia" pitchFamily="34" charset="-122"/>
                <a:cs typeface="Georgia" pitchFamily="34" charset="-120"/>
              </a:rPr>
              <a:t>Parse struts-config.xml</a:t>
            </a:r>
            <a:endParaRPr lang="en-US" sz="1000" dirty="0"/>
          </a:p>
        </p:txBody>
      </p:sp>
      <p:sp>
        <p:nvSpPr>
          <p:cNvPr id="16" name="Text 14"/>
          <p:cNvSpPr/>
          <p:nvPr/>
        </p:nvSpPr>
        <p:spPr>
          <a:xfrm>
            <a:off x="786384" y="2468880"/>
            <a:ext cx="5175504" cy="548640"/>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Reads the central routing file — every action mapping, every form bean, every forward destination. This file is the skeleton of the old app. The agent converts it into a structured map that drives the rest of the transformation.</a:t>
            </a:r>
            <a:endParaRPr lang="en-US" sz="900" dirty="0"/>
          </a:p>
        </p:txBody>
      </p:sp>
      <p:sp>
        <p:nvSpPr>
          <p:cNvPr id="17" name="Shape 15"/>
          <p:cNvSpPr/>
          <p:nvPr/>
        </p:nvSpPr>
        <p:spPr>
          <a:xfrm>
            <a:off x="219456" y="3163824"/>
            <a:ext cx="5833872" cy="914400"/>
          </a:xfrm>
          <a:prstGeom prst="rect">
            <a:avLst/>
          </a:prstGeom>
          <a:solidFill>
            <a:srgbClr val="FCEBEB"/>
          </a:solidFill>
          <a:ln w="6350">
            <a:solidFill>
              <a:srgbClr val="E05252"/>
            </a:solidFill>
            <a:prstDash val="solid"/>
          </a:ln>
          <a:effectLst>
            <a:outerShdw blurRad="101600" dist="1016" dir="8100000" algn="bl" rotWithShape="0">
              <a:srgbClr val="000000">
                <a:alpha val="9000"/>
              </a:srgbClr>
            </a:outerShdw>
          </a:effectLst>
        </p:spPr>
        <p:txBody>
          <a:bodyPr/>
          <a:lstStyle/>
          <a:p>
            <a:endParaRPr lang="en-US"/>
          </a:p>
        </p:txBody>
      </p:sp>
      <p:sp>
        <p:nvSpPr>
          <p:cNvPr id="18" name="Shape 16"/>
          <p:cNvSpPr/>
          <p:nvPr/>
        </p:nvSpPr>
        <p:spPr>
          <a:xfrm>
            <a:off x="310896" y="3383280"/>
            <a:ext cx="384048" cy="384048"/>
          </a:xfrm>
          <a:prstGeom prst="ellipse">
            <a:avLst/>
          </a:prstGeom>
          <a:solidFill>
            <a:srgbClr val="E05252"/>
          </a:solidFill>
          <a:ln w="12700">
            <a:solidFill>
              <a:srgbClr val="E05252">
                <a:alpha val="0"/>
              </a:srgbClr>
            </a:solidFill>
            <a:prstDash val="solid"/>
          </a:ln>
        </p:spPr>
        <p:txBody>
          <a:bodyPr/>
          <a:lstStyle/>
          <a:p>
            <a:endParaRPr lang="en-US"/>
          </a:p>
        </p:txBody>
      </p:sp>
      <p:sp>
        <p:nvSpPr>
          <p:cNvPr id="19" name="Text 17"/>
          <p:cNvSpPr/>
          <p:nvPr/>
        </p:nvSpPr>
        <p:spPr>
          <a:xfrm>
            <a:off x="310896" y="338328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20" name="Text 18"/>
          <p:cNvSpPr/>
          <p:nvPr/>
        </p:nvSpPr>
        <p:spPr>
          <a:xfrm>
            <a:off x="786384" y="3218688"/>
            <a:ext cx="5175504" cy="237744"/>
          </a:xfrm>
          <a:prstGeom prst="rect">
            <a:avLst/>
          </a:prstGeom>
          <a:noFill/>
          <a:ln/>
        </p:spPr>
        <p:txBody>
          <a:bodyPr wrap="square" lIns="0" tIns="0" rIns="0" bIns="0" rtlCol="0" anchor="ctr"/>
          <a:lstStyle/>
          <a:p>
            <a:pPr marL="0" indent="0" algn="l">
              <a:buNone/>
            </a:pPr>
            <a:r>
              <a:rPr lang="en-US" sz="1000" b="1" dirty="0">
                <a:solidFill>
                  <a:srgbClr val="E05252"/>
                </a:solidFill>
                <a:latin typeface="Georgia" pitchFamily="34" charset="0"/>
                <a:ea typeface="Georgia" pitchFamily="34" charset="-122"/>
                <a:cs typeface="Georgia" pitchFamily="34" charset="-120"/>
              </a:rPr>
              <a:t>Convert Action class → @Controller</a:t>
            </a:r>
            <a:endParaRPr lang="en-US" sz="1000" dirty="0"/>
          </a:p>
        </p:txBody>
      </p:sp>
      <p:sp>
        <p:nvSpPr>
          <p:cNvPr id="21" name="Text 19"/>
          <p:cNvSpPr/>
          <p:nvPr/>
        </p:nvSpPr>
        <p:spPr>
          <a:xfrm>
            <a:off x="786384" y="3474720"/>
            <a:ext cx="5175504" cy="548640"/>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Every class that extends Action becomes a Spring @Controller. Every action method becomes a @GetMapping or @PostMapping. The URL path comes from the struts-config mapping. The action class is then deleted.</a:t>
            </a:r>
            <a:endParaRPr lang="en-US" sz="900" dirty="0"/>
          </a:p>
        </p:txBody>
      </p:sp>
      <p:sp>
        <p:nvSpPr>
          <p:cNvPr id="22" name="Shape 20"/>
          <p:cNvSpPr/>
          <p:nvPr/>
        </p:nvSpPr>
        <p:spPr>
          <a:xfrm>
            <a:off x="219456" y="4169664"/>
            <a:ext cx="5833872" cy="914400"/>
          </a:xfrm>
          <a:prstGeom prst="rect">
            <a:avLst/>
          </a:prstGeom>
          <a:solidFill>
            <a:srgbClr val="FCEBEB"/>
          </a:solidFill>
          <a:ln w="6350">
            <a:solidFill>
              <a:srgbClr val="E05252"/>
            </a:solidFill>
            <a:prstDash val="solid"/>
          </a:ln>
          <a:effectLst>
            <a:outerShdw blurRad="101600" dist="1016" dir="8100000" algn="bl" rotWithShape="0">
              <a:srgbClr val="000000">
                <a:alpha val="9000"/>
              </a:srgbClr>
            </a:outerShdw>
          </a:effectLst>
        </p:spPr>
        <p:txBody>
          <a:bodyPr/>
          <a:lstStyle/>
          <a:p>
            <a:endParaRPr lang="en-US"/>
          </a:p>
        </p:txBody>
      </p:sp>
      <p:sp>
        <p:nvSpPr>
          <p:cNvPr id="23" name="Shape 21"/>
          <p:cNvSpPr/>
          <p:nvPr/>
        </p:nvSpPr>
        <p:spPr>
          <a:xfrm>
            <a:off x="310896" y="4389120"/>
            <a:ext cx="384048" cy="384048"/>
          </a:xfrm>
          <a:prstGeom prst="ellipse">
            <a:avLst/>
          </a:prstGeom>
          <a:solidFill>
            <a:srgbClr val="E05252"/>
          </a:solidFill>
          <a:ln w="12700">
            <a:solidFill>
              <a:srgbClr val="E05252">
                <a:alpha val="0"/>
              </a:srgbClr>
            </a:solidFill>
            <a:prstDash val="solid"/>
          </a:ln>
        </p:spPr>
        <p:txBody>
          <a:bodyPr/>
          <a:lstStyle/>
          <a:p>
            <a:endParaRPr lang="en-US"/>
          </a:p>
        </p:txBody>
      </p:sp>
      <p:sp>
        <p:nvSpPr>
          <p:cNvPr id="24" name="Text 22"/>
          <p:cNvSpPr/>
          <p:nvPr/>
        </p:nvSpPr>
        <p:spPr>
          <a:xfrm>
            <a:off x="310896" y="438912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5" name="Text 23"/>
          <p:cNvSpPr/>
          <p:nvPr/>
        </p:nvSpPr>
        <p:spPr>
          <a:xfrm>
            <a:off x="786384" y="4224528"/>
            <a:ext cx="5175504" cy="237744"/>
          </a:xfrm>
          <a:prstGeom prst="rect">
            <a:avLst/>
          </a:prstGeom>
          <a:noFill/>
          <a:ln/>
        </p:spPr>
        <p:txBody>
          <a:bodyPr wrap="square" lIns="0" tIns="0" rIns="0" bIns="0" rtlCol="0" anchor="ctr"/>
          <a:lstStyle/>
          <a:p>
            <a:pPr marL="0" indent="0" algn="l">
              <a:buNone/>
            </a:pPr>
            <a:r>
              <a:rPr lang="en-US" sz="1000" b="1" dirty="0">
                <a:solidFill>
                  <a:srgbClr val="E05252"/>
                </a:solidFill>
                <a:latin typeface="Georgia" pitchFamily="34" charset="0"/>
                <a:ea typeface="Georgia" pitchFamily="34" charset="-122"/>
                <a:cs typeface="Georgia" pitchFamily="34" charset="-120"/>
              </a:rPr>
              <a:t>Convert ActionForm → Data Transfer Object</a:t>
            </a:r>
            <a:endParaRPr lang="en-US" sz="1000" dirty="0"/>
          </a:p>
        </p:txBody>
      </p:sp>
      <p:sp>
        <p:nvSpPr>
          <p:cNvPr id="26" name="Text 24"/>
          <p:cNvSpPr/>
          <p:nvPr/>
        </p:nvSpPr>
        <p:spPr>
          <a:xfrm>
            <a:off x="786384" y="4480560"/>
            <a:ext cx="5175504" cy="548640"/>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Every ActionForm class (which held the form data) is replaced by a plain Java class annotated with @ModelAttribute. Validation rules from the form bean are converted to standard JSR-380 annotations (@NotBlank, @Size, @Email).</a:t>
            </a:r>
            <a:endParaRPr lang="en-US" sz="900" dirty="0"/>
          </a:p>
        </p:txBody>
      </p:sp>
      <p:sp>
        <p:nvSpPr>
          <p:cNvPr id="27" name="Shape 25"/>
          <p:cNvSpPr/>
          <p:nvPr/>
        </p:nvSpPr>
        <p:spPr>
          <a:xfrm>
            <a:off x="219456" y="5175504"/>
            <a:ext cx="5833872" cy="914400"/>
          </a:xfrm>
          <a:prstGeom prst="rect">
            <a:avLst/>
          </a:prstGeom>
          <a:solidFill>
            <a:srgbClr val="FCEBEB"/>
          </a:solidFill>
          <a:ln w="6350">
            <a:solidFill>
              <a:srgbClr val="E05252"/>
            </a:solidFill>
            <a:prstDash val="solid"/>
          </a:ln>
          <a:effectLst>
            <a:outerShdw blurRad="101600" dist="1016" dir="8100000" algn="bl" rotWithShape="0">
              <a:srgbClr val="000000">
                <a:alpha val="9000"/>
              </a:srgbClr>
            </a:outerShdw>
          </a:effectLst>
        </p:spPr>
        <p:txBody>
          <a:bodyPr/>
          <a:lstStyle/>
          <a:p>
            <a:endParaRPr lang="en-US"/>
          </a:p>
        </p:txBody>
      </p:sp>
      <p:sp>
        <p:nvSpPr>
          <p:cNvPr id="28" name="Shape 26"/>
          <p:cNvSpPr/>
          <p:nvPr/>
        </p:nvSpPr>
        <p:spPr>
          <a:xfrm>
            <a:off x="310896" y="5394960"/>
            <a:ext cx="384048" cy="384048"/>
          </a:xfrm>
          <a:prstGeom prst="ellipse">
            <a:avLst/>
          </a:prstGeom>
          <a:solidFill>
            <a:srgbClr val="E05252"/>
          </a:solidFill>
          <a:ln w="12700">
            <a:solidFill>
              <a:srgbClr val="E05252">
                <a:alpha val="0"/>
              </a:srgbClr>
            </a:solidFill>
            <a:prstDash val="solid"/>
          </a:ln>
        </p:spPr>
        <p:txBody>
          <a:bodyPr/>
          <a:lstStyle/>
          <a:p>
            <a:endParaRPr lang="en-US"/>
          </a:p>
        </p:txBody>
      </p:sp>
      <p:sp>
        <p:nvSpPr>
          <p:cNvPr id="29" name="Text 27"/>
          <p:cNvSpPr/>
          <p:nvPr/>
        </p:nvSpPr>
        <p:spPr>
          <a:xfrm>
            <a:off x="310896" y="53949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30" name="Text 28"/>
          <p:cNvSpPr/>
          <p:nvPr/>
        </p:nvSpPr>
        <p:spPr>
          <a:xfrm>
            <a:off x="786384" y="5230368"/>
            <a:ext cx="5175504" cy="237744"/>
          </a:xfrm>
          <a:prstGeom prst="rect">
            <a:avLst/>
          </a:prstGeom>
          <a:noFill/>
          <a:ln/>
        </p:spPr>
        <p:txBody>
          <a:bodyPr wrap="square" lIns="0" tIns="0" rIns="0" bIns="0" rtlCol="0" anchor="ctr"/>
          <a:lstStyle/>
          <a:p>
            <a:pPr marL="0" indent="0" algn="l">
              <a:buNone/>
            </a:pPr>
            <a:r>
              <a:rPr lang="en-US" sz="1000" b="1" dirty="0">
                <a:solidFill>
                  <a:srgbClr val="E05252"/>
                </a:solidFill>
                <a:latin typeface="Georgia" pitchFamily="34" charset="0"/>
                <a:ea typeface="Georgia" pitchFamily="34" charset="-122"/>
                <a:cs typeface="Georgia" pitchFamily="34" charset="-120"/>
              </a:rPr>
              <a:t>Update JSP template tags</a:t>
            </a:r>
            <a:endParaRPr lang="en-US" sz="1000" dirty="0"/>
          </a:p>
        </p:txBody>
      </p:sp>
      <p:sp>
        <p:nvSpPr>
          <p:cNvPr id="31" name="Text 29"/>
          <p:cNvSpPr/>
          <p:nvPr/>
        </p:nvSpPr>
        <p:spPr>
          <a:xfrm>
            <a:off x="786384" y="5486400"/>
            <a:ext cx="5175504" cy="548640"/>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Every &lt;html:form&gt;, &lt;html:text&gt;, &lt;html:select&gt; tag in the JSP views is replaced with the Spring equivalent (&lt;form:form&gt;, &lt;form:input&gt;, &lt;form:select&gt;). The taglib declaration at the top of each JSP is updated to match.</a:t>
            </a:r>
            <a:endParaRPr lang="en-US" sz="900" dirty="0"/>
          </a:p>
        </p:txBody>
      </p:sp>
      <p:sp>
        <p:nvSpPr>
          <p:cNvPr id="32" name="Shape 30"/>
          <p:cNvSpPr/>
          <p:nvPr/>
        </p:nvSpPr>
        <p:spPr>
          <a:xfrm>
            <a:off x="6217920" y="1645920"/>
            <a:ext cx="5833872" cy="438912"/>
          </a:xfrm>
          <a:prstGeom prst="rect">
            <a:avLst/>
          </a:prstGeom>
          <a:solidFill>
            <a:srgbClr val="7B1010"/>
          </a:solidFill>
          <a:ln w="6350">
            <a:solidFill>
              <a:srgbClr val="7B1010"/>
            </a:solidFill>
            <a:prstDash val="solid"/>
          </a:ln>
          <a:effectLst>
            <a:outerShdw blurRad="101600" dist="1016" dir="8100000" algn="bl" rotWithShape="0">
              <a:srgbClr val="000000">
                <a:alpha val="9000"/>
              </a:srgbClr>
            </a:outerShdw>
          </a:effectLst>
        </p:spPr>
        <p:txBody>
          <a:bodyPr/>
          <a:lstStyle/>
          <a:p>
            <a:endParaRPr lang="en-US"/>
          </a:p>
        </p:txBody>
      </p:sp>
      <p:sp>
        <p:nvSpPr>
          <p:cNvPr id="33" name="Text 31"/>
          <p:cNvSpPr/>
          <p:nvPr/>
        </p:nvSpPr>
        <p:spPr>
          <a:xfrm>
            <a:off x="6309360" y="1645920"/>
            <a:ext cx="5650992" cy="256032"/>
          </a:xfrm>
          <a:prstGeom prst="rect">
            <a:avLst/>
          </a:prstGeom>
          <a:noFill/>
          <a:ln/>
        </p:spPr>
        <p:txBody>
          <a:bodyPr wrap="square" lIns="0" tIns="0" rIns="0" bIns="0" rtlCol="0" anchor="ctr"/>
          <a:lstStyle/>
          <a:p>
            <a:pPr marL="0" indent="0" algn="l">
              <a:buNone/>
            </a:pPr>
            <a:r>
              <a:rPr lang="en-US" sz="1300" b="1" dirty="0">
                <a:solidFill>
                  <a:srgbClr val="FFFFFF"/>
                </a:solidFill>
                <a:latin typeface="Georgia" pitchFamily="34" charset="0"/>
                <a:ea typeface="Georgia" pitchFamily="34" charset="-122"/>
                <a:cs typeface="Georgia" pitchFamily="34" charset="-120"/>
              </a:rPr>
              <a:t>Struts 2.x → Spring MVC</a:t>
            </a:r>
            <a:endParaRPr lang="en-US" sz="1300" dirty="0"/>
          </a:p>
        </p:txBody>
      </p:sp>
      <p:sp>
        <p:nvSpPr>
          <p:cNvPr id="34" name="Text 32"/>
          <p:cNvSpPr/>
          <p:nvPr/>
        </p:nvSpPr>
        <p:spPr>
          <a:xfrm>
            <a:off x="6309360" y="1920240"/>
            <a:ext cx="5650992" cy="146304"/>
          </a:xfrm>
          <a:prstGeom prst="rect">
            <a:avLst/>
          </a:prstGeom>
          <a:noFill/>
          <a:ln/>
        </p:spPr>
        <p:txBody>
          <a:bodyPr wrap="square" lIns="0" tIns="0" rIns="0" bIns="0" rtlCol="0" anchor="ctr"/>
          <a:lstStyle/>
          <a:p>
            <a:pPr marL="0" indent="0" algn="l">
              <a:buNone/>
            </a:pPr>
            <a:r>
              <a:rPr lang="en-US" sz="850" i="1" dirty="0">
                <a:solidFill>
                  <a:srgbClr val="FFFFFF"/>
                </a:solidFill>
                <a:latin typeface="Calibri" pitchFamily="34" charset="0"/>
                <a:ea typeface="Calibri" pitchFamily="34" charset="-122"/>
                <a:cs typeface="Calibri" pitchFamily="34" charset="-120"/>
              </a:rPr>
              <a:t>Struts 2.x introduced OGNL (Object-Graph Navigation Language) — a runtime expression evaluator that is both the framework's most powerful and most dangerous feature.</a:t>
            </a:r>
            <a:endParaRPr lang="en-US" sz="850" dirty="0"/>
          </a:p>
        </p:txBody>
      </p:sp>
      <p:sp>
        <p:nvSpPr>
          <p:cNvPr id="35" name="Shape 33"/>
          <p:cNvSpPr/>
          <p:nvPr/>
        </p:nvSpPr>
        <p:spPr>
          <a:xfrm>
            <a:off x="6217920" y="2157984"/>
            <a:ext cx="5833872" cy="914400"/>
          </a:xfrm>
          <a:prstGeom prst="rect">
            <a:avLst/>
          </a:prstGeom>
          <a:solidFill>
            <a:srgbClr val="FCEBEB"/>
          </a:solidFill>
          <a:ln w="6350">
            <a:solidFill>
              <a:srgbClr val="7B1010"/>
            </a:solidFill>
            <a:prstDash val="solid"/>
          </a:ln>
          <a:effectLst>
            <a:outerShdw blurRad="101600" dist="1016" dir="8100000" algn="bl" rotWithShape="0">
              <a:srgbClr val="000000">
                <a:alpha val="9000"/>
              </a:srgbClr>
            </a:outerShdw>
          </a:effectLst>
        </p:spPr>
        <p:txBody>
          <a:bodyPr/>
          <a:lstStyle/>
          <a:p>
            <a:endParaRPr lang="en-US"/>
          </a:p>
        </p:txBody>
      </p:sp>
      <p:sp>
        <p:nvSpPr>
          <p:cNvPr id="36" name="Shape 34"/>
          <p:cNvSpPr/>
          <p:nvPr/>
        </p:nvSpPr>
        <p:spPr>
          <a:xfrm>
            <a:off x="6309360" y="2377440"/>
            <a:ext cx="384048" cy="384048"/>
          </a:xfrm>
          <a:prstGeom prst="ellipse">
            <a:avLst/>
          </a:prstGeom>
          <a:solidFill>
            <a:srgbClr val="7B1010"/>
          </a:solidFill>
          <a:ln w="12700">
            <a:solidFill>
              <a:srgbClr val="7B1010">
                <a:alpha val="0"/>
              </a:srgbClr>
            </a:solidFill>
            <a:prstDash val="solid"/>
          </a:ln>
        </p:spPr>
        <p:txBody>
          <a:bodyPr/>
          <a:lstStyle/>
          <a:p>
            <a:endParaRPr lang="en-US"/>
          </a:p>
        </p:txBody>
      </p:sp>
      <p:sp>
        <p:nvSpPr>
          <p:cNvPr id="37" name="Text 35"/>
          <p:cNvSpPr/>
          <p:nvPr/>
        </p:nvSpPr>
        <p:spPr>
          <a:xfrm>
            <a:off x="6309360" y="237744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38" name="Text 36"/>
          <p:cNvSpPr/>
          <p:nvPr/>
        </p:nvSpPr>
        <p:spPr>
          <a:xfrm>
            <a:off x="6784848" y="2212848"/>
            <a:ext cx="5175504" cy="237744"/>
          </a:xfrm>
          <a:prstGeom prst="rect">
            <a:avLst/>
          </a:prstGeom>
          <a:noFill/>
          <a:ln/>
        </p:spPr>
        <p:txBody>
          <a:bodyPr wrap="square" lIns="0" tIns="0" rIns="0" bIns="0" rtlCol="0" anchor="ctr"/>
          <a:lstStyle/>
          <a:p>
            <a:pPr marL="0" indent="0" algn="l">
              <a:buNone/>
            </a:pPr>
            <a:r>
              <a:rPr lang="en-US" sz="1000" b="1" dirty="0">
                <a:solidFill>
                  <a:srgbClr val="7B1010"/>
                </a:solidFill>
                <a:latin typeface="Georgia" pitchFamily="34" charset="0"/>
                <a:ea typeface="Georgia" pitchFamily="34" charset="-122"/>
                <a:cs typeface="Georgia" pitchFamily="34" charset="-120"/>
              </a:rPr>
              <a:t>Parse struts.xml routing config</a:t>
            </a:r>
            <a:endParaRPr lang="en-US" sz="1000" dirty="0"/>
          </a:p>
        </p:txBody>
      </p:sp>
      <p:sp>
        <p:nvSpPr>
          <p:cNvPr id="39" name="Text 37"/>
          <p:cNvSpPr/>
          <p:nvPr/>
        </p:nvSpPr>
        <p:spPr>
          <a:xfrm>
            <a:off x="6784848" y="2468880"/>
            <a:ext cx="5175504" cy="548640"/>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Reads every @Namespace, every @Action, every result mapping, and every interceptor reference. Converts this into a structured JSON map that tells the transform agent exactly which Spring @RequestMapping to generate for each route.</a:t>
            </a:r>
            <a:endParaRPr lang="en-US" sz="900" dirty="0"/>
          </a:p>
        </p:txBody>
      </p:sp>
      <p:sp>
        <p:nvSpPr>
          <p:cNvPr id="40" name="Shape 38"/>
          <p:cNvSpPr/>
          <p:nvPr/>
        </p:nvSpPr>
        <p:spPr>
          <a:xfrm>
            <a:off x="6217920" y="3163824"/>
            <a:ext cx="5833872" cy="914400"/>
          </a:xfrm>
          <a:prstGeom prst="rect">
            <a:avLst/>
          </a:prstGeom>
          <a:solidFill>
            <a:srgbClr val="FCEBEB"/>
          </a:solidFill>
          <a:ln w="6350">
            <a:solidFill>
              <a:srgbClr val="7B1010"/>
            </a:solidFill>
            <a:prstDash val="solid"/>
          </a:ln>
          <a:effectLst>
            <a:outerShdw blurRad="101600" dist="1016" dir="8100000" algn="bl" rotWithShape="0">
              <a:srgbClr val="000000">
                <a:alpha val="9000"/>
              </a:srgbClr>
            </a:outerShdw>
          </a:effectLst>
        </p:spPr>
        <p:txBody>
          <a:bodyPr/>
          <a:lstStyle/>
          <a:p>
            <a:endParaRPr lang="en-US"/>
          </a:p>
        </p:txBody>
      </p:sp>
      <p:sp>
        <p:nvSpPr>
          <p:cNvPr id="41" name="Shape 39"/>
          <p:cNvSpPr/>
          <p:nvPr/>
        </p:nvSpPr>
        <p:spPr>
          <a:xfrm>
            <a:off x="6309360" y="3383280"/>
            <a:ext cx="384048" cy="384048"/>
          </a:xfrm>
          <a:prstGeom prst="ellipse">
            <a:avLst/>
          </a:prstGeom>
          <a:solidFill>
            <a:srgbClr val="7B1010"/>
          </a:solidFill>
          <a:ln w="12700">
            <a:solidFill>
              <a:srgbClr val="7B1010">
                <a:alpha val="0"/>
              </a:srgbClr>
            </a:solidFill>
            <a:prstDash val="solid"/>
          </a:ln>
        </p:spPr>
        <p:txBody>
          <a:bodyPr/>
          <a:lstStyle/>
          <a:p>
            <a:endParaRPr lang="en-US"/>
          </a:p>
        </p:txBody>
      </p:sp>
      <p:sp>
        <p:nvSpPr>
          <p:cNvPr id="42" name="Text 40"/>
          <p:cNvSpPr/>
          <p:nvPr/>
        </p:nvSpPr>
        <p:spPr>
          <a:xfrm>
            <a:off x="6309360" y="338328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43" name="Text 41"/>
          <p:cNvSpPr/>
          <p:nvPr/>
        </p:nvSpPr>
        <p:spPr>
          <a:xfrm>
            <a:off x="6784848" y="3218688"/>
            <a:ext cx="5175504" cy="237744"/>
          </a:xfrm>
          <a:prstGeom prst="rect">
            <a:avLst/>
          </a:prstGeom>
          <a:noFill/>
          <a:ln/>
        </p:spPr>
        <p:txBody>
          <a:bodyPr wrap="square" lIns="0" tIns="0" rIns="0" bIns="0" rtlCol="0" anchor="ctr"/>
          <a:lstStyle/>
          <a:p>
            <a:pPr marL="0" indent="0" algn="l">
              <a:buNone/>
            </a:pPr>
            <a:r>
              <a:rPr lang="en-US" sz="1000" b="1" dirty="0">
                <a:solidFill>
                  <a:srgbClr val="7B1010"/>
                </a:solidFill>
                <a:latin typeface="Georgia" pitchFamily="34" charset="0"/>
                <a:ea typeface="Georgia" pitchFamily="34" charset="-122"/>
                <a:cs typeface="Georgia" pitchFamily="34" charset="-120"/>
              </a:rPr>
              <a:t>Convert ActionSupport class</a:t>
            </a:r>
            <a:endParaRPr lang="en-US" sz="1000" dirty="0"/>
          </a:p>
        </p:txBody>
      </p:sp>
      <p:sp>
        <p:nvSpPr>
          <p:cNvPr id="44" name="Text 42"/>
          <p:cNvSpPr/>
          <p:nvPr/>
        </p:nvSpPr>
        <p:spPr>
          <a:xfrm>
            <a:off x="6784848" y="3474720"/>
            <a:ext cx="5175504" cy="548640"/>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Every class extending ActionSupport becomes a @Controller. The ModelDriven interface (where the action class and model were merged into one object) is split into a proper @Controller and a separate @ModelAttribute data class — as Spring MVC requires.</a:t>
            </a:r>
            <a:endParaRPr lang="en-US" sz="900" dirty="0"/>
          </a:p>
        </p:txBody>
      </p:sp>
      <p:sp>
        <p:nvSpPr>
          <p:cNvPr id="45" name="Shape 43"/>
          <p:cNvSpPr/>
          <p:nvPr/>
        </p:nvSpPr>
        <p:spPr>
          <a:xfrm>
            <a:off x="6217920" y="4169664"/>
            <a:ext cx="5833872" cy="914400"/>
          </a:xfrm>
          <a:prstGeom prst="rect">
            <a:avLst/>
          </a:prstGeom>
          <a:solidFill>
            <a:srgbClr val="FCEBEB"/>
          </a:solidFill>
          <a:ln w="6350">
            <a:solidFill>
              <a:srgbClr val="7B1010"/>
            </a:solidFill>
            <a:prstDash val="solid"/>
          </a:ln>
          <a:effectLst>
            <a:outerShdw blurRad="101600" dist="1016" dir="8100000" algn="bl" rotWithShape="0">
              <a:srgbClr val="000000">
                <a:alpha val="9000"/>
              </a:srgbClr>
            </a:outerShdw>
          </a:effectLst>
        </p:spPr>
        <p:txBody>
          <a:bodyPr/>
          <a:lstStyle/>
          <a:p>
            <a:endParaRPr lang="en-US"/>
          </a:p>
        </p:txBody>
      </p:sp>
      <p:sp>
        <p:nvSpPr>
          <p:cNvPr id="46" name="Shape 44"/>
          <p:cNvSpPr/>
          <p:nvPr/>
        </p:nvSpPr>
        <p:spPr>
          <a:xfrm>
            <a:off x="6309360" y="4389120"/>
            <a:ext cx="384048" cy="384048"/>
          </a:xfrm>
          <a:prstGeom prst="ellipse">
            <a:avLst/>
          </a:prstGeom>
          <a:solidFill>
            <a:srgbClr val="7B1010"/>
          </a:solidFill>
          <a:ln w="12700">
            <a:solidFill>
              <a:srgbClr val="7B1010">
                <a:alpha val="0"/>
              </a:srgbClr>
            </a:solidFill>
            <a:prstDash val="solid"/>
          </a:ln>
        </p:spPr>
        <p:txBody>
          <a:bodyPr/>
          <a:lstStyle/>
          <a:p>
            <a:endParaRPr lang="en-US"/>
          </a:p>
        </p:txBody>
      </p:sp>
      <p:sp>
        <p:nvSpPr>
          <p:cNvPr id="47" name="Text 45"/>
          <p:cNvSpPr/>
          <p:nvPr/>
        </p:nvSpPr>
        <p:spPr>
          <a:xfrm>
            <a:off x="6309360" y="438912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48" name="Text 46"/>
          <p:cNvSpPr/>
          <p:nvPr/>
        </p:nvSpPr>
        <p:spPr>
          <a:xfrm>
            <a:off x="6784848" y="4224528"/>
            <a:ext cx="5175504" cy="237744"/>
          </a:xfrm>
          <a:prstGeom prst="rect">
            <a:avLst/>
          </a:prstGeom>
          <a:noFill/>
          <a:ln/>
        </p:spPr>
        <p:txBody>
          <a:bodyPr wrap="square" lIns="0" tIns="0" rIns="0" bIns="0" rtlCol="0" anchor="ctr"/>
          <a:lstStyle/>
          <a:p>
            <a:pPr marL="0" indent="0" algn="l">
              <a:buNone/>
            </a:pPr>
            <a:r>
              <a:rPr lang="en-US" sz="1000" b="1" dirty="0">
                <a:solidFill>
                  <a:srgbClr val="7B1010"/>
                </a:solidFill>
                <a:latin typeface="Georgia" pitchFamily="34" charset="0"/>
                <a:ea typeface="Georgia" pitchFamily="34" charset="-122"/>
                <a:cs typeface="Georgia" pitchFamily="34" charset="-120"/>
              </a:rPr>
              <a:t>Eliminate OGNL from JSP views</a:t>
            </a:r>
            <a:endParaRPr lang="en-US" sz="1000" dirty="0"/>
          </a:p>
        </p:txBody>
      </p:sp>
      <p:sp>
        <p:nvSpPr>
          <p:cNvPr id="49" name="Text 47"/>
          <p:cNvSpPr/>
          <p:nvPr/>
        </p:nvSpPr>
        <p:spPr>
          <a:xfrm>
            <a:off x="6784848" y="4480560"/>
            <a:ext cx="5175504" cy="548640"/>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Replaces OGNL expressions (%{fieldName}) with standard EL expressions (${fieldName}). Detects and flags the three OGNL patterns that have no EL equivalent (static method calls, projections, selections) — these are routed to human review.</a:t>
            </a:r>
            <a:endParaRPr lang="en-US" sz="900" dirty="0"/>
          </a:p>
        </p:txBody>
      </p:sp>
      <p:sp>
        <p:nvSpPr>
          <p:cNvPr id="50" name="Shape 48"/>
          <p:cNvSpPr/>
          <p:nvPr/>
        </p:nvSpPr>
        <p:spPr>
          <a:xfrm>
            <a:off x="6217920" y="5175504"/>
            <a:ext cx="5833872" cy="914400"/>
          </a:xfrm>
          <a:prstGeom prst="rect">
            <a:avLst/>
          </a:prstGeom>
          <a:solidFill>
            <a:srgbClr val="FCEBEB"/>
          </a:solidFill>
          <a:ln w="6350">
            <a:solidFill>
              <a:srgbClr val="7B1010"/>
            </a:solidFill>
            <a:prstDash val="solid"/>
          </a:ln>
          <a:effectLst>
            <a:outerShdw blurRad="101600" dist="1016" dir="8100000" algn="bl" rotWithShape="0">
              <a:srgbClr val="000000">
                <a:alpha val="9000"/>
              </a:srgbClr>
            </a:outerShdw>
          </a:effectLst>
        </p:spPr>
        <p:txBody>
          <a:bodyPr/>
          <a:lstStyle/>
          <a:p>
            <a:endParaRPr lang="en-US"/>
          </a:p>
        </p:txBody>
      </p:sp>
      <p:sp>
        <p:nvSpPr>
          <p:cNvPr id="51" name="Shape 49"/>
          <p:cNvSpPr/>
          <p:nvPr/>
        </p:nvSpPr>
        <p:spPr>
          <a:xfrm>
            <a:off x="6309360" y="5394960"/>
            <a:ext cx="384048" cy="384048"/>
          </a:xfrm>
          <a:prstGeom prst="ellipse">
            <a:avLst/>
          </a:prstGeom>
          <a:solidFill>
            <a:srgbClr val="7B1010"/>
          </a:solidFill>
          <a:ln w="12700">
            <a:solidFill>
              <a:srgbClr val="7B1010">
                <a:alpha val="0"/>
              </a:srgbClr>
            </a:solidFill>
            <a:prstDash val="solid"/>
          </a:ln>
        </p:spPr>
        <p:txBody>
          <a:bodyPr/>
          <a:lstStyle/>
          <a:p>
            <a:endParaRPr lang="en-US"/>
          </a:p>
        </p:txBody>
      </p:sp>
      <p:sp>
        <p:nvSpPr>
          <p:cNvPr id="52" name="Text 50"/>
          <p:cNvSpPr/>
          <p:nvPr/>
        </p:nvSpPr>
        <p:spPr>
          <a:xfrm>
            <a:off x="6309360" y="539496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53" name="Text 51"/>
          <p:cNvSpPr/>
          <p:nvPr/>
        </p:nvSpPr>
        <p:spPr>
          <a:xfrm>
            <a:off x="6784848" y="5230368"/>
            <a:ext cx="5175504" cy="237744"/>
          </a:xfrm>
          <a:prstGeom prst="rect">
            <a:avLst/>
          </a:prstGeom>
          <a:noFill/>
          <a:ln/>
        </p:spPr>
        <p:txBody>
          <a:bodyPr wrap="square" lIns="0" tIns="0" rIns="0" bIns="0" rtlCol="0" anchor="ctr"/>
          <a:lstStyle/>
          <a:p>
            <a:pPr marL="0" indent="0" algn="l">
              <a:buNone/>
            </a:pPr>
            <a:r>
              <a:rPr lang="en-US" sz="1000" b="1" dirty="0">
                <a:solidFill>
                  <a:srgbClr val="7B1010"/>
                </a:solidFill>
                <a:latin typeface="Georgia" pitchFamily="34" charset="0"/>
                <a:ea typeface="Georgia" pitchFamily="34" charset="-122"/>
                <a:cs typeface="Georgia" pitchFamily="34" charset="-120"/>
              </a:rPr>
              <a:t>Convert Struts 2 interceptors</a:t>
            </a:r>
            <a:endParaRPr lang="en-US" sz="1000" dirty="0"/>
          </a:p>
        </p:txBody>
      </p:sp>
      <p:sp>
        <p:nvSpPr>
          <p:cNvPr id="54" name="Text 52"/>
          <p:cNvSpPr/>
          <p:nvPr/>
        </p:nvSpPr>
        <p:spPr>
          <a:xfrm>
            <a:off x="6784848" y="5486400"/>
            <a:ext cx="5175504" cy="548640"/>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Maps Struts 2 interceptor references to Spring HandlerInterceptor implementations. Custom interceptors that access the Struts ActionInvocation object directly are flagged for human migration — they cannot be automatically converted.</a:t>
            </a:r>
            <a:endParaRPr lang="en-US" sz="900" dirty="0"/>
          </a:p>
        </p:txBody>
      </p:sp>
      <p:sp>
        <p:nvSpPr>
          <p:cNvPr id="55" name="Shape 53"/>
          <p:cNvSpPr/>
          <p:nvPr/>
        </p:nvSpPr>
        <p:spPr>
          <a:xfrm>
            <a:off x="219456" y="6199632"/>
            <a:ext cx="11704320" cy="512064"/>
          </a:xfrm>
          <a:prstGeom prst="rect">
            <a:avLst/>
          </a:prstGeom>
          <a:solidFill>
            <a:srgbClr val="E05252"/>
          </a:solidFill>
          <a:ln w="6350">
            <a:solidFill>
              <a:srgbClr val="E05252"/>
            </a:solidFill>
            <a:prstDash val="solid"/>
          </a:ln>
          <a:effectLst>
            <a:outerShdw blurRad="101600" dist="1016" dir="8100000" algn="bl" rotWithShape="0">
              <a:srgbClr val="000000">
                <a:alpha val="9000"/>
              </a:srgbClr>
            </a:outerShdw>
          </a:effectLst>
        </p:spPr>
        <p:txBody>
          <a:bodyPr/>
          <a:lstStyle/>
          <a:p>
            <a:endParaRPr lang="en-US"/>
          </a:p>
        </p:txBody>
      </p:sp>
      <p:sp>
        <p:nvSpPr>
          <p:cNvPr id="56" name="Text 54"/>
          <p:cNvSpPr/>
          <p:nvPr/>
        </p:nvSpPr>
        <p:spPr>
          <a:xfrm>
            <a:off x="347472" y="6199632"/>
            <a:ext cx="11521440" cy="512064"/>
          </a:xfrm>
          <a:prstGeom prst="rect">
            <a:avLst/>
          </a:prstGeom>
          <a:noFill/>
          <a:ln/>
        </p:spPr>
        <p:txBody>
          <a:bodyPr wrap="square" lIns="0" tIns="0" rIns="0" bIns="0" rtlCol="0" anchor="ctr"/>
          <a:lstStyle/>
          <a:p>
            <a:pPr marL="0" indent="0" algn="l">
              <a:buNone/>
            </a:pPr>
            <a:r>
              <a:rPr lang="en-US" sz="1050" dirty="0">
                <a:solidFill>
                  <a:srgbClr val="FFFFFF"/>
                </a:solidFill>
                <a:latin typeface="Georgia" pitchFamily="34" charset="0"/>
                <a:ea typeface="Georgia" pitchFamily="34" charset="-122"/>
                <a:cs typeface="Georgia" pitchFamily="34" charset="-120"/>
              </a:rPr>
              <a:t>Business impact: These two agents are the reason for the entire FORGE project. Every minute of design, every other agent, every quality gate exists to make this elimination safe, complete, and verifiable.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4F9"/>
        </a:solidFill>
        <a:effectLst/>
      </p:bgPr>
    </p:bg>
    <p:spTree>
      <p:nvGrpSpPr>
        <p:cNvPr id="1" name=""/>
        <p:cNvGrpSpPr/>
        <p:nvPr/>
      </p:nvGrpSpPr>
      <p:grpSpPr>
        <a:xfrm>
          <a:off x="0" y="0"/>
          <a:ext cx="0" cy="0"/>
          <a:chOff x="0" y="0"/>
          <a:chExt cx="0" cy="0"/>
        </a:xfrm>
      </p:grpSpPr>
      <p:sp>
        <p:nvSpPr>
          <p:cNvPr id="2" name="Shape 0"/>
          <p:cNvSpPr/>
          <p:nvPr/>
        </p:nvSpPr>
        <p:spPr>
          <a:xfrm>
            <a:off x="0" y="0"/>
            <a:ext cx="12161520" cy="1225296"/>
          </a:xfrm>
          <a:prstGeom prst="rect">
            <a:avLst/>
          </a:prstGeom>
          <a:solidFill>
            <a:srgbClr val="0A1628"/>
          </a:solidFill>
          <a:ln w="12700">
            <a:solidFill>
              <a:srgbClr val="0A1628">
                <a:alpha val="0"/>
              </a:srgbClr>
            </a:solidFill>
            <a:prstDash val="solid"/>
          </a:ln>
        </p:spPr>
        <p:txBody>
          <a:bodyPr/>
          <a:lstStyle/>
          <a:p>
            <a:endParaRPr lang="en-US"/>
          </a:p>
        </p:txBody>
      </p:sp>
      <p:sp>
        <p:nvSpPr>
          <p:cNvPr id="3" name="Shape 1"/>
          <p:cNvSpPr/>
          <p:nvPr/>
        </p:nvSpPr>
        <p:spPr>
          <a:xfrm>
            <a:off x="0" y="1225296"/>
            <a:ext cx="12161520" cy="50292"/>
          </a:xfrm>
          <a:prstGeom prst="rect">
            <a:avLst/>
          </a:prstGeom>
          <a:solidFill>
            <a:srgbClr val="F5A623"/>
          </a:solidFill>
          <a:ln w="12700">
            <a:solidFill>
              <a:srgbClr val="F5A623">
                <a:alpha val="0"/>
              </a:srgbClr>
            </a:solidFill>
            <a:prstDash val="solid"/>
          </a:ln>
        </p:spPr>
        <p:txBody>
          <a:bodyPr/>
          <a:lstStyle/>
          <a:p>
            <a:endParaRPr lang="en-US"/>
          </a:p>
        </p:txBody>
      </p:sp>
      <p:sp>
        <p:nvSpPr>
          <p:cNvPr id="4" name="Text 2"/>
          <p:cNvSpPr/>
          <p:nvPr/>
        </p:nvSpPr>
        <p:spPr>
          <a:xfrm>
            <a:off x="411480" y="109728"/>
            <a:ext cx="11247120" cy="256032"/>
          </a:xfrm>
          <a:prstGeom prst="rect">
            <a:avLst/>
          </a:prstGeom>
          <a:noFill/>
          <a:ln/>
        </p:spPr>
        <p:txBody>
          <a:bodyPr wrap="square" lIns="0" tIns="0" rIns="0" bIns="0" rtlCol="0" anchor="ctr"/>
          <a:lstStyle/>
          <a:p>
            <a:pPr marL="0" indent="0" algn="l">
              <a:buNone/>
            </a:pPr>
            <a:r>
              <a:rPr lang="en-US" sz="1000" kern="0" spc="200" dirty="0">
                <a:solidFill>
                  <a:srgbClr val="7A95B4"/>
                </a:solidFill>
                <a:latin typeface="Calibri" pitchFamily="34" charset="0"/>
                <a:ea typeface="Calibri" pitchFamily="34" charset="-122"/>
                <a:cs typeface="Calibri" pitchFamily="34" charset="-120"/>
              </a:rPr>
              <a:t>08  ·  Containerize + Test Gen Agents</a:t>
            </a:r>
            <a:endParaRPr lang="en-US" sz="1000" dirty="0"/>
          </a:p>
        </p:txBody>
      </p:sp>
      <p:sp>
        <p:nvSpPr>
          <p:cNvPr id="5" name="Text 3"/>
          <p:cNvSpPr/>
          <p:nvPr/>
        </p:nvSpPr>
        <p:spPr>
          <a:xfrm>
            <a:off x="411480" y="347472"/>
            <a:ext cx="11247120" cy="749808"/>
          </a:xfrm>
          <a:prstGeom prst="rect">
            <a:avLst/>
          </a:prstGeom>
          <a:noFill/>
          <a:ln/>
        </p:spPr>
        <p:txBody>
          <a:bodyPr wrap="square" lIns="0" tIns="0" rIns="0" bIns="0" rtlCol="0" anchor="ctr"/>
          <a:lstStyle/>
          <a:p>
            <a:pPr marL="0" indent="0" algn="l">
              <a:buNone/>
            </a:pPr>
            <a:r>
              <a:rPr lang="en-US" sz="2600" b="1" dirty="0">
                <a:solidFill>
                  <a:srgbClr val="FFFFFF"/>
                </a:solidFill>
                <a:latin typeface="Georgia" pitchFamily="34" charset="0"/>
                <a:ea typeface="Georgia" pitchFamily="34" charset="-122"/>
                <a:cs typeface="Georgia" pitchFamily="34" charset="-120"/>
              </a:rPr>
              <a:t>Packaging the migrated apps for cloud deployment and building the automated test safety net.</a:t>
            </a:r>
            <a:endParaRPr lang="en-US" sz="2600" dirty="0"/>
          </a:p>
        </p:txBody>
      </p:sp>
      <p:sp>
        <p:nvSpPr>
          <p:cNvPr id="6" name="Shape 4"/>
          <p:cNvSpPr/>
          <p:nvPr/>
        </p:nvSpPr>
        <p:spPr>
          <a:xfrm>
            <a:off x="365760" y="1389888"/>
            <a:ext cx="5669280" cy="475488"/>
          </a:xfrm>
          <a:prstGeom prst="rect">
            <a:avLst/>
          </a:prstGeom>
          <a:solidFill>
            <a:srgbClr val="0A1628"/>
          </a:solidFill>
          <a:ln w="1270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7" name="Text 5"/>
          <p:cNvSpPr/>
          <p:nvPr/>
        </p:nvSpPr>
        <p:spPr>
          <a:xfrm>
            <a:off x="457200" y="1389888"/>
            <a:ext cx="2834640" cy="475488"/>
          </a:xfrm>
          <a:prstGeom prst="rect">
            <a:avLst/>
          </a:prstGeom>
          <a:noFill/>
          <a:ln/>
        </p:spPr>
        <p:txBody>
          <a:bodyPr wrap="square" lIns="0" tIns="0" rIns="0" bIns="0" rtlCol="0" anchor="ctr"/>
          <a:lstStyle/>
          <a:p>
            <a:pPr marL="0" indent="0" algn="l">
              <a:buNone/>
            </a:pPr>
            <a:r>
              <a:rPr lang="en-US" sz="1400" b="1" dirty="0">
                <a:solidFill>
                  <a:srgbClr val="FFFFFF"/>
                </a:solidFill>
                <a:latin typeface="Georgia" pitchFamily="34" charset="0"/>
                <a:ea typeface="Georgia" pitchFamily="34" charset="-122"/>
                <a:cs typeface="Georgia" pitchFamily="34" charset="-120"/>
              </a:rPr>
              <a:t>Containerize Agent</a:t>
            </a:r>
            <a:endParaRPr lang="en-US" sz="1400" dirty="0"/>
          </a:p>
        </p:txBody>
      </p:sp>
      <p:sp>
        <p:nvSpPr>
          <p:cNvPr id="8" name="Text 6"/>
          <p:cNvSpPr/>
          <p:nvPr/>
        </p:nvSpPr>
        <p:spPr>
          <a:xfrm>
            <a:off x="3200400" y="1389888"/>
            <a:ext cx="2743200" cy="475488"/>
          </a:xfrm>
          <a:prstGeom prst="rect">
            <a:avLst/>
          </a:prstGeom>
          <a:noFill/>
          <a:ln/>
        </p:spPr>
        <p:txBody>
          <a:bodyPr wrap="square" lIns="0" tIns="0" rIns="0" bIns="0" rtlCol="0" anchor="ctr"/>
          <a:lstStyle/>
          <a:p>
            <a:pPr marL="0" indent="0" algn="r">
              <a:buNone/>
            </a:pPr>
            <a:r>
              <a:rPr lang="en-US" sz="1100" i="1" dirty="0">
                <a:solidFill>
                  <a:srgbClr val="FDD17A"/>
                </a:solidFill>
                <a:latin typeface="Georgia" pitchFamily="34" charset="0"/>
                <a:ea typeface="Georgia" pitchFamily="34" charset="-122"/>
                <a:cs typeface="Georgia" pitchFamily="34" charset="-120"/>
              </a:rPr>
              <a:t>"The Packaging Specialist"</a:t>
            </a:r>
            <a:endParaRPr lang="en-US" sz="1100" dirty="0"/>
          </a:p>
        </p:txBody>
      </p:sp>
      <p:sp>
        <p:nvSpPr>
          <p:cNvPr id="9" name="Shape 7"/>
          <p:cNvSpPr/>
          <p:nvPr/>
        </p:nvSpPr>
        <p:spPr>
          <a:xfrm>
            <a:off x="365760" y="1920240"/>
            <a:ext cx="5669280" cy="457200"/>
          </a:xfrm>
          <a:prstGeom prst="rect">
            <a:avLst/>
          </a:prstGeom>
          <a:solidFill>
            <a:srgbClr val="0F2040"/>
          </a:solidFill>
          <a:ln w="635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10" name="Text 8"/>
          <p:cNvSpPr/>
          <p:nvPr/>
        </p:nvSpPr>
        <p:spPr>
          <a:xfrm>
            <a:off x="457200" y="1920240"/>
            <a:ext cx="5486400" cy="457200"/>
          </a:xfrm>
          <a:prstGeom prst="rect">
            <a:avLst/>
          </a:prstGeom>
          <a:noFill/>
          <a:ln/>
        </p:spPr>
        <p:txBody>
          <a:bodyPr wrap="square" lIns="0" tIns="0" rIns="0" bIns="0" rtlCol="0" anchor="ctr"/>
          <a:lstStyle/>
          <a:p>
            <a:pPr marL="0" indent="0" algn="l">
              <a:buNone/>
            </a:pPr>
            <a:r>
              <a:rPr lang="en-US" sz="950" i="1" dirty="0">
                <a:solidFill>
                  <a:srgbClr val="E8EDF4"/>
                </a:solidFill>
                <a:latin typeface="Georgia" pitchFamily="34" charset="0"/>
                <a:ea typeface="Georgia" pitchFamily="34" charset="-122"/>
                <a:cs typeface="Georgia" pitchFamily="34" charset="-120"/>
              </a:rPr>
              <a:t>After the builders finish construction, a packaging team prepares the building for delivery — wrapping it correctly so it arrives ready to use in its destination environment.</a:t>
            </a:r>
            <a:endParaRPr lang="en-US" sz="950" dirty="0"/>
          </a:p>
        </p:txBody>
      </p:sp>
      <p:sp>
        <p:nvSpPr>
          <p:cNvPr id="11" name="Shape 9"/>
          <p:cNvSpPr/>
          <p:nvPr/>
        </p:nvSpPr>
        <p:spPr>
          <a:xfrm>
            <a:off x="365760" y="2450592"/>
            <a:ext cx="5669280" cy="969264"/>
          </a:xfrm>
          <a:prstGeom prst="rect">
            <a:avLst/>
          </a:prstGeom>
          <a:solidFill>
            <a:srgbClr val="E6F1FB"/>
          </a:solidFill>
          <a:ln w="635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12" name="Shape 10"/>
          <p:cNvSpPr/>
          <p:nvPr/>
        </p:nvSpPr>
        <p:spPr>
          <a:xfrm>
            <a:off x="457200" y="2688336"/>
            <a:ext cx="384048" cy="384048"/>
          </a:xfrm>
          <a:prstGeom prst="ellipse">
            <a:avLst/>
          </a:prstGeom>
          <a:solidFill>
            <a:srgbClr val="3B82C4"/>
          </a:solidFill>
          <a:ln w="12700">
            <a:solidFill>
              <a:srgbClr val="3B82C4">
                <a:alpha val="0"/>
              </a:srgbClr>
            </a:solidFill>
            <a:prstDash val="solid"/>
          </a:ln>
        </p:spPr>
        <p:txBody>
          <a:bodyPr/>
          <a:lstStyle/>
          <a:p>
            <a:endParaRPr lang="en-US"/>
          </a:p>
        </p:txBody>
      </p:sp>
      <p:sp>
        <p:nvSpPr>
          <p:cNvPr id="13" name="Text 11"/>
          <p:cNvSpPr/>
          <p:nvPr/>
        </p:nvSpPr>
        <p:spPr>
          <a:xfrm>
            <a:off x="457200" y="2688336"/>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4" name="Text 12"/>
          <p:cNvSpPr/>
          <p:nvPr/>
        </p:nvSpPr>
        <p:spPr>
          <a:xfrm>
            <a:off x="932688" y="2505456"/>
            <a:ext cx="5010912" cy="256032"/>
          </a:xfrm>
          <a:prstGeom prst="rect">
            <a:avLst/>
          </a:prstGeom>
          <a:noFill/>
          <a:ln/>
        </p:spPr>
        <p:txBody>
          <a:bodyPr wrap="square" lIns="0" tIns="0" rIns="0" bIns="0" rtlCol="0" anchor="ctr"/>
          <a:lstStyle/>
          <a:p>
            <a:pPr marL="0" indent="0" algn="l">
              <a:buNone/>
            </a:pPr>
            <a:r>
              <a:rPr lang="en-US" sz="1000" b="1" dirty="0">
                <a:solidFill>
                  <a:srgbClr val="3B82C4"/>
                </a:solidFill>
                <a:latin typeface="Georgia" pitchFamily="34" charset="0"/>
                <a:ea typeface="Georgia" pitchFamily="34" charset="-122"/>
                <a:cs typeface="Georgia" pitchFamily="34" charset="-120"/>
              </a:rPr>
              <a:t>Read the dependency manifest</a:t>
            </a:r>
            <a:endParaRPr lang="en-US" sz="1000" dirty="0"/>
          </a:p>
        </p:txBody>
      </p:sp>
      <p:sp>
        <p:nvSpPr>
          <p:cNvPr id="15" name="Text 13"/>
          <p:cNvSpPr/>
          <p:nvPr/>
        </p:nvSpPr>
        <p:spPr>
          <a:xfrm>
            <a:off x="932688" y="2779776"/>
            <a:ext cx="5010912" cy="585216"/>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Reads pom.xml to build an exact picture of what libraries and frameworks the migrated application uses — Spring version, data access libraries, messaging, security. This drives every subsequent decision.</a:t>
            </a:r>
            <a:endParaRPr lang="en-US" sz="900" dirty="0"/>
          </a:p>
        </p:txBody>
      </p:sp>
      <p:sp>
        <p:nvSpPr>
          <p:cNvPr id="16" name="Shape 14"/>
          <p:cNvSpPr/>
          <p:nvPr/>
        </p:nvSpPr>
        <p:spPr>
          <a:xfrm>
            <a:off x="365760" y="3511296"/>
            <a:ext cx="5669280" cy="969264"/>
          </a:xfrm>
          <a:prstGeom prst="rect">
            <a:avLst/>
          </a:prstGeom>
          <a:solidFill>
            <a:srgbClr val="E6F1FB"/>
          </a:solidFill>
          <a:ln w="635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17" name="Shape 15"/>
          <p:cNvSpPr/>
          <p:nvPr/>
        </p:nvSpPr>
        <p:spPr>
          <a:xfrm>
            <a:off x="457200" y="3749040"/>
            <a:ext cx="384048" cy="384048"/>
          </a:xfrm>
          <a:prstGeom prst="ellipse">
            <a:avLst/>
          </a:prstGeom>
          <a:solidFill>
            <a:srgbClr val="3B82C4"/>
          </a:solidFill>
          <a:ln w="12700">
            <a:solidFill>
              <a:srgbClr val="3B82C4">
                <a:alpha val="0"/>
              </a:srgbClr>
            </a:solidFill>
            <a:prstDash val="solid"/>
          </a:ln>
        </p:spPr>
        <p:txBody>
          <a:bodyPr/>
          <a:lstStyle/>
          <a:p>
            <a:endParaRPr lang="en-US"/>
          </a:p>
        </p:txBody>
      </p:sp>
      <p:sp>
        <p:nvSpPr>
          <p:cNvPr id="18" name="Text 16"/>
          <p:cNvSpPr/>
          <p:nvPr/>
        </p:nvSpPr>
        <p:spPr>
          <a:xfrm>
            <a:off x="457200" y="374904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9" name="Text 17"/>
          <p:cNvSpPr/>
          <p:nvPr/>
        </p:nvSpPr>
        <p:spPr>
          <a:xfrm>
            <a:off x="932688" y="3566160"/>
            <a:ext cx="5010912" cy="256032"/>
          </a:xfrm>
          <a:prstGeom prst="rect">
            <a:avLst/>
          </a:prstGeom>
          <a:noFill/>
          <a:ln/>
        </p:spPr>
        <p:txBody>
          <a:bodyPr wrap="square" lIns="0" tIns="0" rIns="0" bIns="0" rtlCol="0" anchor="ctr"/>
          <a:lstStyle/>
          <a:p>
            <a:pPr marL="0" indent="0" algn="l">
              <a:buNone/>
            </a:pPr>
            <a:r>
              <a:rPr lang="en-US" sz="1000" b="1" dirty="0">
                <a:solidFill>
                  <a:srgbClr val="3B82C4"/>
                </a:solidFill>
                <a:latin typeface="Georgia" pitchFamily="34" charset="0"/>
                <a:ea typeface="Georgia" pitchFamily="34" charset="-122"/>
                <a:cs typeface="Georgia" pitchFamily="34" charset="-120"/>
              </a:rPr>
              <a:t>Generate the Dockerfile</a:t>
            </a:r>
            <a:endParaRPr lang="en-US" sz="1000" dirty="0"/>
          </a:p>
        </p:txBody>
      </p:sp>
      <p:sp>
        <p:nvSpPr>
          <p:cNvPr id="20" name="Text 18"/>
          <p:cNvSpPr/>
          <p:nvPr/>
        </p:nvSpPr>
        <p:spPr>
          <a:xfrm>
            <a:off x="932688" y="3840480"/>
            <a:ext cx="5010912" cy="585216"/>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Creates a Dockerfile using the correct Open Liberty base image. Copies the compiled application into the container. Sets the correct environment variables, port exposures, and JVM settings for running on AWS.</a:t>
            </a:r>
            <a:endParaRPr lang="en-US" sz="900" dirty="0"/>
          </a:p>
        </p:txBody>
      </p:sp>
      <p:sp>
        <p:nvSpPr>
          <p:cNvPr id="21" name="Shape 19"/>
          <p:cNvSpPr/>
          <p:nvPr/>
        </p:nvSpPr>
        <p:spPr>
          <a:xfrm>
            <a:off x="365760" y="4572000"/>
            <a:ext cx="5669280" cy="969264"/>
          </a:xfrm>
          <a:prstGeom prst="rect">
            <a:avLst/>
          </a:prstGeom>
          <a:solidFill>
            <a:srgbClr val="E6F1FB"/>
          </a:solidFill>
          <a:ln w="635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22" name="Shape 20"/>
          <p:cNvSpPr/>
          <p:nvPr/>
        </p:nvSpPr>
        <p:spPr>
          <a:xfrm>
            <a:off x="457200" y="4809744"/>
            <a:ext cx="384048" cy="384048"/>
          </a:xfrm>
          <a:prstGeom prst="ellipse">
            <a:avLst/>
          </a:prstGeom>
          <a:solidFill>
            <a:srgbClr val="3B82C4"/>
          </a:solidFill>
          <a:ln w="12700">
            <a:solidFill>
              <a:srgbClr val="3B82C4">
                <a:alpha val="0"/>
              </a:srgbClr>
            </a:solidFill>
            <a:prstDash val="solid"/>
          </a:ln>
        </p:spPr>
        <p:txBody>
          <a:bodyPr/>
          <a:lstStyle/>
          <a:p>
            <a:endParaRPr lang="en-US"/>
          </a:p>
        </p:txBody>
      </p:sp>
      <p:sp>
        <p:nvSpPr>
          <p:cNvPr id="23" name="Text 21"/>
          <p:cNvSpPr/>
          <p:nvPr/>
        </p:nvSpPr>
        <p:spPr>
          <a:xfrm>
            <a:off x="457200" y="4809744"/>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4" name="Text 22"/>
          <p:cNvSpPr/>
          <p:nvPr/>
        </p:nvSpPr>
        <p:spPr>
          <a:xfrm>
            <a:off x="932688" y="4626864"/>
            <a:ext cx="5010912" cy="256032"/>
          </a:xfrm>
          <a:prstGeom prst="rect">
            <a:avLst/>
          </a:prstGeom>
          <a:noFill/>
          <a:ln/>
        </p:spPr>
        <p:txBody>
          <a:bodyPr wrap="square" lIns="0" tIns="0" rIns="0" bIns="0" rtlCol="0" anchor="ctr"/>
          <a:lstStyle/>
          <a:p>
            <a:pPr marL="0" indent="0" algn="l">
              <a:buNone/>
            </a:pPr>
            <a:r>
              <a:rPr lang="en-US" sz="1000" b="1" dirty="0">
                <a:solidFill>
                  <a:srgbClr val="3B82C4"/>
                </a:solidFill>
                <a:latin typeface="Georgia" pitchFamily="34" charset="0"/>
                <a:ea typeface="Georgia" pitchFamily="34" charset="-122"/>
                <a:cs typeface="Georgia" pitchFamily="34" charset="-120"/>
              </a:rPr>
              <a:t>Configure Liberty server.xml</a:t>
            </a:r>
            <a:endParaRPr lang="en-US" sz="1000" dirty="0"/>
          </a:p>
        </p:txBody>
      </p:sp>
      <p:sp>
        <p:nvSpPr>
          <p:cNvPr id="25" name="Text 23"/>
          <p:cNvSpPr/>
          <p:nvPr/>
        </p:nvSpPr>
        <p:spPr>
          <a:xfrm>
            <a:off x="932688" y="4901184"/>
            <a:ext cx="5010912" cy="585216"/>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Generates the Liberty application server configuration — exactly the right feature set for this app's dependencies, no more and no less. DataSource configuration is added if JDBC connections are detected.</a:t>
            </a:r>
            <a:endParaRPr lang="en-US" sz="900" dirty="0"/>
          </a:p>
        </p:txBody>
      </p:sp>
      <p:sp>
        <p:nvSpPr>
          <p:cNvPr id="26" name="Shape 24"/>
          <p:cNvSpPr/>
          <p:nvPr/>
        </p:nvSpPr>
        <p:spPr>
          <a:xfrm>
            <a:off x="365760" y="5632704"/>
            <a:ext cx="5669280" cy="969264"/>
          </a:xfrm>
          <a:prstGeom prst="rect">
            <a:avLst/>
          </a:prstGeom>
          <a:solidFill>
            <a:srgbClr val="E6F1FB"/>
          </a:solidFill>
          <a:ln w="635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27" name="Shape 25"/>
          <p:cNvSpPr/>
          <p:nvPr/>
        </p:nvSpPr>
        <p:spPr>
          <a:xfrm>
            <a:off x="457200" y="5870448"/>
            <a:ext cx="384048" cy="384048"/>
          </a:xfrm>
          <a:prstGeom prst="ellipse">
            <a:avLst/>
          </a:prstGeom>
          <a:solidFill>
            <a:srgbClr val="3B82C4"/>
          </a:solidFill>
          <a:ln w="12700">
            <a:solidFill>
              <a:srgbClr val="3B82C4">
                <a:alpha val="0"/>
              </a:srgbClr>
            </a:solidFill>
            <a:prstDash val="solid"/>
          </a:ln>
        </p:spPr>
        <p:txBody>
          <a:bodyPr/>
          <a:lstStyle/>
          <a:p>
            <a:endParaRPr lang="en-US"/>
          </a:p>
        </p:txBody>
      </p:sp>
      <p:sp>
        <p:nvSpPr>
          <p:cNvPr id="28" name="Text 26"/>
          <p:cNvSpPr/>
          <p:nvPr/>
        </p:nvSpPr>
        <p:spPr>
          <a:xfrm>
            <a:off x="457200" y="587044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29" name="Text 27"/>
          <p:cNvSpPr/>
          <p:nvPr/>
        </p:nvSpPr>
        <p:spPr>
          <a:xfrm>
            <a:off x="932688" y="5687568"/>
            <a:ext cx="5010912" cy="256032"/>
          </a:xfrm>
          <a:prstGeom prst="rect">
            <a:avLst/>
          </a:prstGeom>
          <a:noFill/>
          <a:ln/>
        </p:spPr>
        <p:txBody>
          <a:bodyPr wrap="square" lIns="0" tIns="0" rIns="0" bIns="0" rtlCol="0" anchor="ctr"/>
          <a:lstStyle/>
          <a:p>
            <a:pPr marL="0" indent="0" algn="l">
              <a:buNone/>
            </a:pPr>
            <a:r>
              <a:rPr lang="en-US" sz="1000" b="1" dirty="0">
                <a:solidFill>
                  <a:srgbClr val="3B82C4"/>
                </a:solidFill>
                <a:latin typeface="Georgia" pitchFamily="34" charset="0"/>
                <a:ea typeface="Georgia" pitchFamily="34" charset="-122"/>
                <a:cs typeface="Georgia" pitchFamily="34" charset="-120"/>
              </a:rPr>
              <a:t>Create the ECS task definition</a:t>
            </a:r>
            <a:endParaRPr lang="en-US" sz="1000" dirty="0"/>
          </a:p>
        </p:txBody>
      </p:sp>
      <p:sp>
        <p:nvSpPr>
          <p:cNvPr id="30" name="Text 28"/>
          <p:cNvSpPr/>
          <p:nvPr/>
        </p:nvSpPr>
        <p:spPr>
          <a:xfrm>
            <a:off x="932688" y="5961888"/>
            <a:ext cx="5010912" cy="585216"/>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Produces the AWS ECS task definition JSON — CPU allocation, memory limits, container port mappings, environment variable injection from AWS Secrets Manager, and health check configuration.</a:t>
            </a:r>
            <a:endParaRPr lang="en-US" sz="900" dirty="0"/>
          </a:p>
        </p:txBody>
      </p:sp>
      <p:sp>
        <p:nvSpPr>
          <p:cNvPr id="31" name="Shape 29"/>
          <p:cNvSpPr/>
          <p:nvPr/>
        </p:nvSpPr>
        <p:spPr>
          <a:xfrm>
            <a:off x="4069080" y="6528816"/>
            <a:ext cx="1920240" cy="237744"/>
          </a:xfrm>
          <a:prstGeom prst="rect">
            <a:avLst/>
          </a:prstGeom>
          <a:solidFill>
            <a:srgbClr val="E6F1FB"/>
          </a:solidFill>
          <a:ln w="9525">
            <a:solidFill>
              <a:srgbClr val="3B82C4"/>
            </a:solidFill>
            <a:prstDash val="solid"/>
          </a:ln>
        </p:spPr>
        <p:txBody>
          <a:bodyPr/>
          <a:lstStyle/>
          <a:p>
            <a:endParaRPr lang="en-US"/>
          </a:p>
        </p:txBody>
      </p:sp>
      <p:sp>
        <p:nvSpPr>
          <p:cNvPr id="32" name="Text 30"/>
          <p:cNvSpPr/>
          <p:nvPr/>
        </p:nvSpPr>
        <p:spPr>
          <a:xfrm>
            <a:off x="4069080" y="6528816"/>
            <a:ext cx="1920240" cy="237744"/>
          </a:xfrm>
          <a:prstGeom prst="rect">
            <a:avLst/>
          </a:prstGeom>
          <a:noFill/>
          <a:ln/>
        </p:spPr>
        <p:txBody>
          <a:bodyPr wrap="square" lIns="0" tIns="0" rIns="0" bIns="0" rtlCol="0" anchor="ctr"/>
          <a:lstStyle/>
          <a:p>
            <a:pPr marL="0" indent="0" algn="ctr">
              <a:buNone/>
            </a:pPr>
            <a:r>
              <a:rPr lang="en-US" sz="900" b="1" dirty="0">
                <a:solidFill>
                  <a:srgbClr val="042C53"/>
                </a:solidFill>
                <a:latin typeface="Calibri" pitchFamily="34" charset="0"/>
                <a:ea typeface="Calibri" pitchFamily="34" charset="-122"/>
                <a:cs typeface="Calibri" pitchFamily="34" charset="-120"/>
              </a:rPr>
              <a:t>Claude Sonnet 4.5 + RAG</a:t>
            </a:r>
            <a:endParaRPr lang="en-US" sz="900" dirty="0"/>
          </a:p>
        </p:txBody>
      </p:sp>
      <p:sp>
        <p:nvSpPr>
          <p:cNvPr id="33" name="Shape 31"/>
          <p:cNvSpPr/>
          <p:nvPr/>
        </p:nvSpPr>
        <p:spPr>
          <a:xfrm>
            <a:off x="6309360" y="1389888"/>
            <a:ext cx="5669280" cy="475488"/>
          </a:xfrm>
          <a:prstGeom prst="rect">
            <a:avLst/>
          </a:prstGeom>
          <a:solidFill>
            <a:srgbClr val="0A1628"/>
          </a:solidFill>
          <a:ln w="12700">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34" name="Text 32"/>
          <p:cNvSpPr/>
          <p:nvPr/>
        </p:nvSpPr>
        <p:spPr>
          <a:xfrm>
            <a:off x="6400800" y="1389888"/>
            <a:ext cx="2834640" cy="475488"/>
          </a:xfrm>
          <a:prstGeom prst="rect">
            <a:avLst/>
          </a:prstGeom>
          <a:noFill/>
          <a:ln/>
        </p:spPr>
        <p:txBody>
          <a:bodyPr wrap="square" lIns="0" tIns="0" rIns="0" bIns="0" rtlCol="0" anchor="ctr"/>
          <a:lstStyle/>
          <a:p>
            <a:pPr marL="0" indent="0" algn="l">
              <a:buNone/>
            </a:pPr>
            <a:r>
              <a:rPr lang="en-US" sz="1400" b="1" dirty="0">
                <a:solidFill>
                  <a:srgbClr val="FFFFFF"/>
                </a:solidFill>
                <a:latin typeface="Georgia" pitchFamily="34" charset="0"/>
                <a:ea typeface="Georgia" pitchFamily="34" charset="-122"/>
                <a:cs typeface="Georgia" pitchFamily="34" charset="-120"/>
              </a:rPr>
              <a:t>Test Generation Agent</a:t>
            </a:r>
            <a:endParaRPr lang="en-US" sz="1400" dirty="0"/>
          </a:p>
        </p:txBody>
      </p:sp>
      <p:sp>
        <p:nvSpPr>
          <p:cNvPr id="35" name="Text 33"/>
          <p:cNvSpPr/>
          <p:nvPr/>
        </p:nvSpPr>
        <p:spPr>
          <a:xfrm>
            <a:off x="9144000" y="1389888"/>
            <a:ext cx="2743200" cy="475488"/>
          </a:xfrm>
          <a:prstGeom prst="rect">
            <a:avLst/>
          </a:prstGeom>
          <a:noFill/>
          <a:ln/>
        </p:spPr>
        <p:txBody>
          <a:bodyPr wrap="square" lIns="0" tIns="0" rIns="0" bIns="0" rtlCol="0" anchor="ctr"/>
          <a:lstStyle/>
          <a:p>
            <a:pPr marL="0" indent="0" algn="r">
              <a:buNone/>
            </a:pPr>
            <a:r>
              <a:rPr lang="en-US" sz="1100" i="1" dirty="0">
                <a:solidFill>
                  <a:srgbClr val="FDD17A"/>
                </a:solidFill>
                <a:latin typeface="Georgia" pitchFamily="34" charset="0"/>
                <a:ea typeface="Georgia" pitchFamily="34" charset="-122"/>
                <a:cs typeface="Georgia" pitchFamily="34" charset="-120"/>
              </a:rPr>
              <a:t>"The Test Writer"</a:t>
            </a:r>
            <a:endParaRPr lang="en-US" sz="1100" dirty="0"/>
          </a:p>
        </p:txBody>
      </p:sp>
      <p:sp>
        <p:nvSpPr>
          <p:cNvPr id="36" name="Shape 34"/>
          <p:cNvSpPr/>
          <p:nvPr/>
        </p:nvSpPr>
        <p:spPr>
          <a:xfrm>
            <a:off x="6309360" y="1920240"/>
            <a:ext cx="5669280" cy="457200"/>
          </a:xfrm>
          <a:prstGeom prst="rect">
            <a:avLst/>
          </a:prstGeom>
          <a:solidFill>
            <a:srgbClr val="0F2040"/>
          </a:solidFill>
          <a:ln w="6350">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37" name="Text 35"/>
          <p:cNvSpPr/>
          <p:nvPr/>
        </p:nvSpPr>
        <p:spPr>
          <a:xfrm>
            <a:off x="6400800" y="1920240"/>
            <a:ext cx="5486400" cy="457200"/>
          </a:xfrm>
          <a:prstGeom prst="rect">
            <a:avLst/>
          </a:prstGeom>
          <a:noFill/>
          <a:ln/>
        </p:spPr>
        <p:txBody>
          <a:bodyPr wrap="square" lIns="0" tIns="0" rIns="0" bIns="0" rtlCol="0" anchor="ctr"/>
          <a:lstStyle/>
          <a:p>
            <a:pPr marL="0" indent="0" algn="l">
              <a:buNone/>
            </a:pPr>
            <a:r>
              <a:rPr lang="en-US" sz="950" i="1" dirty="0">
                <a:solidFill>
                  <a:srgbClr val="E8EDF4"/>
                </a:solidFill>
                <a:latin typeface="Georgia" pitchFamily="34" charset="0"/>
                <a:ea typeface="Georgia" pitchFamily="34" charset="-122"/>
                <a:cs typeface="Georgia" pitchFamily="34" charset="-120"/>
              </a:rPr>
              <a:t>Every new Spring MVC controller needs a test suite. A human test writer reads a controller and writes tests. This agent does the same thing — systematically, for every controller generated by the migration.</a:t>
            </a:r>
            <a:endParaRPr lang="en-US" sz="950" dirty="0"/>
          </a:p>
        </p:txBody>
      </p:sp>
      <p:sp>
        <p:nvSpPr>
          <p:cNvPr id="38" name="Shape 36"/>
          <p:cNvSpPr/>
          <p:nvPr/>
        </p:nvSpPr>
        <p:spPr>
          <a:xfrm>
            <a:off x="6309360" y="2450592"/>
            <a:ext cx="5669280" cy="969264"/>
          </a:xfrm>
          <a:prstGeom prst="rect">
            <a:avLst/>
          </a:prstGeom>
          <a:solidFill>
            <a:srgbClr val="E1F5EE"/>
          </a:solidFill>
          <a:ln w="6350">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39" name="Shape 37"/>
          <p:cNvSpPr/>
          <p:nvPr/>
        </p:nvSpPr>
        <p:spPr>
          <a:xfrm>
            <a:off x="6400800" y="2688336"/>
            <a:ext cx="384048" cy="384048"/>
          </a:xfrm>
          <a:prstGeom prst="ellipse">
            <a:avLst/>
          </a:prstGeom>
          <a:solidFill>
            <a:srgbClr val="1D9E75"/>
          </a:solidFill>
          <a:ln w="12700">
            <a:solidFill>
              <a:srgbClr val="1D9E75">
                <a:alpha val="0"/>
              </a:srgbClr>
            </a:solidFill>
            <a:prstDash val="solid"/>
          </a:ln>
        </p:spPr>
        <p:txBody>
          <a:bodyPr/>
          <a:lstStyle/>
          <a:p>
            <a:endParaRPr lang="en-US"/>
          </a:p>
        </p:txBody>
      </p:sp>
      <p:sp>
        <p:nvSpPr>
          <p:cNvPr id="40" name="Text 38"/>
          <p:cNvSpPr/>
          <p:nvPr/>
        </p:nvSpPr>
        <p:spPr>
          <a:xfrm>
            <a:off x="6400800" y="2688336"/>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41" name="Text 39"/>
          <p:cNvSpPr/>
          <p:nvPr/>
        </p:nvSpPr>
        <p:spPr>
          <a:xfrm>
            <a:off x="6876288" y="2505456"/>
            <a:ext cx="5010912" cy="256032"/>
          </a:xfrm>
          <a:prstGeom prst="rect">
            <a:avLst/>
          </a:prstGeom>
          <a:noFill/>
          <a:ln/>
        </p:spPr>
        <p:txBody>
          <a:bodyPr wrap="square" lIns="0" tIns="0" rIns="0" bIns="0" rtlCol="0" anchor="ctr"/>
          <a:lstStyle/>
          <a:p>
            <a:pPr marL="0" indent="0" algn="l">
              <a:buNone/>
            </a:pPr>
            <a:r>
              <a:rPr lang="en-US" sz="1000" b="1" dirty="0">
                <a:solidFill>
                  <a:srgbClr val="1D9E75"/>
                </a:solidFill>
                <a:latin typeface="Georgia" pitchFamily="34" charset="0"/>
                <a:ea typeface="Georgia" pitchFamily="34" charset="-122"/>
                <a:cs typeface="Georgia" pitchFamily="34" charset="-120"/>
              </a:rPr>
              <a:t>Read each new @Controller</a:t>
            </a:r>
            <a:endParaRPr lang="en-US" sz="1000" dirty="0"/>
          </a:p>
        </p:txBody>
      </p:sp>
      <p:sp>
        <p:nvSpPr>
          <p:cNvPr id="42" name="Text 40"/>
          <p:cNvSpPr/>
          <p:nvPr/>
        </p:nvSpPr>
        <p:spPr>
          <a:xfrm>
            <a:off x="6876288" y="2779776"/>
            <a:ext cx="5010912" cy="585216"/>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Reads every Spring MVC controller produced by the Struts1→MVC and Struts2→MVC agents. Builds a list of all the methods that handle HTTP requests — both GET requests (display pages) and POST requests (form submissions).</a:t>
            </a:r>
            <a:endParaRPr lang="en-US" sz="900" dirty="0"/>
          </a:p>
        </p:txBody>
      </p:sp>
      <p:sp>
        <p:nvSpPr>
          <p:cNvPr id="43" name="Shape 41"/>
          <p:cNvSpPr/>
          <p:nvPr/>
        </p:nvSpPr>
        <p:spPr>
          <a:xfrm>
            <a:off x="6309360" y="3511296"/>
            <a:ext cx="5669280" cy="969264"/>
          </a:xfrm>
          <a:prstGeom prst="rect">
            <a:avLst/>
          </a:prstGeom>
          <a:solidFill>
            <a:srgbClr val="E1F5EE"/>
          </a:solidFill>
          <a:ln w="6350">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44" name="Shape 42"/>
          <p:cNvSpPr/>
          <p:nvPr/>
        </p:nvSpPr>
        <p:spPr>
          <a:xfrm>
            <a:off x="6400800" y="3749040"/>
            <a:ext cx="384048" cy="384048"/>
          </a:xfrm>
          <a:prstGeom prst="ellipse">
            <a:avLst/>
          </a:prstGeom>
          <a:solidFill>
            <a:srgbClr val="1D9E75"/>
          </a:solidFill>
          <a:ln w="12700">
            <a:solidFill>
              <a:srgbClr val="1D9E75">
                <a:alpha val="0"/>
              </a:srgbClr>
            </a:solidFill>
            <a:prstDash val="solid"/>
          </a:ln>
        </p:spPr>
        <p:txBody>
          <a:bodyPr/>
          <a:lstStyle/>
          <a:p>
            <a:endParaRPr lang="en-US"/>
          </a:p>
        </p:txBody>
      </p:sp>
      <p:sp>
        <p:nvSpPr>
          <p:cNvPr id="45" name="Text 43"/>
          <p:cNvSpPr/>
          <p:nvPr/>
        </p:nvSpPr>
        <p:spPr>
          <a:xfrm>
            <a:off x="6400800" y="3749040"/>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46" name="Text 44"/>
          <p:cNvSpPr/>
          <p:nvPr/>
        </p:nvSpPr>
        <p:spPr>
          <a:xfrm>
            <a:off x="6876288" y="3566160"/>
            <a:ext cx="5010912" cy="256032"/>
          </a:xfrm>
          <a:prstGeom prst="rect">
            <a:avLst/>
          </a:prstGeom>
          <a:noFill/>
          <a:ln/>
        </p:spPr>
        <p:txBody>
          <a:bodyPr wrap="square" lIns="0" tIns="0" rIns="0" bIns="0" rtlCol="0" anchor="ctr"/>
          <a:lstStyle/>
          <a:p>
            <a:pPr marL="0" indent="0" algn="l">
              <a:buNone/>
            </a:pPr>
            <a:r>
              <a:rPr lang="en-US" sz="1000" b="1" dirty="0">
                <a:solidFill>
                  <a:srgbClr val="1D9E75"/>
                </a:solidFill>
                <a:latin typeface="Georgia" pitchFamily="34" charset="0"/>
                <a:ea typeface="Georgia" pitchFamily="34" charset="-122"/>
                <a:cs typeface="Georgia" pitchFamily="34" charset="-120"/>
              </a:rPr>
              <a:t>Generate a test class per controller</a:t>
            </a:r>
            <a:endParaRPr lang="en-US" sz="1000" dirty="0"/>
          </a:p>
        </p:txBody>
      </p:sp>
      <p:sp>
        <p:nvSpPr>
          <p:cNvPr id="47" name="Text 45"/>
          <p:cNvSpPr/>
          <p:nvPr/>
        </p:nvSpPr>
        <p:spPr>
          <a:xfrm>
            <a:off x="6876288" y="3840480"/>
            <a:ext cx="5010912" cy="585216"/>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Creates a JUnit 5 test class for each controller. Sets up the correct test framework annotations, mock service declarations, and the MockMvc test runner that lets tests simulate HTTP requests without a real server.</a:t>
            </a:r>
            <a:endParaRPr lang="en-US" sz="900" dirty="0"/>
          </a:p>
        </p:txBody>
      </p:sp>
      <p:sp>
        <p:nvSpPr>
          <p:cNvPr id="48" name="Shape 46"/>
          <p:cNvSpPr/>
          <p:nvPr/>
        </p:nvSpPr>
        <p:spPr>
          <a:xfrm>
            <a:off x="6309360" y="4572000"/>
            <a:ext cx="5669280" cy="969264"/>
          </a:xfrm>
          <a:prstGeom prst="rect">
            <a:avLst/>
          </a:prstGeom>
          <a:solidFill>
            <a:srgbClr val="E1F5EE"/>
          </a:solidFill>
          <a:ln w="6350">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49" name="Shape 47"/>
          <p:cNvSpPr/>
          <p:nvPr/>
        </p:nvSpPr>
        <p:spPr>
          <a:xfrm>
            <a:off x="6400800" y="4809744"/>
            <a:ext cx="384048" cy="384048"/>
          </a:xfrm>
          <a:prstGeom prst="ellipse">
            <a:avLst/>
          </a:prstGeom>
          <a:solidFill>
            <a:srgbClr val="1D9E75"/>
          </a:solidFill>
          <a:ln w="12700">
            <a:solidFill>
              <a:srgbClr val="1D9E75">
                <a:alpha val="0"/>
              </a:srgbClr>
            </a:solidFill>
            <a:prstDash val="solid"/>
          </a:ln>
        </p:spPr>
        <p:txBody>
          <a:bodyPr/>
          <a:lstStyle/>
          <a:p>
            <a:endParaRPr lang="en-US"/>
          </a:p>
        </p:txBody>
      </p:sp>
      <p:sp>
        <p:nvSpPr>
          <p:cNvPr id="50" name="Text 48"/>
          <p:cNvSpPr/>
          <p:nvPr/>
        </p:nvSpPr>
        <p:spPr>
          <a:xfrm>
            <a:off x="6400800" y="4809744"/>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51" name="Text 49"/>
          <p:cNvSpPr/>
          <p:nvPr/>
        </p:nvSpPr>
        <p:spPr>
          <a:xfrm>
            <a:off x="6876288" y="4626864"/>
            <a:ext cx="5010912" cy="256032"/>
          </a:xfrm>
          <a:prstGeom prst="rect">
            <a:avLst/>
          </a:prstGeom>
          <a:noFill/>
          <a:ln/>
        </p:spPr>
        <p:txBody>
          <a:bodyPr wrap="square" lIns="0" tIns="0" rIns="0" bIns="0" rtlCol="0" anchor="ctr"/>
          <a:lstStyle/>
          <a:p>
            <a:pPr marL="0" indent="0" algn="l">
              <a:buNone/>
            </a:pPr>
            <a:r>
              <a:rPr lang="en-US" sz="1000" b="1" dirty="0">
                <a:solidFill>
                  <a:srgbClr val="1D9E75"/>
                </a:solidFill>
                <a:latin typeface="Georgia" pitchFamily="34" charset="0"/>
                <a:ea typeface="Georgia" pitchFamily="34" charset="-122"/>
                <a:cs typeface="Georgia" pitchFamily="34" charset="-120"/>
              </a:rPr>
              <a:t>Write one test per handler method</a:t>
            </a:r>
            <a:endParaRPr lang="en-US" sz="1000" dirty="0"/>
          </a:p>
        </p:txBody>
      </p:sp>
      <p:sp>
        <p:nvSpPr>
          <p:cNvPr id="52" name="Text 50"/>
          <p:cNvSpPr/>
          <p:nvPr/>
        </p:nvSpPr>
        <p:spPr>
          <a:xfrm>
            <a:off x="6876288" y="4901184"/>
            <a:ext cx="5010912" cy="585216"/>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For every @GetMapping and @PostMapping method, writes at minimum two tests: one for the happy path (valid input, expected outcome) and one for the error path (invalid input, validation failure, error result).</a:t>
            </a:r>
            <a:endParaRPr lang="en-US" sz="900" dirty="0"/>
          </a:p>
        </p:txBody>
      </p:sp>
      <p:sp>
        <p:nvSpPr>
          <p:cNvPr id="53" name="Shape 51"/>
          <p:cNvSpPr/>
          <p:nvPr/>
        </p:nvSpPr>
        <p:spPr>
          <a:xfrm>
            <a:off x="6309360" y="5632704"/>
            <a:ext cx="5669280" cy="969264"/>
          </a:xfrm>
          <a:prstGeom prst="rect">
            <a:avLst/>
          </a:prstGeom>
          <a:solidFill>
            <a:srgbClr val="E1F5EE"/>
          </a:solidFill>
          <a:ln w="6350">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54" name="Shape 52"/>
          <p:cNvSpPr/>
          <p:nvPr/>
        </p:nvSpPr>
        <p:spPr>
          <a:xfrm>
            <a:off x="6400800" y="5870448"/>
            <a:ext cx="384048" cy="384048"/>
          </a:xfrm>
          <a:prstGeom prst="ellipse">
            <a:avLst/>
          </a:prstGeom>
          <a:solidFill>
            <a:srgbClr val="1D9E75"/>
          </a:solidFill>
          <a:ln w="12700">
            <a:solidFill>
              <a:srgbClr val="1D9E75">
                <a:alpha val="0"/>
              </a:srgbClr>
            </a:solidFill>
            <a:prstDash val="solid"/>
          </a:ln>
        </p:spPr>
        <p:txBody>
          <a:bodyPr/>
          <a:lstStyle/>
          <a:p>
            <a:endParaRPr lang="en-US"/>
          </a:p>
        </p:txBody>
      </p:sp>
      <p:sp>
        <p:nvSpPr>
          <p:cNvPr id="55" name="Text 53"/>
          <p:cNvSpPr/>
          <p:nvPr/>
        </p:nvSpPr>
        <p:spPr>
          <a:xfrm>
            <a:off x="6400800" y="5870448"/>
            <a:ext cx="384048"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56" name="Text 54"/>
          <p:cNvSpPr/>
          <p:nvPr/>
        </p:nvSpPr>
        <p:spPr>
          <a:xfrm>
            <a:off x="6876288" y="5687568"/>
            <a:ext cx="5010912" cy="256032"/>
          </a:xfrm>
          <a:prstGeom prst="rect">
            <a:avLst/>
          </a:prstGeom>
          <a:noFill/>
          <a:ln/>
        </p:spPr>
        <p:txBody>
          <a:bodyPr wrap="square" lIns="0" tIns="0" rIns="0" bIns="0" rtlCol="0" anchor="ctr"/>
          <a:lstStyle/>
          <a:p>
            <a:pPr marL="0" indent="0" algn="l">
              <a:buNone/>
            </a:pPr>
            <a:r>
              <a:rPr lang="en-US" sz="1000" b="1" dirty="0">
                <a:solidFill>
                  <a:srgbClr val="1D9E75"/>
                </a:solidFill>
                <a:latin typeface="Georgia" pitchFamily="34" charset="0"/>
                <a:ea typeface="Georgia" pitchFamily="34" charset="-122"/>
                <a:cs typeface="Georgia" pitchFamily="34" charset="-120"/>
              </a:rPr>
              <a:t>Verify mock wiring</a:t>
            </a:r>
            <a:endParaRPr lang="en-US" sz="1000" dirty="0"/>
          </a:p>
        </p:txBody>
      </p:sp>
      <p:sp>
        <p:nvSpPr>
          <p:cNvPr id="57" name="Text 55"/>
          <p:cNvSpPr/>
          <p:nvPr/>
        </p:nvSpPr>
        <p:spPr>
          <a:xfrm>
            <a:off x="6876288" y="5961888"/>
            <a:ext cx="5010912" cy="585216"/>
          </a:xfrm>
          <a:prstGeom prst="rect">
            <a:avLst/>
          </a:prstGeom>
          <a:noFill/>
          <a:ln/>
        </p:spPr>
        <p:txBody>
          <a:bodyPr wrap="square" lIns="0" tIns="0" rIns="0" bIns="0" rtlCol="0" anchor="ctr"/>
          <a:lstStyle/>
          <a:p>
            <a:pPr marL="0" indent="0" algn="l">
              <a:buNone/>
            </a:pPr>
            <a:r>
              <a:rPr lang="en-US" sz="900" dirty="0">
                <a:solidFill>
                  <a:srgbClr val="2A3C52"/>
                </a:solidFill>
                <a:latin typeface="Calibri" pitchFamily="34" charset="0"/>
                <a:ea typeface="Calibri" pitchFamily="34" charset="-122"/>
                <a:cs typeface="Calibri" pitchFamily="34" charset="-120"/>
              </a:rPr>
              <a:t>Checks that every service class the controller uses is correctly mocked in the test — no missing mocks that would cause the test to fail. Uses the controller's @Autowired declarations to determine what mocks are needed.</a:t>
            </a:r>
            <a:endParaRPr lang="en-US" sz="900" dirty="0"/>
          </a:p>
        </p:txBody>
      </p:sp>
      <p:sp>
        <p:nvSpPr>
          <p:cNvPr id="58" name="Shape 56"/>
          <p:cNvSpPr/>
          <p:nvPr/>
        </p:nvSpPr>
        <p:spPr>
          <a:xfrm>
            <a:off x="10012680" y="6528816"/>
            <a:ext cx="1920240" cy="237744"/>
          </a:xfrm>
          <a:prstGeom prst="rect">
            <a:avLst/>
          </a:prstGeom>
          <a:solidFill>
            <a:srgbClr val="E6F1FB"/>
          </a:solidFill>
          <a:ln w="9525">
            <a:solidFill>
              <a:srgbClr val="3B82C4"/>
            </a:solidFill>
            <a:prstDash val="solid"/>
          </a:ln>
        </p:spPr>
        <p:txBody>
          <a:bodyPr/>
          <a:lstStyle/>
          <a:p>
            <a:endParaRPr lang="en-US"/>
          </a:p>
        </p:txBody>
      </p:sp>
      <p:sp>
        <p:nvSpPr>
          <p:cNvPr id="59" name="Text 57"/>
          <p:cNvSpPr/>
          <p:nvPr/>
        </p:nvSpPr>
        <p:spPr>
          <a:xfrm>
            <a:off x="10012680" y="6528816"/>
            <a:ext cx="1920240" cy="237744"/>
          </a:xfrm>
          <a:prstGeom prst="rect">
            <a:avLst/>
          </a:prstGeom>
          <a:noFill/>
          <a:ln/>
        </p:spPr>
        <p:txBody>
          <a:bodyPr wrap="square" lIns="0" tIns="0" rIns="0" bIns="0" rtlCol="0" anchor="ctr"/>
          <a:lstStyle/>
          <a:p>
            <a:pPr marL="0" indent="0" algn="ctr">
              <a:buNone/>
            </a:pPr>
            <a:r>
              <a:rPr lang="en-US" sz="900" b="1" dirty="0">
                <a:solidFill>
                  <a:srgbClr val="042C53"/>
                </a:solidFill>
                <a:latin typeface="Calibri" pitchFamily="34" charset="0"/>
                <a:ea typeface="Calibri" pitchFamily="34" charset="-122"/>
                <a:cs typeface="Calibri" pitchFamily="34" charset="-120"/>
              </a:rPr>
              <a:t>Claude Sonnet 4.5 + RAG</a:t>
            </a:r>
            <a:endParaRPr lang="en-US" sz="900" dirty="0"/>
          </a:p>
        </p:txBody>
      </p:sp>
      <p:sp>
        <p:nvSpPr>
          <p:cNvPr id="60" name="Shape 58"/>
          <p:cNvSpPr/>
          <p:nvPr/>
        </p:nvSpPr>
        <p:spPr>
          <a:xfrm>
            <a:off x="219456" y="6382512"/>
            <a:ext cx="11704320" cy="384048"/>
          </a:xfrm>
          <a:prstGeom prst="rect">
            <a:avLst/>
          </a:prstGeom>
          <a:solidFill>
            <a:srgbClr val="C47E0F"/>
          </a:solidFill>
          <a:ln w="12700">
            <a:solidFill>
              <a:srgbClr val="C47E0F">
                <a:alpha val="0"/>
              </a:srgbClr>
            </a:solidFill>
            <a:prstDash val="solid"/>
          </a:ln>
        </p:spPr>
        <p:txBody>
          <a:bodyPr/>
          <a:lstStyle/>
          <a:p>
            <a:endParaRPr lang="en-US"/>
          </a:p>
        </p:txBody>
      </p:sp>
      <p:sp>
        <p:nvSpPr>
          <p:cNvPr id="61" name="Text 59"/>
          <p:cNvSpPr/>
          <p:nvPr/>
        </p:nvSpPr>
        <p:spPr>
          <a:xfrm>
            <a:off x="347472" y="6382512"/>
            <a:ext cx="11521440" cy="384048"/>
          </a:xfrm>
          <a:prstGeom prst="rect">
            <a:avLst/>
          </a:prstGeom>
          <a:noFill/>
          <a:ln/>
        </p:spPr>
        <p:txBody>
          <a:bodyPr wrap="square" lIns="0" tIns="0" rIns="0" bIns="0" rtlCol="0" anchor="ctr"/>
          <a:lstStyle/>
          <a:p>
            <a:pPr marL="0" indent="0" algn="l">
              <a:buNone/>
            </a:pPr>
            <a:r>
              <a:rPr lang="en-US" sz="1050" b="1" dirty="0">
                <a:solidFill>
                  <a:srgbClr val="FFFFFF"/>
                </a:solidFill>
                <a:latin typeface="Georgia" pitchFamily="34" charset="0"/>
                <a:ea typeface="Georgia" pitchFamily="34" charset="-122"/>
                <a:cs typeface="Georgia" pitchFamily="34" charset="-120"/>
              </a:rPr>
              <a:t>Business impact: Without the Containerize agent, migration output cannot be deployed. Without the Test Gen agent, there is no regression safety net. Both are non-negotiable for production readiness.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534AB7"/>
          </a:solidFill>
          <a:ln w="12700">
            <a:solidFill>
              <a:srgbClr val="534AB7">
                <a:alpha val="0"/>
              </a:srgbClr>
            </a:solidFill>
            <a:prstDash val="solid"/>
          </a:ln>
        </p:spPr>
        <p:txBody>
          <a:bodyPr/>
          <a:lstStyle/>
          <a:p>
            <a:endParaRPr lang="en-US"/>
          </a:p>
        </p:txBody>
      </p:sp>
      <p:sp>
        <p:nvSpPr>
          <p:cNvPr id="3" name="Text 1"/>
          <p:cNvSpPr/>
          <p:nvPr/>
        </p:nvSpPr>
        <p:spPr>
          <a:xfrm>
            <a:off x="219456" y="128016"/>
            <a:ext cx="457200" cy="274320"/>
          </a:xfrm>
          <a:prstGeom prst="rect">
            <a:avLst/>
          </a:prstGeom>
          <a:noFill/>
          <a:ln/>
        </p:spPr>
        <p:txBody>
          <a:bodyPr wrap="square" lIns="0" tIns="0" rIns="0" bIns="0" rtlCol="0" anchor="ctr"/>
          <a:lstStyle/>
          <a:p>
            <a:pPr marL="0" indent="0" algn="l">
              <a:buNone/>
            </a:pPr>
            <a:r>
              <a:rPr lang="en-US" sz="1000" kern="0" spc="200" dirty="0">
                <a:solidFill>
                  <a:srgbClr val="7A95B4"/>
                </a:solidFill>
                <a:latin typeface="Calibri" pitchFamily="34" charset="0"/>
                <a:ea typeface="Calibri" pitchFamily="34" charset="-122"/>
                <a:cs typeface="Calibri" pitchFamily="34" charset="-120"/>
              </a:rPr>
              <a:t>09  ·</a:t>
            </a:r>
            <a:endParaRPr lang="en-US" sz="1000" dirty="0"/>
          </a:p>
        </p:txBody>
      </p:sp>
      <p:sp>
        <p:nvSpPr>
          <p:cNvPr id="4" name="Text 2"/>
          <p:cNvSpPr/>
          <p:nvPr/>
        </p:nvSpPr>
        <p:spPr>
          <a:xfrm>
            <a:off x="219456" y="100584"/>
            <a:ext cx="11704320" cy="475488"/>
          </a:xfrm>
          <a:prstGeom prst="rect">
            <a:avLst/>
          </a:prstGeom>
          <a:noFill/>
          <a:ln/>
        </p:spPr>
        <p:txBody>
          <a:bodyPr wrap="square" lIns="0" tIns="0" rIns="0" bIns="0" rtlCol="0" anchor="ctr"/>
          <a:lstStyle/>
          <a:p>
            <a:pPr marL="0" indent="0" algn="l">
              <a:buNone/>
            </a:pPr>
            <a:r>
              <a:rPr lang="en-US" sz="2800" b="1" dirty="0">
                <a:solidFill>
                  <a:srgbClr val="FFFFFF"/>
                </a:solidFill>
                <a:latin typeface="Georgia" pitchFamily="34" charset="0"/>
                <a:ea typeface="Georgia" pitchFamily="34" charset="-122"/>
                <a:cs typeface="Georgia" pitchFamily="34" charset="-120"/>
              </a:rPr>
              <a:t>The Review Agents  ×  5</a:t>
            </a:r>
            <a:endParaRPr lang="en-US" sz="2800" dirty="0"/>
          </a:p>
        </p:txBody>
      </p:sp>
      <p:sp>
        <p:nvSpPr>
          <p:cNvPr id="5" name="Text 3"/>
          <p:cNvSpPr/>
          <p:nvPr/>
        </p:nvSpPr>
        <p:spPr>
          <a:xfrm>
            <a:off x="219456" y="603504"/>
            <a:ext cx="10789920" cy="329184"/>
          </a:xfrm>
          <a:prstGeom prst="rect">
            <a:avLst/>
          </a:prstGeom>
          <a:noFill/>
          <a:ln/>
        </p:spPr>
        <p:txBody>
          <a:bodyPr wrap="square" lIns="0" tIns="0" rIns="0" bIns="0" rtlCol="0" anchor="ctr"/>
          <a:lstStyle/>
          <a:p>
            <a:pPr marL="0" indent="0" algn="l">
              <a:buNone/>
            </a:pPr>
            <a:r>
              <a:rPr lang="en-US" sz="1300" i="1" dirty="0">
                <a:solidFill>
                  <a:srgbClr val="FDD17A"/>
                </a:solidFill>
                <a:latin typeface="Georgia" pitchFamily="34" charset="0"/>
                <a:ea typeface="Georgia" pitchFamily="34" charset="-122"/>
                <a:cs typeface="Georgia" pitchFamily="34" charset="-120"/>
              </a:rPr>
              <a:t>An independent quality board — a completely different AI model reviews every transformation before it can be accepted.</a:t>
            </a:r>
            <a:endParaRPr lang="en-US" sz="1300" dirty="0"/>
          </a:p>
        </p:txBody>
      </p:sp>
      <p:sp>
        <p:nvSpPr>
          <p:cNvPr id="6" name="Shape 4"/>
          <p:cNvSpPr/>
          <p:nvPr/>
        </p:nvSpPr>
        <p:spPr>
          <a:xfrm>
            <a:off x="219456" y="969264"/>
            <a:ext cx="11704320" cy="22860"/>
          </a:xfrm>
          <a:prstGeom prst="rect">
            <a:avLst/>
          </a:prstGeom>
          <a:solidFill>
            <a:srgbClr val="534AB7">
              <a:alpha val="60000"/>
            </a:srgbClr>
          </a:solidFill>
          <a:ln w="12700">
            <a:solidFill>
              <a:srgbClr val="534AB7">
                <a:alpha val="0"/>
              </a:srgbClr>
            </a:solidFill>
            <a:prstDash val="solid"/>
          </a:ln>
        </p:spPr>
        <p:txBody>
          <a:bodyPr/>
          <a:lstStyle/>
          <a:p>
            <a:endParaRPr lang="en-US"/>
          </a:p>
        </p:txBody>
      </p:sp>
      <p:sp>
        <p:nvSpPr>
          <p:cNvPr id="7" name="Shape 5"/>
          <p:cNvSpPr/>
          <p:nvPr/>
        </p:nvSpPr>
        <p:spPr>
          <a:xfrm>
            <a:off x="219456" y="1042416"/>
            <a:ext cx="11704320" cy="566928"/>
          </a:xfrm>
          <a:prstGeom prst="rect">
            <a:avLst/>
          </a:prstGeom>
          <a:solidFill>
            <a:srgbClr val="EEEDFE"/>
          </a:solidFill>
          <a:ln w="1270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8" name="Text 6"/>
          <p:cNvSpPr/>
          <p:nvPr/>
        </p:nvSpPr>
        <p:spPr>
          <a:xfrm>
            <a:off x="347472" y="1042416"/>
            <a:ext cx="11612880" cy="566928"/>
          </a:xfrm>
          <a:prstGeom prst="rect">
            <a:avLst/>
          </a:prstGeom>
          <a:noFill/>
          <a:ln/>
        </p:spPr>
        <p:txBody>
          <a:bodyPr wrap="square" lIns="25400" tIns="25400" rIns="25400" bIns="25400" rtlCol="0" anchor="ctr"/>
          <a:lstStyle/>
          <a:p>
            <a:pPr marL="0" indent="0" algn="l">
              <a:buNone/>
            </a:pPr>
            <a:r>
              <a:rPr lang="en-US" sz="950" dirty="0">
                <a:solidFill>
                  <a:srgbClr val="26215C"/>
                </a:solidFill>
                <a:latin typeface="Calibri" pitchFamily="34" charset="0"/>
                <a:ea typeface="Calibri" pitchFamily="34" charset="-122"/>
                <a:cs typeface="Calibri" pitchFamily="34" charset="-120"/>
              </a:rPr>
              <a:t>Why a different AI model?  The transformation is written by Claude Sonnet 4.5. The review is performed by Amazon Nova Pro — a completely different model from a different AI family, with different training and different blind spots. When two independent AI models agree the code is correct, you have genuine cross-model confidence. If one model makes a mistake, the other is likely to catch it.</a:t>
            </a:r>
            <a:endParaRPr lang="en-US" sz="950" dirty="0"/>
          </a:p>
        </p:txBody>
      </p:sp>
      <p:sp>
        <p:nvSpPr>
          <p:cNvPr id="9" name="Shape 7"/>
          <p:cNvSpPr/>
          <p:nvPr/>
        </p:nvSpPr>
        <p:spPr>
          <a:xfrm>
            <a:off x="219456" y="1719072"/>
            <a:ext cx="2240280" cy="5029200"/>
          </a:xfrm>
          <a:prstGeom prst="rect">
            <a:avLst/>
          </a:prstGeom>
          <a:solidFill>
            <a:srgbClr val="EEEDFE"/>
          </a:solidFill>
          <a:ln w="9525">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10" name="Shape 8"/>
          <p:cNvSpPr/>
          <p:nvPr/>
        </p:nvSpPr>
        <p:spPr>
          <a:xfrm>
            <a:off x="219456" y="1719072"/>
            <a:ext cx="2240280" cy="420624"/>
          </a:xfrm>
          <a:prstGeom prst="rect">
            <a:avLst/>
          </a:prstGeom>
          <a:solidFill>
            <a:srgbClr val="534AB7"/>
          </a:solidFill>
          <a:ln w="635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11" name="Text 9"/>
          <p:cNvSpPr/>
          <p:nvPr/>
        </p:nvSpPr>
        <p:spPr>
          <a:xfrm>
            <a:off x="310896" y="1719072"/>
            <a:ext cx="2057400" cy="420624"/>
          </a:xfrm>
          <a:prstGeom prst="rect">
            <a:avLst/>
          </a:prstGeom>
          <a:noFill/>
          <a:ln/>
        </p:spPr>
        <p:txBody>
          <a:bodyPr wrap="square" lIns="0" tIns="0" rIns="0" bIns="0" rtlCol="0" anchor="ctr"/>
          <a:lstStyle/>
          <a:p>
            <a:pPr marL="0" indent="0" algn="l">
              <a:buNone/>
            </a:pPr>
            <a:r>
              <a:rPr lang="en-US" sz="950" b="1" dirty="0">
                <a:solidFill>
                  <a:srgbClr val="FFFFFF"/>
                </a:solidFill>
                <a:latin typeface="Georgia" pitchFamily="34" charset="0"/>
                <a:ea typeface="Georgia" pitchFamily="34" charset="-122"/>
                <a:cs typeface="Georgia" pitchFamily="34" charset="-120"/>
              </a:rPr>
              <a:t>Java Review Agent</a:t>
            </a:r>
            <a:endParaRPr lang="en-US" sz="950" dirty="0"/>
          </a:p>
        </p:txBody>
      </p:sp>
      <p:sp>
        <p:nvSpPr>
          <p:cNvPr id="12" name="Shape 10"/>
          <p:cNvSpPr/>
          <p:nvPr/>
        </p:nvSpPr>
        <p:spPr>
          <a:xfrm>
            <a:off x="310896" y="2212848"/>
            <a:ext cx="2057400" cy="329184"/>
          </a:xfrm>
          <a:prstGeom prst="rect">
            <a:avLst/>
          </a:prstGeom>
          <a:solidFill>
            <a:srgbClr val="3C3489"/>
          </a:solidFill>
          <a:ln w="508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13" name="Text 11"/>
          <p:cNvSpPr/>
          <p:nvPr/>
        </p:nvSpPr>
        <p:spPr>
          <a:xfrm>
            <a:off x="347472" y="2212848"/>
            <a:ext cx="1984248" cy="329184"/>
          </a:xfrm>
          <a:prstGeom prst="rect">
            <a:avLst/>
          </a:prstGeom>
          <a:noFill/>
          <a:ln/>
        </p:spPr>
        <p:txBody>
          <a:bodyPr wrap="square" lIns="0" tIns="0" rIns="0" bIns="0" rtlCol="0" anchor="ctr"/>
          <a:lstStyle/>
          <a:p>
            <a:pPr marL="0" indent="0" algn="l">
              <a:buNone/>
            </a:pPr>
            <a:r>
              <a:rPr lang="en-US" sz="850" i="1" dirty="0">
                <a:solidFill>
                  <a:srgbClr val="E8EDF4"/>
                </a:solidFill>
                <a:latin typeface="Georgia" pitchFamily="34" charset="0"/>
                <a:ea typeface="Georgia" pitchFamily="34" charset="-122"/>
                <a:cs typeface="Georgia" pitchFamily="34" charset="-120"/>
              </a:rPr>
              <a:t>Did the Java language upgrade work correctly?</a:t>
            </a:r>
            <a:endParaRPr lang="en-US" sz="850" dirty="0"/>
          </a:p>
        </p:txBody>
      </p:sp>
      <p:sp>
        <p:nvSpPr>
          <p:cNvPr id="14" name="Text 12"/>
          <p:cNvSpPr/>
          <p:nvPr/>
        </p:nvSpPr>
        <p:spPr>
          <a:xfrm>
            <a:off x="310896" y="2615184"/>
            <a:ext cx="2057400" cy="201168"/>
          </a:xfrm>
          <a:prstGeom prst="rect">
            <a:avLst/>
          </a:prstGeom>
          <a:noFill/>
          <a:ln/>
        </p:spPr>
        <p:txBody>
          <a:bodyPr wrap="square" lIns="0" tIns="0" rIns="0" bIns="0" rtlCol="0" anchor="ctr"/>
          <a:lstStyle/>
          <a:p>
            <a:pPr marL="0" indent="0" algn="l">
              <a:buNone/>
            </a:pPr>
            <a:r>
              <a:rPr lang="en-US" sz="850" b="1" dirty="0">
                <a:solidFill>
                  <a:srgbClr val="534AB7"/>
                </a:solidFill>
                <a:latin typeface="Calibri" pitchFamily="34" charset="0"/>
                <a:ea typeface="Calibri" pitchFamily="34" charset="-122"/>
                <a:cs typeface="Calibri" pitchFamily="34" charset="-120"/>
              </a:rPr>
              <a:t>What it checks:</a:t>
            </a:r>
            <a:endParaRPr lang="en-US" sz="850" dirty="0"/>
          </a:p>
        </p:txBody>
      </p:sp>
      <p:sp>
        <p:nvSpPr>
          <p:cNvPr id="15" name="Shape 13"/>
          <p:cNvSpPr/>
          <p:nvPr/>
        </p:nvSpPr>
        <p:spPr>
          <a:xfrm>
            <a:off x="310896" y="2834640"/>
            <a:ext cx="2057400" cy="475488"/>
          </a:xfrm>
          <a:prstGeom prst="rect">
            <a:avLst/>
          </a:prstGeom>
          <a:solidFill>
            <a:srgbClr val="26215C"/>
          </a:solidFill>
          <a:ln w="508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16" name="Text 14"/>
          <p:cNvSpPr/>
          <p:nvPr/>
        </p:nvSpPr>
        <p:spPr>
          <a:xfrm>
            <a:off x="365760" y="2834640"/>
            <a:ext cx="1965960" cy="475488"/>
          </a:xfrm>
          <a:prstGeom prst="rect">
            <a:avLst/>
          </a:prstGeom>
          <a:noFill/>
          <a:ln/>
        </p:spPr>
        <p:txBody>
          <a:bodyPr wrap="square" lIns="0" tIns="0" rIns="0" bIns="0" rtlCol="0" anchor="ctr"/>
          <a:lstStyle/>
          <a:p>
            <a:pPr marL="0" indent="0" algn="l">
              <a:buNone/>
            </a:pPr>
            <a:r>
              <a:rPr lang="en-US" sz="850" dirty="0">
                <a:solidFill>
                  <a:srgbClr val="E8EDF4"/>
                </a:solidFill>
                <a:latin typeface="Calibri" pitchFamily="34" charset="0"/>
                <a:ea typeface="Calibri" pitchFamily="34" charset="-122"/>
                <a:cs typeface="Calibri" pitchFamily="34" charset="-120"/>
              </a:rPr>
              <a:t>✓  Every javax.* import has become jakarta.*</a:t>
            </a:r>
            <a:endParaRPr lang="en-US" sz="850" dirty="0"/>
          </a:p>
        </p:txBody>
      </p:sp>
      <p:sp>
        <p:nvSpPr>
          <p:cNvPr id="17" name="Shape 15"/>
          <p:cNvSpPr/>
          <p:nvPr/>
        </p:nvSpPr>
        <p:spPr>
          <a:xfrm>
            <a:off x="310896" y="3383280"/>
            <a:ext cx="2057400" cy="475488"/>
          </a:xfrm>
          <a:prstGeom prst="rect">
            <a:avLst/>
          </a:prstGeom>
          <a:solidFill>
            <a:srgbClr val="26215C"/>
          </a:solidFill>
          <a:ln w="508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18" name="Text 16"/>
          <p:cNvSpPr/>
          <p:nvPr/>
        </p:nvSpPr>
        <p:spPr>
          <a:xfrm>
            <a:off x="365760" y="3383280"/>
            <a:ext cx="1965960" cy="475488"/>
          </a:xfrm>
          <a:prstGeom prst="rect">
            <a:avLst/>
          </a:prstGeom>
          <a:noFill/>
          <a:ln/>
        </p:spPr>
        <p:txBody>
          <a:bodyPr wrap="square" lIns="0" tIns="0" rIns="0" bIns="0" rtlCol="0" anchor="ctr"/>
          <a:lstStyle/>
          <a:p>
            <a:pPr marL="0" indent="0" algn="l">
              <a:buNone/>
            </a:pPr>
            <a:r>
              <a:rPr lang="en-US" sz="850" dirty="0">
                <a:solidFill>
                  <a:srgbClr val="E8EDF4"/>
                </a:solidFill>
                <a:latin typeface="Calibri" pitchFamily="34" charset="0"/>
                <a:ea typeface="Calibri" pitchFamily="34" charset="-122"/>
                <a:cs typeface="Calibri" pitchFamily="34" charset="-120"/>
              </a:rPr>
              <a:t>✓  No deprecated Java 8 APIs remain in the output</a:t>
            </a:r>
            <a:endParaRPr lang="en-US" sz="850" dirty="0"/>
          </a:p>
        </p:txBody>
      </p:sp>
      <p:sp>
        <p:nvSpPr>
          <p:cNvPr id="19" name="Shape 17"/>
          <p:cNvSpPr/>
          <p:nvPr/>
        </p:nvSpPr>
        <p:spPr>
          <a:xfrm>
            <a:off x="310896" y="3931920"/>
            <a:ext cx="2057400" cy="475488"/>
          </a:xfrm>
          <a:prstGeom prst="rect">
            <a:avLst/>
          </a:prstGeom>
          <a:solidFill>
            <a:srgbClr val="26215C"/>
          </a:solidFill>
          <a:ln w="508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20" name="Text 18"/>
          <p:cNvSpPr/>
          <p:nvPr/>
        </p:nvSpPr>
        <p:spPr>
          <a:xfrm>
            <a:off x="365760" y="3931920"/>
            <a:ext cx="1965960" cy="475488"/>
          </a:xfrm>
          <a:prstGeom prst="rect">
            <a:avLst/>
          </a:prstGeom>
          <a:noFill/>
          <a:ln/>
        </p:spPr>
        <p:txBody>
          <a:bodyPr wrap="square" lIns="0" tIns="0" rIns="0" bIns="0" rtlCol="0" anchor="ctr"/>
          <a:lstStyle/>
          <a:p>
            <a:pPr marL="0" indent="0" algn="l">
              <a:buNone/>
            </a:pPr>
            <a:r>
              <a:rPr lang="en-US" sz="850" dirty="0">
                <a:solidFill>
                  <a:srgbClr val="E8EDF4"/>
                </a:solidFill>
                <a:latin typeface="Calibri" pitchFamily="34" charset="0"/>
                <a:ea typeface="Calibri" pitchFamily="34" charset="-122"/>
                <a:cs typeface="Calibri" pitchFamily="34" charset="-120"/>
              </a:rPr>
              <a:t>✓  Code structure is syntactically and logically valid</a:t>
            </a:r>
            <a:endParaRPr lang="en-US" sz="850" dirty="0"/>
          </a:p>
        </p:txBody>
      </p:sp>
      <p:sp>
        <p:nvSpPr>
          <p:cNvPr id="21" name="Shape 19"/>
          <p:cNvSpPr/>
          <p:nvPr/>
        </p:nvSpPr>
        <p:spPr>
          <a:xfrm>
            <a:off x="310896" y="4480560"/>
            <a:ext cx="2057400" cy="475488"/>
          </a:xfrm>
          <a:prstGeom prst="rect">
            <a:avLst/>
          </a:prstGeom>
          <a:solidFill>
            <a:srgbClr val="26215C"/>
          </a:solidFill>
          <a:ln w="508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22" name="Text 20"/>
          <p:cNvSpPr/>
          <p:nvPr/>
        </p:nvSpPr>
        <p:spPr>
          <a:xfrm>
            <a:off x="365760" y="4480560"/>
            <a:ext cx="1965960" cy="475488"/>
          </a:xfrm>
          <a:prstGeom prst="rect">
            <a:avLst/>
          </a:prstGeom>
          <a:noFill/>
          <a:ln/>
        </p:spPr>
        <p:txBody>
          <a:bodyPr wrap="square" lIns="0" tIns="0" rIns="0" bIns="0" rtlCol="0" anchor="ctr"/>
          <a:lstStyle/>
          <a:p>
            <a:pPr marL="0" indent="0" algn="l">
              <a:buNone/>
            </a:pPr>
            <a:r>
              <a:rPr lang="en-US" sz="850" dirty="0">
                <a:solidFill>
                  <a:srgbClr val="E8EDF4"/>
                </a:solidFill>
                <a:latin typeface="Calibri" pitchFamily="34" charset="0"/>
                <a:ea typeface="Calibri" pitchFamily="34" charset="-122"/>
                <a:cs typeface="Calibri" pitchFamily="34" charset="-120"/>
              </a:rPr>
              <a:t>✓  var keyword usage is appropriate and correct</a:t>
            </a:r>
            <a:endParaRPr lang="en-US" sz="850" dirty="0"/>
          </a:p>
        </p:txBody>
      </p:sp>
      <p:sp>
        <p:nvSpPr>
          <p:cNvPr id="23" name="Shape 21"/>
          <p:cNvSpPr/>
          <p:nvPr/>
        </p:nvSpPr>
        <p:spPr>
          <a:xfrm>
            <a:off x="310896" y="5084064"/>
            <a:ext cx="2057400" cy="219456"/>
          </a:xfrm>
          <a:prstGeom prst="rect">
            <a:avLst/>
          </a:prstGeom>
          <a:solidFill>
            <a:srgbClr val="E05252"/>
          </a:solidFill>
          <a:ln w="6350">
            <a:solidFill>
              <a:srgbClr val="E05252"/>
            </a:solidFill>
            <a:prstDash val="solid"/>
          </a:ln>
          <a:effectLst>
            <a:outerShdw blurRad="101600" dist="1016" dir="8100000" algn="bl" rotWithShape="0">
              <a:srgbClr val="000000">
                <a:alpha val="9000"/>
              </a:srgbClr>
            </a:outerShdw>
          </a:effectLst>
        </p:spPr>
        <p:txBody>
          <a:bodyPr/>
          <a:lstStyle/>
          <a:p>
            <a:endParaRPr lang="en-US"/>
          </a:p>
        </p:txBody>
      </p:sp>
      <p:sp>
        <p:nvSpPr>
          <p:cNvPr id="24" name="Text 22"/>
          <p:cNvSpPr/>
          <p:nvPr/>
        </p:nvSpPr>
        <p:spPr>
          <a:xfrm>
            <a:off x="347472" y="5084064"/>
            <a:ext cx="1984248" cy="128016"/>
          </a:xfrm>
          <a:prstGeom prst="rect">
            <a:avLst/>
          </a:prstGeom>
          <a:noFill/>
          <a:ln/>
        </p:spPr>
        <p:txBody>
          <a:bodyPr wrap="square" lIns="0" tIns="0" rIns="0" bIns="0" rtlCol="0" anchor="ctr"/>
          <a:lstStyle/>
          <a:p>
            <a:pPr marL="0" indent="0" algn="l">
              <a:buNone/>
            </a:pPr>
            <a:r>
              <a:rPr lang="en-US" sz="700" b="1" dirty="0">
                <a:solidFill>
                  <a:srgbClr val="FFFFFF"/>
                </a:solidFill>
                <a:latin typeface="Calibri" pitchFamily="34" charset="0"/>
                <a:ea typeface="Calibri" pitchFamily="34" charset="-122"/>
                <a:cs typeface="Calibri" pitchFamily="34" charset="-120"/>
              </a:rPr>
              <a:t>Flags for human review:</a:t>
            </a:r>
            <a:endParaRPr lang="en-US" sz="700" dirty="0"/>
          </a:p>
        </p:txBody>
      </p:sp>
      <p:sp>
        <p:nvSpPr>
          <p:cNvPr id="25" name="Text 23"/>
          <p:cNvSpPr/>
          <p:nvPr/>
        </p:nvSpPr>
        <p:spPr>
          <a:xfrm>
            <a:off x="347472" y="5212080"/>
            <a:ext cx="1984248" cy="146304"/>
          </a:xfrm>
          <a:prstGeom prst="rect">
            <a:avLst/>
          </a:prstGeom>
          <a:noFill/>
          <a:ln/>
        </p:spPr>
        <p:txBody>
          <a:bodyPr wrap="square" lIns="0" tIns="0" rIns="0" bIns="0" rtlCol="0" anchor="ctr"/>
          <a:lstStyle/>
          <a:p>
            <a:pPr marL="0" indent="0" algn="l">
              <a:buNone/>
            </a:pPr>
            <a:r>
              <a:rPr lang="en-US" sz="750" i="1" dirty="0">
                <a:solidFill>
                  <a:srgbClr val="FFFFFF"/>
                </a:solidFill>
                <a:latin typeface="Calibri" pitchFamily="34" charset="0"/>
                <a:ea typeface="Calibri" pitchFamily="34" charset="-122"/>
                <a:cs typeface="Calibri" pitchFamily="34" charset="-120"/>
              </a:rPr>
              <a:t>Remaining deprecated APIs · Missing jakarta imports</a:t>
            </a:r>
            <a:endParaRPr lang="en-US" sz="750" dirty="0"/>
          </a:p>
        </p:txBody>
      </p:sp>
      <p:sp>
        <p:nvSpPr>
          <p:cNvPr id="26" name="Shape 24"/>
          <p:cNvSpPr/>
          <p:nvPr/>
        </p:nvSpPr>
        <p:spPr>
          <a:xfrm>
            <a:off x="310896" y="6245352"/>
            <a:ext cx="621792" cy="219456"/>
          </a:xfrm>
          <a:prstGeom prst="rect">
            <a:avLst/>
          </a:prstGeom>
          <a:solidFill>
            <a:srgbClr val="1D9E75"/>
          </a:solidFill>
          <a:ln w="6350">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27" name="Text 25"/>
          <p:cNvSpPr/>
          <p:nvPr/>
        </p:nvSpPr>
        <p:spPr>
          <a:xfrm>
            <a:off x="310896" y="6245352"/>
            <a:ext cx="621792" cy="219456"/>
          </a:xfrm>
          <a:prstGeom prst="rect">
            <a:avLst/>
          </a:prstGeom>
          <a:noFill/>
          <a:ln/>
        </p:spPr>
        <p:txBody>
          <a:bodyPr wrap="square" lIns="0" tIns="0" rIns="0" bIns="0" rtlCol="0" anchor="ctr"/>
          <a:lstStyle/>
          <a:p>
            <a:pPr marL="0" indent="0" algn="ctr">
              <a:buNone/>
            </a:pPr>
            <a:r>
              <a:rPr lang="en-US" sz="750" b="1" dirty="0">
                <a:solidFill>
                  <a:srgbClr val="FFFFFF"/>
                </a:solidFill>
                <a:latin typeface="Calibri" pitchFamily="34" charset="0"/>
                <a:ea typeface="Calibri" pitchFamily="34" charset="-122"/>
                <a:cs typeface="Calibri" pitchFamily="34" charset="-120"/>
              </a:rPr>
              <a:t>PASS</a:t>
            </a:r>
            <a:endParaRPr lang="en-US" sz="750" dirty="0"/>
          </a:p>
        </p:txBody>
      </p:sp>
      <p:sp>
        <p:nvSpPr>
          <p:cNvPr id="28" name="Shape 26"/>
          <p:cNvSpPr/>
          <p:nvPr/>
        </p:nvSpPr>
        <p:spPr>
          <a:xfrm>
            <a:off x="987552" y="6245352"/>
            <a:ext cx="621792" cy="219456"/>
          </a:xfrm>
          <a:prstGeom prst="rect">
            <a:avLst/>
          </a:prstGeom>
          <a:solidFill>
            <a:srgbClr val="F5A623"/>
          </a:solidFill>
          <a:ln w="6350">
            <a:solidFill>
              <a:srgbClr val="F5A623"/>
            </a:solidFill>
            <a:prstDash val="solid"/>
          </a:ln>
          <a:effectLst>
            <a:outerShdw blurRad="101600" dist="1016" dir="8100000" algn="bl" rotWithShape="0">
              <a:srgbClr val="000000">
                <a:alpha val="9000"/>
              </a:srgbClr>
            </a:outerShdw>
          </a:effectLst>
        </p:spPr>
        <p:txBody>
          <a:bodyPr/>
          <a:lstStyle/>
          <a:p>
            <a:endParaRPr lang="en-US"/>
          </a:p>
        </p:txBody>
      </p:sp>
      <p:sp>
        <p:nvSpPr>
          <p:cNvPr id="29" name="Text 27"/>
          <p:cNvSpPr/>
          <p:nvPr/>
        </p:nvSpPr>
        <p:spPr>
          <a:xfrm>
            <a:off x="987552" y="6245352"/>
            <a:ext cx="621792" cy="219456"/>
          </a:xfrm>
          <a:prstGeom prst="rect">
            <a:avLst/>
          </a:prstGeom>
          <a:noFill/>
          <a:ln/>
        </p:spPr>
        <p:txBody>
          <a:bodyPr wrap="square" lIns="0" tIns="0" rIns="0" bIns="0" rtlCol="0" anchor="ctr"/>
          <a:lstStyle/>
          <a:p>
            <a:pPr marL="0" indent="0" algn="ctr">
              <a:buNone/>
            </a:pPr>
            <a:r>
              <a:rPr lang="en-US" sz="750" b="1" dirty="0">
                <a:solidFill>
                  <a:srgbClr val="FFFFFF"/>
                </a:solidFill>
                <a:latin typeface="Calibri" pitchFamily="34" charset="0"/>
                <a:ea typeface="Calibri" pitchFamily="34" charset="-122"/>
                <a:cs typeface="Calibri" pitchFamily="34" charset="-120"/>
              </a:rPr>
              <a:t>RETRY</a:t>
            </a:r>
            <a:endParaRPr lang="en-US" sz="750" dirty="0"/>
          </a:p>
        </p:txBody>
      </p:sp>
      <p:sp>
        <p:nvSpPr>
          <p:cNvPr id="30" name="Shape 28"/>
          <p:cNvSpPr/>
          <p:nvPr/>
        </p:nvSpPr>
        <p:spPr>
          <a:xfrm>
            <a:off x="1664208" y="6245352"/>
            <a:ext cx="621792" cy="219456"/>
          </a:xfrm>
          <a:prstGeom prst="rect">
            <a:avLst/>
          </a:prstGeom>
          <a:solidFill>
            <a:srgbClr val="E05252"/>
          </a:solidFill>
          <a:ln w="6350">
            <a:solidFill>
              <a:srgbClr val="E05252"/>
            </a:solidFill>
            <a:prstDash val="solid"/>
          </a:ln>
          <a:effectLst>
            <a:outerShdw blurRad="101600" dist="1016" dir="8100000" algn="bl" rotWithShape="0">
              <a:srgbClr val="000000">
                <a:alpha val="9000"/>
              </a:srgbClr>
            </a:outerShdw>
          </a:effectLst>
        </p:spPr>
        <p:txBody>
          <a:bodyPr/>
          <a:lstStyle/>
          <a:p>
            <a:endParaRPr lang="en-US"/>
          </a:p>
        </p:txBody>
      </p:sp>
      <p:sp>
        <p:nvSpPr>
          <p:cNvPr id="31" name="Text 29"/>
          <p:cNvSpPr/>
          <p:nvPr/>
        </p:nvSpPr>
        <p:spPr>
          <a:xfrm>
            <a:off x="1664208" y="6245352"/>
            <a:ext cx="621792" cy="219456"/>
          </a:xfrm>
          <a:prstGeom prst="rect">
            <a:avLst/>
          </a:prstGeom>
          <a:noFill/>
          <a:ln/>
        </p:spPr>
        <p:txBody>
          <a:bodyPr wrap="square" lIns="0" tIns="0" rIns="0" bIns="0" rtlCol="0" anchor="ctr"/>
          <a:lstStyle/>
          <a:p>
            <a:pPr marL="0" indent="0" algn="ctr">
              <a:buNone/>
            </a:pPr>
            <a:r>
              <a:rPr lang="en-US" sz="750" b="1" dirty="0">
                <a:solidFill>
                  <a:srgbClr val="FFFFFF"/>
                </a:solidFill>
                <a:latin typeface="Calibri" pitchFamily="34" charset="0"/>
                <a:ea typeface="Calibri" pitchFamily="34" charset="-122"/>
                <a:cs typeface="Calibri" pitchFamily="34" charset="-120"/>
              </a:rPr>
              <a:t>MANUAL</a:t>
            </a:r>
            <a:endParaRPr lang="en-US" sz="750" dirty="0"/>
          </a:p>
        </p:txBody>
      </p:sp>
      <p:sp>
        <p:nvSpPr>
          <p:cNvPr id="32" name="Text 30"/>
          <p:cNvSpPr/>
          <p:nvPr/>
        </p:nvSpPr>
        <p:spPr>
          <a:xfrm>
            <a:off x="310896" y="6492240"/>
            <a:ext cx="2057400" cy="164592"/>
          </a:xfrm>
          <a:prstGeom prst="rect">
            <a:avLst/>
          </a:prstGeom>
          <a:noFill/>
          <a:ln/>
        </p:spPr>
        <p:txBody>
          <a:bodyPr wrap="square" lIns="0" tIns="0" rIns="0" bIns="0" rtlCol="0" anchor="ctr"/>
          <a:lstStyle/>
          <a:p>
            <a:pPr marL="0" indent="0" algn="ctr">
              <a:buNone/>
            </a:pPr>
            <a:r>
              <a:rPr lang="en-US" sz="700" dirty="0">
                <a:solidFill>
                  <a:srgbClr val="26215C"/>
                </a:solidFill>
                <a:latin typeface="Calibri" pitchFamily="34" charset="0"/>
                <a:ea typeface="Calibri" pitchFamily="34" charset="-122"/>
                <a:cs typeface="Calibri" pitchFamily="34" charset="-120"/>
              </a:rPr>
              <a:t>score ≥80 · 50–79 · &lt;50</a:t>
            </a:r>
            <a:endParaRPr lang="en-US" sz="700" dirty="0"/>
          </a:p>
        </p:txBody>
      </p:sp>
      <p:sp>
        <p:nvSpPr>
          <p:cNvPr id="33" name="Shape 31"/>
          <p:cNvSpPr/>
          <p:nvPr/>
        </p:nvSpPr>
        <p:spPr>
          <a:xfrm>
            <a:off x="2551176" y="1719072"/>
            <a:ext cx="2240280" cy="5029200"/>
          </a:xfrm>
          <a:prstGeom prst="rect">
            <a:avLst/>
          </a:prstGeom>
          <a:solidFill>
            <a:srgbClr val="EEEDFE"/>
          </a:solidFill>
          <a:ln w="9525">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34" name="Shape 32"/>
          <p:cNvSpPr/>
          <p:nvPr/>
        </p:nvSpPr>
        <p:spPr>
          <a:xfrm>
            <a:off x="2551176" y="1719072"/>
            <a:ext cx="2240280" cy="420624"/>
          </a:xfrm>
          <a:prstGeom prst="rect">
            <a:avLst/>
          </a:prstGeom>
          <a:solidFill>
            <a:srgbClr val="534AB7"/>
          </a:solidFill>
          <a:ln w="635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35" name="Text 33"/>
          <p:cNvSpPr/>
          <p:nvPr/>
        </p:nvSpPr>
        <p:spPr>
          <a:xfrm>
            <a:off x="2642616" y="1719072"/>
            <a:ext cx="2057400" cy="420624"/>
          </a:xfrm>
          <a:prstGeom prst="rect">
            <a:avLst/>
          </a:prstGeom>
          <a:noFill/>
          <a:ln/>
        </p:spPr>
        <p:txBody>
          <a:bodyPr wrap="square" lIns="0" tIns="0" rIns="0" bIns="0" rtlCol="0" anchor="ctr"/>
          <a:lstStyle/>
          <a:p>
            <a:pPr marL="0" indent="0" algn="l">
              <a:buNone/>
            </a:pPr>
            <a:r>
              <a:rPr lang="en-US" sz="950" b="1" dirty="0">
                <a:solidFill>
                  <a:srgbClr val="FFFFFF"/>
                </a:solidFill>
                <a:latin typeface="Georgia" pitchFamily="34" charset="0"/>
                <a:ea typeface="Georgia" pitchFamily="34" charset="-122"/>
                <a:cs typeface="Georgia" pitchFamily="34" charset="-120"/>
              </a:rPr>
              <a:t>Spring Review Agent</a:t>
            </a:r>
            <a:endParaRPr lang="en-US" sz="950" dirty="0"/>
          </a:p>
        </p:txBody>
      </p:sp>
      <p:sp>
        <p:nvSpPr>
          <p:cNvPr id="36" name="Shape 34"/>
          <p:cNvSpPr/>
          <p:nvPr/>
        </p:nvSpPr>
        <p:spPr>
          <a:xfrm>
            <a:off x="2642616" y="2212848"/>
            <a:ext cx="2057400" cy="329184"/>
          </a:xfrm>
          <a:prstGeom prst="rect">
            <a:avLst/>
          </a:prstGeom>
          <a:solidFill>
            <a:srgbClr val="3C3489"/>
          </a:solidFill>
          <a:ln w="508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37" name="Text 35"/>
          <p:cNvSpPr/>
          <p:nvPr/>
        </p:nvSpPr>
        <p:spPr>
          <a:xfrm>
            <a:off x="2679192" y="2212848"/>
            <a:ext cx="1984248" cy="329184"/>
          </a:xfrm>
          <a:prstGeom prst="rect">
            <a:avLst/>
          </a:prstGeom>
          <a:noFill/>
          <a:ln/>
        </p:spPr>
        <p:txBody>
          <a:bodyPr wrap="square" lIns="0" tIns="0" rIns="0" bIns="0" rtlCol="0" anchor="ctr"/>
          <a:lstStyle/>
          <a:p>
            <a:pPr marL="0" indent="0" algn="l">
              <a:buNone/>
            </a:pPr>
            <a:r>
              <a:rPr lang="en-US" sz="850" i="1" dirty="0">
                <a:solidFill>
                  <a:srgbClr val="E8EDF4"/>
                </a:solidFill>
                <a:latin typeface="Georgia" pitchFamily="34" charset="0"/>
                <a:ea typeface="Georgia" pitchFamily="34" charset="-122"/>
                <a:cs typeface="Georgia" pitchFamily="34" charset="-120"/>
              </a:rPr>
              <a:t>Did the Spring 5 → 6 upgrade work correctly?</a:t>
            </a:r>
            <a:endParaRPr lang="en-US" sz="850" dirty="0"/>
          </a:p>
        </p:txBody>
      </p:sp>
      <p:sp>
        <p:nvSpPr>
          <p:cNvPr id="38" name="Text 36"/>
          <p:cNvSpPr/>
          <p:nvPr/>
        </p:nvSpPr>
        <p:spPr>
          <a:xfrm>
            <a:off x="2642616" y="2615184"/>
            <a:ext cx="2057400" cy="201168"/>
          </a:xfrm>
          <a:prstGeom prst="rect">
            <a:avLst/>
          </a:prstGeom>
          <a:noFill/>
          <a:ln/>
        </p:spPr>
        <p:txBody>
          <a:bodyPr wrap="square" lIns="0" tIns="0" rIns="0" bIns="0" rtlCol="0" anchor="ctr"/>
          <a:lstStyle/>
          <a:p>
            <a:pPr marL="0" indent="0" algn="l">
              <a:buNone/>
            </a:pPr>
            <a:r>
              <a:rPr lang="en-US" sz="850" b="1" dirty="0">
                <a:solidFill>
                  <a:srgbClr val="534AB7"/>
                </a:solidFill>
                <a:latin typeface="Calibri" pitchFamily="34" charset="0"/>
                <a:ea typeface="Calibri" pitchFamily="34" charset="-122"/>
                <a:cs typeface="Calibri" pitchFamily="34" charset="-120"/>
              </a:rPr>
              <a:t>What it checks:</a:t>
            </a:r>
            <a:endParaRPr lang="en-US" sz="850" dirty="0"/>
          </a:p>
        </p:txBody>
      </p:sp>
      <p:sp>
        <p:nvSpPr>
          <p:cNvPr id="39" name="Shape 37"/>
          <p:cNvSpPr/>
          <p:nvPr/>
        </p:nvSpPr>
        <p:spPr>
          <a:xfrm>
            <a:off x="2642616" y="2834640"/>
            <a:ext cx="2057400" cy="475488"/>
          </a:xfrm>
          <a:prstGeom prst="rect">
            <a:avLst/>
          </a:prstGeom>
          <a:solidFill>
            <a:srgbClr val="26215C"/>
          </a:solidFill>
          <a:ln w="508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40" name="Text 38"/>
          <p:cNvSpPr/>
          <p:nvPr/>
        </p:nvSpPr>
        <p:spPr>
          <a:xfrm>
            <a:off x="2697480" y="2834640"/>
            <a:ext cx="1965960" cy="475488"/>
          </a:xfrm>
          <a:prstGeom prst="rect">
            <a:avLst/>
          </a:prstGeom>
          <a:noFill/>
          <a:ln/>
        </p:spPr>
        <p:txBody>
          <a:bodyPr wrap="square" lIns="0" tIns="0" rIns="0" bIns="0" rtlCol="0" anchor="ctr"/>
          <a:lstStyle/>
          <a:p>
            <a:pPr marL="0" indent="0" algn="l">
              <a:buNone/>
            </a:pPr>
            <a:r>
              <a:rPr lang="en-US" sz="850" dirty="0">
                <a:solidFill>
                  <a:srgbClr val="E8EDF4"/>
                </a:solidFill>
                <a:latin typeface="Calibri" pitchFamily="34" charset="0"/>
                <a:ea typeface="Calibri" pitchFamily="34" charset="-122"/>
                <a:cs typeface="Calibri" pitchFamily="34" charset="-120"/>
              </a:rPr>
              <a:t>✓  WebSecurityConfigurerAdapter completely removed</a:t>
            </a:r>
            <a:endParaRPr lang="en-US" sz="850" dirty="0"/>
          </a:p>
        </p:txBody>
      </p:sp>
      <p:sp>
        <p:nvSpPr>
          <p:cNvPr id="41" name="Shape 39"/>
          <p:cNvSpPr/>
          <p:nvPr/>
        </p:nvSpPr>
        <p:spPr>
          <a:xfrm>
            <a:off x="2642616" y="3383280"/>
            <a:ext cx="2057400" cy="475488"/>
          </a:xfrm>
          <a:prstGeom prst="rect">
            <a:avLst/>
          </a:prstGeom>
          <a:solidFill>
            <a:srgbClr val="26215C"/>
          </a:solidFill>
          <a:ln w="508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42" name="Text 40"/>
          <p:cNvSpPr/>
          <p:nvPr/>
        </p:nvSpPr>
        <p:spPr>
          <a:xfrm>
            <a:off x="2697480" y="3383280"/>
            <a:ext cx="1965960" cy="475488"/>
          </a:xfrm>
          <a:prstGeom prst="rect">
            <a:avLst/>
          </a:prstGeom>
          <a:noFill/>
          <a:ln/>
        </p:spPr>
        <p:txBody>
          <a:bodyPr wrap="square" lIns="0" tIns="0" rIns="0" bIns="0" rtlCol="0" anchor="ctr"/>
          <a:lstStyle/>
          <a:p>
            <a:pPr marL="0" indent="0" algn="l">
              <a:buNone/>
            </a:pPr>
            <a:r>
              <a:rPr lang="en-US" sz="850" dirty="0">
                <a:solidFill>
                  <a:srgbClr val="E8EDF4"/>
                </a:solidFill>
                <a:latin typeface="Calibri" pitchFamily="34" charset="0"/>
                <a:ea typeface="Calibri" pitchFamily="34" charset="-122"/>
                <a:cs typeface="Calibri" pitchFamily="34" charset="-120"/>
              </a:rPr>
              <a:t>✓  antMatchers fully replaced with requestMatchers</a:t>
            </a:r>
            <a:endParaRPr lang="en-US" sz="850" dirty="0"/>
          </a:p>
        </p:txBody>
      </p:sp>
      <p:sp>
        <p:nvSpPr>
          <p:cNvPr id="43" name="Shape 41"/>
          <p:cNvSpPr/>
          <p:nvPr/>
        </p:nvSpPr>
        <p:spPr>
          <a:xfrm>
            <a:off x="2642616" y="3931920"/>
            <a:ext cx="2057400" cy="475488"/>
          </a:xfrm>
          <a:prstGeom prst="rect">
            <a:avLst/>
          </a:prstGeom>
          <a:solidFill>
            <a:srgbClr val="26215C"/>
          </a:solidFill>
          <a:ln w="508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44" name="Text 42"/>
          <p:cNvSpPr/>
          <p:nvPr/>
        </p:nvSpPr>
        <p:spPr>
          <a:xfrm>
            <a:off x="2697480" y="3931920"/>
            <a:ext cx="1965960" cy="475488"/>
          </a:xfrm>
          <a:prstGeom prst="rect">
            <a:avLst/>
          </a:prstGeom>
          <a:noFill/>
          <a:ln/>
        </p:spPr>
        <p:txBody>
          <a:bodyPr wrap="square" lIns="0" tIns="0" rIns="0" bIns="0" rtlCol="0" anchor="ctr"/>
          <a:lstStyle/>
          <a:p>
            <a:pPr marL="0" indent="0" algn="l">
              <a:buNone/>
            </a:pPr>
            <a:r>
              <a:rPr lang="en-US" sz="850" dirty="0">
                <a:solidFill>
                  <a:srgbClr val="E8EDF4"/>
                </a:solidFill>
                <a:latin typeface="Calibri" pitchFamily="34" charset="0"/>
                <a:ea typeface="Calibri" pitchFamily="34" charset="-122"/>
                <a:cs typeface="Calibri" pitchFamily="34" charset="-120"/>
              </a:rPr>
              <a:t>✓  Jackson serialisation patterns are Spring 6 compliant</a:t>
            </a:r>
            <a:endParaRPr lang="en-US" sz="850" dirty="0"/>
          </a:p>
        </p:txBody>
      </p:sp>
      <p:sp>
        <p:nvSpPr>
          <p:cNvPr id="45" name="Shape 43"/>
          <p:cNvSpPr/>
          <p:nvPr/>
        </p:nvSpPr>
        <p:spPr>
          <a:xfrm>
            <a:off x="2642616" y="4480560"/>
            <a:ext cx="2057400" cy="475488"/>
          </a:xfrm>
          <a:prstGeom prst="rect">
            <a:avLst/>
          </a:prstGeom>
          <a:solidFill>
            <a:srgbClr val="26215C"/>
          </a:solidFill>
          <a:ln w="508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46" name="Text 44"/>
          <p:cNvSpPr/>
          <p:nvPr/>
        </p:nvSpPr>
        <p:spPr>
          <a:xfrm>
            <a:off x="2697480" y="4480560"/>
            <a:ext cx="1965960" cy="475488"/>
          </a:xfrm>
          <a:prstGeom prst="rect">
            <a:avLst/>
          </a:prstGeom>
          <a:noFill/>
          <a:ln/>
        </p:spPr>
        <p:txBody>
          <a:bodyPr wrap="square" lIns="0" tIns="0" rIns="0" bIns="0" rtlCol="0" anchor="ctr"/>
          <a:lstStyle/>
          <a:p>
            <a:pPr marL="0" indent="0" algn="l">
              <a:buNone/>
            </a:pPr>
            <a:r>
              <a:rPr lang="en-US" sz="850" dirty="0">
                <a:solidFill>
                  <a:srgbClr val="E8EDF4"/>
                </a:solidFill>
                <a:latin typeface="Calibri" pitchFamily="34" charset="0"/>
                <a:ea typeface="Calibri" pitchFamily="34" charset="-122"/>
                <a:cs typeface="Calibri" pitchFamily="34" charset="-120"/>
              </a:rPr>
              <a:t>✓  pom.xml Spring Boot version is compatible</a:t>
            </a:r>
            <a:endParaRPr lang="en-US" sz="850" dirty="0"/>
          </a:p>
        </p:txBody>
      </p:sp>
      <p:sp>
        <p:nvSpPr>
          <p:cNvPr id="47" name="Shape 45"/>
          <p:cNvSpPr/>
          <p:nvPr/>
        </p:nvSpPr>
        <p:spPr>
          <a:xfrm>
            <a:off x="2642616" y="5084064"/>
            <a:ext cx="2057400" cy="219456"/>
          </a:xfrm>
          <a:prstGeom prst="rect">
            <a:avLst/>
          </a:prstGeom>
          <a:solidFill>
            <a:srgbClr val="E05252"/>
          </a:solidFill>
          <a:ln w="6350">
            <a:solidFill>
              <a:srgbClr val="E05252"/>
            </a:solidFill>
            <a:prstDash val="solid"/>
          </a:ln>
          <a:effectLst>
            <a:outerShdw blurRad="101600" dist="1016" dir="8100000" algn="bl" rotWithShape="0">
              <a:srgbClr val="000000">
                <a:alpha val="9000"/>
              </a:srgbClr>
            </a:outerShdw>
          </a:effectLst>
        </p:spPr>
        <p:txBody>
          <a:bodyPr/>
          <a:lstStyle/>
          <a:p>
            <a:endParaRPr lang="en-US"/>
          </a:p>
        </p:txBody>
      </p:sp>
      <p:sp>
        <p:nvSpPr>
          <p:cNvPr id="48" name="Text 46"/>
          <p:cNvSpPr/>
          <p:nvPr/>
        </p:nvSpPr>
        <p:spPr>
          <a:xfrm>
            <a:off x="2679192" y="5084064"/>
            <a:ext cx="1984248" cy="128016"/>
          </a:xfrm>
          <a:prstGeom prst="rect">
            <a:avLst/>
          </a:prstGeom>
          <a:noFill/>
          <a:ln/>
        </p:spPr>
        <p:txBody>
          <a:bodyPr wrap="square" lIns="0" tIns="0" rIns="0" bIns="0" rtlCol="0" anchor="ctr"/>
          <a:lstStyle/>
          <a:p>
            <a:pPr marL="0" indent="0" algn="l">
              <a:buNone/>
            </a:pPr>
            <a:r>
              <a:rPr lang="en-US" sz="700" b="1" dirty="0">
                <a:solidFill>
                  <a:srgbClr val="FFFFFF"/>
                </a:solidFill>
                <a:latin typeface="Calibri" pitchFamily="34" charset="0"/>
                <a:ea typeface="Calibri" pitchFamily="34" charset="-122"/>
                <a:cs typeface="Calibri" pitchFamily="34" charset="-120"/>
              </a:rPr>
              <a:t>Flags for human review:</a:t>
            </a:r>
            <a:endParaRPr lang="en-US" sz="700" dirty="0"/>
          </a:p>
        </p:txBody>
      </p:sp>
      <p:sp>
        <p:nvSpPr>
          <p:cNvPr id="49" name="Text 47"/>
          <p:cNvSpPr/>
          <p:nvPr/>
        </p:nvSpPr>
        <p:spPr>
          <a:xfrm>
            <a:off x="2679192" y="5212080"/>
            <a:ext cx="1984248" cy="146304"/>
          </a:xfrm>
          <a:prstGeom prst="rect">
            <a:avLst/>
          </a:prstGeom>
          <a:noFill/>
          <a:ln/>
        </p:spPr>
        <p:txBody>
          <a:bodyPr wrap="square" lIns="0" tIns="0" rIns="0" bIns="0" rtlCol="0" anchor="ctr"/>
          <a:lstStyle/>
          <a:p>
            <a:pPr marL="0" indent="0" algn="l">
              <a:buNone/>
            </a:pPr>
            <a:r>
              <a:rPr lang="en-US" sz="750" i="1" dirty="0">
                <a:solidFill>
                  <a:srgbClr val="FFFFFF"/>
                </a:solidFill>
                <a:latin typeface="Calibri" pitchFamily="34" charset="0"/>
                <a:ea typeface="Calibri" pitchFamily="34" charset="-122"/>
                <a:cs typeface="Calibri" pitchFamily="34" charset="-120"/>
              </a:rPr>
              <a:t>Security config gaps · Version mismatches</a:t>
            </a:r>
            <a:endParaRPr lang="en-US" sz="750" dirty="0"/>
          </a:p>
        </p:txBody>
      </p:sp>
      <p:sp>
        <p:nvSpPr>
          <p:cNvPr id="50" name="Shape 48"/>
          <p:cNvSpPr/>
          <p:nvPr/>
        </p:nvSpPr>
        <p:spPr>
          <a:xfrm>
            <a:off x="2642616" y="6245352"/>
            <a:ext cx="621792" cy="219456"/>
          </a:xfrm>
          <a:prstGeom prst="rect">
            <a:avLst/>
          </a:prstGeom>
          <a:solidFill>
            <a:srgbClr val="1D9E75"/>
          </a:solidFill>
          <a:ln w="6350">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51" name="Text 49"/>
          <p:cNvSpPr/>
          <p:nvPr/>
        </p:nvSpPr>
        <p:spPr>
          <a:xfrm>
            <a:off x="2642616" y="6245352"/>
            <a:ext cx="621792" cy="219456"/>
          </a:xfrm>
          <a:prstGeom prst="rect">
            <a:avLst/>
          </a:prstGeom>
          <a:noFill/>
          <a:ln/>
        </p:spPr>
        <p:txBody>
          <a:bodyPr wrap="square" lIns="0" tIns="0" rIns="0" bIns="0" rtlCol="0" anchor="ctr"/>
          <a:lstStyle/>
          <a:p>
            <a:pPr marL="0" indent="0" algn="ctr">
              <a:buNone/>
            </a:pPr>
            <a:r>
              <a:rPr lang="en-US" sz="750" b="1" dirty="0">
                <a:solidFill>
                  <a:srgbClr val="FFFFFF"/>
                </a:solidFill>
                <a:latin typeface="Calibri" pitchFamily="34" charset="0"/>
                <a:ea typeface="Calibri" pitchFamily="34" charset="-122"/>
                <a:cs typeface="Calibri" pitchFamily="34" charset="-120"/>
              </a:rPr>
              <a:t>PASS</a:t>
            </a:r>
            <a:endParaRPr lang="en-US" sz="750" dirty="0"/>
          </a:p>
        </p:txBody>
      </p:sp>
      <p:sp>
        <p:nvSpPr>
          <p:cNvPr id="52" name="Shape 50"/>
          <p:cNvSpPr/>
          <p:nvPr/>
        </p:nvSpPr>
        <p:spPr>
          <a:xfrm>
            <a:off x="3319272" y="6245352"/>
            <a:ext cx="621792" cy="219456"/>
          </a:xfrm>
          <a:prstGeom prst="rect">
            <a:avLst/>
          </a:prstGeom>
          <a:solidFill>
            <a:srgbClr val="F5A623"/>
          </a:solidFill>
          <a:ln w="6350">
            <a:solidFill>
              <a:srgbClr val="F5A623"/>
            </a:solidFill>
            <a:prstDash val="solid"/>
          </a:ln>
          <a:effectLst>
            <a:outerShdw blurRad="101600" dist="1016" dir="8100000" algn="bl" rotWithShape="0">
              <a:srgbClr val="000000">
                <a:alpha val="9000"/>
              </a:srgbClr>
            </a:outerShdw>
          </a:effectLst>
        </p:spPr>
        <p:txBody>
          <a:bodyPr/>
          <a:lstStyle/>
          <a:p>
            <a:endParaRPr lang="en-US"/>
          </a:p>
        </p:txBody>
      </p:sp>
      <p:sp>
        <p:nvSpPr>
          <p:cNvPr id="53" name="Text 51"/>
          <p:cNvSpPr/>
          <p:nvPr/>
        </p:nvSpPr>
        <p:spPr>
          <a:xfrm>
            <a:off x="3319272" y="6245352"/>
            <a:ext cx="621792" cy="219456"/>
          </a:xfrm>
          <a:prstGeom prst="rect">
            <a:avLst/>
          </a:prstGeom>
          <a:noFill/>
          <a:ln/>
        </p:spPr>
        <p:txBody>
          <a:bodyPr wrap="square" lIns="0" tIns="0" rIns="0" bIns="0" rtlCol="0" anchor="ctr"/>
          <a:lstStyle/>
          <a:p>
            <a:pPr marL="0" indent="0" algn="ctr">
              <a:buNone/>
            </a:pPr>
            <a:r>
              <a:rPr lang="en-US" sz="750" b="1" dirty="0">
                <a:solidFill>
                  <a:srgbClr val="FFFFFF"/>
                </a:solidFill>
                <a:latin typeface="Calibri" pitchFamily="34" charset="0"/>
                <a:ea typeface="Calibri" pitchFamily="34" charset="-122"/>
                <a:cs typeface="Calibri" pitchFamily="34" charset="-120"/>
              </a:rPr>
              <a:t>RETRY</a:t>
            </a:r>
            <a:endParaRPr lang="en-US" sz="750" dirty="0"/>
          </a:p>
        </p:txBody>
      </p:sp>
      <p:sp>
        <p:nvSpPr>
          <p:cNvPr id="54" name="Shape 52"/>
          <p:cNvSpPr/>
          <p:nvPr/>
        </p:nvSpPr>
        <p:spPr>
          <a:xfrm>
            <a:off x="3995928" y="6245352"/>
            <a:ext cx="621792" cy="219456"/>
          </a:xfrm>
          <a:prstGeom prst="rect">
            <a:avLst/>
          </a:prstGeom>
          <a:solidFill>
            <a:srgbClr val="E05252"/>
          </a:solidFill>
          <a:ln w="6350">
            <a:solidFill>
              <a:srgbClr val="E05252"/>
            </a:solidFill>
            <a:prstDash val="solid"/>
          </a:ln>
          <a:effectLst>
            <a:outerShdw blurRad="101600" dist="1016" dir="8100000" algn="bl" rotWithShape="0">
              <a:srgbClr val="000000">
                <a:alpha val="9000"/>
              </a:srgbClr>
            </a:outerShdw>
          </a:effectLst>
        </p:spPr>
        <p:txBody>
          <a:bodyPr/>
          <a:lstStyle/>
          <a:p>
            <a:endParaRPr lang="en-US"/>
          </a:p>
        </p:txBody>
      </p:sp>
      <p:sp>
        <p:nvSpPr>
          <p:cNvPr id="55" name="Text 53"/>
          <p:cNvSpPr/>
          <p:nvPr/>
        </p:nvSpPr>
        <p:spPr>
          <a:xfrm>
            <a:off x="3995928" y="6245352"/>
            <a:ext cx="621792" cy="219456"/>
          </a:xfrm>
          <a:prstGeom prst="rect">
            <a:avLst/>
          </a:prstGeom>
          <a:noFill/>
          <a:ln/>
        </p:spPr>
        <p:txBody>
          <a:bodyPr wrap="square" lIns="0" tIns="0" rIns="0" bIns="0" rtlCol="0" anchor="ctr"/>
          <a:lstStyle/>
          <a:p>
            <a:pPr marL="0" indent="0" algn="ctr">
              <a:buNone/>
            </a:pPr>
            <a:r>
              <a:rPr lang="en-US" sz="750" b="1" dirty="0">
                <a:solidFill>
                  <a:srgbClr val="FFFFFF"/>
                </a:solidFill>
                <a:latin typeface="Calibri" pitchFamily="34" charset="0"/>
                <a:ea typeface="Calibri" pitchFamily="34" charset="-122"/>
                <a:cs typeface="Calibri" pitchFamily="34" charset="-120"/>
              </a:rPr>
              <a:t>MANUAL</a:t>
            </a:r>
            <a:endParaRPr lang="en-US" sz="750" dirty="0"/>
          </a:p>
        </p:txBody>
      </p:sp>
      <p:sp>
        <p:nvSpPr>
          <p:cNvPr id="56" name="Text 54"/>
          <p:cNvSpPr/>
          <p:nvPr/>
        </p:nvSpPr>
        <p:spPr>
          <a:xfrm>
            <a:off x="2642616" y="6492240"/>
            <a:ext cx="2057400" cy="164592"/>
          </a:xfrm>
          <a:prstGeom prst="rect">
            <a:avLst/>
          </a:prstGeom>
          <a:noFill/>
          <a:ln/>
        </p:spPr>
        <p:txBody>
          <a:bodyPr wrap="square" lIns="0" tIns="0" rIns="0" bIns="0" rtlCol="0" anchor="ctr"/>
          <a:lstStyle/>
          <a:p>
            <a:pPr marL="0" indent="0" algn="ctr">
              <a:buNone/>
            </a:pPr>
            <a:r>
              <a:rPr lang="en-US" sz="700" dirty="0">
                <a:solidFill>
                  <a:srgbClr val="26215C"/>
                </a:solidFill>
                <a:latin typeface="Calibri" pitchFamily="34" charset="0"/>
                <a:ea typeface="Calibri" pitchFamily="34" charset="-122"/>
                <a:cs typeface="Calibri" pitchFamily="34" charset="-120"/>
              </a:rPr>
              <a:t>score ≥80 · 50–79 · &lt;50</a:t>
            </a:r>
            <a:endParaRPr lang="en-US" sz="700" dirty="0"/>
          </a:p>
        </p:txBody>
      </p:sp>
      <p:sp>
        <p:nvSpPr>
          <p:cNvPr id="57" name="Shape 55"/>
          <p:cNvSpPr/>
          <p:nvPr/>
        </p:nvSpPr>
        <p:spPr>
          <a:xfrm>
            <a:off x="4882896" y="1719072"/>
            <a:ext cx="2240280" cy="5029200"/>
          </a:xfrm>
          <a:prstGeom prst="rect">
            <a:avLst/>
          </a:prstGeom>
          <a:solidFill>
            <a:srgbClr val="EEEDFE"/>
          </a:solidFill>
          <a:ln w="9525">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58" name="Shape 56"/>
          <p:cNvSpPr/>
          <p:nvPr/>
        </p:nvSpPr>
        <p:spPr>
          <a:xfrm>
            <a:off x="4882896" y="1719072"/>
            <a:ext cx="2240280" cy="420624"/>
          </a:xfrm>
          <a:prstGeom prst="rect">
            <a:avLst/>
          </a:prstGeom>
          <a:solidFill>
            <a:srgbClr val="534AB7"/>
          </a:solidFill>
          <a:ln w="635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59" name="Text 57"/>
          <p:cNvSpPr/>
          <p:nvPr/>
        </p:nvSpPr>
        <p:spPr>
          <a:xfrm>
            <a:off x="4974336" y="1719072"/>
            <a:ext cx="2057400" cy="420624"/>
          </a:xfrm>
          <a:prstGeom prst="rect">
            <a:avLst/>
          </a:prstGeom>
          <a:noFill/>
          <a:ln/>
        </p:spPr>
        <p:txBody>
          <a:bodyPr wrap="square" lIns="0" tIns="0" rIns="0" bIns="0" rtlCol="0" anchor="ctr"/>
          <a:lstStyle/>
          <a:p>
            <a:pPr marL="0" indent="0" algn="l">
              <a:buNone/>
            </a:pPr>
            <a:r>
              <a:rPr lang="en-US" sz="950" b="1" dirty="0">
                <a:solidFill>
                  <a:srgbClr val="FFFFFF"/>
                </a:solidFill>
                <a:latin typeface="Georgia" pitchFamily="34" charset="0"/>
                <a:ea typeface="Georgia" pitchFamily="34" charset="-122"/>
                <a:cs typeface="Georgia" pitchFamily="34" charset="-120"/>
              </a:rPr>
              <a:t>Struts Review Agent</a:t>
            </a:r>
            <a:endParaRPr lang="en-US" sz="950" dirty="0"/>
          </a:p>
        </p:txBody>
      </p:sp>
      <p:sp>
        <p:nvSpPr>
          <p:cNvPr id="60" name="Shape 58"/>
          <p:cNvSpPr/>
          <p:nvPr/>
        </p:nvSpPr>
        <p:spPr>
          <a:xfrm>
            <a:off x="4974336" y="2212848"/>
            <a:ext cx="2057400" cy="329184"/>
          </a:xfrm>
          <a:prstGeom prst="rect">
            <a:avLst/>
          </a:prstGeom>
          <a:solidFill>
            <a:srgbClr val="3C3489"/>
          </a:solidFill>
          <a:ln w="508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61" name="Text 59"/>
          <p:cNvSpPr/>
          <p:nvPr/>
        </p:nvSpPr>
        <p:spPr>
          <a:xfrm>
            <a:off x="5010912" y="2212848"/>
            <a:ext cx="1984248" cy="329184"/>
          </a:xfrm>
          <a:prstGeom prst="rect">
            <a:avLst/>
          </a:prstGeom>
          <a:noFill/>
          <a:ln/>
        </p:spPr>
        <p:txBody>
          <a:bodyPr wrap="square" lIns="0" tIns="0" rIns="0" bIns="0" rtlCol="0" anchor="ctr"/>
          <a:lstStyle/>
          <a:p>
            <a:pPr marL="0" indent="0" algn="l">
              <a:buNone/>
            </a:pPr>
            <a:r>
              <a:rPr lang="en-US" sz="850" i="1" dirty="0">
                <a:solidFill>
                  <a:srgbClr val="E8EDF4"/>
                </a:solidFill>
                <a:latin typeface="Georgia" pitchFamily="34" charset="0"/>
                <a:ea typeface="Georgia" pitchFamily="34" charset="-122"/>
                <a:cs typeface="Georgia" pitchFamily="34" charset="-120"/>
              </a:rPr>
              <a:t>Is Struts completely and correctly eliminated?</a:t>
            </a:r>
            <a:endParaRPr lang="en-US" sz="850" dirty="0"/>
          </a:p>
        </p:txBody>
      </p:sp>
      <p:sp>
        <p:nvSpPr>
          <p:cNvPr id="62" name="Text 60"/>
          <p:cNvSpPr/>
          <p:nvPr/>
        </p:nvSpPr>
        <p:spPr>
          <a:xfrm>
            <a:off x="4974336" y="2615184"/>
            <a:ext cx="2057400" cy="201168"/>
          </a:xfrm>
          <a:prstGeom prst="rect">
            <a:avLst/>
          </a:prstGeom>
          <a:noFill/>
          <a:ln/>
        </p:spPr>
        <p:txBody>
          <a:bodyPr wrap="square" lIns="0" tIns="0" rIns="0" bIns="0" rtlCol="0" anchor="ctr"/>
          <a:lstStyle/>
          <a:p>
            <a:pPr marL="0" indent="0" algn="l">
              <a:buNone/>
            </a:pPr>
            <a:r>
              <a:rPr lang="en-US" sz="850" b="1" dirty="0">
                <a:solidFill>
                  <a:srgbClr val="534AB7"/>
                </a:solidFill>
                <a:latin typeface="Calibri" pitchFamily="34" charset="0"/>
                <a:ea typeface="Calibri" pitchFamily="34" charset="-122"/>
                <a:cs typeface="Calibri" pitchFamily="34" charset="-120"/>
              </a:rPr>
              <a:t>What it checks:</a:t>
            </a:r>
            <a:endParaRPr lang="en-US" sz="850" dirty="0"/>
          </a:p>
        </p:txBody>
      </p:sp>
      <p:sp>
        <p:nvSpPr>
          <p:cNvPr id="63" name="Shape 61"/>
          <p:cNvSpPr/>
          <p:nvPr/>
        </p:nvSpPr>
        <p:spPr>
          <a:xfrm>
            <a:off x="4974336" y="2834640"/>
            <a:ext cx="2057400" cy="475488"/>
          </a:xfrm>
          <a:prstGeom prst="rect">
            <a:avLst/>
          </a:prstGeom>
          <a:solidFill>
            <a:srgbClr val="26215C"/>
          </a:solidFill>
          <a:ln w="508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64" name="Text 62"/>
          <p:cNvSpPr/>
          <p:nvPr/>
        </p:nvSpPr>
        <p:spPr>
          <a:xfrm>
            <a:off x="5029200" y="2834640"/>
            <a:ext cx="1965960" cy="475488"/>
          </a:xfrm>
          <a:prstGeom prst="rect">
            <a:avLst/>
          </a:prstGeom>
          <a:noFill/>
          <a:ln/>
        </p:spPr>
        <p:txBody>
          <a:bodyPr wrap="square" lIns="0" tIns="0" rIns="0" bIns="0" rtlCol="0" anchor="ctr"/>
          <a:lstStyle/>
          <a:p>
            <a:pPr marL="0" indent="0" algn="l">
              <a:buNone/>
            </a:pPr>
            <a:r>
              <a:rPr lang="en-US" sz="850" dirty="0">
                <a:solidFill>
                  <a:srgbClr val="E8EDF4"/>
                </a:solidFill>
                <a:latin typeface="Calibri" pitchFamily="34" charset="0"/>
                <a:ea typeface="Calibri" pitchFamily="34" charset="-122"/>
                <a:cs typeface="Calibri" pitchFamily="34" charset="-120"/>
              </a:rPr>
              <a:t>✓  Zero ActionSupport or Action class references remain</a:t>
            </a:r>
            <a:endParaRPr lang="en-US" sz="850" dirty="0"/>
          </a:p>
        </p:txBody>
      </p:sp>
      <p:sp>
        <p:nvSpPr>
          <p:cNvPr id="65" name="Shape 63"/>
          <p:cNvSpPr/>
          <p:nvPr/>
        </p:nvSpPr>
        <p:spPr>
          <a:xfrm>
            <a:off x="4974336" y="3383280"/>
            <a:ext cx="2057400" cy="475488"/>
          </a:xfrm>
          <a:prstGeom prst="rect">
            <a:avLst/>
          </a:prstGeom>
          <a:solidFill>
            <a:srgbClr val="26215C"/>
          </a:solidFill>
          <a:ln w="508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66" name="Text 64"/>
          <p:cNvSpPr/>
          <p:nvPr/>
        </p:nvSpPr>
        <p:spPr>
          <a:xfrm>
            <a:off x="5029200" y="3383280"/>
            <a:ext cx="1965960" cy="475488"/>
          </a:xfrm>
          <a:prstGeom prst="rect">
            <a:avLst/>
          </a:prstGeom>
          <a:noFill/>
          <a:ln/>
        </p:spPr>
        <p:txBody>
          <a:bodyPr wrap="square" lIns="0" tIns="0" rIns="0" bIns="0" rtlCol="0" anchor="ctr"/>
          <a:lstStyle/>
          <a:p>
            <a:pPr marL="0" indent="0" algn="l">
              <a:buNone/>
            </a:pPr>
            <a:r>
              <a:rPr lang="en-US" sz="850" dirty="0">
                <a:solidFill>
                  <a:srgbClr val="E8EDF4"/>
                </a:solidFill>
                <a:latin typeface="Calibri" pitchFamily="34" charset="0"/>
                <a:ea typeface="Calibri" pitchFamily="34" charset="-122"/>
                <a:cs typeface="Calibri" pitchFamily="34" charset="-120"/>
              </a:rPr>
              <a:t>✓  Every struts.xml route has a @RequestMapping equivalent</a:t>
            </a:r>
            <a:endParaRPr lang="en-US" sz="850" dirty="0"/>
          </a:p>
        </p:txBody>
      </p:sp>
      <p:sp>
        <p:nvSpPr>
          <p:cNvPr id="67" name="Shape 65"/>
          <p:cNvSpPr/>
          <p:nvPr/>
        </p:nvSpPr>
        <p:spPr>
          <a:xfrm>
            <a:off x="4974336" y="3931920"/>
            <a:ext cx="2057400" cy="475488"/>
          </a:xfrm>
          <a:prstGeom prst="rect">
            <a:avLst/>
          </a:prstGeom>
          <a:solidFill>
            <a:srgbClr val="26215C"/>
          </a:solidFill>
          <a:ln w="508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68" name="Text 66"/>
          <p:cNvSpPr/>
          <p:nvPr/>
        </p:nvSpPr>
        <p:spPr>
          <a:xfrm>
            <a:off x="5029200" y="3931920"/>
            <a:ext cx="1965960" cy="475488"/>
          </a:xfrm>
          <a:prstGeom prst="rect">
            <a:avLst/>
          </a:prstGeom>
          <a:noFill/>
          <a:ln/>
        </p:spPr>
        <p:txBody>
          <a:bodyPr wrap="square" lIns="0" tIns="0" rIns="0" bIns="0" rtlCol="0" anchor="ctr"/>
          <a:lstStyle/>
          <a:p>
            <a:pPr marL="0" indent="0" algn="l">
              <a:buNone/>
            </a:pPr>
            <a:r>
              <a:rPr lang="en-US" sz="850" dirty="0">
                <a:solidFill>
                  <a:srgbClr val="E8EDF4"/>
                </a:solidFill>
                <a:latin typeface="Calibri" pitchFamily="34" charset="0"/>
                <a:ea typeface="Calibri" pitchFamily="34" charset="-122"/>
                <a:cs typeface="Calibri" pitchFamily="34" charset="-120"/>
              </a:rPr>
              <a:t>✓  Zero OGNL expressions (%{...}) in any JSP file</a:t>
            </a:r>
            <a:endParaRPr lang="en-US" sz="850" dirty="0"/>
          </a:p>
        </p:txBody>
      </p:sp>
      <p:sp>
        <p:nvSpPr>
          <p:cNvPr id="69" name="Shape 67"/>
          <p:cNvSpPr/>
          <p:nvPr/>
        </p:nvSpPr>
        <p:spPr>
          <a:xfrm>
            <a:off x="4974336" y="4480560"/>
            <a:ext cx="2057400" cy="475488"/>
          </a:xfrm>
          <a:prstGeom prst="rect">
            <a:avLst/>
          </a:prstGeom>
          <a:solidFill>
            <a:srgbClr val="26215C"/>
          </a:solidFill>
          <a:ln w="508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70" name="Text 68"/>
          <p:cNvSpPr/>
          <p:nvPr/>
        </p:nvSpPr>
        <p:spPr>
          <a:xfrm>
            <a:off x="5029200" y="4480560"/>
            <a:ext cx="1965960" cy="475488"/>
          </a:xfrm>
          <a:prstGeom prst="rect">
            <a:avLst/>
          </a:prstGeom>
          <a:noFill/>
          <a:ln/>
        </p:spPr>
        <p:txBody>
          <a:bodyPr wrap="square" lIns="0" tIns="0" rIns="0" bIns="0" rtlCol="0" anchor="ctr"/>
          <a:lstStyle/>
          <a:p>
            <a:pPr marL="0" indent="0" algn="l">
              <a:buNone/>
            </a:pPr>
            <a:r>
              <a:rPr lang="en-US" sz="850" dirty="0">
                <a:solidFill>
                  <a:srgbClr val="E8EDF4"/>
                </a:solidFill>
                <a:latin typeface="Calibri" pitchFamily="34" charset="0"/>
                <a:ea typeface="Calibri" pitchFamily="34" charset="-122"/>
                <a:cs typeface="Calibri" pitchFamily="34" charset="-120"/>
              </a:rPr>
              <a:t>✓  Every &lt;s:&gt; tag has been replaced</a:t>
            </a:r>
            <a:endParaRPr lang="en-US" sz="850" dirty="0"/>
          </a:p>
        </p:txBody>
      </p:sp>
      <p:sp>
        <p:nvSpPr>
          <p:cNvPr id="71" name="Shape 69"/>
          <p:cNvSpPr/>
          <p:nvPr/>
        </p:nvSpPr>
        <p:spPr>
          <a:xfrm>
            <a:off x="4974336" y="5084064"/>
            <a:ext cx="2057400" cy="219456"/>
          </a:xfrm>
          <a:prstGeom prst="rect">
            <a:avLst/>
          </a:prstGeom>
          <a:solidFill>
            <a:srgbClr val="E05252"/>
          </a:solidFill>
          <a:ln w="6350">
            <a:solidFill>
              <a:srgbClr val="E05252"/>
            </a:solidFill>
            <a:prstDash val="solid"/>
          </a:ln>
          <a:effectLst>
            <a:outerShdw blurRad="101600" dist="1016" dir="8100000" algn="bl" rotWithShape="0">
              <a:srgbClr val="000000">
                <a:alpha val="9000"/>
              </a:srgbClr>
            </a:outerShdw>
          </a:effectLst>
        </p:spPr>
        <p:txBody>
          <a:bodyPr/>
          <a:lstStyle/>
          <a:p>
            <a:endParaRPr lang="en-US"/>
          </a:p>
        </p:txBody>
      </p:sp>
      <p:sp>
        <p:nvSpPr>
          <p:cNvPr id="72" name="Text 70"/>
          <p:cNvSpPr/>
          <p:nvPr/>
        </p:nvSpPr>
        <p:spPr>
          <a:xfrm>
            <a:off x="5010912" y="5084064"/>
            <a:ext cx="1984248" cy="128016"/>
          </a:xfrm>
          <a:prstGeom prst="rect">
            <a:avLst/>
          </a:prstGeom>
          <a:noFill/>
          <a:ln/>
        </p:spPr>
        <p:txBody>
          <a:bodyPr wrap="square" lIns="0" tIns="0" rIns="0" bIns="0" rtlCol="0" anchor="ctr"/>
          <a:lstStyle/>
          <a:p>
            <a:pPr marL="0" indent="0" algn="l">
              <a:buNone/>
            </a:pPr>
            <a:r>
              <a:rPr lang="en-US" sz="700" b="1" dirty="0">
                <a:solidFill>
                  <a:srgbClr val="FFFFFF"/>
                </a:solidFill>
                <a:latin typeface="Calibri" pitchFamily="34" charset="0"/>
                <a:ea typeface="Calibri" pitchFamily="34" charset="-122"/>
                <a:cs typeface="Calibri" pitchFamily="34" charset="-120"/>
              </a:rPr>
              <a:t>Flags for human review:</a:t>
            </a:r>
            <a:endParaRPr lang="en-US" sz="700" dirty="0"/>
          </a:p>
        </p:txBody>
      </p:sp>
      <p:sp>
        <p:nvSpPr>
          <p:cNvPr id="73" name="Text 71"/>
          <p:cNvSpPr/>
          <p:nvPr/>
        </p:nvSpPr>
        <p:spPr>
          <a:xfrm>
            <a:off x="5010912" y="5212080"/>
            <a:ext cx="1984248" cy="146304"/>
          </a:xfrm>
          <a:prstGeom prst="rect">
            <a:avLst/>
          </a:prstGeom>
          <a:noFill/>
          <a:ln/>
        </p:spPr>
        <p:txBody>
          <a:bodyPr wrap="square" lIns="0" tIns="0" rIns="0" bIns="0" rtlCol="0" anchor="ctr"/>
          <a:lstStyle/>
          <a:p>
            <a:pPr marL="0" indent="0" algn="l">
              <a:buNone/>
            </a:pPr>
            <a:r>
              <a:rPr lang="en-US" sz="750" i="1" dirty="0">
                <a:solidFill>
                  <a:srgbClr val="FFFFFF"/>
                </a:solidFill>
                <a:latin typeface="Calibri" pitchFamily="34" charset="0"/>
                <a:ea typeface="Calibri" pitchFamily="34" charset="-122"/>
                <a:cs typeface="Calibri" pitchFamily="34" charset="-120"/>
              </a:rPr>
              <a:t>Residual Struts classes · Unmapped routes · OGNL leaks</a:t>
            </a:r>
            <a:endParaRPr lang="en-US" sz="750" dirty="0"/>
          </a:p>
        </p:txBody>
      </p:sp>
      <p:sp>
        <p:nvSpPr>
          <p:cNvPr id="74" name="Shape 72"/>
          <p:cNvSpPr/>
          <p:nvPr/>
        </p:nvSpPr>
        <p:spPr>
          <a:xfrm>
            <a:off x="4974336" y="6245352"/>
            <a:ext cx="621792" cy="219456"/>
          </a:xfrm>
          <a:prstGeom prst="rect">
            <a:avLst/>
          </a:prstGeom>
          <a:solidFill>
            <a:srgbClr val="1D9E75"/>
          </a:solidFill>
          <a:ln w="6350">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75" name="Text 73"/>
          <p:cNvSpPr/>
          <p:nvPr/>
        </p:nvSpPr>
        <p:spPr>
          <a:xfrm>
            <a:off x="4974336" y="6245352"/>
            <a:ext cx="621792" cy="219456"/>
          </a:xfrm>
          <a:prstGeom prst="rect">
            <a:avLst/>
          </a:prstGeom>
          <a:noFill/>
          <a:ln/>
        </p:spPr>
        <p:txBody>
          <a:bodyPr wrap="square" lIns="0" tIns="0" rIns="0" bIns="0" rtlCol="0" anchor="ctr"/>
          <a:lstStyle/>
          <a:p>
            <a:pPr marL="0" indent="0" algn="ctr">
              <a:buNone/>
            </a:pPr>
            <a:r>
              <a:rPr lang="en-US" sz="750" b="1" dirty="0">
                <a:solidFill>
                  <a:srgbClr val="FFFFFF"/>
                </a:solidFill>
                <a:latin typeface="Calibri" pitchFamily="34" charset="0"/>
                <a:ea typeface="Calibri" pitchFamily="34" charset="-122"/>
                <a:cs typeface="Calibri" pitchFamily="34" charset="-120"/>
              </a:rPr>
              <a:t>PASS</a:t>
            </a:r>
            <a:endParaRPr lang="en-US" sz="750" dirty="0"/>
          </a:p>
        </p:txBody>
      </p:sp>
      <p:sp>
        <p:nvSpPr>
          <p:cNvPr id="76" name="Shape 74"/>
          <p:cNvSpPr/>
          <p:nvPr/>
        </p:nvSpPr>
        <p:spPr>
          <a:xfrm>
            <a:off x="5650992" y="6245352"/>
            <a:ext cx="621792" cy="219456"/>
          </a:xfrm>
          <a:prstGeom prst="rect">
            <a:avLst/>
          </a:prstGeom>
          <a:solidFill>
            <a:srgbClr val="F5A623"/>
          </a:solidFill>
          <a:ln w="6350">
            <a:solidFill>
              <a:srgbClr val="F5A623"/>
            </a:solidFill>
            <a:prstDash val="solid"/>
          </a:ln>
          <a:effectLst>
            <a:outerShdw blurRad="101600" dist="1016" dir="8100000" algn="bl" rotWithShape="0">
              <a:srgbClr val="000000">
                <a:alpha val="9000"/>
              </a:srgbClr>
            </a:outerShdw>
          </a:effectLst>
        </p:spPr>
        <p:txBody>
          <a:bodyPr/>
          <a:lstStyle/>
          <a:p>
            <a:endParaRPr lang="en-US"/>
          </a:p>
        </p:txBody>
      </p:sp>
      <p:sp>
        <p:nvSpPr>
          <p:cNvPr id="77" name="Text 75"/>
          <p:cNvSpPr/>
          <p:nvPr/>
        </p:nvSpPr>
        <p:spPr>
          <a:xfrm>
            <a:off x="5650992" y="6245352"/>
            <a:ext cx="621792" cy="219456"/>
          </a:xfrm>
          <a:prstGeom prst="rect">
            <a:avLst/>
          </a:prstGeom>
          <a:noFill/>
          <a:ln/>
        </p:spPr>
        <p:txBody>
          <a:bodyPr wrap="square" lIns="0" tIns="0" rIns="0" bIns="0" rtlCol="0" anchor="ctr"/>
          <a:lstStyle/>
          <a:p>
            <a:pPr marL="0" indent="0" algn="ctr">
              <a:buNone/>
            </a:pPr>
            <a:r>
              <a:rPr lang="en-US" sz="750" b="1" dirty="0">
                <a:solidFill>
                  <a:srgbClr val="FFFFFF"/>
                </a:solidFill>
                <a:latin typeface="Calibri" pitchFamily="34" charset="0"/>
                <a:ea typeface="Calibri" pitchFamily="34" charset="-122"/>
                <a:cs typeface="Calibri" pitchFamily="34" charset="-120"/>
              </a:rPr>
              <a:t>RETRY</a:t>
            </a:r>
            <a:endParaRPr lang="en-US" sz="750" dirty="0"/>
          </a:p>
        </p:txBody>
      </p:sp>
      <p:sp>
        <p:nvSpPr>
          <p:cNvPr id="78" name="Shape 76"/>
          <p:cNvSpPr/>
          <p:nvPr/>
        </p:nvSpPr>
        <p:spPr>
          <a:xfrm>
            <a:off x="6327648" y="6245352"/>
            <a:ext cx="621792" cy="219456"/>
          </a:xfrm>
          <a:prstGeom prst="rect">
            <a:avLst/>
          </a:prstGeom>
          <a:solidFill>
            <a:srgbClr val="E05252"/>
          </a:solidFill>
          <a:ln w="6350">
            <a:solidFill>
              <a:srgbClr val="E05252"/>
            </a:solidFill>
            <a:prstDash val="solid"/>
          </a:ln>
          <a:effectLst>
            <a:outerShdw blurRad="101600" dist="1016" dir="8100000" algn="bl" rotWithShape="0">
              <a:srgbClr val="000000">
                <a:alpha val="9000"/>
              </a:srgbClr>
            </a:outerShdw>
          </a:effectLst>
        </p:spPr>
        <p:txBody>
          <a:bodyPr/>
          <a:lstStyle/>
          <a:p>
            <a:endParaRPr lang="en-US"/>
          </a:p>
        </p:txBody>
      </p:sp>
      <p:sp>
        <p:nvSpPr>
          <p:cNvPr id="79" name="Text 77"/>
          <p:cNvSpPr/>
          <p:nvPr/>
        </p:nvSpPr>
        <p:spPr>
          <a:xfrm>
            <a:off x="6327648" y="6245352"/>
            <a:ext cx="621792" cy="219456"/>
          </a:xfrm>
          <a:prstGeom prst="rect">
            <a:avLst/>
          </a:prstGeom>
          <a:noFill/>
          <a:ln/>
        </p:spPr>
        <p:txBody>
          <a:bodyPr wrap="square" lIns="0" tIns="0" rIns="0" bIns="0" rtlCol="0" anchor="ctr"/>
          <a:lstStyle/>
          <a:p>
            <a:pPr marL="0" indent="0" algn="ctr">
              <a:buNone/>
            </a:pPr>
            <a:r>
              <a:rPr lang="en-US" sz="750" b="1" dirty="0">
                <a:solidFill>
                  <a:srgbClr val="FFFFFF"/>
                </a:solidFill>
                <a:latin typeface="Calibri" pitchFamily="34" charset="0"/>
                <a:ea typeface="Calibri" pitchFamily="34" charset="-122"/>
                <a:cs typeface="Calibri" pitchFamily="34" charset="-120"/>
              </a:rPr>
              <a:t>MANUAL</a:t>
            </a:r>
            <a:endParaRPr lang="en-US" sz="750" dirty="0"/>
          </a:p>
        </p:txBody>
      </p:sp>
      <p:sp>
        <p:nvSpPr>
          <p:cNvPr id="80" name="Text 78"/>
          <p:cNvSpPr/>
          <p:nvPr/>
        </p:nvSpPr>
        <p:spPr>
          <a:xfrm>
            <a:off x="4974336" y="6492240"/>
            <a:ext cx="2057400" cy="164592"/>
          </a:xfrm>
          <a:prstGeom prst="rect">
            <a:avLst/>
          </a:prstGeom>
          <a:noFill/>
          <a:ln/>
        </p:spPr>
        <p:txBody>
          <a:bodyPr wrap="square" lIns="0" tIns="0" rIns="0" bIns="0" rtlCol="0" anchor="ctr"/>
          <a:lstStyle/>
          <a:p>
            <a:pPr marL="0" indent="0" algn="ctr">
              <a:buNone/>
            </a:pPr>
            <a:r>
              <a:rPr lang="en-US" sz="700" dirty="0">
                <a:solidFill>
                  <a:srgbClr val="26215C"/>
                </a:solidFill>
                <a:latin typeface="Calibri" pitchFamily="34" charset="0"/>
                <a:ea typeface="Calibri" pitchFamily="34" charset="-122"/>
                <a:cs typeface="Calibri" pitchFamily="34" charset="-120"/>
              </a:rPr>
              <a:t>score ≥80 · 50–79 · &lt;50</a:t>
            </a:r>
            <a:endParaRPr lang="en-US" sz="700" dirty="0"/>
          </a:p>
        </p:txBody>
      </p:sp>
      <p:sp>
        <p:nvSpPr>
          <p:cNvPr id="81" name="Shape 79"/>
          <p:cNvSpPr/>
          <p:nvPr/>
        </p:nvSpPr>
        <p:spPr>
          <a:xfrm>
            <a:off x="7214616" y="1719072"/>
            <a:ext cx="2240280" cy="5029200"/>
          </a:xfrm>
          <a:prstGeom prst="rect">
            <a:avLst/>
          </a:prstGeom>
          <a:solidFill>
            <a:srgbClr val="EEEDFE"/>
          </a:solidFill>
          <a:ln w="9525">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82" name="Shape 80"/>
          <p:cNvSpPr/>
          <p:nvPr/>
        </p:nvSpPr>
        <p:spPr>
          <a:xfrm>
            <a:off x="7214616" y="1719072"/>
            <a:ext cx="2240280" cy="420624"/>
          </a:xfrm>
          <a:prstGeom prst="rect">
            <a:avLst/>
          </a:prstGeom>
          <a:solidFill>
            <a:srgbClr val="534AB7"/>
          </a:solidFill>
          <a:ln w="635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83" name="Text 81"/>
          <p:cNvSpPr/>
          <p:nvPr/>
        </p:nvSpPr>
        <p:spPr>
          <a:xfrm>
            <a:off x="7306056" y="1719072"/>
            <a:ext cx="2057400" cy="420624"/>
          </a:xfrm>
          <a:prstGeom prst="rect">
            <a:avLst/>
          </a:prstGeom>
          <a:noFill/>
          <a:ln/>
        </p:spPr>
        <p:txBody>
          <a:bodyPr wrap="square" lIns="0" tIns="0" rIns="0" bIns="0" rtlCol="0" anchor="ctr"/>
          <a:lstStyle/>
          <a:p>
            <a:pPr marL="0" indent="0" algn="l">
              <a:buNone/>
            </a:pPr>
            <a:r>
              <a:rPr lang="en-US" sz="950" b="1" dirty="0">
                <a:solidFill>
                  <a:srgbClr val="FFFFFF"/>
                </a:solidFill>
                <a:latin typeface="Georgia" pitchFamily="34" charset="0"/>
                <a:ea typeface="Georgia" pitchFamily="34" charset="-122"/>
                <a:cs typeface="Georgia" pitchFamily="34" charset="-120"/>
              </a:rPr>
              <a:t>Container Review Agent</a:t>
            </a:r>
            <a:endParaRPr lang="en-US" sz="950" dirty="0"/>
          </a:p>
        </p:txBody>
      </p:sp>
      <p:sp>
        <p:nvSpPr>
          <p:cNvPr id="84" name="Shape 82"/>
          <p:cNvSpPr/>
          <p:nvPr/>
        </p:nvSpPr>
        <p:spPr>
          <a:xfrm>
            <a:off x="7306056" y="2212848"/>
            <a:ext cx="2057400" cy="329184"/>
          </a:xfrm>
          <a:prstGeom prst="rect">
            <a:avLst/>
          </a:prstGeom>
          <a:solidFill>
            <a:srgbClr val="3C3489"/>
          </a:solidFill>
          <a:ln w="508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85" name="Text 83"/>
          <p:cNvSpPr/>
          <p:nvPr/>
        </p:nvSpPr>
        <p:spPr>
          <a:xfrm>
            <a:off x="7342632" y="2212848"/>
            <a:ext cx="1984248" cy="329184"/>
          </a:xfrm>
          <a:prstGeom prst="rect">
            <a:avLst/>
          </a:prstGeom>
          <a:noFill/>
          <a:ln/>
        </p:spPr>
        <p:txBody>
          <a:bodyPr wrap="square" lIns="0" tIns="0" rIns="0" bIns="0" rtlCol="0" anchor="ctr"/>
          <a:lstStyle/>
          <a:p>
            <a:pPr marL="0" indent="0" algn="l">
              <a:buNone/>
            </a:pPr>
            <a:r>
              <a:rPr lang="en-US" sz="850" i="1" dirty="0">
                <a:solidFill>
                  <a:srgbClr val="E8EDF4"/>
                </a:solidFill>
                <a:latin typeface="Georgia" pitchFamily="34" charset="0"/>
                <a:ea typeface="Georgia" pitchFamily="34" charset="-122"/>
                <a:cs typeface="Georgia" pitchFamily="34" charset="-120"/>
              </a:rPr>
              <a:t>Is the deployment configuration correct and complete?</a:t>
            </a:r>
            <a:endParaRPr lang="en-US" sz="850" dirty="0"/>
          </a:p>
        </p:txBody>
      </p:sp>
      <p:sp>
        <p:nvSpPr>
          <p:cNvPr id="86" name="Text 84"/>
          <p:cNvSpPr/>
          <p:nvPr/>
        </p:nvSpPr>
        <p:spPr>
          <a:xfrm>
            <a:off x="7306056" y="2615184"/>
            <a:ext cx="2057400" cy="201168"/>
          </a:xfrm>
          <a:prstGeom prst="rect">
            <a:avLst/>
          </a:prstGeom>
          <a:noFill/>
          <a:ln/>
        </p:spPr>
        <p:txBody>
          <a:bodyPr wrap="square" lIns="0" tIns="0" rIns="0" bIns="0" rtlCol="0" anchor="ctr"/>
          <a:lstStyle/>
          <a:p>
            <a:pPr marL="0" indent="0" algn="l">
              <a:buNone/>
            </a:pPr>
            <a:r>
              <a:rPr lang="en-US" sz="850" b="1" dirty="0">
                <a:solidFill>
                  <a:srgbClr val="534AB7"/>
                </a:solidFill>
                <a:latin typeface="Calibri" pitchFamily="34" charset="0"/>
                <a:ea typeface="Calibri" pitchFamily="34" charset="-122"/>
                <a:cs typeface="Calibri" pitchFamily="34" charset="-120"/>
              </a:rPr>
              <a:t>What it checks:</a:t>
            </a:r>
            <a:endParaRPr lang="en-US" sz="850" dirty="0"/>
          </a:p>
        </p:txBody>
      </p:sp>
      <p:sp>
        <p:nvSpPr>
          <p:cNvPr id="87" name="Shape 85"/>
          <p:cNvSpPr/>
          <p:nvPr/>
        </p:nvSpPr>
        <p:spPr>
          <a:xfrm>
            <a:off x="7306056" y="2834640"/>
            <a:ext cx="2057400" cy="475488"/>
          </a:xfrm>
          <a:prstGeom prst="rect">
            <a:avLst/>
          </a:prstGeom>
          <a:solidFill>
            <a:srgbClr val="26215C"/>
          </a:solidFill>
          <a:ln w="508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88" name="Text 86"/>
          <p:cNvSpPr/>
          <p:nvPr/>
        </p:nvSpPr>
        <p:spPr>
          <a:xfrm>
            <a:off x="7360920" y="2834640"/>
            <a:ext cx="1965960" cy="475488"/>
          </a:xfrm>
          <a:prstGeom prst="rect">
            <a:avLst/>
          </a:prstGeom>
          <a:noFill/>
          <a:ln/>
        </p:spPr>
        <p:txBody>
          <a:bodyPr wrap="square" lIns="0" tIns="0" rIns="0" bIns="0" rtlCol="0" anchor="ctr"/>
          <a:lstStyle/>
          <a:p>
            <a:pPr marL="0" indent="0" algn="l">
              <a:buNone/>
            </a:pPr>
            <a:r>
              <a:rPr lang="en-US" sz="850" dirty="0">
                <a:solidFill>
                  <a:srgbClr val="E8EDF4"/>
                </a:solidFill>
                <a:latin typeface="Calibri" pitchFamily="34" charset="0"/>
                <a:ea typeface="Calibri" pitchFamily="34" charset="-122"/>
                <a:cs typeface="Calibri" pitchFamily="34" charset="-120"/>
              </a:rPr>
              <a:t>✓  Liberty features match the application's actual dependencies</a:t>
            </a:r>
            <a:endParaRPr lang="en-US" sz="850" dirty="0"/>
          </a:p>
        </p:txBody>
      </p:sp>
      <p:sp>
        <p:nvSpPr>
          <p:cNvPr id="89" name="Shape 87"/>
          <p:cNvSpPr/>
          <p:nvPr/>
        </p:nvSpPr>
        <p:spPr>
          <a:xfrm>
            <a:off x="7306056" y="3383280"/>
            <a:ext cx="2057400" cy="475488"/>
          </a:xfrm>
          <a:prstGeom prst="rect">
            <a:avLst/>
          </a:prstGeom>
          <a:solidFill>
            <a:srgbClr val="26215C"/>
          </a:solidFill>
          <a:ln w="508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90" name="Text 88"/>
          <p:cNvSpPr/>
          <p:nvPr/>
        </p:nvSpPr>
        <p:spPr>
          <a:xfrm>
            <a:off x="7360920" y="3383280"/>
            <a:ext cx="1965960" cy="475488"/>
          </a:xfrm>
          <a:prstGeom prst="rect">
            <a:avLst/>
          </a:prstGeom>
          <a:noFill/>
          <a:ln/>
        </p:spPr>
        <p:txBody>
          <a:bodyPr wrap="square" lIns="0" tIns="0" rIns="0" bIns="0" rtlCol="0" anchor="ctr"/>
          <a:lstStyle/>
          <a:p>
            <a:pPr marL="0" indent="0" algn="l">
              <a:buNone/>
            </a:pPr>
            <a:r>
              <a:rPr lang="en-US" sz="850" dirty="0">
                <a:solidFill>
                  <a:srgbClr val="E8EDF4"/>
                </a:solidFill>
                <a:latin typeface="Calibri" pitchFamily="34" charset="0"/>
                <a:ea typeface="Calibri" pitchFamily="34" charset="-122"/>
                <a:cs typeface="Calibri" pitchFamily="34" charset="-120"/>
              </a:rPr>
              <a:t>✓  Dockerfile base image tag is correct and current</a:t>
            </a:r>
            <a:endParaRPr lang="en-US" sz="850" dirty="0"/>
          </a:p>
        </p:txBody>
      </p:sp>
      <p:sp>
        <p:nvSpPr>
          <p:cNvPr id="91" name="Shape 89"/>
          <p:cNvSpPr/>
          <p:nvPr/>
        </p:nvSpPr>
        <p:spPr>
          <a:xfrm>
            <a:off x="7306056" y="3931920"/>
            <a:ext cx="2057400" cy="475488"/>
          </a:xfrm>
          <a:prstGeom prst="rect">
            <a:avLst/>
          </a:prstGeom>
          <a:solidFill>
            <a:srgbClr val="26215C"/>
          </a:solidFill>
          <a:ln w="508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92" name="Text 90"/>
          <p:cNvSpPr/>
          <p:nvPr/>
        </p:nvSpPr>
        <p:spPr>
          <a:xfrm>
            <a:off x="7360920" y="3931920"/>
            <a:ext cx="1965960" cy="475488"/>
          </a:xfrm>
          <a:prstGeom prst="rect">
            <a:avLst/>
          </a:prstGeom>
          <a:noFill/>
          <a:ln/>
        </p:spPr>
        <p:txBody>
          <a:bodyPr wrap="square" lIns="0" tIns="0" rIns="0" bIns="0" rtlCol="0" anchor="ctr"/>
          <a:lstStyle/>
          <a:p>
            <a:pPr marL="0" indent="0" algn="l">
              <a:buNone/>
            </a:pPr>
            <a:r>
              <a:rPr lang="en-US" sz="850" dirty="0">
                <a:solidFill>
                  <a:srgbClr val="E8EDF4"/>
                </a:solidFill>
                <a:latin typeface="Calibri" pitchFamily="34" charset="0"/>
                <a:ea typeface="Calibri" pitchFamily="34" charset="-122"/>
                <a:cs typeface="Calibri" pitchFamily="34" charset="-120"/>
              </a:rPr>
              <a:t>✓  DataSource config present if JDBC connections detected</a:t>
            </a:r>
            <a:endParaRPr lang="en-US" sz="850" dirty="0"/>
          </a:p>
        </p:txBody>
      </p:sp>
      <p:sp>
        <p:nvSpPr>
          <p:cNvPr id="93" name="Shape 91"/>
          <p:cNvSpPr/>
          <p:nvPr/>
        </p:nvSpPr>
        <p:spPr>
          <a:xfrm>
            <a:off x="7306056" y="4480560"/>
            <a:ext cx="2057400" cy="475488"/>
          </a:xfrm>
          <a:prstGeom prst="rect">
            <a:avLst/>
          </a:prstGeom>
          <a:solidFill>
            <a:srgbClr val="26215C"/>
          </a:solidFill>
          <a:ln w="508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94" name="Text 92"/>
          <p:cNvSpPr/>
          <p:nvPr/>
        </p:nvSpPr>
        <p:spPr>
          <a:xfrm>
            <a:off x="7360920" y="4480560"/>
            <a:ext cx="1965960" cy="475488"/>
          </a:xfrm>
          <a:prstGeom prst="rect">
            <a:avLst/>
          </a:prstGeom>
          <a:noFill/>
          <a:ln/>
        </p:spPr>
        <p:txBody>
          <a:bodyPr wrap="square" lIns="0" tIns="0" rIns="0" bIns="0" rtlCol="0" anchor="ctr"/>
          <a:lstStyle/>
          <a:p>
            <a:pPr marL="0" indent="0" algn="l">
              <a:buNone/>
            </a:pPr>
            <a:r>
              <a:rPr lang="en-US" sz="850" dirty="0">
                <a:solidFill>
                  <a:srgbClr val="E8EDF4"/>
                </a:solidFill>
                <a:latin typeface="Calibri" pitchFamily="34" charset="0"/>
                <a:ea typeface="Calibri" pitchFamily="34" charset="-122"/>
                <a:cs typeface="Calibri" pitchFamily="34" charset="-120"/>
              </a:rPr>
              <a:t>✓  ECS task definition memory and CPU are appropriate</a:t>
            </a:r>
            <a:endParaRPr lang="en-US" sz="850" dirty="0"/>
          </a:p>
        </p:txBody>
      </p:sp>
      <p:sp>
        <p:nvSpPr>
          <p:cNvPr id="95" name="Shape 93"/>
          <p:cNvSpPr/>
          <p:nvPr/>
        </p:nvSpPr>
        <p:spPr>
          <a:xfrm>
            <a:off x="7306056" y="5084064"/>
            <a:ext cx="2057400" cy="219456"/>
          </a:xfrm>
          <a:prstGeom prst="rect">
            <a:avLst/>
          </a:prstGeom>
          <a:solidFill>
            <a:srgbClr val="E05252"/>
          </a:solidFill>
          <a:ln w="6350">
            <a:solidFill>
              <a:srgbClr val="E05252"/>
            </a:solidFill>
            <a:prstDash val="solid"/>
          </a:ln>
          <a:effectLst>
            <a:outerShdw blurRad="101600" dist="1016" dir="8100000" algn="bl" rotWithShape="0">
              <a:srgbClr val="000000">
                <a:alpha val="9000"/>
              </a:srgbClr>
            </a:outerShdw>
          </a:effectLst>
        </p:spPr>
        <p:txBody>
          <a:bodyPr/>
          <a:lstStyle/>
          <a:p>
            <a:endParaRPr lang="en-US"/>
          </a:p>
        </p:txBody>
      </p:sp>
      <p:sp>
        <p:nvSpPr>
          <p:cNvPr id="96" name="Text 94"/>
          <p:cNvSpPr/>
          <p:nvPr/>
        </p:nvSpPr>
        <p:spPr>
          <a:xfrm>
            <a:off x="7342632" y="5084064"/>
            <a:ext cx="1984248" cy="128016"/>
          </a:xfrm>
          <a:prstGeom prst="rect">
            <a:avLst/>
          </a:prstGeom>
          <a:noFill/>
          <a:ln/>
        </p:spPr>
        <p:txBody>
          <a:bodyPr wrap="square" lIns="0" tIns="0" rIns="0" bIns="0" rtlCol="0" anchor="ctr"/>
          <a:lstStyle/>
          <a:p>
            <a:pPr marL="0" indent="0" algn="l">
              <a:buNone/>
            </a:pPr>
            <a:r>
              <a:rPr lang="en-US" sz="700" b="1" dirty="0">
                <a:solidFill>
                  <a:srgbClr val="FFFFFF"/>
                </a:solidFill>
                <a:latin typeface="Calibri" pitchFamily="34" charset="0"/>
                <a:ea typeface="Calibri" pitchFamily="34" charset="-122"/>
                <a:cs typeface="Calibri" pitchFamily="34" charset="-120"/>
              </a:rPr>
              <a:t>Flags for human review:</a:t>
            </a:r>
            <a:endParaRPr lang="en-US" sz="700" dirty="0"/>
          </a:p>
        </p:txBody>
      </p:sp>
      <p:sp>
        <p:nvSpPr>
          <p:cNvPr id="97" name="Text 95"/>
          <p:cNvSpPr/>
          <p:nvPr/>
        </p:nvSpPr>
        <p:spPr>
          <a:xfrm>
            <a:off x="7342632" y="5212080"/>
            <a:ext cx="1984248" cy="146304"/>
          </a:xfrm>
          <a:prstGeom prst="rect">
            <a:avLst/>
          </a:prstGeom>
          <a:noFill/>
          <a:ln/>
        </p:spPr>
        <p:txBody>
          <a:bodyPr wrap="square" lIns="0" tIns="0" rIns="0" bIns="0" rtlCol="0" anchor="ctr"/>
          <a:lstStyle/>
          <a:p>
            <a:pPr marL="0" indent="0" algn="l">
              <a:buNone/>
            </a:pPr>
            <a:r>
              <a:rPr lang="en-US" sz="750" i="1" dirty="0">
                <a:solidFill>
                  <a:srgbClr val="FFFFFF"/>
                </a:solidFill>
                <a:latin typeface="Calibri" pitchFamily="34" charset="0"/>
                <a:ea typeface="Calibri" pitchFamily="34" charset="-122"/>
                <a:cs typeface="Calibri" pitchFamily="34" charset="-120"/>
              </a:rPr>
              <a:t>Feature mismatches · Missing datasource config</a:t>
            </a:r>
            <a:endParaRPr lang="en-US" sz="750" dirty="0"/>
          </a:p>
        </p:txBody>
      </p:sp>
      <p:sp>
        <p:nvSpPr>
          <p:cNvPr id="98" name="Shape 96"/>
          <p:cNvSpPr/>
          <p:nvPr/>
        </p:nvSpPr>
        <p:spPr>
          <a:xfrm>
            <a:off x="7306056" y="6245352"/>
            <a:ext cx="621792" cy="219456"/>
          </a:xfrm>
          <a:prstGeom prst="rect">
            <a:avLst/>
          </a:prstGeom>
          <a:solidFill>
            <a:srgbClr val="1D9E75"/>
          </a:solidFill>
          <a:ln w="6350">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99" name="Text 97"/>
          <p:cNvSpPr/>
          <p:nvPr/>
        </p:nvSpPr>
        <p:spPr>
          <a:xfrm>
            <a:off x="7306056" y="6245352"/>
            <a:ext cx="621792" cy="219456"/>
          </a:xfrm>
          <a:prstGeom prst="rect">
            <a:avLst/>
          </a:prstGeom>
          <a:noFill/>
          <a:ln/>
        </p:spPr>
        <p:txBody>
          <a:bodyPr wrap="square" lIns="0" tIns="0" rIns="0" bIns="0" rtlCol="0" anchor="ctr"/>
          <a:lstStyle/>
          <a:p>
            <a:pPr marL="0" indent="0" algn="ctr">
              <a:buNone/>
            </a:pPr>
            <a:r>
              <a:rPr lang="en-US" sz="750" b="1" dirty="0">
                <a:solidFill>
                  <a:srgbClr val="FFFFFF"/>
                </a:solidFill>
                <a:latin typeface="Calibri" pitchFamily="34" charset="0"/>
                <a:ea typeface="Calibri" pitchFamily="34" charset="-122"/>
                <a:cs typeface="Calibri" pitchFamily="34" charset="-120"/>
              </a:rPr>
              <a:t>PASS</a:t>
            </a:r>
            <a:endParaRPr lang="en-US" sz="750" dirty="0"/>
          </a:p>
        </p:txBody>
      </p:sp>
      <p:sp>
        <p:nvSpPr>
          <p:cNvPr id="100" name="Shape 98"/>
          <p:cNvSpPr/>
          <p:nvPr/>
        </p:nvSpPr>
        <p:spPr>
          <a:xfrm>
            <a:off x="7982712" y="6245352"/>
            <a:ext cx="621792" cy="219456"/>
          </a:xfrm>
          <a:prstGeom prst="rect">
            <a:avLst/>
          </a:prstGeom>
          <a:solidFill>
            <a:srgbClr val="F5A623"/>
          </a:solidFill>
          <a:ln w="6350">
            <a:solidFill>
              <a:srgbClr val="F5A623"/>
            </a:solidFill>
            <a:prstDash val="solid"/>
          </a:ln>
          <a:effectLst>
            <a:outerShdw blurRad="101600" dist="1016" dir="8100000" algn="bl" rotWithShape="0">
              <a:srgbClr val="000000">
                <a:alpha val="9000"/>
              </a:srgbClr>
            </a:outerShdw>
          </a:effectLst>
        </p:spPr>
        <p:txBody>
          <a:bodyPr/>
          <a:lstStyle/>
          <a:p>
            <a:endParaRPr lang="en-US"/>
          </a:p>
        </p:txBody>
      </p:sp>
      <p:sp>
        <p:nvSpPr>
          <p:cNvPr id="101" name="Text 99"/>
          <p:cNvSpPr/>
          <p:nvPr/>
        </p:nvSpPr>
        <p:spPr>
          <a:xfrm>
            <a:off x="7982712" y="6245352"/>
            <a:ext cx="621792" cy="219456"/>
          </a:xfrm>
          <a:prstGeom prst="rect">
            <a:avLst/>
          </a:prstGeom>
          <a:noFill/>
          <a:ln/>
        </p:spPr>
        <p:txBody>
          <a:bodyPr wrap="square" lIns="0" tIns="0" rIns="0" bIns="0" rtlCol="0" anchor="ctr"/>
          <a:lstStyle/>
          <a:p>
            <a:pPr marL="0" indent="0" algn="ctr">
              <a:buNone/>
            </a:pPr>
            <a:r>
              <a:rPr lang="en-US" sz="750" b="1" dirty="0">
                <a:solidFill>
                  <a:srgbClr val="FFFFFF"/>
                </a:solidFill>
                <a:latin typeface="Calibri" pitchFamily="34" charset="0"/>
                <a:ea typeface="Calibri" pitchFamily="34" charset="-122"/>
                <a:cs typeface="Calibri" pitchFamily="34" charset="-120"/>
              </a:rPr>
              <a:t>RETRY</a:t>
            </a:r>
            <a:endParaRPr lang="en-US" sz="750" dirty="0"/>
          </a:p>
        </p:txBody>
      </p:sp>
      <p:sp>
        <p:nvSpPr>
          <p:cNvPr id="102" name="Shape 100"/>
          <p:cNvSpPr/>
          <p:nvPr/>
        </p:nvSpPr>
        <p:spPr>
          <a:xfrm>
            <a:off x="8659368" y="6245352"/>
            <a:ext cx="621792" cy="219456"/>
          </a:xfrm>
          <a:prstGeom prst="rect">
            <a:avLst/>
          </a:prstGeom>
          <a:solidFill>
            <a:srgbClr val="E05252"/>
          </a:solidFill>
          <a:ln w="6350">
            <a:solidFill>
              <a:srgbClr val="E05252"/>
            </a:solidFill>
            <a:prstDash val="solid"/>
          </a:ln>
          <a:effectLst>
            <a:outerShdw blurRad="101600" dist="1016" dir="8100000" algn="bl" rotWithShape="0">
              <a:srgbClr val="000000">
                <a:alpha val="9000"/>
              </a:srgbClr>
            </a:outerShdw>
          </a:effectLst>
        </p:spPr>
        <p:txBody>
          <a:bodyPr/>
          <a:lstStyle/>
          <a:p>
            <a:endParaRPr lang="en-US"/>
          </a:p>
        </p:txBody>
      </p:sp>
      <p:sp>
        <p:nvSpPr>
          <p:cNvPr id="103" name="Text 101"/>
          <p:cNvSpPr/>
          <p:nvPr/>
        </p:nvSpPr>
        <p:spPr>
          <a:xfrm>
            <a:off x="8659368" y="6245352"/>
            <a:ext cx="621792" cy="219456"/>
          </a:xfrm>
          <a:prstGeom prst="rect">
            <a:avLst/>
          </a:prstGeom>
          <a:noFill/>
          <a:ln/>
        </p:spPr>
        <p:txBody>
          <a:bodyPr wrap="square" lIns="0" tIns="0" rIns="0" bIns="0" rtlCol="0" anchor="ctr"/>
          <a:lstStyle/>
          <a:p>
            <a:pPr marL="0" indent="0" algn="ctr">
              <a:buNone/>
            </a:pPr>
            <a:r>
              <a:rPr lang="en-US" sz="750" b="1" dirty="0">
                <a:solidFill>
                  <a:srgbClr val="FFFFFF"/>
                </a:solidFill>
                <a:latin typeface="Calibri" pitchFamily="34" charset="0"/>
                <a:ea typeface="Calibri" pitchFamily="34" charset="-122"/>
                <a:cs typeface="Calibri" pitchFamily="34" charset="-120"/>
              </a:rPr>
              <a:t>MANUAL</a:t>
            </a:r>
            <a:endParaRPr lang="en-US" sz="750" dirty="0"/>
          </a:p>
        </p:txBody>
      </p:sp>
      <p:sp>
        <p:nvSpPr>
          <p:cNvPr id="104" name="Text 102"/>
          <p:cNvSpPr/>
          <p:nvPr/>
        </p:nvSpPr>
        <p:spPr>
          <a:xfrm>
            <a:off x="7306056" y="6492240"/>
            <a:ext cx="2057400" cy="164592"/>
          </a:xfrm>
          <a:prstGeom prst="rect">
            <a:avLst/>
          </a:prstGeom>
          <a:noFill/>
          <a:ln/>
        </p:spPr>
        <p:txBody>
          <a:bodyPr wrap="square" lIns="0" tIns="0" rIns="0" bIns="0" rtlCol="0" anchor="ctr"/>
          <a:lstStyle/>
          <a:p>
            <a:pPr marL="0" indent="0" algn="ctr">
              <a:buNone/>
            </a:pPr>
            <a:r>
              <a:rPr lang="en-US" sz="700" dirty="0">
                <a:solidFill>
                  <a:srgbClr val="26215C"/>
                </a:solidFill>
                <a:latin typeface="Calibri" pitchFamily="34" charset="0"/>
                <a:ea typeface="Calibri" pitchFamily="34" charset="-122"/>
                <a:cs typeface="Calibri" pitchFamily="34" charset="-120"/>
              </a:rPr>
              <a:t>score ≥80 · 50–79 · &lt;50</a:t>
            </a:r>
            <a:endParaRPr lang="en-US" sz="700" dirty="0"/>
          </a:p>
        </p:txBody>
      </p:sp>
      <p:sp>
        <p:nvSpPr>
          <p:cNvPr id="105" name="Shape 103"/>
          <p:cNvSpPr/>
          <p:nvPr/>
        </p:nvSpPr>
        <p:spPr>
          <a:xfrm>
            <a:off x="9546336" y="1719072"/>
            <a:ext cx="2240280" cy="5029200"/>
          </a:xfrm>
          <a:prstGeom prst="rect">
            <a:avLst/>
          </a:prstGeom>
          <a:solidFill>
            <a:srgbClr val="EEEDFE"/>
          </a:solidFill>
          <a:ln w="9525">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106" name="Shape 104"/>
          <p:cNvSpPr/>
          <p:nvPr/>
        </p:nvSpPr>
        <p:spPr>
          <a:xfrm>
            <a:off x="9546336" y="1719072"/>
            <a:ext cx="2240280" cy="420624"/>
          </a:xfrm>
          <a:prstGeom prst="rect">
            <a:avLst/>
          </a:prstGeom>
          <a:solidFill>
            <a:srgbClr val="534AB7"/>
          </a:solidFill>
          <a:ln w="635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107" name="Text 105"/>
          <p:cNvSpPr/>
          <p:nvPr/>
        </p:nvSpPr>
        <p:spPr>
          <a:xfrm>
            <a:off x="9637776" y="1719072"/>
            <a:ext cx="2057400" cy="420624"/>
          </a:xfrm>
          <a:prstGeom prst="rect">
            <a:avLst/>
          </a:prstGeom>
          <a:noFill/>
          <a:ln/>
        </p:spPr>
        <p:txBody>
          <a:bodyPr wrap="square" lIns="0" tIns="0" rIns="0" bIns="0" rtlCol="0" anchor="ctr"/>
          <a:lstStyle/>
          <a:p>
            <a:pPr marL="0" indent="0" algn="l">
              <a:buNone/>
            </a:pPr>
            <a:r>
              <a:rPr lang="en-US" sz="950" b="1" dirty="0">
                <a:solidFill>
                  <a:srgbClr val="FFFFFF"/>
                </a:solidFill>
                <a:latin typeface="Georgia" pitchFamily="34" charset="0"/>
                <a:ea typeface="Georgia" pitchFamily="34" charset="-122"/>
                <a:cs typeface="Georgia" pitchFamily="34" charset="-120"/>
              </a:rPr>
              <a:t>Test Review Agent</a:t>
            </a:r>
            <a:endParaRPr lang="en-US" sz="950" dirty="0"/>
          </a:p>
        </p:txBody>
      </p:sp>
      <p:sp>
        <p:nvSpPr>
          <p:cNvPr id="108" name="Shape 106"/>
          <p:cNvSpPr/>
          <p:nvPr/>
        </p:nvSpPr>
        <p:spPr>
          <a:xfrm>
            <a:off x="9637776" y="2212848"/>
            <a:ext cx="2057400" cy="329184"/>
          </a:xfrm>
          <a:prstGeom prst="rect">
            <a:avLst/>
          </a:prstGeom>
          <a:solidFill>
            <a:srgbClr val="3C3489"/>
          </a:solidFill>
          <a:ln w="508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109" name="Text 107"/>
          <p:cNvSpPr/>
          <p:nvPr/>
        </p:nvSpPr>
        <p:spPr>
          <a:xfrm>
            <a:off x="9674352" y="2212848"/>
            <a:ext cx="1984248" cy="329184"/>
          </a:xfrm>
          <a:prstGeom prst="rect">
            <a:avLst/>
          </a:prstGeom>
          <a:noFill/>
          <a:ln/>
        </p:spPr>
        <p:txBody>
          <a:bodyPr wrap="square" lIns="0" tIns="0" rIns="0" bIns="0" rtlCol="0" anchor="ctr"/>
          <a:lstStyle/>
          <a:p>
            <a:pPr marL="0" indent="0" algn="l">
              <a:buNone/>
            </a:pPr>
            <a:r>
              <a:rPr lang="en-US" sz="850" i="1" dirty="0">
                <a:solidFill>
                  <a:srgbClr val="E8EDF4"/>
                </a:solidFill>
                <a:latin typeface="Georgia" pitchFamily="34" charset="0"/>
                <a:ea typeface="Georgia" pitchFamily="34" charset="-122"/>
                <a:cs typeface="Georgia" pitchFamily="34" charset="-120"/>
              </a:rPr>
              <a:t>Are the generated tests correct and sufficient?</a:t>
            </a:r>
            <a:endParaRPr lang="en-US" sz="850" dirty="0"/>
          </a:p>
        </p:txBody>
      </p:sp>
      <p:sp>
        <p:nvSpPr>
          <p:cNvPr id="110" name="Text 108"/>
          <p:cNvSpPr/>
          <p:nvPr/>
        </p:nvSpPr>
        <p:spPr>
          <a:xfrm>
            <a:off x="9637776" y="2615184"/>
            <a:ext cx="2057400" cy="201168"/>
          </a:xfrm>
          <a:prstGeom prst="rect">
            <a:avLst/>
          </a:prstGeom>
          <a:noFill/>
          <a:ln/>
        </p:spPr>
        <p:txBody>
          <a:bodyPr wrap="square" lIns="0" tIns="0" rIns="0" bIns="0" rtlCol="0" anchor="ctr"/>
          <a:lstStyle/>
          <a:p>
            <a:pPr marL="0" indent="0" algn="l">
              <a:buNone/>
            </a:pPr>
            <a:r>
              <a:rPr lang="en-US" sz="850" b="1" dirty="0">
                <a:solidFill>
                  <a:srgbClr val="534AB7"/>
                </a:solidFill>
                <a:latin typeface="Calibri" pitchFamily="34" charset="0"/>
                <a:ea typeface="Calibri" pitchFamily="34" charset="-122"/>
                <a:cs typeface="Calibri" pitchFamily="34" charset="-120"/>
              </a:rPr>
              <a:t>What it checks:</a:t>
            </a:r>
            <a:endParaRPr lang="en-US" sz="850" dirty="0"/>
          </a:p>
        </p:txBody>
      </p:sp>
      <p:sp>
        <p:nvSpPr>
          <p:cNvPr id="111" name="Shape 109"/>
          <p:cNvSpPr/>
          <p:nvPr/>
        </p:nvSpPr>
        <p:spPr>
          <a:xfrm>
            <a:off x="9637776" y="2834640"/>
            <a:ext cx="2057400" cy="475488"/>
          </a:xfrm>
          <a:prstGeom prst="rect">
            <a:avLst/>
          </a:prstGeom>
          <a:solidFill>
            <a:srgbClr val="26215C"/>
          </a:solidFill>
          <a:ln w="508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112" name="Text 110"/>
          <p:cNvSpPr/>
          <p:nvPr/>
        </p:nvSpPr>
        <p:spPr>
          <a:xfrm>
            <a:off x="9692640" y="2834640"/>
            <a:ext cx="1965960" cy="475488"/>
          </a:xfrm>
          <a:prstGeom prst="rect">
            <a:avLst/>
          </a:prstGeom>
          <a:noFill/>
          <a:ln/>
        </p:spPr>
        <p:txBody>
          <a:bodyPr wrap="square" lIns="0" tIns="0" rIns="0" bIns="0" rtlCol="0" anchor="ctr"/>
          <a:lstStyle/>
          <a:p>
            <a:pPr marL="0" indent="0" algn="l">
              <a:buNone/>
            </a:pPr>
            <a:r>
              <a:rPr lang="en-US" sz="850" dirty="0">
                <a:solidFill>
                  <a:srgbClr val="E8EDF4"/>
                </a:solidFill>
                <a:latin typeface="Calibri" pitchFamily="34" charset="0"/>
                <a:ea typeface="Calibri" pitchFamily="34" charset="-122"/>
                <a:cs typeface="Calibri" pitchFamily="34" charset="-120"/>
              </a:rPr>
              <a:t>✓  Every @GetMapping and @PostMapping has at least one test</a:t>
            </a:r>
            <a:endParaRPr lang="en-US" sz="850" dirty="0"/>
          </a:p>
        </p:txBody>
      </p:sp>
      <p:sp>
        <p:nvSpPr>
          <p:cNvPr id="113" name="Shape 111"/>
          <p:cNvSpPr/>
          <p:nvPr/>
        </p:nvSpPr>
        <p:spPr>
          <a:xfrm>
            <a:off x="9637776" y="3383280"/>
            <a:ext cx="2057400" cy="475488"/>
          </a:xfrm>
          <a:prstGeom prst="rect">
            <a:avLst/>
          </a:prstGeom>
          <a:solidFill>
            <a:srgbClr val="26215C"/>
          </a:solidFill>
          <a:ln w="508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114" name="Text 112"/>
          <p:cNvSpPr/>
          <p:nvPr/>
        </p:nvSpPr>
        <p:spPr>
          <a:xfrm>
            <a:off x="9692640" y="3383280"/>
            <a:ext cx="1965960" cy="475488"/>
          </a:xfrm>
          <a:prstGeom prst="rect">
            <a:avLst/>
          </a:prstGeom>
          <a:noFill/>
          <a:ln/>
        </p:spPr>
        <p:txBody>
          <a:bodyPr wrap="square" lIns="0" tIns="0" rIns="0" bIns="0" rtlCol="0" anchor="ctr"/>
          <a:lstStyle/>
          <a:p>
            <a:pPr marL="0" indent="0" algn="l">
              <a:buNone/>
            </a:pPr>
            <a:r>
              <a:rPr lang="en-US" sz="850" dirty="0">
                <a:solidFill>
                  <a:srgbClr val="E8EDF4"/>
                </a:solidFill>
                <a:latin typeface="Calibri" pitchFamily="34" charset="0"/>
                <a:ea typeface="Calibri" pitchFamily="34" charset="-122"/>
                <a:cs typeface="Calibri" pitchFamily="34" charset="-120"/>
              </a:rPr>
              <a:t>✓  @Mock annotations match controller @Autowired dependencies</a:t>
            </a:r>
            <a:endParaRPr lang="en-US" sz="850" dirty="0"/>
          </a:p>
        </p:txBody>
      </p:sp>
      <p:sp>
        <p:nvSpPr>
          <p:cNvPr id="115" name="Shape 113"/>
          <p:cNvSpPr/>
          <p:nvPr/>
        </p:nvSpPr>
        <p:spPr>
          <a:xfrm>
            <a:off x="9637776" y="3931920"/>
            <a:ext cx="2057400" cy="475488"/>
          </a:xfrm>
          <a:prstGeom prst="rect">
            <a:avLst/>
          </a:prstGeom>
          <a:solidFill>
            <a:srgbClr val="26215C"/>
          </a:solidFill>
          <a:ln w="508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116" name="Text 114"/>
          <p:cNvSpPr/>
          <p:nvPr/>
        </p:nvSpPr>
        <p:spPr>
          <a:xfrm>
            <a:off x="9692640" y="3931920"/>
            <a:ext cx="1965960" cy="475488"/>
          </a:xfrm>
          <a:prstGeom prst="rect">
            <a:avLst/>
          </a:prstGeom>
          <a:noFill/>
          <a:ln/>
        </p:spPr>
        <p:txBody>
          <a:bodyPr wrap="square" lIns="0" tIns="0" rIns="0" bIns="0" rtlCol="0" anchor="ctr"/>
          <a:lstStyle/>
          <a:p>
            <a:pPr marL="0" indent="0" algn="l">
              <a:buNone/>
            </a:pPr>
            <a:r>
              <a:rPr lang="en-US" sz="850" dirty="0">
                <a:solidFill>
                  <a:srgbClr val="E8EDF4"/>
                </a:solidFill>
                <a:latin typeface="Calibri" pitchFamily="34" charset="0"/>
                <a:ea typeface="Calibri" pitchFamily="34" charset="-122"/>
                <a:cs typeface="Calibri" pitchFamily="34" charset="-120"/>
              </a:rPr>
              <a:t>✓  Both happy path and error path are covered</a:t>
            </a:r>
            <a:endParaRPr lang="en-US" sz="850" dirty="0"/>
          </a:p>
        </p:txBody>
      </p:sp>
      <p:sp>
        <p:nvSpPr>
          <p:cNvPr id="117" name="Shape 115"/>
          <p:cNvSpPr/>
          <p:nvPr/>
        </p:nvSpPr>
        <p:spPr>
          <a:xfrm>
            <a:off x="9637776" y="4480560"/>
            <a:ext cx="2057400" cy="475488"/>
          </a:xfrm>
          <a:prstGeom prst="rect">
            <a:avLst/>
          </a:prstGeom>
          <a:solidFill>
            <a:srgbClr val="26215C"/>
          </a:solidFill>
          <a:ln w="508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118" name="Text 116"/>
          <p:cNvSpPr/>
          <p:nvPr/>
        </p:nvSpPr>
        <p:spPr>
          <a:xfrm>
            <a:off x="9692640" y="4480560"/>
            <a:ext cx="1965960" cy="475488"/>
          </a:xfrm>
          <a:prstGeom prst="rect">
            <a:avLst/>
          </a:prstGeom>
          <a:noFill/>
          <a:ln/>
        </p:spPr>
        <p:txBody>
          <a:bodyPr wrap="square" lIns="0" tIns="0" rIns="0" bIns="0" rtlCol="0" anchor="ctr"/>
          <a:lstStyle/>
          <a:p>
            <a:pPr marL="0" indent="0" algn="l">
              <a:buNone/>
            </a:pPr>
            <a:r>
              <a:rPr lang="en-US" sz="850" dirty="0">
                <a:solidFill>
                  <a:srgbClr val="E8EDF4"/>
                </a:solidFill>
                <a:latin typeface="Calibri" pitchFamily="34" charset="0"/>
                <a:ea typeface="Calibri" pitchFamily="34" charset="-122"/>
                <a:cs typeface="Calibri" pitchFamily="34" charset="-120"/>
              </a:rPr>
              <a:t>✓  Test method naming follows agreed convention</a:t>
            </a:r>
            <a:endParaRPr lang="en-US" sz="850" dirty="0"/>
          </a:p>
        </p:txBody>
      </p:sp>
      <p:sp>
        <p:nvSpPr>
          <p:cNvPr id="119" name="Shape 117"/>
          <p:cNvSpPr/>
          <p:nvPr/>
        </p:nvSpPr>
        <p:spPr>
          <a:xfrm>
            <a:off x="9637776" y="5084064"/>
            <a:ext cx="2057400" cy="219456"/>
          </a:xfrm>
          <a:prstGeom prst="rect">
            <a:avLst/>
          </a:prstGeom>
          <a:solidFill>
            <a:srgbClr val="E05252"/>
          </a:solidFill>
          <a:ln w="6350">
            <a:solidFill>
              <a:srgbClr val="E05252"/>
            </a:solidFill>
            <a:prstDash val="solid"/>
          </a:ln>
          <a:effectLst>
            <a:outerShdw blurRad="101600" dist="1016" dir="8100000" algn="bl" rotWithShape="0">
              <a:srgbClr val="000000">
                <a:alpha val="9000"/>
              </a:srgbClr>
            </a:outerShdw>
          </a:effectLst>
        </p:spPr>
        <p:txBody>
          <a:bodyPr/>
          <a:lstStyle/>
          <a:p>
            <a:endParaRPr lang="en-US"/>
          </a:p>
        </p:txBody>
      </p:sp>
      <p:sp>
        <p:nvSpPr>
          <p:cNvPr id="120" name="Text 118"/>
          <p:cNvSpPr/>
          <p:nvPr/>
        </p:nvSpPr>
        <p:spPr>
          <a:xfrm>
            <a:off x="9674352" y="5084064"/>
            <a:ext cx="1984248" cy="128016"/>
          </a:xfrm>
          <a:prstGeom prst="rect">
            <a:avLst/>
          </a:prstGeom>
          <a:noFill/>
          <a:ln/>
        </p:spPr>
        <p:txBody>
          <a:bodyPr wrap="square" lIns="0" tIns="0" rIns="0" bIns="0" rtlCol="0" anchor="ctr"/>
          <a:lstStyle/>
          <a:p>
            <a:pPr marL="0" indent="0" algn="l">
              <a:buNone/>
            </a:pPr>
            <a:r>
              <a:rPr lang="en-US" sz="700" b="1" dirty="0">
                <a:solidFill>
                  <a:srgbClr val="FFFFFF"/>
                </a:solidFill>
                <a:latin typeface="Calibri" pitchFamily="34" charset="0"/>
                <a:ea typeface="Calibri" pitchFamily="34" charset="-122"/>
                <a:cs typeface="Calibri" pitchFamily="34" charset="-120"/>
              </a:rPr>
              <a:t>Flags for human review:</a:t>
            </a:r>
            <a:endParaRPr lang="en-US" sz="700" dirty="0"/>
          </a:p>
        </p:txBody>
      </p:sp>
      <p:sp>
        <p:nvSpPr>
          <p:cNvPr id="121" name="Text 119"/>
          <p:cNvSpPr/>
          <p:nvPr/>
        </p:nvSpPr>
        <p:spPr>
          <a:xfrm>
            <a:off x="9674352" y="5212080"/>
            <a:ext cx="1984248" cy="146304"/>
          </a:xfrm>
          <a:prstGeom prst="rect">
            <a:avLst/>
          </a:prstGeom>
          <a:noFill/>
          <a:ln/>
        </p:spPr>
        <p:txBody>
          <a:bodyPr wrap="square" lIns="0" tIns="0" rIns="0" bIns="0" rtlCol="0" anchor="ctr"/>
          <a:lstStyle/>
          <a:p>
            <a:pPr marL="0" indent="0" algn="l">
              <a:buNone/>
            </a:pPr>
            <a:r>
              <a:rPr lang="en-US" sz="750" i="1" dirty="0">
                <a:solidFill>
                  <a:srgbClr val="FFFFFF"/>
                </a:solidFill>
                <a:latin typeface="Calibri" pitchFamily="34" charset="0"/>
                <a:ea typeface="Calibri" pitchFamily="34" charset="-122"/>
                <a:cs typeface="Calibri" pitchFamily="34" charset="-120"/>
              </a:rPr>
              <a:t>Untested handler methods · Missing mock declarations</a:t>
            </a:r>
            <a:endParaRPr lang="en-US" sz="750" dirty="0"/>
          </a:p>
        </p:txBody>
      </p:sp>
      <p:sp>
        <p:nvSpPr>
          <p:cNvPr id="122" name="Shape 120"/>
          <p:cNvSpPr/>
          <p:nvPr/>
        </p:nvSpPr>
        <p:spPr>
          <a:xfrm>
            <a:off x="9637776" y="6245352"/>
            <a:ext cx="621792" cy="219456"/>
          </a:xfrm>
          <a:prstGeom prst="rect">
            <a:avLst/>
          </a:prstGeom>
          <a:solidFill>
            <a:srgbClr val="1D9E75"/>
          </a:solidFill>
          <a:ln w="6350">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123" name="Text 121"/>
          <p:cNvSpPr/>
          <p:nvPr/>
        </p:nvSpPr>
        <p:spPr>
          <a:xfrm>
            <a:off x="9637776" y="6245352"/>
            <a:ext cx="621792" cy="219456"/>
          </a:xfrm>
          <a:prstGeom prst="rect">
            <a:avLst/>
          </a:prstGeom>
          <a:noFill/>
          <a:ln/>
        </p:spPr>
        <p:txBody>
          <a:bodyPr wrap="square" lIns="0" tIns="0" rIns="0" bIns="0" rtlCol="0" anchor="ctr"/>
          <a:lstStyle/>
          <a:p>
            <a:pPr marL="0" indent="0" algn="ctr">
              <a:buNone/>
            </a:pPr>
            <a:r>
              <a:rPr lang="en-US" sz="750" b="1" dirty="0">
                <a:solidFill>
                  <a:srgbClr val="FFFFFF"/>
                </a:solidFill>
                <a:latin typeface="Calibri" pitchFamily="34" charset="0"/>
                <a:ea typeface="Calibri" pitchFamily="34" charset="-122"/>
                <a:cs typeface="Calibri" pitchFamily="34" charset="-120"/>
              </a:rPr>
              <a:t>PASS</a:t>
            </a:r>
            <a:endParaRPr lang="en-US" sz="750" dirty="0"/>
          </a:p>
        </p:txBody>
      </p:sp>
      <p:sp>
        <p:nvSpPr>
          <p:cNvPr id="124" name="Shape 122"/>
          <p:cNvSpPr/>
          <p:nvPr/>
        </p:nvSpPr>
        <p:spPr>
          <a:xfrm>
            <a:off x="10314432" y="6245352"/>
            <a:ext cx="621792" cy="219456"/>
          </a:xfrm>
          <a:prstGeom prst="rect">
            <a:avLst/>
          </a:prstGeom>
          <a:solidFill>
            <a:srgbClr val="F5A623"/>
          </a:solidFill>
          <a:ln w="6350">
            <a:solidFill>
              <a:srgbClr val="F5A623"/>
            </a:solidFill>
            <a:prstDash val="solid"/>
          </a:ln>
          <a:effectLst>
            <a:outerShdw blurRad="101600" dist="1016" dir="8100000" algn="bl" rotWithShape="0">
              <a:srgbClr val="000000">
                <a:alpha val="9000"/>
              </a:srgbClr>
            </a:outerShdw>
          </a:effectLst>
        </p:spPr>
        <p:txBody>
          <a:bodyPr/>
          <a:lstStyle/>
          <a:p>
            <a:endParaRPr lang="en-US"/>
          </a:p>
        </p:txBody>
      </p:sp>
      <p:sp>
        <p:nvSpPr>
          <p:cNvPr id="125" name="Text 123"/>
          <p:cNvSpPr/>
          <p:nvPr/>
        </p:nvSpPr>
        <p:spPr>
          <a:xfrm>
            <a:off x="10314432" y="6245352"/>
            <a:ext cx="621792" cy="219456"/>
          </a:xfrm>
          <a:prstGeom prst="rect">
            <a:avLst/>
          </a:prstGeom>
          <a:noFill/>
          <a:ln/>
        </p:spPr>
        <p:txBody>
          <a:bodyPr wrap="square" lIns="0" tIns="0" rIns="0" bIns="0" rtlCol="0" anchor="ctr"/>
          <a:lstStyle/>
          <a:p>
            <a:pPr marL="0" indent="0" algn="ctr">
              <a:buNone/>
            </a:pPr>
            <a:r>
              <a:rPr lang="en-US" sz="750" b="1" dirty="0">
                <a:solidFill>
                  <a:srgbClr val="FFFFFF"/>
                </a:solidFill>
                <a:latin typeface="Calibri" pitchFamily="34" charset="0"/>
                <a:ea typeface="Calibri" pitchFamily="34" charset="-122"/>
                <a:cs typeface="Calibri" pitchFamily="34" charset="-120"/>
              </a:rPr>
              <a:t>RETRY</a:t>
            </a:r>
            <a:endParaRPr lang="en-US" sz="750" dirty="0"/>
          </a:p>
        </p:txBody>
      </p:sp>
      <p:sp>
        <p:nvSpPr>
          <p:cNvPr id="126" name="Shape 124"/>
          <p:cNvSpPr/>
          <p:nvPr/>
        </p:nvSpPr>
        <p:spPr>
          <a:xfrm>
            <a:off x="10991088" y="6245352"/>
            <a:ext cx="621792" cy="219456"/>
          </a:xfrm>
          <a:prstGeom prst="rect">
            <a:avLst/>
          </a:prstGeom>
          <a:solidFill>
            <a:srgbClr val="E05252"/>
          </a:solidFill>
          <a:ln w="6350">
            <a:solidFill>
              <a:srgbClr val="E05252"/>
            </a:solidFill>
            <a:prstDash val="solid"/>
          </a:ln>
          <a:effectLst>
            <a:outerShdw blurRad="101600" dist="1016" dir="8100000" algn="bl" rotWithShape="0">
              <a:srgbClr val="000000">
                <a:alpha val="9000"/>
              </a:srgbClr>
            </a:outerShdw>
          </a:effectLst>
        </p:spPr>
        <p:txBody>
          <a:bodyPr/>
          <a:lstStyle/>
          <a:p>
            <a:endParaRPr lang="en-US"/>
          </a:p>
        </p:txBody>
      </p:sp>
      <p:sp>
        <p:nvSpPr>
          <p:cNvPr id="127" name="Text 125"/>
          <p:cNvSpPr/>
          <p:nvPr/>
        </p:nvSpPr>
        <p:spPr>
          <a:xfrm>
            <a:off x="10991088" y="6245352"/>
            <a:ext cx="621792" cy="219456"/>
          </a:xfrm>
          <a:prstGeom prst="rect">
            <a:avLst/>
          </a:prstGeom>
          <a:noFill/>
          <a:ln/>
        </p:spPr>
        <p:txBody>
          <a:bodyPr wrap="square" lIns="0" tIns="0" rIns="0" bIns="0" rtlCol="0" anchor="ctr"/>
          <a:lstStyle/>
          <a:p>
            <a:pPr marL="0" indent="0" algn="ctr">
              <a:buNone/>
            </a:pPr>
            <a:r>
              <a:rPr lang="en-US" sz="750" b="1" dirty="0">
                <a:solidFill>
                  <a:srgbClr val="FFFFFF"/>
                </a:solidFill>
                <a:latin typeface="Calibri" pitchFamily="34" charset="0"/>
                <a:ea typeface="Calibri" pitchFamily="34" charset="-122"/>
                <a:cs typeface="Calibri" pitchFamily="34" charset="-120"/>
              </a:rPr>
              <a:t>MANUAL</a:t>
            </a:r>
            <a:endParaRPr lang="en-US" sz="750" dirty="0"/>
          </a:p>
        </p:txBody>
      </p:sp>
      <p:sp>
        <p:nvSpPr>
          <p:cNvPr id="128" name="Text 126"/>
          <p:cNvSpPr/>
          <p:nvPr/>
        </p:nvSpPr>
        <p:spPr>
          <a:xfrm>
            <a:off x="9637776" y="6492240"/>
            <a:ext cx="2057400" cy="164592"/>
          </a:xfrm>
          <a:prstGeom prst="rect">
            <a:avLst/>
          </a:prstGeom>
          <a:noFill/>
          <a:ln/>
        </p:spPr>
        <p:txBody>
          <a:bodyPr wrap="square" lIns="0" tIns="0" rIns="0" bIns="0" rtlCol="0" anchor="ctr"/>
          <a:lstStyle/>
          <a:p>
            <a:pPr marL="0" indent="0" algn="ctr">
              <a:buNone/>
            </a:pPr>
            <a:r>
              <a:rPr lang="en-US" sz="700" dirty="0">
                <a:solidFill>
                  <a:srgbClr val="26215C"/>
                </a:solidFill>
                <a:latin typeface="Calibri" pitchFamily="34" charset="0"/>
                <a:ea typeface="Calibri" pitchFamily="34" charset="-122"/>
                <a:cs typeface="Calibri" pitchFamily="34" charset="-120"/>
              </a:rPr>
              <a:t>score ≥80 · 50–79 · &lt;50</a:t>
            </a:r>
            <a:endParaRPr lang="en-US" sz="700" dirty="0"/>
          </a:p>
        </p:txBody>
      </p:sp>
      <p:sp>
        <p:nvSpPr>
          <p:cNvPr id="129" name="Shape 127"/>
          <p:cNvSpPr/>
          <p:nvPr/>
        </p:nvSpPr>
        <p:spPr>
          <a:xfrm>
            <a:off x="219456" y="6528816"/>
            <a:ext cx="11704320" cy="237744"/>
          </a:xfrm>
          <a:prstGeom prst="rect">
            <a:avLst/>
          </a:prstGeom>
          <a:solidFill>
            <a:srgbClr val="534AB7"/>
          </a:solidFill>
          <a:ln w="6350">
            <a:solidFill>
              <a:srgbClr val="534AB7"/>
            </a:solidFill>
            <a:prstDash val="solid"/>
          </a:ln>
          <a:effectLst>
            <a:outerShdw blurRad="101600" dist="1016" dir="8100000" algn="bl" rotWithShape="0">
              <a:srgbClr val="000000">
                <a:alpha val="9000"/>
              </a:srgbClr>
            </a:outerShdw>
          </a:effectLst>
        </p:spPr>
        <p:txBody>
          <a:bodyPr/>
          <a:lstStyle/>
          <a:p>
            <a:endParaRPr lang="en-US"/>
          </a:p>
        </p:txBody>
      </p:sp>
      <p:sp>
        <p:nvSpPr>
          <p:cNvPr id="130" name="Text 128"/>
          <p:cNvSpPr/>
          <p:nvPr/>
        </p:nvSpPr>
        <p:spPr>
          <a:xfrm>
            <a:off x="347472" y="6528816"/>
            <a:ext cx="11521440" cy="237744"/>
          </a:xfrm>
          <a:prstGeom prst="rect">
            <a:avLst/>
          </a:prstGeom>
          <a:noFill/>
          <a:ln/>
        </p:spPr>
        <p:txBody>
          <a:bodyPr wrap="square" lIns="0" tIns="0" rIns="0" bIns="0" rtlCol="0" anchor="ctr"/>
          <a:lstStyle/>
          <a:p>
            <a:pPr marL="0" indent="0" algn="l">
              <a:buNone/>
            </a:pPr>
            <a:r>
              <a:rPr lang="en-US" sz="950" dirty="0">
                <a:solidFill>
                  <a:srgbClr val="FFFFFF"/>
                </a:solidFill>
                <a:latin typeface="Georgia" pitchFamily="34" charset="0"/>
                <a:ea typeface="Georgia" pitchFamily="34" charset="-122"/>
                <a:cs typeface="Georgia" pitchFamily="34" charset="-120"/>
              </a:rPr>
              <a:t>Business impact: Every transformation is independently verified by a different AI. Humans only review the files the AI disagrees are correct — a fraction of the total, not every file.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4F9"/>
        </a:solidFill>
        <a:effectLst/>
      </p:bgPr>
    </p:bg>
    <p:spTree>
      <p:nvGrpSpPr>
        <p:cNvPr id="1" name=""/>
        <p:cNvGrpSpPr/>
        <p:nvPr/>
      </p:nvGrpSpPr>
      <p:grpSpPr>
        <a:xfrm>
          <a:off x="0" y="0"/>
          <a:ext cx="0" cy="0"/>
          <a:chOff x="0" y="0"/>
          <a:chExt cx="0" cy="0"/>
        </a:xfrm>
      </p:grpSpPr>
      <p:sp>
        <p:nvSpPr>
          <p:cNvPr id="2" name="Shape 0"/>
          <p:cNvSpPr/>
          <p:nvPr/>
        </p:nvSpPr>
        <p:spPr>
          <a:xfrm>
            <a:off x="0" y="0"/>
            <a:ext cx="12161520" cy="1225296"/>
          </a:xfrm>
          <a:prstGeom prst="rect">
            <a:avLst/>
          </a:prstGeom>
          <a:solidFill>
            <a:srgbClr val="0A1628"/>
          </a:solidFill>
          <a:ln w="12700">
            <a:solidFill>
              <a:srgbClr val="0A1628">
                <a:alpha val="0"/>
              </a:srgbClr>
            </a:solidFill>
            <a:prstDash val="solid"/>
          </a:ln>
        </p:spPr>
        <p:txBody>
          <a:bodyPr/>
          <a:lstStyle/>
          <a:p>
            <a:endParaRPr lang="en-US"/>
          </a:p>
        </p:txBody>
      </p:sp>
      <p:sp>
        <p:nvSpPr>
          <p:cNvPr id="3" name="Shape 1"/>
          <p:cNvSpPr/>
          <p:nvPr/>
        </p:nvSpPr>
        <p:spPr>
          <a:xfrm>
            <a:off x="0" y="1225296"/>
            <a:ext cx="12161520" cy="50292"/>
          </a:xfrm>
          <a:prstGeom prst="rect">
            <a:avLst/>
          </a:prstGeom>
          <a:solidFill>
            <a:srgbClr val="F5A623"/>
          </a:solidFill>
          <a:ln w="12700">
            <a:solidFill>
              <a:srgbClr val="F5A623">
                <a:alpha val="0"/>
              </a:srgbClr>
            </a:solidFill>
            <a:prstDash val="solid"/>
          </a:ln>
        </p:spPr>
        <p:txBody>
          <a:bodyPr/>
          <a:lstStyle/>
          <a:p>
            <a:endParaRPr lang="en-US"/>
          </a:p>
        </p:txBody>
      </p:sp>
      <p:sp>
        <p:nvSpPr>
          <p:cNvPr id="4" name="Text 2"/>
          <p:cNvSpPr/>
          <p:nvPr/>
        </p:nvSpPr>
        <p:spPr>
          <a:xfrm>
            <a:off x="411480" y="109728"/>
            <a:ext cx="11247120" cy="256032"/>
          </a:xfrm>
          <a:prstGeom prst="rect">
            <a:avLst/>
          </a:prstGeom>
          <a:noFill/>
          <a:ln/>
        </p:spPr>
        <p:txBody>
          <a:bodyPr wrap="square" lIns="0" tIns="0" rIns="0" bIns="0" rtlCol="0" anchor="ctr"/>
          <a:lstStyle/>
          <a:p>
            <a:pPr marL="0" indent="0" algn="l">
              <a:buNone/>
            </a:pPr>
            <a:r>
              <a:rPr lang="en-US" sz="1000" kern="0" spc="200" dirty="0">
                <a:solidFill>
                  <a:srgbClr val="7A95B4"/>
                </a:solidFill>
                <a:latin typeface="Calibri" pitchFamily="34" charset="0"/>
                <a:ea typeface="Calibri" pitchFamily="34" charset="-122"/>
                <a:cs typeface="Calibri" pitchFamily="34" charset="-120"/>
              </a:rPr>
              <a:t>10  ·  Summary</a:t>
            </a:r>
            <a:endParaRPr lang="en-US" sz="1000" dirty="0"/>
          </a:p>
        </p:txBody>
      </p:sp>
      <p:sp>
        <p:nvSpPr>
          <p:cNvPr id="5" name="Text 3"/>
          <p:cNvSpPr/>
          <p:nvPr/>
        </p:nvSpPr>
        <p:spPr>
          <a:xfrm>
            <a:off x="411480" y="347472"/>
            <a:ext cx="11247120" cy="749808"/>
          </a:xfrm>
          <a:prstGeom prst="rect">
            <a:avLst/>
          </a:prstGeom>
          <a:noFill/>
          <a:ln/>
        </p:spPr>
        <p:txBody>
          <a:bodyPr wrap="square" lIns="0" tIns="0" rIns="0" bIns="0" rtlCol="0" anchor="ctr"/>
          <a:lstStyle/>
          <a:p>
            <a:pPr marL="0" indent="0" algn="l">
              <a:buNone/>
            </a:pPr>
            <a:r>
              <a:rPr lang="en-US" sz="2600" b="1" dirty="0">
                <a:solidFill>
                  <a:srgbClr val="FFFFFF"/>
                </a:solidFill>
                <a:latin typeface="Georgia" pitchFamily="34" charset="0"/>
                <a:ea typeface="Georgia" pitchFamily="34" charset="-122"/>
                <a:cs typeface="Georgia" pitchFamily="34" charset="-120"/>
              </a:rPr>
              <a:t>What management needs to know — the mission, the mechanism, and the guarantee.</a:t>
            </a:r>
            <a:endParaRPr lang="en-US" sz="2600" dirty="0"/>
          </a:p>
        </p:txBody>
      </p:sp>
      <p:sp>
        <p:nvSpPr>
          <p:cNvPr id="6" name="Shape 4"/>
          <p:cNvSpPr/>
          <p:nvPr/>
        </p:nvSpPr>
        <p:spPr>
          <a:xfrm>
            <a:off x="365760" y="1389888"/>
            <a:ext cx="3749040" cy="384048"/>
          </a:xfrm>
          <a:prstGeom prst="rect">
            <a:avLst/>
          </a:prstGeom>
          <a:solidFill>
            <a:srgbClr val="0A1628"/>
          </a:solidFill>
          <a:ln w="12700">
            <a:solidFill>
              <a:srgbClr val="E05252"/>
            </a:solidFill>
            <a:prstDash val="solid"/>
          </a:ln>
          <a:effectLst>
            <a:outerShdw blurRad="101600" dist="1016" dir="8100000" algn="bl" rotWithShape="0">
              <a:srgbClr val="000000">
                <a:alpha val="9000"/>
              </a:srgbClr>
            </a:outerShdw>
          </a:effectLst>
        </p:spPr>
        <p:txBody>
          <a:bodyPr/>
          <a:lstStyle/>
          <a:p>
            <a:endParaRPr lang="en-US"/>
          </a:p>
        </p:txBody>
      </p:sp>
      <p:sp>
        <p:nvSpPr>
          <p:cNvPr id="7" name="Text 5"/>
          <p:cNvSpPr/>
          <p:nvPr/>
        </p:nvSpPr>
        <p:spPr>
          <a:xfrm>
            <a:off x="365760" y="1389888"/>
            <a:ext cx="3749040"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The mission</a:t>
            </a:r>
            <a:endParaRPr lang="en-US" sz="1400" dirty="0"/>
          </a:p>
        </p:txBody>
      </p:sp>
      <p:sp>
        <p:nvSpPr>
          <p:cNvPr id="8" name="Shape 6"/>
          <p:cNvSpPr/>
          <p:nvPr/>
        </p:nvSpPr>
        <p:spPr>
          <a:xfrm>
            <a:off x="365760" y="1810512"/>
            <a:ext cx="3749040" cy="768096"/>
          </a:xfrm>
          <a:prstGeom prst="rect">
            <a:avLst/>
          </a:prstGeom>
          <a:solidFill>
            <a:srgbClr val="0F2040"/>
          </a:solidFill>
          <a:ln w="6350">
            <a:solidFill>
              <a:srgbClr val="E05252"/>
            </a:solidFill>
            <a:prstDash val="solid"/>
          </a:ln>
          <a:effectLst>
            <a:outerShdw blurRad="101600" dist="1016" dir="8100000" algn="bl" rotWithShape="0">
              <a:srgbClr val="000000">
                <a:alpha val="9000"/>
              </a:srgbClr>
            </a:outerShdw>
          </a:effectLst>
        </p:spPr>
        <p:txBody>
          <a:bodyPr/>
          <a:lstStyle/>
          <a:p>
            <a:endParaRPr lang="en-US"/>
          </a:p>
        </p:txBody>
      </p:sp>
      <p:sp>
        <p:nvSpPr>
          <p:cNvPr id="9" name="Text 7"/>
          <p:cNvSpPr/>
          <p:nvPr/>
        </p:nvSpPr>
        <p:spPr>
          <a:xfrm>
            <a:off x="475488" y="1810512"/>
            <a:ext cx="3529584" cy="768096"/>
          </a:xfrm>
          <a:prstGeom prst="rect">
            <a:avLst/>
          </a:prstGeom>
          <a:noFill/>
          <a:ln/>
        </p:spPr>
        <p:txBody>
          <a:bodyPr wrap="square" lIns="0" tIns="0" rIns="0" bIns="0" rtlCol="0" anchor="ctr"/>
          <a:lstStyle/>
          <a:p>
            <a:pPr marL="0" indent="0" algn="l">
              <a:buNone/>
            </a:pPr>
            <a:r>
              <a:rPr lang="en-US" sz="950" i="1" dirty="0">
                <a:solidFill>
                  <a:srgbClr val="E8EDF4"/>
                </a:solidFill>
                <a:latin typeface="Georgia" pitchFamily="34" charset="0"/>
                <a:ea typeface="Georgia" pitchFamily="34" charset="-122"/>
                <a:cs typeface="Georgia" pitchFamily="34" charset="-120"/>
              </a:rPr>
              <a:t>Eliminate Struts completely from 3 enterprise applications, 50,000 lines of code, within 5 months. No Struts in the output. No OGNL in the output. No exceptions.</a:t>
            </a:r>
            <a:endParaRPr lang="en-US" sz="950" dirty="0"/>
          </a:p>
        </p:txBody>
      </p:sp>
      <p:sp>
        <p:nvSpPr>
          <p:cNvPr id="10" name="Shape 8"/>
          <p:cNvSpPr/>
          <p:nvPr/>
        </p:nvSpPr>
        <p:spPr>
          <a:xfrm>
            <a:off x="365760" y="2651760"/>
            <a:ext cx="3749040" cy="438912"/>
          </a:xfrm>
          <a:prstGeom prst="rect">
            <a:avLst/>
          </a:prstGeom>
          <a:solidFill>
            <a:srgbClr val="E05252"/>
          </a:solidFill>
          <a:ln w="6350">
            <a:solidFill>
              <a:srgbClr val="E05252"/>
            </a:solidFill>
            <a:prstDash val="solid"/>
          </a:ln>
          <a:effectLst>
            <a:outerShdw blurRad="101600" dist="1016" dir="8100000" algn="bl" rotWithShape="0">
              <a:srgbClr val="000000">
                <a:alpha val="9000"/>
              </a:srgbClr>
            </a:outerShdw>
          </a:effectLst>
        </p:spPr>
        <p:txBody>
          <a:bodyPr/>
          <a:lstStyle/>
          <a:p>
            <a:endParaRPr lang="en-US"/>
          </a:p>
        </p:txBody>
      </p:sp>
      <p:sp>
        <p:nvSpPr>
          <p:cNvPr id="11" name="Shape 9"/>
          <p:cNvSpPr/>
          <p:nvPr/>
        </p:nvSpPr>
        <p:spPr>
          <a:xfrm>
            <a:off x="457200" y="2761488"/>
            <a:ext cx="219456" cy="219456"/>
          </a:xfrm>
          <a:prstGeom prst="ellipse">
            <a:avLst/>
          </a:prstGeom>
          <a:solidFill>
            <a:srgbClr val="FFFFFF">
              <a:alpha val="70000"/>
            </a:srgbClr>
          </a:solidFill>
          <a:ln w="12700">
            <a:solidFill>
              <a:srgbClr val="FFFFFF">
                <a:alpha val="0"/>
              </a:srgbClr>
            </a:solidFill>
            <a:prstDash val="solid"/>
          </a:ln>
        </p:spPr>
        <p:txBody>
          <a:bodyPr/>
          <a:lstStyle/>
          <a:p>
            <a:endParaRPr lang="en-US"/>
          </a:p>
        </p:txBody>
      </p:sp>
      <p:sp>
        <p:nvSpPr>
          <p:cNvPr id="12" name="Text 10"/>
          <p:cNvSpPr/>
          <p:nvPr/>
        </p:nvSpPr>
        <p:spPr>
          <a:xfrm>
            <a:off x="457200" y="2761488"/>
            <a:ext cx="219456" cy="21945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13" name="Text 11"/>
          <p:cNvSpPr/>
          <p:nvPr/>
        </p:nvSpPr>
        <p:spPr>
          <a:xfrm>
            <a:off x="749808" y="2651760"/>
            <a:ext cx="3291840" cy="438912"/>
          </a:xfrm>
          <a:prstGeom prst="rect">
            <a:avLst/>
          </a:prstGeom>
          <a:noFill/>
          <a:ln/>
        </p:spPr>
        <p:txBody>
          <a:bodyPr wrap="square" lIns="0" tIns="0" rIns="0" bIns="0" rtlCol="0" anchor="ctr"/>
          <a:lstStyle/>
          <a:p>
            <a:pPr marL="0" indent="0" algn="l">
              <a:buNone/>
            </a:pPr>
            <a:r>
              <a:rPr lang="en-US" sz="950" dirty="0">
                <a:solidFill>
                  <a:srgbClr val="FFFFFF"/>
                </a:solidFill>
                <a:latin typeface="Calibri" pitchFamily="34" charset="0"/>
                <a:ea typeface="Calibri" pitchFamily="34" charset="-122"/>
                <a:cs typeface="Calibri" pitchFamily="34" charset="-120"/>
              </a:rPr>
              <a:t>ActionSupport classes → removed</a:t>
            </a:r>
            <a:endParaRPr lang="en-US" sz="950" dirty="0"/>
          </a:p>
        </p:txBody>
      </p:sp>
      <p:sp>
        <p:nvSpPr>
          <p:cNvPr id="14" name="Shape 12"/>
          <p:cNvSpPr/>
          <p:nvPr/>
        </p:nvSpPr>
        <p:spPr>
          <a:xfrm>
            <a:off x="365760" y="3154680"/>
            <a:ext cx="3749040" cy="438912"/>
          </a:xfrm>
          <a:prstGeom prst="rect">
            <a:avLst/>
          </a:prstGeom>
          <a:solidFill>
            <a:srgbClr val="E05252"/>
          </a:solidFill>
          <a:ln w="6350">
            <a:solidFill>
              <a:srgbClr val="E05252"/>
            </a:solidFill>
            <a:prstDash val="solid"/>
          </a:ln>
          <a:effectLst>
            <a:outerShdw blurRad="101600" dist="1016" dir="8100000" algn="bl" rotWithShape="0">
              <a:srgbClr val="000000">
                <a:alpha val="9000"/>
              </a:srgbClr>
            </a:outerShdw>
          </a:effectLst>
        </p:spPr>
        <p:txBody>
          <a:bodyPr/>
          <a:lstStyle/>
          <a:p>
            <a:endParaRPr lang="en-US"/>
          </a:p>
        </p:txBody>
      </p:sp>
      <p:sp>
        <p:nvSpPr>
          <p:cNvPr id="15" name="Shape 13"/>
          <p:cNvSpPr/>
          <p:nvPr/>
        </p:nvSpPr>
        <p:spPr>
          <a:xfrm>
            <a:off x="457200" y="3264408"/>
            <a:ext cx="219456" cy="219456"/>
          </a:xfrm>
          <a:prstGeom prst="ellipse">
            <a:avLst/>
          </a:prstGeom>
          <a:solidFill>
            <a:srgbClr val="FFFFFF">
              <a:alpha val="70000"/>
            </a:srgbClr>
          </a:solidFill>
          <a:ln w="12700">
            <a:solidFill>
              <a:srgbClr val="FFFFFF">
                <a:alpha val="0"/>
              </a:srgbClr>
            </a:solidFill>
            <a:prstDash val="solid"/>
          </a:ln>
        </p:spPr>
        <p:txBody>
          <a:bodyPr/>
          <a:lstStyle/>
          <a:p>
            <a:endParaRPr lang="en-US"/>
          </a:p>
        </p:txBody>
      </p:sp>
      <p:sp>
        <p:nvSpPr>
          <p:cNvPr id="16" name="Text 14"/>
          <p:cNvSpPr/>
          <p:nvPr/>
        </p:nvSpPr>
        <p:spPr>
          <a:xfrm>
            <a:off x="457200" y="3264408"/>
            <a:ext cx="219456" cy="21945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17" name="Text 15"/>
          <p:cNvSpPr/>
          <p:nvPr/>
        </p:nvSpPr>
        <p:spPr>
          <a:xfrm>
            <a:off x="749808" y="3154680"/>
            <a:ext cx="3291840" cy="438912"/>
          </a:xfrm>
          <a:prstGeom prst="rect">
            <a:avLst/>
          </a:prstGeom>
          <a:noFill/>
          <a:ln/>
        </p:spPr>
        <p:txBody>
          <a:bodyPr wrap="square" lIns="0" tIns="0" rIns="0" bIns="0" rtlCol="0" anchor="ctr"/>
          <a:lstStyle/>
          <a:p>
            <a:pPr marL="0" indent="0" algn="l">
              <a:buNone/>
            </a:pPr>
            <a:r>
              <a:rPr lang="en-US" sz="950" dirty="0">
                <a:solidFill>
                  <a:srgbClr val="FFFFFF"/>
                </a:solidFill>
                <a:latin typeface="Calibri" pitchFamily="34" charset="0"/>
                <a:ea typeface="Calibri" pitchFamily="34" charset="-122"/>
                <a:cs typeface="Calibri" pitchFamily="34" charset="-120"/>
              </a:rPr>
              <a:t>struts.xml routing → removed</a:t>
            </a:r>
            <a:endParaRPr lang="en-US" sz="950" dirty="0"/>
          </a:p>
        </p:txBody>
      </p:sp>
      <p:sp>
        <p:nvSpPr>
          <p:cNvPr id="18" name="Shape 16"/>
          <p:cNvSpPr/>
          <p:nvPr/>
        </p:nvSpPr>
        <p:spPr>
          <a:xfrm>
            <a:off x="365760" y="3657600"/>
            <a:ext cx="3749040" cy="438912"/>
          </a:xfrm>
          <a:prstGeom prst="rect">
            <a:avLst/>
          </a:prstGeom>
          <a:solidFill>
            <a:srgbClr val="E05252"/>
          </a:solidFill>
          <a:ln w="6350">
            <a:solidFill>
              <a:srgbClr val="E05252"/>
            </a:solidFill>
            <a:prstDash val="solid"/>
          </a:ln>
          <a:effectLst>
            <a:outerShdw blurRad="101600" dist="1016" dir="8100000" algn="bl" rotWithShape="0">
              <a:srgbClr val="000000">
                <a:alpha val="9000"/>
              </a:srgbClr>
            </a:outerShdw>
          </a:effectLst>
        </p:spPr>
        <p:txBody>
          <a:bodyPr/>
          <a:lstStyle/>
          <a:p>
            <a:endParaRPr lang="en-US"/>
          </a:p>
        </p:txBody>
      </p:sp>
      <p:sp>
        <p:nvSpPr>
          <p:cNvPr id="19" name="Shape 17"/>
          <p:cNvSpPr/>
          <p:nvPr/>
        </p:nvSpPr>
        <p:spPr>
          <a:xfrm>
            <a:off x="457200" y="3767328"/>
            <a:ext cx="219456" cy="219456"/>
          </a:xfrm>
          <a:prstGeom prst="ellipse">
            <a:avLst/>
          </a:prstGeom>
          <a:solidFill>
            <a:srgbClr val="FFFFFF">
              <a:alpha val="70000"/>
            </a:srgbClr>
          </a:solidFill>
          <a:ln w="12700">
            <a:solidFill>
              <a:srgbClr val="FFFFFF">
                <a:alpha val="0"/>
              </a:srgbClr>
            </a:solidFill>
            <a:prstDash val="solid"/>
          </a:ln>
        </p:spPr>
        <p:txBody>
          <a:bodyPr/>
          <a:lstStyle/>
          <a:p>
            <a:endParaRPr lang="en-US"/>
          </a:p>
        </p:txBody>
      </p:sp>
      <p:sp>
        <p:nvSpPr>
          <p:cNvPr id="20" name="Text 18"/>
          <p:cNvSpPr/>
          <p:nvPr/>
        </p:nvSpPr>
        <p:spPr>
          <a:xfrm>
            <a:off x="457200" y="3767328"/>
            <a:ext cx="219456" cy="21945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21" name="Text 19"/>
          <p:cNvSpPr/>
          <p:nvPr/>
        </p:nvSpPr>
        <p:spPr>
          <a:xfrm>
            <a:off x="749808" y="3657600"/>
            <a:ext cx="3291840" cy="438912"/>
          </a:xfrm>
          <a:prstGeom prst="rect">
            <a:avLst/>
          </a:prstGeom>
          <a:noFill/>
          <a:ln/>
        </p:spPr>
        <p:txBody>
          <a:bodyPr wrap="square" lIns="0" tIns="0" rIns="0" bIns="0" rtlCol="0" anchor="ctr"/>
          <a:lstStyle/>
          <a:p>
            <a:pPr marL="0" indent="0" algn="l">
              <a:buNone/>
            </a:pPr>
            <a:r>
              <a:rPr lang="en-US" sz="950" dirty="0">
                <a:solidFill>
                  <a:srgbClr val="FFFFFF"/>
                </a:solidFill>
                <a:latin typeface="Calibri" pitchFamily="34" charset="0"/>
                <a:ea typeface="Calibri" pitchFamily="34" charset="-122"/>
                <a:cs typeface="Calibri" pitchFamily="34" charset="-120"/>
              </a:rPr>
              <a:t>OGNL expressions → removed</a:t>
            </a:r>
            <a:endParaRPr lang="en-US" sz="950" dirty="0"/>
          </a:p>
        </p:txBody>
      </p:sp>
      <p:sp>
        <p:nvSpPr>
          <p:cNvPr id="22" name="Shape 20"/>
          <p:cNvSpPr/>
          <p:nvPr/>
        </p:nvSpPr>
        <p:spPr>
          <a:xfrm>
            <a:off x="365760" y="4160520"/>
            <a:ext cx="3749040" cy="438912"/>
          </a:xfrm>
          <a:prstGeom prst="rect">
            <a:avLst/>
          </a:prstGeom>
          <a:solidFill>
            <a:srgbClr val="E05252"/>
          </a:solidFill>
          <a:ln w="6350">
            <a:solidFill>
              <a:srgbClr val="E05252"/>
            </a:solidFill>
            <a:prstDash val="solid"/>
          </a:ln>
          <a:effectLst>
            <a:outerShdw blurRad="101600" dist="1016" dir="8100000" algn="bl" rotWithShape="0">
              <a:srgbClr val="000000">
                <a:alpha val="9000"/>
              </a:srgbClr>
            </a:outerShdw>
          </a:effectLst>
        </p:spPr>
        <p:txBody>
          <a:bodyPr/>
          <a:lstStyle/>
          <a:p>
            <a:endParaRPr lang="en-US"/>
          </a:p>
        </p:txBody>
      </p:sp>
      <p:sp>
        <p:nvSpPr>
          <p:cNvPr id="23" name="Shape 21"/>
          <p:cNvSpPr/>
          <p:nvPr/>
        </p:nvSpPr>
        <p:spPr>
          <a:xfrm>
            <a:off x="457200" y="4270248"/>
            <a:ext cx="219456" cy="219456"/>
          </a:xfrm>
          <a:prstGeom prst="ellipse">
            <a:avLst/>
          </a:prstGeom>
          <a:solidFill>
            <a:srgbClr val="FFFFFF">
              <a:alpha val="70000"/>
            </a:srgbClr>
          </a:solidFill>
          <a:ln w="12700">
            <a:solidFill>
              <a:srgbClr val="FFFFFF">
                <a:alpha val="0"/>
              </a:srgbClr>
            </a:solidFill>
            <a:prstDash val="solid"/>
          </a:ln>
        </p:spPr>
        <p:txBody>
          <a:bodyPr/>
          <a:lstStyle/>
          <a:p>
            <a:endParaRPr lang="en-US"/>
          </a:p>
        </p:txBody>
      </p:sp>
      <p:sp>
        <p:nvSpPr>
          <p:cNvPr id="24" name="Text 22"/>
          <p:cNvSpPr/>
          <p:nvPr/>
        </p:nvSpPr>
        <p:spPr>
          <a:xfrm>
            <a:off x="457200" y="4270248"/>
            <a:ext cx="219456" cy="21945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25" name="Text 23"/>
          <p:cNvSpPr/>
          <p:nvPr/>
        </p:nvSpPr>
        <p:spPr>
          <a:xfrm>
            <a:off x="749808" y="4160520"/>
            <a:ext cx="3291840" cy="438912"/>
          </a:xfrm>
          <a:prstGeom prst="rect">
            <a:avLst/>
          </a:prstGeom>
          <a:noFill/>
          <a:ln/>
        </p:spPr>
        <p:txBody>
          <a:bodyPr wrap="square" lIns="0" tIns="0" rIns="0" bIns="0" rtlCol="0" anchor="ctr"/>
          <a:lstStyle/>
          <a:p>
            <a:pPr marL="0" indent="0" algn="l">
              <a:buNone/>
            </a:pPr>
            <a:r>
              <a:rPr lang="en-US" sz="950" dirty="0">
                <a:solidFill>
                  <a:srgbClr val="FFFFFF"/>
                </a:solidFill>
                <a:latin typeface="Calibri" pitchFamily="34" charset="0"/>
                <a:ea typeface="Calibri" pitchFamily="34" charset="-122"/>
                <a:cs typeface="Calibri" pitchFamily="34" charset="-120"/>
              </a:rPr>
              <a:t>&lt;s:&gt; JSP tags → removed</a:t>
            </a:r>
            <a:endParaRPr lang="en-US" sz="950" dirty="0"/>
          </a:p>
        </p:txBody>
      </p:sp>
      <p:sp>
        <p:nvSpPr>
          <p:cNvPr id="26" name="Shape 24"/>
          <p:cNvSpPr/>
          <p:nvPr/>
        </p:nvSpPr>
        <p:spPr>
          <a:xfrm>
            <a:off x="365760" y="4663440"/>
            <a:ext cx="3749040" cy="438912"/>
          </a:xfrm>
          <a:prstGeom prst="rect">
            <a:avLst/>
          </a:prstGeom>
          <a:solidFill>
            <a:srgbClr val="E05252"/>
          </a:solidFill>
          <a:ln w="6350">
            <a:solidFill>
              <a:srgbClr val="E05252"/>
            </a:solidFill>
            <a:prstDash val="solid"/>
          </a:ln>
          <a:effectLst>
            <a:outerShdw blurRad="101600" dist="1016" dir="8100000" algn="bl" rotWithShape="0">
              <a:srgbClr val="000000">
                <a:alpha val="9000"/>
              </a:srgbClr>
            </a:outerShdw>
          </a:effectLst>
        </p:spPr>
        <p:txBody>
          <a:bodyPr/>
          <a:lstStyle/>
          <a:p>
            <a:endParaRPr lang="en-US"/>
          </a:p>
        </p:txBody>
      </p:sp>
      <p:sp>
        <p:nvSpPr>
          <p:cNvPr id="27" name="Shape 25"/>
          <p:cNvSpPr/>
          <p:nvPr/>
        </p:nvSpPr>
        <p:spPr>
          <a:xfrm>
            <a:off x="457200" y="4773168"/>
            <a:ext cx="219456" cy="219456"/>
          </a:xfrm>
          <a:prstGeom prst="ellipse">
            <a:avLst/>
          </a:prstGeom>
          <a:solidFill>
            <a:srgbClr val="FFFFFF">
              <a:alpha val="70000"/>
            </a:srgbClr>
          </a:solidFill>
          <a:ln w="12700">
            <a:solidFill>
              <a:srgbClr val="FFFFFF">
                <a:alpha val="0"/>
              </a:srgbClr>
            </a:solidFill>
            <a:prstDash val="solid"/>
          </a:ln>
        </p:spPr>
        <p:txBody>
          <a:bodyPr/>
          <a:lstStyle/>
          <a:p>
            <a:endParaRPr lang="en-US"/>
          </a:p>
        </p:txBody>
      </p:sp>
      <p:sp>
        <p:nvSpPr>
          <p:cNvPr id="28" name="Text 26"/>
          <p:cNvSpPr/>
          <p:nvPr/>
        </p:nvSpPr>
        <p:spPr>
          <a:xfrm>
            <a:off x="457200" y="4773168"/>
            <a:ext cx="219456" cy="21945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29" name="Text 27"/>
          <p:cNvSpPr/>
          <p:nvPr/>
        </p:nvSpPr>
        <p:spPr>
          <a:xfrm>
            <a:off x="749808" y="4663440"/>
            <a:ext cx="3291840" cy="438912"/>
          </a:xfrm>
          <a:prstGeom prst="rect">
            <a:avLst/>
          </a:prstGeom>
          <a:noFill/>
          <a:ln/>
        </p:spPr>
        <p:txBody>
          <a:bodyPr wrap="square" lIns="0" tIns="0" rIns="0" bIns="0" rtlCol="0" anchor="ctr"/>
          <a:lstStyle/>
          <a:p>
            <a:pPr marL="0" indent="0" algn="l">
              <a:buNone/>
            </a:pPr>
            <a:r>
              <a:rPr lang="en-US" sz="950" dirty="0">
                <a:solidFill>
                  <a:srgbClr val="FFFFFF"/>
                </a:solidFill>
                <a:latin typeface="Calibri" pitchFamily="34" charset="0"/>
                <a:ea typeface="Calibri" pitchFamily="34" charset="-122"/>
                <a:cs typeface="Calibri" pitchFamily="34" charset="-120"/>
              </a:rPr>
              <a:t>Struts dependencies → removed from pom.xml</a:t>
            </a:r>
            <a:endParaRPr lang="en-US" sz="950" dirty="0"/>
          </a:p>
        </p:txBody>
      </p:sp>
      <p:sp>
        <p:nvSpPr>
          <p:cNvPr id="30" name="Shape 28"/>
          <p:cNvSpPr/>
          <p:nvPr/>
        </p:nvSpPr>
        <p:spPr>
          <a:xfrm>
            <a:off x="4315968" y="1389888"/>
            <a:ext cx="3749040" cy="384048"/>
          </a:xfrm>
          <a:prstGeom prst="rect">
            <a:avLst/>
          </a:prstGeom>
          <a:solidFill>
            <a:srgbClr val="0A1628"/>
          </a:solidFill>
          <a:ln w="1270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31" name="Text 29"/>
          <p:cNvSpPr/>
          <p:nvPr/>
        </p:nvSpPr>
        <p:spPr>
          <a:xfrm>
            <a:off x="4315968" y="1389888"/>
            <a:ext cx="3749040"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The mechanism</a:t>
            </a:r>
            <a:endParaRPr lang="en-US" sz="1400" dirty="0"/>
          </a:p>
        </p:txBody>
      </p:sp>
      <p:sp>
        <p:nvSpPr>
          <p:cNvPr id="32" name="Shape 30"/>
          <p:cNvSpPr/>
          <p:nvPr/>
        </p:nvSpPr>
        <p:spPr>
          <a:xfrm>
            <a:off x="4315968" y="1810512"/>
            <a:ext cx="3749040" cy="768096"/>
          </a:xfrm>
          <a:prstGeom prst="rect">
            <a:avLst/>
          </a:prstGeom>
          <a:solidFill>
            <a:srgbClr val="0F2040"/>
          </a:solidFill>
          <a:ln w="635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33" name="Text 31"/>
          <p:cNvSpPr/>
          <p:nvPr/>
        </p:nvSpPr>
        <p:spPr>
          <a:xfrm>
            <a:off x="4425696" y="1810512"/>
            <a:ext cx="3529584" cy="768096"/>
          </a:xfrm>
          <a:prstGeom prst="rect">
            <a:avLst/>
          </a:prstGeom>
          <a:noFill/>
          <a:ln/>
        </p:spPr>
        <p:txBody>
          <a:bodyPr wrap="square" lIns="0" tIns="0" rIns="0" bIns="0" rtlCol="0" anchor="ctr"/>
          <a:lstStyle/>
          <a:p>
            <a:pPr marL="0" indent="0" algn="l">
              <a:buNone/>
            </a:pPr>
            <a:r>
              <a:rPr lang="en-US" sz="950" i="1" dirty="0">
                <a:solidFill>
                  <a:srgbClr val="E8EDF4"/>
                </a:solidFill>
                <a:latin typeface="Georgia" pitchFamily="34" charset="0"/>
                <a:ea typeface="Georgia" pitchFamily="34" charset="-122"/>
                <a:cs typeface="Georgia" pitchFamily="34" charset="-120"/>
              </a:rPr>
              <a:t>16 AI agents working in a coordinated pipeline. Each agent is a specialist. Every file passes through pre-transform safety checks, a transformation agent, an independent review agent, and post-review quality gates before it is written to disk.</a:t>
            </a:r>
            <a:endParaRPr lang="en-US" sz="950" dirty="0"/>
          </a:p>
        </p:txBody>
      </p:sp>
      <p:sp>
        <p:nvSpPr>
          <p:cNvPr id="34" name="Shape 32"/>
          <p:cNvSpPr/>
          <p:nvPr/>
        </p:nvSpPr>
        <p:spPr>
          <a:xfrm>
            <a:off x="4315968" y="2651760"/>
            <a:ext cx="3749040" cy="438912"/>
          </a:xfrm>
          <a:prstGeom prst="rect">
            <a:avLst/>
          </a:prstGeom>
          <a:solidFill>
            <a:srgbClr val="3B82C4"/>
          </a:solidFill>
          <a:ln w="635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35" name="Shape 33"/>
          <p:cNvSpPr/>
          <p:nvPr/>
        </p:nvSpPr>
        <p:spPr>
          <a:xfrm>
            <a:off x="4407408" y="2761488"/>
            <a:ext cx="219456" cy="219456"/>
          </a:xfrm>
          <a:prstGeom prst="ellipse">
            <a:avLst/>
          </a:prstGeom>
          <a:solidFill>
            <a:srgbClr val="FFFFFF">
              <a:alpha val="70000"/>
            </a:srgbClr>
          </a:solidFill>
          <a:ln w="12700">
            <a:solidFill>
              <a:srgbClr val="FFFFFF">
                <a:alpha val="0"/>
              </a:srgbClr>
            </a:solidFill>
            <a:prstDash val="solid"/>
          </a:ln>
        </p:spPr>
        <p:txBody>
          <a:bodyPr/>
          <a:lstStyle/>
          <a:p>
            <a:endParaRPr lang="en-US"/>
          </a:p>
        </p:txBody>
      </p:sp>
      <p:sp>
        <p:nvSpPr>
          <p:cNvPr id="36" name="Text 34"/>
          <p:cNvSpPr/>
          <p:nvPr/>
        </p:nvSpPr>
        <p:spPr>
          <a:xfrm>
            <a:off x="4407408" y="2761488"/>
            <a:ext cx="219456" cy="21945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37" name="Text 35"/>
          <p:cNvSpPr/>
          <p:nvPr/>
        </p:nvSpPr>
        <p:spPr>
          <a:xfrm>
            <a:off x="4700016" y="2651760"/>
            <a:ext cx="3291840" cy="438912"/>
          </a:xfrm>
          <a:prstGeom prst="rect">
            <a:avLst/>
          </a:prstGeom>
          <a:noFill/>
          <a:ln/>
        </p:spPr>
        <p:txBody>
          <a:bodyPr wrap="square" lIns="0" tIns="0" rIns="0" bIns="0" rtlCol="0" anchor="ctr"/>
          <a:lstStyle/>
          <a:p>
            <a:pPr marL="0" indent="0" algn="l">
              <a:buNone/>
            </a:pPr>
            <a:r>
              <a:rPr lang="en-US" sz="950" dirty="0">
                <a:solidFill>
                  <a:srgbClr val="FFFFFF"/>
                </a:solidFill>
                <a:latin typeface="Calibri" pitchFamily="34" charset="0"/>
                <a:ea typeface="Calibri" pitchFamily="34" charset="-122"/>
                <a:cs typeface="Calibri" pitchFamily="34" charset="-120"/>
              </a:rPr>
              <a:t>2 Guardrails checkpoints (Claude Sonnet 4.5)</a:t>
            </a:r>
            <a:endParaRPr lang="en-US" sz="950" dirty="0"/>
          </a:p>
        </p:txBody>
      </p:sp>
      <p:sp>
        <p:nvSpPr>
          <p:cNvPr id="38" name="Shape 36"/>
          <p:cNvSpPr/>
          <p:nvPr/>
        </p:nvSpPr>
        <p:spPr>
          <a:xfrm>
            <a:off x="4315968" y="3154680"/>
            <a:ext cx="3749040" cy="438912"/>
          </a:xfrm>
          <a:prstGeom prst="rect">
            <a:avLst/>
          </a:prstGeom>
          <a:solidFill>
            <a:srgbClr val="3B82C4"/>
          </a:solidFill>
          <a:ln w="635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39" name="Shape 37"/>
          <p:cNvSpPr/>
          <p:nvPr/>
        </p:nvSpPr>
        <p:spPr>
          <a:xfrm>
            <a:off x="4407408" y="3264408"/>
            <a:ext cx="219456" cy="219456"/>
          </a:xfrm>
          <a:prstGeom prst="ellipse">
            <a:avLst/>
          </a:prstGeom>
          <a:solidFill>
            <a:srgbClr val="FFFFFF">
              <a:alpha val="70000"/>
            </a:srgbClr>
          </a:solidFill>
          <a:ln w="12700">
            <a:solidFill>
              <a:srgbClr val="FFFFFF">
                <a:alpha val="0"/>
              </a:srgbClr>
            </a:solidFill>
            <a:prstDash val="solid"/>
          </a:ln>
        </p:spPr>
        <p:txBody>
          <a:bodyPr/>
          <a:lstStyle/>
          <a:p>
            <a:endParaRPr lang="en-US"/>
          </a:p>
        </p:txBody>
      </p:sp>
      <p:sp>
        <p:nvSpPr>
          <p:cNvPr id="40" name="Text 38"/>
          <p:cNvSpPr/>
          <p:nvPr/>
        </p:nvSpPr>
        <p:spPr>
          <a:xfrm>
            <a:off x="4407408" y="3264408"/>
            <a:ext cx="219456" cy="21945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41" name="Text 39"/>
          <p:cNvSpPr/>
          <p:nvPr/>
        </p:nvSpPr>
        <p:spPr>
          <a:xfrm>
            <a:off x="4700016" y="3154680"/>
            <a:ext cx="3291840" cy="438912"/>
          </a:xfrm>
          <a:prstGeom prst="rect">
            <a:avLst/>
          </a:prstGeom>
          <a:noFill/>
          <a:ln/>
        </p:spPr>
        <p:txBody>
          <a:bodyPr wrap="square" lIns="0" tIns="0" rIns="0" bIns="0" rtlCol="0" anchor="ctr"/>
          <a:lstStyle/>
          <a:p>
            <a:pPr marL="0" indent="0" algn="l">
              <a:buNone/>
            </a:pPr>
            <a:r>
              <a:rPr lang="en-US" sz="950" dirty="0">
                <a:solidFill>
                  <a:srgbClr val="FFFFFF"/>
                </a:solidFill>
                <a:latin typeface="Calibri" pitchFamily="34" charset="0"/>
                <a:ea typeface="Calibri" pitchFamily="34" charset="-122"/>
                <a:cs typeface="Calibri" pitchFamily="34" charset="-120"/>
              </a:rPr>
              <a:t>1 Leader agent — routes and retries (Sonnet 4.5)</a:t>
            </a:r>
            <a:endParaRPr lang="en-US" sz="950" dirty="0"/>
          </a:p>
        </p:txBody>
      </p:sp>
      <p:sp>
        <p:nvSpPr>
          <p:cNvPr id="42" name="Shape 40"/>
          <p:cNvSpPr/>
          <p:nvPr/>
        </p:nvSpPr>
        <p:spPr>
          <a:xfrm>
            <a:off x="4315968" y="3657600"/>
            <a:ext cx="3749040" cy="438912"/>
          </a:xfrm>
          <a:prstGeom prst="rect">
            <a:avLst/>
          </a:prstGeom>
          <a:solidFill>
            <a:srgbClr val="3B82C4"/>
          </a:solidFill>
          <a:ln w="635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43" name="Shape 41"/>
          <p:cNvSpPr/>
          <p:nvPr/>
        </p:nvSpPr>
        <p:spPr>
          <a:xfrm>
            <a:off x="4407408" y="3767328"/>
            <a:ext cx="219456" cy="219456"/>
          </a:xfrm>
          <a:prstGeom prst="ellipse">
            <a:avLst/>
          </a:prstGeom>
          <a:solidFill>
            <a:srgbClr val="FFFFFF">
              <a:alpha val="70000"/>
            </a:srgbClr>
          </a:solidFill>
          <a:ln w="12700">
            <a:solidFill>
              <a:srgbClr val="FFFFFF">
                <a:alpha val="0"/>
              </a:srgbClr>
            </a:solidFill>
            <a:prstDash val="solid"/>
          </a:ln>
        </p:spPr>
        <p:txBody>
          <a:bodyPr/>
          <a:lstStyle/>
          <a:p>
            <a:endParaRPr lang="en-US"/>
          </a:p>
        </p:txBody>
      </p:sp>
      <p:sp>
        <p:nvSpPr>
          <p:cNvPr id="44" name="Text 42"/>
          <p:cNvSpPr/>
          <p:nvPr/>
        </p:nvSpPr>
        <p:spPr>
          <a:xfrm>
            <a:off x="4407408" y="3767328"/>
            <a:ext cx="219456" cy="21945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45" name="Text 43"/>
          <p:cNvSpPr/>
          <p:nvPr/>
        </p:nvSpPr>
        <p:spPr>
          <a:xfrm>
            <a:off x="4700016" y="3657600"/>
            <a:ext cx="3291840" cy="438912"/>
          </a:xfrm>
          <a:prstGeom prst="rect">
            <a:avLst/>
          </a:prstGeom>
          <a:noFill/>
          <a:ln/>
        </p:spPr>
        <p:txBody>
          <a:bodyPr wrap="square" lIns="0" tIns="0" rIns="0" bIns="0" rtlCol="0" anchor="ctr"/>
          <a:lstStyle/>
          <a:p>
            <a:pPr marL="0" indent="0" algn="l">
              <a:buNone/>
            </a:pPr>
            <a:r>
              <a:rPr lang="en-US" sz="950" dirty="0">
                <a:solidFill>
                  <a:srgbClr val="FFFFFF"/>
                </a:solidFill>
                <a:latin typeface="Calibri" pitchFamily="34" charset="0"/>
                <a:ea typeface="Calibri" pitchFamily="34" charset="-122"/>
                <a:cs typeface="Calibri" pitchFamily="34" charset="-120"/>
              </a:rPr>
              <a:t>8 Transform agents — specialists (Sonnet 4.5)</a:t>
            </a:r>
            <a:endParaRPr lang="en-US" sz="950" dirty="0"/>
          </a:p>
        </p:txBody>
      </p:sp>
      <p:sp>
        <p:nvSpPr>
          <p:cNvPr id="46" name="Shape 44"/>
          <p:cNvSpPr/>
          <p:nvPr/>
        </p:nvSpPr>
        <p:spPr>
          <a:xfrm>
            <a:off x="4315968" y="4160520"/>
            <a:ext cx="3749040" cy="438912"/>
          </a:xfrm>
          <a:prstGeom prst="rect">
            <a:avLst/>
          </a:prstGeom>
          <a:solidFill>
            <a:srgbClr val="3B82C4"/>
          </a:solidFill>
          <a:ln w="635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47" name="Shape 45"/>
          <p:cNvSpPr/>
          <p:nvPr/>
        </p:nvSpPr>
        <p:spPr>
          <a:xfrm>
            <a:off x="4407408" y="4270248"/>
            <a:ext cx="219456" cy="219456"/>
          </a:xfrm>
          <a:prstGeom prst="ellipse">
            <a:avLst/>
          </a:prstGeom>
          <a:solidFill>
            <a:srgbClr val="FFFFFF">
              <a:alpha val="70000"/>
            </a:srgbClr>
          </a:solidFill>
          <a:ln w="12700">
            <a:solidFill>
              <a:srgbClr val="FFFFFF">
                <a:alpha val="0"/>
              </a:srgbClr>
            </a:solidFill>
            <a:prstDash val="solid"/>
          </a:ln>
        </p:spPr>
        <p:txBody>
          <a:bodyPr/>
          <a:lstStyle/>
          <a:p>
            <a:endParaRPr lang="en-US"/>
          </a:p>
        </p:txBody>
      </p:sp>
      <p:sp>
        <p:nvSpPr>
          <p:cNvPr id="48" name="Text 46"/>
          <p:cNvSpPr/>
          <p:nvPr/>
        </p:nvSpPr>
        <p:spPr>
          <a:xfrm>
            <a:off x="4407408" y="4270248"/>
            <a:ext cx="219456" cy="21945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49" name="Text 47"/>
          <p:cNvSpPr/>
          <p:nvPr/>
        </p:nvSpPr>
        <p:spPr>
          <a:xfrm>
            <a:off x="4700016" y="4160520"/>
            <a:ext cx="3291840" cy="438912"/>
          </a:xfrm>
          <a:prstGeom prst="rect">
            <a:avLst/>
          </a:prstGeom>
          <a:noFill/>
          <a:ln/>
        </p:spPr>
        <p:txBody>
          <a:bodyPr wrap="square" lIns="0" tIns="0" rIns="0" bIns="0" rtlCol="0" anchor="ctr"/>
          <a:lstStyle/>
          <a:p>
            <a:pPr marL="0" indent="0" algn="l">
              <a:buNone/>
            </a:pPr>
            <a:r>
              <a:rPr lang="en-US" sz="950" dirty="0">
                <a:solidFill>
                  <a:srgbClr val="FFFFFF"/>
                </a:solidFill>
                <a:latin typeface="Calibri" pitchFamily="34" charset="0"/>
                <a:ea typeface="Calibri" pitchFamily="34" charset="-122"/>
                <a:cs typeface="Calibri" pitchFamily="34" charset="-120"/>
              </a:rPr>
              <a:t>5 Review agents — cross-model check (Nova Pro)</a:t>
            </a:r>
            <a:endParaRPr lang="en-US" sz="950" dirty="0"/>
          </a:p>
        </p:txBody>
      </p:sp>
      <p:sp>
        <p:nvSpPr>
          <p:cNvPr id="50" name="Shape 48"/>
          <p:cNvSpPr/>
          <p:nvPr/>
        </p:nvSpPr>
        <p:spPr>
          <a:xfrm>
            <a:off x="4315968" y="4663440"/>
            <a:ext cx="3749040" cy="438912"/>
          </a:xfrm>
          <a:prstGeom prst="rect">
            <a:avLst/>
          </a:prstGeom>
          <a:solidFill>
            <a:srgbClr val="3B82C4"/>
          </a:solidFill>
          <a:ln w="6350">
            <a:solidFill>
              <a:srgbClr val="3B82C4"/>
            </a:solidFill>
            <a:prstDash val="solid"/>
          </a:ln>
          <a:effectLst>
            <a:outerShdw blurRad="101600" dist="1016" dir="8100000" algn="bl" rotWithShape="0">
              <a:srgbClr val="000000">
                <a:alpha val="9000"/>
              </a:srgbClr>
            </a:outerShdw>
          </a:effectLst>
        </p:spPr>
        <p:txBody>
          <a:bodyPr/>
          <a:lstStyle/>
          <a:p>
            <a:endParaRPr lang="en-US"/>
          </a:p>
        </p:txBody>
      </p:sp>
      <p:sp>
        <p:nvSpPr>
          <p:cNvPr id="51" name="Shape 49"/>
          <p:cNvSpPr/>
          <p:nvPr/>
        </p:nvSpPr>
        <p:spPr>
          <a:xfrm>
            <a:off x="4407408" y="4773168"/>
            <a:ext cx="219456" cy="219456"/>
          </a:xfrm>
          <a:prstGeom prst="ellipse">
            <a:avLst/>
          </a:prstGeom>
          <a:solidFill>
            <a:srgbClr val="FFFFFF">
              <a:alpha val="70000"/>
            </a:srgbClr>
          </a:solidFill>
          <a:ln w="12700">
            <a:solidFill>
              <a:srgbClr val="FFFFFF">
                <a:alpha val="0"/>
              </a:srgbClr>
            </a:solidFill>
            <a:prstDash val="solid"/>
          </a:ln>
        </p:spPr>
        <p:txBody>
          <a:bodyPr/>
          <a:lstStyle/>
          <a:p>
            <a:endParaRPr lang="en-US"/>
          </a:p>
        </p:txBody>
      </p:sp>
      <p:sp>
        <p:nvSpPr>
          <p:cNvPr id="52" name="Text 50"/>
          <p:cNvSpPr/>
          <p:nvPr/>
        </p:nvSpPr>
        <p:spPr>
          <a:xfrm>
            <a:off x="4407408" y="4773168"/>
            <a:ext cx="219456" cy="21945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53" name="Text 51"/>
          <p:cNvSpPr/>
          <p:nvPr/>
        </p:nvSpPr>
        <p:spPr>
          <a:xfrm>
            <a:off x="4700016" y="4663440"/>
            <a:ext cx="3291840" cy="438912"/>
          </a:xfrm>
          <a:prstGeom prst="rect">
            <a:avLst/>
          </a:prstGeom>
          <a:noFill/>
          <a:ln/>
        </p:spPr>
        <p:txBody>
          <a:bodyPr wrap="square" lIns="0" tIns="0" rIns="0" bIns="0" rtlCol="0" anchor="ctr"/>
          <a:lstStyle/>
          <a:p>
            <a:pPr marL="0" indent="0" algn="l">
              <a:buNone/>
            </a:pPr>
            <a:r>
              <a:rPr lang="en-US" sz="950" dirty="0">
                <a:solidFill>
                  <a:srgbClr val="FFFFFF"/>
                </a:solidFill>
                <a:latin typeface="Calibri" pitchFamily="34" charset="0"/>
                <a:ea typeface="Calibri" pitchFamily="34" charset="-122"/>
                <a:cs typeface="Calibri" pitchFamily="34" charset="-120"/>
              </a:rPr>
              <a:t>RAG knowledge base — enterprise standards</a:t>
            </a:r>
            <a:endParaRPr lang="en-US" sz="950" dirty="0"/>
          </a:p>
        </p:txBody>
      </p:sp>
      <p:sp>
        <p:nvSpPr>
          <p:cNvPr id="54" name="Shape 52"/>
          <p:cNvSpPr/>
          <p:nvPr/>
        </p:nvSpPr>
        <p:spPr>
          <a:xfrm>
            <a:off x="8266176" y="1389888"/>
            <a:ext cx="3749040" cy="384048"/>
          </a:xfrm>
          <a:prstGeom prst="rect">
            <a:avLst/>
          </a:prstGeom>
          <a:solidFill>
            <a:srgbClr val="0A1628"/>
          </a:solidFill>
          <a:ln w="12700">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55" name="Text 53"/>
          <p:cNvSpPr/>
          <p:nvPr/>
        </p:nvSpPr>
        <p:spPr>
          <a:xfrm>
            <a:off x="8266176" y="1389888"/>
            <a:ext cx="3749040"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The guarantee</a:t>
            </a:r>
            <a:endParaRPr lang="en-US" sz="1400" dirty="0"/>
          </a:p>
        </p:txBody>
      </p:sp>
      <p:sp>
        <p:nvSpPr>
          <p:cNvPr id="56" name="Shape 54"/>
          <p:cNvSpPr/>
          <p:nvPr/>
        </p:nvSpPr>
        <p:spPr>
          <a:xfrm>
            <a:off x="8266176" y="1810512"/>
            <a:ext cx="3749040" cy="768096"/>
          </a:xfrm>
          <a:prstGeom prst="rect">
            <a:avLst/>
          </a:prstGeom>
          <a:solidFill>
            <a:srgbClr val="0F2040"/>
          </a:solidFill>
          <a:ln w="6350">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57" name="Text 55"/>
          <p:cNvSpPr/>
          <p:nvPr/>
        </p:nvSpPr>
        <p:spPr>
          <a:xfrm>
            <a:off x="8375904" y="1810512"/>
            <a:ext cx="3529584" cy="768096"/>
          </a:xfrm>
          <a:prstGeom prst="rect">
            <a:avLst/>
          </a:prstGeom>
          <a:noFill/>
          <a:ln/>
        </p:spPr>
        <p:txBody>
          <a:bodyPr wrap="square" lIns="0" tIns="0" rIns="0" bIns="0" rtlCol="0" anchor="ctr"/>
          <a:lstStyle/>
          <a:p>
            <a:pPr marL="0" indent="0" algn="l">
              <a:buNone/>
            </a:pPr>
            <a:r>
              <a:rPr lang="en-US" sz="950" i="1" dirty="0">
                <a:solidFill>
                  <a:srgbClr val="E8EDF4"/>
                </a:solidFill>
                <a:latin typeface="Georgia" pitchFamily="34" charset="0"/>
                <a:ea typeface="Georgia" pitchFamily="34" charset="-122"/>
                <a:cs typeface="Georgia" pitchFamily="34" charset="-120"/>
              </a:rPr>
              <a:t>No file reaches the output folder without passing every gate. Every decision is logged. The migration is not a black box — every file shows the review score, retry history, model pair used, and guardrail verdicts.</a:t>
            </a:r>
            <a:endParaRPr lang="en-US" sz="950" dirty="0"/>
          </a:p>
        </p:txBody>
      </p:sp>
      <p:sp>
        <p:nvSpPr>
          <p:cNvPr id="58" name="Shape 56"/>
          <p:cNvSpPr/>
          <p:nvPr/>
        </p:nvSpPr>
        <p:spPr>
          <a:xfrm>
            <a:off x="8266176" y="2651760"/>
            <a:ext cx="3749040" cy="438912"/>
          </a:xfrm>
          <a:prstGeom prst="rect">
            <a:avLst/>
          </a:prstGeom>
          <a:solidFill>
            <a:srgbClr val="1D9E75"/>
          </a:solidFill>
          <a:ln w="6350">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59" name="Shape 57"/>
          <p:cNvSpPr/>
          <p:nvPr/>
        </p:nvSpPr>
        <p:spPr>
          <a:xfrm>
            <a:off x="8357616" y="2761488"/>
            <a:ext cx="219456" cy="219456"/>
          </a:xfrm>
          <a:prstGeom prst="ellipse">
            <a:avLst/>
          </a:prstGeom>
          <a:solidFill>
            <a:srgbClr val="FFFFFF">
              <a:alpha val="70000"/>
            </a:srgbClr>
          </a:solidFill>
          <a:ln w="12700">
            <a:solidFill>
              <a:srgbClr val="FFFFFF">
                <a:alpha val="0"/>
              </a:srgbClr>
            </a:solidFill>
            <a:prstDash val="solid"/>
          </a:ln>
        </p:spPr>
        <p:txBody>
          <a:bodyPr/>
          <a:lstStyle/>
          <a:p>
            <a:endParaRPr lang="en-US"/>
          </a:p>
        </p:txBody>
      </p:sp>
      <p:sp>
        <p:nvSpPr>
          <p:cNvPr id="60" name="Text 58"/>
          <p:cNvSpPr/>
          <p:nvPr/>
        </p:nvSpPr>
        <p:spPr>
          <a:xfrm>
            <a:off x="8357616" y="2761488"/>
            <a:ext cx="219456" cy="21945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1</a:t>
            </a:r>
            <a:endParaRPr lang="en-US" sz="800" dirty="0"/>
          </a:p>
        </p:txBody>
      </p:sp>
      <p:sp>
        <p:nvSpPr>
          <p:cNvPr id="61" name="Text 59"/>
          <p:cNvSpPr/>
          <p:nvPr/>
        </p:nvSpPr>
        <p:spPr>
          <a:xfrm>
            <a:off x="8650224" y="2651760"/>
            <a:ext cx="3291840" cy="438912"/>
          </a:xfrm>
          <a:prstGeom prst="rect">
            <a:avLst/>
          </a:prstGeom>
          <a:noFill/>
          <a:ln/>
        </p:spPr>
        <p:txBody>
          <a:bodyPr wrap="square" lIns="0" tIns="0" rIns="0" bIns="0" rtlCol="0" anchor="ctr"/>
          <a:lstStyle/>
          <a:p>
            <a:pPr marL="0" indent="0" algn="l">
              <a:buNone/>
            </a:pPr>
            <a:r>
              <a:rPr lang="en-US" sz="950" dirty="0">
                <a:solidFill>
                  <a:srgbClr val="FFFFFF"/>
                </a:solidFill>
                <a:latin typeface="Calibri" pitchFamily="34" charset="0"/>
                <a:ea typeface="Calibri" pitchFamily="34" charset="-122"/>
                <a:cs typeface="Calibri" pitchFamily="34" charset="-120"/>
              </a:rPr>
              <a:t>~80% of files auto-transform on first attempt</a:t>
            </a:r>
            <a:endParaRPr lang="en-US" sz="950" dirty="0"/>
          </a:p>
        </p:txBody>
      </p:sp>
      <p:sp>
        <p:nvSpPr>
          <p:cNvPr id="62" name="Shape 60"/>
          <p:cNvSpPr/>
          <p:nvPr/>
        </p:nvSpPr>
        <p:spPr>
          <a:xfrm>
            <a:off x="8266176" y="3154680"/>
            <a:ext cx="3749040" cy="438912"/>
          </a:xfrm>
          <a:prstGeom prst="rect">
            <a:avLst/>
          </a:prstGeom>
          <a:solidFill>
            <a:srgbClr val="1D9E75"/>
          </a:solidFill>
          <a:ln w="6350">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63" name="Shape 61"/>
          <p:cNvSpPr/>
          <p:nvPr/>
        </p:nvSpPr>
        <p:spPr>
          <a:xfrm>
            <a:off x="8357616" y="3264408"/>
            <a:ext cx="219456" cy="219456"/>
          </a:xfrm>
          <a:prstGeom prst="ellipse">
            <a:avLst/>
          </a:prstGeom>
          <a:solidFill>
            <a:srgbClr val="FFFFFF">
              <a:alpha val="70000"/>
            </a:srgbClr>
          </a:solidFill>
          <a:ln w="12700">
            <a:solidFill>
              <a:srgbClr val="FFFFFF">
                <a:alpha val="0"/>
              </a:srgbClr>
            </a:solidFill>
            <a:prstDash val="solid"/>
          </a:ln>
        </p:spPr>
        <p:txBody>
          <a:bodyPr/>
          <a:lstStyle/>
          <a:p>
            <a:endParaRPr lang="en-US"/>
          </a:p>
        </p:txBody>
      </p:sp>
      <p:sp>
        <p:nvSpPr>
          <p:cNvPr id="64" name="Text 62"/>
          <p:cNvSpPr/>
          <p:nvPr/>
        </p:nvSpPr>
        <p:spPr>
          <a:xfrm>
            <a:off x="8357616" y="3264408"/>
            <a:ext cx="219456" cy="21945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2</a:t>
            </a:r>
            <a:endParaRPr lang="en-US" sz="800" dirty="0"/>
          </a:p>
        </p:txBody>
      </p:sp>
      <p:sp>
        <p:nvSpPr>
          <p:cNvPr id="65" name="Text 63"/>
          <p:cNvSpPr/>
          <p:nvPr/>
        </p:nvSpPr>
        <p:spPr>
          <a:xfrm>
            <a:off x="8650224" y="3154680"/>
            <a:ext cx="3291840" cy="438912"/>
          </a:xfrm>
          <a:prstGeom prst="rect">
            <a:avLst/>
          </a:prstGeom>
          <a:noFill/>
          <a:ln/>
        </p:spPr>
        <p:txBody>
          <a:bodyPr wrap="square" lIns="0" tIns="0" rIns="0" bIns="0" rtlCol="0" anchor="ctr"/>
          <a:lstStyle/>
          <a:p>
            <a:pPr marL="0" indent="0" algn="l">
              <a:buNone/>
            </a:pPr>
            <a:r>
              <a:rPr lang="en-US" sz="950" dirty="0">
                <a:solidFill>
                  <a:srgbClr val="FFFFFF"/>
                </a:solidFill>
                <a:latin typeface="Calibri" pitchFamily="34" charset="0"/>
                <a:ea typeface="Calibri" pitchFamily="34" charset="-122"/>
                <a:cs typeface="Calibri" pitchFamily="34" charset="-120"/>
              </a:rPr>
              <a:t>~15% retry with AI feedback (max 2 times)</a:t>
            </a:r>
            <a:endParaRPr lang="en-US" sz="950" dirty="0"/>
          </a:p>
        </p:txBody>
      </p:sp>
      <p:sp>
        <p:nvSpPr>
          <p:cNvPr id="66" name="Shape 64"/>
          <p:cNvSpPr/>
          <p:nvPr/>
        </p:nvSpPr>
        <p:spPr>
          <a:xfrm>
            <a:off x="8266176" y="3657600"/>
            <a:ext cx="3749040" cy="438912"/>
          </a:xfrm>
          <a:prstGeom prst="rect">
            <a:avLst/>
          </a:prstGeom>
          <a:solidFill>
            <a:srgbClr val="1D9E75"/>
          </a:solidFill>
          <a:ln w="6350">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67" name="Shape 65"/>
          <p:cNvSpPr/>
          <p:nvPr/>
        </p:nvSpPr>
        <p:spPr>
          <a:xfrm>
            <a:off x="8357616" y="3767328"/>
            <a:ext cx="219456" cy="219456"/>
          </a:xfrm>
          <a:prstGeom prst="ellipse">
            <a:avLst/>
          </a:prstGeom>
          <a:solidFill>
            <a:srgbClr val="FFFFFF">
              <a:alpha val="70000"/>
            </a:srgbClr>
          </a:solidFill>
          <a:ln w="12700">
            <a:solidFill>
              <a:srgbClr val="FFFFFF">
                <a:alpha val="0"/>
              </a:srgbClr>
            </a:solidFill>
            <a:prstDash val="solid"/>
          </a:ln>
        </p:spPr>
        <p:txBody>
          <a:bodyPr/>
          <a:lstStyle/>
          <a:p>
            <a:endParaRPr lang="en-US"/>
          </a:p>
        </p:txBody>
      </p:sp>
      <p:sp>
        <p:nvSpPr>
          <p:cNvPr id="68" name="Text 66"/>
          <p:cNvSpPr/>
          <p:nvPr/>
        </p:nvSpPr>
        <p:spPr>
          <a:xfrm>
            <a:off x="8357616" y="3767328"/>
            <a:ext cx="219456" cy="21945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3</a:t>
            </a:r>
            <a:endParaRPr lang="en-US" sz="800" dirty="0"/>
          </a:p>
        </p:txBody>
      </p:sp>
      <p:sp>
        <p:nvSpPr>
          <p:cNvPr id="69" name="Text 67"/>
          <p:cNvSpPr/>
          <p:nvPr/>
        </p:nvSpPr>
        <p:spPr>
          <a:xfrm>
            <a:off x="8650224" y="3657600"/>
            <a:ext cx="3291840" cy="438912"/>
          </a:xfrm>
          <a:prstGeom prst="rect">
            <a:avLst/>
          </a:prstGeom>
          <a:noFill/>
          <a:ln/>
        </p:spPr>
        <p:txBody>
          <a:bodyPr wrap="square" lIns="0" tIns="0" rIns="0" bIns="0" rtlCol="0" anchor="ctr"/>
          <a:lstStyle/>
          <a:p>
            <a:pPr marL="0" indent="0" algn="l">
              <a:buNone/>
            </a:pPr>
            <a:r>
              <a:rPr lang="en-US" sz="950" dirty="0">
                <a:solidFill>
                  <a:srgbClr val="FFFFFF"/>
                </a:solidFill>
                <a:latin typeface="Calibri" pitchFamily="34" charset="0"/>
                <a:ea typeface="Calibri" pitchFamily="34" charset="-122"/>
                <a:cs typeface="Calibri" pitchFamily="34" charset="-120"/>
              </a:rPr>
              <a:t>~5% escalated to human review with full context</a:t>
            </a:r>
            <a:endParaRPr lang="en-US" sz="950" dirty="0"/>
          </a:p>
        </p:txBody>
      </p:sp>
      <p:sp>
        <p:nvSpPr>
          <p:cNvPr id="70" name="Shape 68"/>
          <p:cNvSpPr/>
          <p:nvPr/>
        </p:nvSpPr>
        <p:spPr>
          <a:xfrm>
            <a:off x="8266176" y="4160520"/>
            <a:ext cx="3749040" cy="438912"/>
          </a:xfrm>
          <a:prstGeom prst="rect">
            <a:avLst/>
          </a:prstGeom>
          <a:solidFill>
            <a:srgbClr val="1D9E75"/>
          </a:solidFill>
          <a:ln w="6350">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71" name="Shape 69"/>
          <p:cNvSpPr/>
          <p:nvPr/>
        </p:nvSpPr>
        <p:spPr>
          <a:xfrm>
            <a:off x="8357616" y="4270248"/>
            <a:ext cx="219456" cy="219456"/>
          </a:xfrm>
          <a:prstGeom prst="ellipse">
            <a:avLst/>
          </a:prstGeom>
          <a:solidFill>
            <a:srgbClr val="FFFFFF">
              <a:alpha val="70000"/>
            </a:srgbClr>
          </a:solidFill>
          <a:ln w="12700">
            <a:solidFill>
              <a:srgbClr val="FFFFFF">
                <a:alpha val="0"/>
              </a:srgbClr>
            </a:solidFill>
            <a:prstDash val="solid"/>
          </a:ln>
        </p:spPr>
        <p:txBody>
          <a:bodyPr/>
          <a:lstStyle/>
          <a:p>
            <a:endParaRPr lang="en-US"/>
          </a:p>
        </p:txBody>
      </p:sp>
      <p:sp>
        <p:nvSpPr>
          <p:cNvPr id="72" name="Text 70"/>
          <p:cNvSpPr/>
          <p:nvPr/>
        </p:nvSpPr>
        <p:spPr>
          <a:xfrm>
            <a:off x="8357616" y="4270248"/>
            <a:ext cx="219456" cy="21945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4</a:t>
            </a:r>
            <a:endParaRPr lang="en-US" sz="800" dirty="0"/>
          </a:p>
        </p:txBody>
      </p:sp>
      <p:sp>
        <p:nvSpPr>
          <p:cNvPr id="73" name="Text 71"/>
          <p:cNvSpPr/>
          <p:nvPr/>
        </p:nvSpPr>
        <p:spPr>
          <a:xfrm>
            <a:off x="8650224" y="4160520"/>
            <a:ext cx="3291840" cy="438912"/>
          </a:xfrm>
          <a:prstGeom prst="rect">
            <a:avLst/>
          </a:prstGeom>
          <a:noFill/>
          <a:ln/>
        </p:spPr>
        <p:txBody>
          <a:bodyPr wrap="square" lIns="0" tIns="0" rIns="0" bIns="0" rtlCol="0" anchor="ctr"/>
          <a:lstStyle/>
          <a:p>
            <a:pPr marL="0" indent="0" algn="l">
              <a:buNone/>
            </a:pPr>
            <a:r>
              <a:rPr lang="en-US" sz="950" dirty="0">
                <a:solidFill>
                  <a:srgbClr val="FFFFFF"/>
                </a:solidFill>
                <a:latin typeface="Calibri" pitchFamily="34" charset="0"/>
                <a:ea typeface="Calibri" pitchFamily="34" charset="-122"/>
                <a:cs typeface="Calibri" pitchFamily="34" charset="-120"/>
              </a:rPr>
              <a:t>Zero OGNL expressions in any output file</a:t>
            </a:r>
            <a:endParaRPr lang="en-US" sz="950" dirty="0"/>
          </a:p>
        </p:txBody>
      </p:sp>
      <p:sp>
        <p:nvSpPr>
          <p:cNvPr id="74" name="Shape 72"/>
          <p:cNvSpPr/>
          <p:nvPr/>
        </p:nvSpPr>
        <p:spPr>
          <a:xfrm>
            <a:off x="8266176" y="4663440"/>
            <a:ext cx="3749040" cy="438912"/>
          </a:xfrm>
          <a:prstGeom prst="rect">
            <a:avLst/>
          </a:prstGeom>
          <a:solidFill>
            <a:srgbClr val="1D9E75"/>
          </a:solidFill>
          <a:ln w="6350">
            <a:solidFill>
              <a:srgbClr val="1D9E75"/>
            </a:solidFill>
            <a:prstDash val="solid"/>
          </a:ln>
          <a:effectLst>
            <a:outerShdw blurRad="101600" dist="1016" dir="8100000" algn="bl" rotWithShape="0">
              <a:srgbClr val="000000">
                <a:alpha val="9000"/>
              </a:srgbClr>
            </a:outerShdw>
          </a:effectLst>
        </p:spPr>
        <p:txBody>
          <a:bodyPr/>
          <a:lstStyle/>
          <a:p>
            <a:endParaRPr lang="en-US"/>
          </a:p>
        </p:txBody>
      </p:sp>
      <p:sp>
        <p:nvSpPr>
          <p:cNvPr id="75" name="Shape 73"/>
          <p:cNvSpPr/>
          <p:nvPr/>
        </p:nvSpPr>
        <p:spPr>
          <a:xfrm>
            <a:off x="8357616" y="4773168"/>
            <a:ext cx="219456" cy="219456"/>
          </a:xfrm>
          <a:prstGeom prst="ellipse">
            <a:avLst/>
          </a:prstGeom>
          <a:solidFill>
            <a:srgbClr val="FFFFFF">
              <a:alpha val="70000"/>
            </a:srgbClr>
          </a:solidFill>
          <a:ln w="12700">
            <a:solidFill>
              <a:srgbClr val="FFFFFF">
                <a:alpha val="0"/>
              </a:srgbClr>
            </a:solidFill>
            <a:prstDash val="solid"/>
          </a:ln>
        </p:spPr>
        <p:txBody>
          <a:bodyPr/>
          <a:lstStyle/>
          <a:p>
            <a:endParaRPr lang="en-US"/>
          </a:p>
        </p:txBody>
      </p:sp>
      <p:sp>
        <p:nvSpPr>
          <p:cNvPr id="76" name="Text 74"/>
          <p:cNvSpPr/>
          <p:nvPr/>
        </p:nvSpPr>
        <p:spPr>
          <a:xfrm>
            <a:off x="8357616" y="4773168"/>
            <a:ext cx="219456" cy="219456"/>
          </a:xfrm>
          <a:prstGeom prst="rect">
            <a:avLst/>
          </a:prstGeom>
          <a:noFill/>
          <a:ln/>
        </p:spPr>
        <p:txBody>
          <a:bodyPr wrap="square" lIns="0" tIns="0" rIns="0" bIns="0" rtlCol="0" anchor="ctr"/>
          <a:lstStyle/>
          <a:p>
            <a:pPr marL="0" indent="0" algn="ctr">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77" name="Text 75"/>
          <p:cNvSpPr/>
          <p:nvPr/>
        </p:nvSpPr>
        <p:spPr>
          <a:xfrm>
            <a:off x="8650224" y="4663440"/>
            <a:ext cx="3291840" cy="438912"/>
          </a:xfrm>
          <a:prstGeom prst="rect">
            <a:avLst/>
          </a:prstGeom>
          <a:noFill/>
          <a:ln/>
        </p:spPr>
        <p:txBody>
          <a:bodyPr wrap="square" lIns="0" tIns="0" rIns="0" bIns="0" rtlCol="0" anchor="ctr"/>
          <a:lstStyle/>
          <a:p>
            <a:pPr marL="0" indent="0" algn="l">
              <a:buNone/>
            </a:pPr>
            <a:r>
              <a:rPr lang="en-US" sz="950" dirty="0">
                <a:solidFill>
                  <a:srgbClr val="FFFFFF"/>
                </a:solidFill>
                <a:latin typeface="Calibri" pitchFamily="34" charset="0"/>
                <a:ea typeface="Calibri" pitchFamily="34" charset="-122"/>
                <a:cs typeface="Calibri" pitchFamily="34" charset="-120"/>
              </a:rPr>
              <a:t>Auditable trail for every transformation decision</a:t>
            </a:r>
            <a:endParaRPr lang="en-US" sz="950" dirty="0"/>
          </a:p>
        </p:txBody>
      </p:sp>
      <p:sp>
        <p:nvSpPr>
          <p:cNvPr id="78" name="Shape 76"/>
          <p:cNvSpPr/>
          <p:nvPr/>
        </p:nvSpPr>
        <p:spPr>
          <a:xfrm>
            <a:off x="365760" y="5321808"/>
            <a:ext cx="11430000" cy="914400"/>
          </a:xfrm>
          <a:prstGeom prst="rect">
            <a:avLst/>
          </a:prstGeom>
          <a:solidFill>
            <a:srgbClr val="FEF6E7"/>
          </a:solidFill>
          <a:ln w="9525">
            <a:solidFill>
              <a:srgbClr val="F5A623"/>
            </a:solidFill>
            <a:prstDash val="solid"/>
          </a:ln>
          <a:effectLst>
            <a:outerShdw blurRad="101600" dist="1016" dir="8100000" algn="bl" rotWithShape="0">
              <a:srgbClr val="000000">
                <a:alpha val="9000"/>
              </a:srgbClr>
            </a:outerShdw>
          </a:effectLst>
        </p:spPr>
        <p:txBody>
          <a:bodyPr/>
          <a:lstStyle/>
          <a:p>
            <a:endParaRPr lang="en-US"/>
          </a:p>
        </p:txBody>
      </p:sp>
      <p:sp>
        <p:nvSpPr>
          <p:cNvPr id="79" name="Text 77"/>
          <p:cNvSpPr/>
          <p:nvPr/>
        </p:nvSpPr>
        <p:spPr>
          <a:xfrm>
            <a:off x="502920" y="5321808"/>
            <a:ext cx="2743200" cy="329184"/>
          </a:xfrm>
          <a:prstGeom prst="rect">
            <a:avLst/>
          </a:prstGeom>
          <a:noFill/>
          <a:ln/>
        </p:spPr>
        <p:txBody>
          <a:bodyPr wrap="square" lIns="0" tIns="0" rIns="0" bIns="0" rtlCol="0" anchor="ctr"/>
          <a:lstStyle/>
          <a:p>
            <a:pPr marL="0" indent="0" algn="l">
              <a:buNone/>
            </a:pPr>
            <a:r>
              <a:rPr lang="en-US" sz="1100" b="1" dirty="0">
                <a:solidFill>
                  <a:srgbClr val="633806"/>
                </a:solidFill>
                <a:latin typeface="Georgia" pitchFamily="34" charset="0"/>
                <a:ea typeface="Georgia" pitchFamily="34" charset="-122"/>
                <a:cs typeface="Georgia" pitchFamily="34" charset="-120"/>
              </a:rPr>
              <a:t>What the human team does</a:t>
            </a:r>
            <a:endParaRPr lang="en-US" sz="1100" dirty="0"/>
          </a:p>
        </p:txBody>
      </p:sp>
      <p:sp>
        <p:nvSpPr>
          <p:cNvPr id="80" name="Text 78"/>
          <p:cNvSpPr/>
          <p:nvPr/>
        </p:nvSpPr>
        <p:spPr>
          <a:xfrm>
            <a:off x="502920" y="5650992"/>
            <a:ext cx="11155680" cy="512064"/>
          </a:xfrm>
          <a:prstGeom prst="rect">
            <a:avLst/>
          </a:prstGeom>
          <a:noFill/>
          <a:ln/>
        </p:spPr>
        <p:txBody>
          <a:bodyPr wrap="square" lIns="0" tIns="0" rIns="0" bIns="0" rtlCol="0" anchor="ctr"/>
          <a:lstStyle/>
          <a:p>
            <a:pPr marL="0" indent="0" algn="l">
              <a:buNone/>
            </a:pPr>
            <a:r>
              <a:rPr lang="en-US" sz="950" dirty="0">
                <a:solidFill>
                  <a:srgbClr val="633806"/>
                </a:solidFill>
                <a:latin typeface="Calibri" pitchFamily="34" charset="0"/>
                <a:ea typeface="Calibri" pitchFamily="34" charset="-122"/>
                <a:cs typeface="Calibri" pitchFamily="34" charset="-120"/>
              </a:rPr>
              <a:t>Human engineers review only the files the AI flagged as MANUAL — complex OGNL expressions, custom interceptors with business logic, validate() methods that call the database. These arrive in the review portal with full context: original file, best transformed version, and the specific reasons it was escalated. No engineer ever reviews a file blind.</a:t>
            </a:r>
            <a:endParaRPr lang="en-US" sz="950" dirty="0"/>
          </a:p>
        </p:txBody>
      </p:sp>
      <p:sp>
        <p:nvSpPr>
          <p:cNvPr id="81" name="Shape 79"/>
          <p:cNvSpPr/>
          <p:nvPr/>
        </p:nvSpPr>
        <p:spPr>
          <a:xfrm>
            <a:off x="365760" y="6309360"/>
            <a:ext cx="11430000" cy="347472"/>
          </a:xfrm>
          <a:prstGeom prst="rect">
            <a:avLst/>
          </a:prstGeom>
          <a:solidFill>
            <a:srgbClr val="0A1628"/>
          </a:solidFill>
          <a:ln w="9525">
            <a:solidFill>
              <a:srgbClr val="F5A623"/>
            </a:solidFill>
            <a:prstDash val="solid"/>
          </a:ln>
          <a:effectLst>
            <a:outerShdw blurRad="101600" dist="1016" dir="8100000" algn="bl" rotWithShape="0">
              <a:srgbClr val="000000">
                <a:alpha val="9000"/>
              </a:srgbClr>
            </a:outerShdw>
          </a:effectLst>
        </p:spPr>
        <p:txBody>
          <a:bodyPr/>
          <a:lstStyle/>
          <a:p>
            <a:endParaRPr lang="en-US"/>
          </a:p>
        </p:txBody>
      </p:sp>
      <p:sp>
        <p:nvSpPr>
          <p:cNvPr id="82" name="Text 80"/>
          <p:cNvSpPr/>
          <p:nvPr/>
        </p:nvSpPr>
        <p:spPr>
          <a:xfrm>
            <a:off x="365760" y="6309360"/>
            <a:ext cx="11430000" cy="347472"/>
          </a:xfrm>
          <a:prstGeom prst="rect">
            <a:avLst/>
          </a:prstGeom>
          <a:noFill/>
          <a:ln/>
        </p:spPr>
        <p:txBody>
          <a:bodyPr wrap="square" lIns="0" tIns="0" rIns="0" bIns="0" rtlCol="0" anchor="ctr"/>
          <a:lstStyle/>
          <a:p>
            <a:pPr marL="0" indent="0" algn="ctr">
              <a:buNone/>
            </a:pPr>
            <a:r>
              <a:rPr lang="en-US" sz="950" b="1" dirty="0">
                <a:solidFill>
                  <a:srgbClr val="F5A623"/>
                </a:solidFill>
                <a:latin typeface="Georgia" pitchFamily="34" charset="0"/>
                <a:ea typeface="Georgia" pitchFamily="34" charset="-122"/>
                <a:cs typeface="Georgia" pitchFamily="34" charset="-120"/>
              </a:rPr>
              <a:t>FORGE  ·  16 agents  ·  Claude Sonnet 4.5 + Amazon Nova Pro  ·  AWS Bedrock  ·  Zero Struts in output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2224</TotalTime>
  <Words>3996</Words>
  <Application>Microsoft Macintosh PowerPoint</Application>
  <PresentationFormat>Widescreen</PresentationFormat>
  <Paragraphs>404</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FORGE — Agent Deep Dive for Management</dc:title>
  <dc:subject>PptxGenJS Presentation</dc:subject>
  <dc:creator>PptxGenJS</dc:creator>
  <cp:lastModifiedBy>Raja Anche</cp:lastModifiedBy>
  <cp:revision>1</cp:revision>
  <dcterms:created xsi:type="dcterms:W3CDTF">2026-04-13T23:43:02Z</dcterms:created>
  <dcterms:modified xsi:type="dcterms:W3CDTF">2026-04-15T13:25:32Z</dcterms:modified>
</cp:coreProperties>
</file>