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72016" y="-137160"/>
            <a:ext cx="486461" cy="1920240"/>
          </a:xfrm>
          <a:prstGeom prst="rect">
            <a:avLst/>
          </a:prstGeom>
          <a:solidFill>
            <a:srgbClr val="C47E0F">
              <a:alpha val="80000"/>
            </a:srgbClr>
          </a:solidFill>
          <a:ln w="12700">
            <a:solidFill>
              <a:srgbClr val="C47E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118872"/>
            <a:ext cx="704088" cy="16642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48826" y="349301"/>
            <a:ext cx="332842" cy="1280160"/>
          </a:xfrm>
          <a:prstGeom prst="rect">
            <a:avLst/>
          </a:prstGeom>
          <a:solidFill>
            <a:srgbClr val="FDD17A"/>
          </a:solidFill>
          <a:ln w="12700">
            <a:solidFill>
              <a:srgbClr val="FDD17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48088" y="-137160"/>
            <a:ext cx="590702" cy="2331720"/>
          </a:xfrm>
          <a:prstGeom prst="rect">
            <a:avLst/>
          </a:prstGeom>
          <a:solidFill>
            <a:srgbClr val="C47E0F">
              <a:alpha val="80000"/>
            </a:srgbClr>
          </a:solidFill>
          <a:ln w="12700">
            <a:solidFill>
              <a:srgbClr val="C47E0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173736"/>
            <a:ext cx="854964" cy="202082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41357" y="453542"/>
            <a:ext cx="404165" cy="1554480"/>
          </a:xfrm>
          <a:prstGeom prst="rect">
            <a:avLst/>
          </a:prstGeom>
          <a:solidFill>
            <a:srgbClr val="FDD17A"/>
          </a:solidFill>
          <a:ln w="12700">
            <a:solidFill>
              <a:srgbClr val="FDD17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51592" y="-137160"/>
            <a:ext cx="451714" cy="1783080"/>
          </a:xfrm>
          <a:prstGeom prst="rect">
            <a:avLst/>
          </a:prstGeom>
          <a:solidFill>
            <a:srgbClr val="C47E0F">
              <a:alpha val="80000"/>
            </a:srgbClr>
          </a:solidFill>
          <a:ln w="12700">
            <a:solidFill>
              <a:srgbClr val="C47E0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32720" y="100584"/>
            <a:ext cx="653796" cy="154533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22915" y="314554"/>
            <a:ext cx="309067" cy="1188720"/>
          </a:xfrm>
          <a:prstGeom prst="rect">
            <a:avLst/>
          </a:prstGeom>
          <a:solidFill>
            <a:srgbClr val="FDD17A"/>
          </a:solidFill>
          <a:ln w="12700">
            <a:solidFill>
              <a:srgbClr val="FDD17A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27080" y="-137160"/>
            <a:ext cx="347472" cy="1371600"/>
          </a:xfrm>
          <a:prstGeom prst="rect">
            <a:avLst/>
          </a:prstGeom>
          <a:solidFill>
            <a:srgbClr val="C47E0F">
              <a:alpha val="80000"/>
            </a:srgbClr>
          </a:solidFill>
          <a:ln w="12700">
            <a:solidFill>
              <a:srgbClr val="C47E0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35640" y="45720"/>
            <a:ext cx="502920" cy="1188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81944" y="210312"/>
            <a:ext cx="237744" cy="914400"/>
          </a:xfrm>
          <a:prstGeom prst="rect">
            <a:avLst/>
          </a:prstGeom>
          <a:solidFill>
            <a:srgbClr val="FDD17A"/>
          </a:solidFill>
          <a:ln w="12700">
            <a:solidFill>
              <a:srgbClr val="FDD17A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" y="91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FORGE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01168" y="475488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Orchestrated Rewrite &amp; Generation Engine  ·  Full Architecture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1168" y="713232"/>
            <a:ext cx="11795760" cy="20117"/>
          </a:xfrm>
          <a:prstGeom prst="rect">
            <a:avLst/>
          </a:prstGeom>
          <a:solidFill>
            <a:srgbClr val="F5A623">
              <a:alpha val="40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" y="768096"/>
            <a:ext cx="1097280" cy="5669280"/>
          </a:xfrm>
          <a:prstGeom prst="rect">
            <a:avLst/>
          </a:prstGeom>
          <a:solidFill>
            <a:srgbClr val="0F2040"/>
          </a:solidFill>
          <a:ln w="9525">
            <a:solidFill>
              <a:srgbClr val="626E7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768096"/>
            <a:ext cx="1097280" cy="43891"/>
          </a:xfrm>
          <a:prstGeom prst="rect">
            <a:avLst/>
          </a:prstGeom>
          <a:solidFill>
            <a:srgbClr val="7A95B4"/>
          </a:solidFill>
          <a:ln w="12700">
            <a:solidFill>
              <a:srgbClr val="7A95B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" y="8183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95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 entry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4320" y="10789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migrate.py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74320" y="12801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sequencer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74320" y="14813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--phase java21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74320" y="16824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--dry-run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88366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--resume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6032" y="2185416"/>
            <a:ext cx="987552" cy="201168"/>
          </a:xfrm>
          <a:prstGeom prst="rect">
            <a:avLst/>
          </a:prstGeom>
          <a:solidFill>
            <a:srgbClr val="1A3A5C"/>
          </a:solidFill>
          <a:ln w="6350">
            <a:solidFill>
              <a:srgbClr val="626E7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56032" y="218541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74320" y="24323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discover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74320" y="27249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java21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74320" y="30175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spring6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74320" y="3310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struts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74320" y="345643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274320" y="36027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containerize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74320" y="37490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274320" y="38953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testgen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298448" y="1426464"/>
            <a:ext cx="128016" cy="22860"/>
          </a:xfrm>
          <a:prstGeom prst="rect">
            <a:avLst/>
          </a:prstGeom>
          <a:solidFill>
            <a:srgbClr val="F5A623">
              <a:alpha val="50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426464" y="768096"/>
            <a:ext cx="1188720" cy="5669280"/>
          </a:xfrm>
          <a:prstGeom prst="rect">
            <a:avLst/>
          </a:prstGeom>
          <a:solidFill>
            <a:srgbClr val="FEF6E7"/>
          </a:solidFill>
          <a:ln w="1524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426464" y="768096"/>
            <a:ext cx="1188720" cy="43891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26464" y="8183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338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Guardrails (pre)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499616" y="1097280"/>
            <a:ext cx="1042416" cy="384048"/>
          </a:xfrm>
          <a:prstGeom prst="rect">
            <a:avLst/>
          </a:prstGeom>
          <a:solidFill>
            <a:srgbClr val="FDD17A"/>
          </a:solidFill>
          <a:ln w="63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499616" y="1097280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scanner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499616" y="1554480"/>
            <a:ext cx="1042416" cy="384048"/>
          </a:xfrm>
          <a:prstGeom prst="rect">
            <a:avLst/>
          </a:prstGeom>
          <a:solidFill>
            <a:srgbClr val="FDD17A"/>
          </a:solidFill>
          <a:ln w="63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499616" y="1554480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validator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499616" y="2011680"/>
            <a:ext cx="1042416" cy="384048"/>
          </a:xfrm>
          <a:prstGeom prst="rect">
            <a:avLst/>
          </a:prstGeom>
          <a:solidFill>
            <a:srgbClr val="FDD17A"/>
          </a:solidFill>
          <a:ln w="63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499616" y="2011680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detector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499616" y="2468880"/>
            <a:ext cx="1042416" cy="384048"/>
          </a:xfrm>
          <a:prstGeom prst="rect">
            <a:avLst/>
          </a:prstGeom>
          <a:solidFill>
            <a:srgbClr val="FDD17A"/>
          </a:solidFill>
          <a:ln w="63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1499616" y="2468880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gate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499616" y="2962656"/>
            <a:ext cx="1042416" cy="201168"/>
          </a:xfrm>
          <a:prstGeom prst="rect">
            <a:avLst/>
          </a:prstGeom>
          <a:solidFill>
            <a:srgbClr val="E05252"/>
          </a:solidFill>
          <a:ln w="6350">
            <a:solidFill>
              <a:srgbClr val="E0525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1499616" y="296265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499616" y="3218688"/>
            <a:ext cx="1042416" cy="201168"/>
          </a:xfrm>
          <a:prstGeom prst="rect">
            <a:avLst/>
          </a:prstGeom>
          <a:solidFill>
            <a:srgbClr val="F5A623"/>
          </a:solidFill>
          <a:ln w="63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1499616" y="321868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499616" y="3474720"/>
            <a:ext cx="1042416" cy="201168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1499616" y="347472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481328" y="3785616"/>
            <a:ext cx="1078992" cy="201168"/>
          </a:xfrm>
          <a:prstGeom prst="rect">
            <a:avLst/>
          </a:prstGeom>
          <a:solidFill>
            <a:srgbClr val="FDD17A"/>
          </a:solidFill>
          <a:ln w="63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1481328" y="378561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Pre-transform checks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517904" y="4023360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secrets in source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1517904" y="4279392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within scope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1517904" y="4535424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extreme LOC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1517904" y="4791456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flagged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1426464" y="6345936"/>
            <a:ext cx="1188720" cy="91440"/>
          </a:xfrm>
          <a:prstGeom prst="rect">
            <a:avLst/>
          </a:prstGeom>
          <a:solidFill>
            <a:srgbClr val="F5A623"/>
          </a:solidFill>
          <a:ln w="63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1426464" y="6345936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4.5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2615184" y="1426464"/>
            <a:ext cx="128016" cy="22860"/>
          </a:xfrm>
          <a:prstGeom prst="rect">
            <a:avLst/>
          </a:prstGeom>
          <a:solidFill>
            <a:srgbClr val="F5A623">
              <a:alpha val="50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43200" y="768096"/>
            <a:ext cx="1188720" cy="5669280"/>
          </a:xfrm>
          <a:prstGeom prst="rect">
            <a:avLst/>
          </a:prstGeom>
          <a:solidFill>
            <a:srgbClr val="E1F5EE"/>
          </a:solidFill>
          <a:ln w="1524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2743200" y="768096"/>
            <a:ext cx="1188720" cy="43891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0" y="8183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50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 agent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816352" y="1097280"/>
            <a:ext cx="1042416" cy="274320"/>
          </a:xfrm>
          <a:prstGeom prst="rect">
            <a:avLst/>
          </a:prstGeom>
          <a:solidFill>
            <a:srgbClr val="C7EAD8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2816352" y="109728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per file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816352" y="1426464"/>
            <a:ext cx="1042416" cy="274320"/>
          </a:xfrm>
          <a:prstGeom prst="rect">
            <a:avLst/>
          </a:prstGeom>
          <a:solidFill>
            <a:srgbClr val="C7EAD8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2816352" y="142646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loop (max 2)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2816352" y="1755648"/>
            <a:ext cx="1042416" cy="274320"/>
          </a:xfrm>
          <a:prstGeom prst="rect">
            <a:avLst/>
          </a:prstGeom>
          <a:solidFill>
            <a:srgbClr val="C7EAD8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2816352" y="175564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Injects feedback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2816352" y="2084832"/>
            <a:ext cx="1042416" cy="274320"/>
          </a:xfrm>
          <a:prstGeom prst="rect">
            <a:avLst/>
          </a:prstGeom>
          <a:solidFill>
            <a:srgbClr val="C7EAD8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2816352" y="208483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Interprets verdicts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2816352" y="2414016"/>
            <a:ext cx="1042416" cy="274320"/>
          </a:xfrm>
          <a:prstGeom prst="rect">
            <a:avLst/>
          </a:prstGeom>
          <a:solidFill>
            <a:srgbClr val="C7EAD8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2816352" y="2414016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manager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2816352" y="2743200"/>
            <a:ext cx="1042416" cy="274320"/>
          </a:xfrm>
          <a:prstGeom prst="rect">
            <a:avLst/>
          </a:prstGeom>
          <a:solidFill>
            <a:srgbClr val="C7EAD8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2816352" y="274320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queue push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2798064" y="3145536"/>
            <a:ext cx="1078992" cy="201168"/>
          </a:xfrm>
          <a:prstGeom prst="rect">
            <a:avLst/>
          </a:prstGeom>
          <a:solidFill>
            <a:srgbClr val="C7EAD8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2798064" y="314553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logic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2834640" y="338328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≥80 → write file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2834640" y="365760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50-79 → re-transform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2834640" y="393192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count +1 (max 2)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2834640" y="420624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&lt;50 → queue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2798064" y="4535424"/>
            <a:ext cx="1078992" cy="201168"/>
          </a:xfrm>
          <a:prstGeom prst="rect">
            <a:avLst/>
          </a:prstGeom>
          <a:solidFill>
            <a:srgbClr val="C7EAD8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5" name="Text 83"/>
          <p:cNvSpPr/>
          <p:nvPr/>
        </p:nvSpPr>
        <p:spPr>
          <a:xfrm>
            <a:off x="2798064" y="453542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2834640" y="477316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→ Review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2834640" y="504748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→ Guardrails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2834640" y="532180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→ Output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2834640" y="559612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Manual queue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2743200" y="6345936"/>
            <a:ext cx="1188720" cy="91440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1" name="Text 89"/>
          <p:cNvSpPr/>
          <p:nvPr/>
        </p:nvSpPr>
        <p:spPr>
          <a:xfrm>
            <a:off x="2743200" y="6345936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4.5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3931920" y="1426464"/>
            <a:ext cx="128016" cy="22860"/>
          </a:xfrm>
          <a:prstGeom prst="rect">
            <a:avLst/>
          </a:prstGeom>
          <a:solidFill>
            <a:srgbClr val="F5A623">
              <a:alpha val="50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059936" y="768096"/>
            <a:ext cx="1481328" cy="5669280"/>
          </a:xfrm>
          <a:prstGeom prst="rect">
            <a:avLst/>
          </a:prstGeom>
          <a:solidFill>
            <a:srgbClr val="E6F1FB"/>
          </a:solidFill>
          <a:ln w="15240">
            <a:solidFill>
              <a:srgbClr val="3B82C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4059936" y="768096"/>
            <a:ext cx="1481328" cy="43891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>
                <a:alpha val="0"/>
              </a:srgbClr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059936" y="81838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2C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 agents × 8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4142232" y="1088136"/>
            <a:ext cx="1316736" cy="402336"/>
          </a:xfrm>
          <a:prstGeom prst="rect">
            <a:avLst/>
          </a:prstGeom>
          <a:solidFill>
            <a:srgbClr val="185FA5"/>
          </a:solidFill>
          <a:ln w="6350">
            <a:solidFill>
              <a:srgbClr val="85B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7" name="Text 95"/>
          <p:cNvSpPr/>
          <p:nvPr/>
        </p:nvSpPr>
        <p:spPr>
          <a:xfrm>
            <a:off x="4142232" y="1088136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4142232" y="1563624"/>
            <a:ext cx="1316736" cy="402336"/>
          </a:xfrm>
          <a:prstGeom prst="rect">
            <a:avLst/>
          </a:prstGeom>
          <a:solidFill>
            <a:srgbClr val="185FA5"/>
          </a:solidFill>
          <a:ln w="6350">
            <a:solidFill>
              <a:srgbClr val="85B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4142232" y="1563624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scorer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4142232" y="2039112"/>
            <a:ext cx="1316736" cy="402336"/>
          </a:xfrm>
          <a:prstGeom prst="rect">
            <a:avLst/>
          </a:prstGeom>
          <a:solidFill>
            <a:srgbClr val="0C447C"/>
          </a:solidFill>
          <a:ln w="6350">
            <a:solidFill>
              <a:srgbClr val="85B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1" name="Text 99"/>
          <p:cNvSpPr/>
          <p:nvPr/>
        </p:nvSpPr>
        <p:spPr>
          <a:xfrm>
            <a:off x="4142232" y="2039112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8→21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4142232" y="2514600"/>
            <a:ext cx="1316736" cy="402336"/>
          </a:xfrm>
          <a:prstGeom prst="rect">
            <a:avLst/>
          </a:prstGeom>
          <a:solidFill>
            <a:srgbClr val="0C447C"/>
          </a:solidFill>
          <a:ln w="6350">
            <a:solidFill>
              <a:srgbClr val="85B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3" name="Text 101"/>
          <p:cNvSpPr/>
          <p:nvPr/>
        </p:nvSpPr>
        <p:spPr>
          <a:xfrm>
            <a:off x="4142232" y="2514600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5→6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4142232" y="2990088"/>
            <a:ext cx="1316736" cy="402336"/>
          </a:xfrm>
          <a:prstGeom prst="rect">
            <a:avLst/>
          </a:prstGeom>
          <a:solidFill>
            <a:srgbClr val="0C447C"/>
          </a:solidFill>
          <a:ln w="6350">
            <a:solidFill>
              <a:srgbClr val="85B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5" name="Text 103"/>
          <p:cNvSpPr/>
          <p:nvPr/>
        </p:nvSpPr>
        <p:spPr>
          <a:xfrm>
            <a:off x="4142232" y="2990088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Struts 1.x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4142232" y="3465576"/>
            <a:ext cx="1316736" cy="402336"/>
          </a:xfrm>
          <a:prstGeom prst="rect">
            <a:avLst/>
          </a:prstGeom>
          <a:solidFill>
            <a:srgbClr val="0C447C"/>
          </a:solidFill>
          <a:ln w="6350">
            <a:solidFill>
              <a:srgbClr val="85B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7" name="Text 105"/>
          <p:cNvSpPr/>
          <p:nvPr/>
        </p:nvSpPr>
        <p:spPr>
          <a:xfrm>
            <a:off x="4142232" y="3465576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Struts 2.x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4142232" y="3941064"/>
            <a:ext cx="1316736" cy="402336"/>
          </a:xfrm>
          <a:prstGeom prst="rect">
            <a:avLst/>
          </a:prstGeom>
          <a:solidFill>
            <a:srgbClr val="185FA5"/>
          </a:solidFill>
          <a:ln w="6350">
            <a:solidFill>
              <a:srgbClr val="85B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9" name="Text 107"/>
          <p:cNvSpPr/>
          <p:nvPr/>
        </p:nvSpPr>
        <p:spPr>
          <a:xfrm>
            <a:off x="4142232" y="3941064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4142232" y="4416552"/>
            <a:ext cx="1316736" cy="402336"/>
          </a:xfrm>
          <a:prstGeom prst="rect">
            <a:avLst/>
          </a:prstGeom>
          <a:solidFill>
            <a:srgbClr val="185FA5"/>
          </a:solidFill>
          <a:ln w="6350">
            <a:solidFill>
              <a:srgbClr val="85B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1" name="Text 109"/>
          <p:cNvSpPr/>
          <p:nvPr/>
        </p:nvSpPr>
        <p:spPr>
          <a:xfrm>
            <a:off x="4142232" y="4416552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gen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4059936" y="4974336"/>
            <a:ext cx="1481328" cy="201168"/>
          </a:xfrm>
          <a:prstGeom prst="rect">
            <a:avLst/>
          </a:prstGeom>
          <a:solidFill>
            <a:srgbClr val="185FA5"/>
          </a:solidFill>
          <a:ln w="6350">
            <a:solidFill>
              <a:srgbClr val="3B82C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3" name="Text 111"/>
          <p:cNvSpPr/>
          <p:nvPr/>
        </p:nvSpPr>
        <p:spPr>
          <a:xfrm>
            <a:off x="4059936" y="497433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 functions per agent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4133088" y="5212080"/>
            <a:ext cx="1335024" cy="182880"/>
          </a:xfrm>
          <a:prstGeom prst="rect">
            <a:avLst/>
          </a:prstGeom>
          <a:solidFill>
            <a:srgbClr val="E6F1FB"/>
          </a:solidFill>
          <a:ln w="5080">
            <a:solidFill>
              <a:srgbClr val="3B82C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5" name="Text 113"/>
          <p:cNvSpPr/>
          <p:nvPr/>
        </p:nvSpPr>
        <p:spPr>
          <a:xfrm>
            <a:off x="4133088" y="5212080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detect_patterns()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4133088" y="5431536"/>
            <a:ext cx="1335024" cy="182880"/>
          </a:xfrm>
          <a:prstGeom prst="rect">
            <a:avLst/>
          </a:prstGeom>
          <a:solidFill>
            <a:srgbClr val="E6F1FB"/>
          </a:solidFill>
          <a:ln w="5080">
            <a:solidFill>
              <a:srgbClr val="3B82C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7" name="Text 115"/>
          <p:cNvSpPr/>
          <p:nvPr/>
        </p:nvSpPr>
        <p:spPr>
          <a:xfrm>
            <a:off x="4133088" y="5431536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parse_struts_xml()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4133088" y="5650992"/>
            <a:ext cx="1335024" cy="182880"/>
          </a:xfrm>
          <a:prstGeom prst="rect">
            <a:avLst/>
          </a:prstGeom>
          <a:solidFill>
            <a:srgbClr val="E6F1FB"/>
          </a:solidFill>
          <a:ln w="5080">
            <a:solidFill>
              <a:srgbClr val="3B82C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9" name="Text 117"/>
          <p:cNvSpPr/>
          <p:nvPr/>
        </p:nvSpPr>
        <p:spPr>
          <a:xfrm>
            <a:off x="4133088" y="5650992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detect_ognl()</a:t>
            </a:r>
            <a:endParaRPr lang="en-US" sz="700" dirty="0"/>
          </a:p>
        </p:txBody>
      </p:sp>
      <p:sp>
        <p:nvSpPr>
          <p:cNvPr id="120" name="Shape 118"/>
          <p:cNvSpPr/>
          <p:nvPr/>
        </p:nvSpPr>
        <p:spPr>
          <a:xfrm>
            <a:off x="4133088" y="5870448"/>
            <a:ext cx="1335024" cy="182880"/>
          </a:xfrm>
          <a:prstGeom prst="rect">
            <a:avLst/>
          </a:prstGeom>
          <a:solidFill>
            <a:srgbClr val="E6F1FB"/>
          </a:solidFill>
          <a:ln w="5080">
            <a:solidFill>
              <a:srgbClr val="3B82C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1" name="Text 119"/>
          <p:cNvSpPr/>
          <p:nvPr/>
        </p:nvSpPr>
        <p:spPr>
          <a:xfrm>
            <a:off x="4133088" y="5870448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map_tags()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4059936" y="6345936"/>
            <a:ext cx="1481328" cy="91440"/>
          </a:xfrm>
          <a:prstGeom prst="rect">
            <a:avLst/>
          </a:prstGeom>
          <a:solidFill>
            <a:srgbClr val="3B82C4"/>
          </a:solidFill>
          <a:ln w="6350">
            <a:solidFill>
              <a:srgbClr val="3B82C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3" name="Text 121"/>
          <p:cNvSpPr/>
          <p:nvPr/>
        </p:nvSpPr>
        <p:spPr>
          <a:xfrm>
            <a:off x="4059936" y="6345936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4.5 + RAG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5541264" y="3236976"/>
            <a:ext cx="128016" cy="22860"/>
          </a:xfrm>
          <a:prstGeom prst="rect">
            <a:avLst/>
          </a:prstGeom>
          <a:solidFill>
            <a:srgbClr val="F5A623">
              <a:alpha val="50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669280" y="768096"/>
            <a:ext cx="1481328" cy="5669280"/>
          </a:xfrm>
          <a:prstGeom prst="rect">
            <a:avLst/>
          </a:prstGeom>
          <a:solidFill>
            <a:srgbClr val="EEEDFE"/>
          </a:solidFill>
          <a:ln w="15240">
            <a:solidFill>
              <a:srgbClr val="534AB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6" name="Shape 124"/>
          <p:cNvSpPr/>
          <p:nvPr/>
        </p:nvSpPr>
        <p:spPr>
          <a:xfrm>
            <a:off x="5669280" y="768096"/>
            <a:ext cx="1481328" cy="43891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>
                <a:alpha val="0"/>
              </a:srgbClr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669280" y="81838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621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agents × 5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5751576" y="1088136"/>
            <a:ext cx="1316736" cy="493776"/>
          </a:xfrm>
          <a:prstGeom prst="rect">
            <a:avLst/>
          </a:prstGeom>
          <a:solidFill>
            <a:srgbClr val="3C3489"/>
          </a:solidFill>
          <a:ln w="6350">
            <a:solidFill>
              <a:srgbClr val="7F77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9" name="Text 127"/>
          <p:cNvSpPr/>
          <p:nvPr/>
        </p:nvSpPr>
        <p:spPr>
          <a:xfrm>
            <a:off x="5751576" y="1088136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review</a:t>
            </a:r>
            <a:endParaRPr lang="en-US" sz="850" dirty="0"/>
          </a:p>
        </p:txBody>
      </p:sp>
      <p:sp>
        <p:nvSpPr>
          <p:cNvPr id="130" name="Shape 128"/>
          <p:cNvSpPr/>
          <p:nvPr/>
        </p:nvSpPr>
        <p:spPr>
          <a:xfrm>
            <a:off x="5751576" y="1655064"/>
            <a:ext cx="1316736" cy="493776"/>
          </a:xfrm>
          <a:prstGeom prst="rect">
            <a:avLst/>
          </a:prstGeom>
          <a:solidFill>
            <a:srgbClr val="3C3489"/>
          </a:solidFill>
          <a:ln w="6350">
            <a:solidFill>
              <a:srgbClr val="7F77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1" name="Text 129"/>
          <p:cNvSpPr/>
          <p:nvPr/>
        </p:nvSpPr>
        <p:spPr>
          <a:xfrm>
            <a:off x="5751576" y="1655064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review</a:t>
            </a:r>
            <a:endParaRPr lang="en-US" sz="850" dirty="0"/>
          </a:p>
        </p:txBody>
      </p:sp>
      <p:sp>
        <p:nvSpPr>
          <p:cNvPr id="132" name="Shape 130"/>
          <p:cNvSpPr/>
          <p:nvPr/>
        </p:nvSpPr>
        <p:spPr>
          <a:xfrm>
            <a:off x="5751576" y="2221992"/>
            <a:ext cx="1316736" cy="493776"/>
          </a:xfrm>
          <a:prstGeom prst="rect">
            <a:avLst/>
          </a:prstGeom>
          <a:solidFill>
            <a:srgbClr val="3C3489"/>
          </a:solidFill>
          <a:ln w="6350">
            <a:solidFill>
              <a:srgbClr val="7F77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3" name="Text 131"/>
          <p:cNvSpPr/>
          <p:nvPr/>
        </p:nvSpPr>
        <p:spPr>
          <a:xfrm>
            <a:off x="5751576" y="2221992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Struts review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5751576" y="2788920"/>
            <a:ext cx="1316736" cy="493776"/>
          </a:xfrm>
          <a:prstGeom prst="rect">
            <a:avLst/>
          </a:prstGeom>
          <a:solidFill>
            <a:srgbClr val="3C3489"/>
          </a:solidFill>
          <a:ln w="6350">
            <a:solidFill>
              <a:srgbClr val="7F77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5" name="Text 133"/>
          <p:cNvSpPr/>
          <p:nvPr/>
        </p:nvSpPr>
        <p:spPr>
          <a:xfrm>
            <a:off x="5751576" y="2788920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review</a:t>
            </a:r>
            <a:endParaRPr lang="en-US" sz="850" dirty="0"/>
          </a:p>
        </p:txBody>
      </p:sp>
      <p:sp>
        <p:nvSpPr>
          <p:cNvPr id="136" name="Shape 134"/>
          <p:cNvSpPr/>
          <p:nvPr/>
        </p:nvSpPr>
        <p:spPr>
          <a:xfrm>
            <a:off x="5751576" y="3355848"/>
            <a:ext cx="1316736" cy="493776"/>
          </a:xfrm>
          <a:prstGeom prst="rect">
            <a:avLst/>
          </a:prstGeom>
          <a:solidFill>
            <a:srgbClr val="3C3489"/>
          </a:solidFill>
          <a:ln w="6350">
            <a:solidFill>
              <a:srgbClr val="7F77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7" name="Text 135"/>
          <p:cNvSpPr/>
          <p:nvPr/>
        </p:nvSpPr>
        <p:spPr>
          <a:xfrm>
            <a:off x="5751576" y="3355848"/>
            <a:ext cx="1316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review</a:t>
            </a:r>
            <a:endParaRPr lang="en-US" sz="850" dirty="0"/>
          </a:p>
        </p:txBody>
      </p:sp>
      <p:sp>
        <p:nvSpPr>
          <p:cNvPr id="138" name="Shape 136"/>
          <p:cNvSpPr/>
          <p:nvPr/>
        </p:nvSpPr>
        <p:spPr>
          <a:xfrm>
            <a:off x="5669280" y="3950208"/>
            <a:ext cx="1481328" cy="658368"/>
          </a:xfrm>
          <a:prstGeom prst="rect">
            <a:avLst/>
          </a:prstGeom>
          <a:solidFill>
            <a:srgbClr val="26215C"/>
          </a:solidFill>
          <a:ln w="6350">
            <a:solidFill>
              <a:srgbClr val="534AB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9" name="Shape 137"/>
          <p:cNvSpPr/>
          <p:nvPr/>
        </p:nvSpPr>
        <p:spPr>
          <a:xfrm>
            <a:off x="5751576" y="3986784"/>
            <a:ext cx="1316736" cy="146304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0" name="Text 138"/>
          <p:cNvSpPr/>
          <p:nvPr/>
        </p:nvSpPr>
        <p:spPr>
          <a:xfrm>
            <a:off x="5751576" y="3986784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≥80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5751576" y="4169664"/>
            <a:ext cx="1316736" cy="146304"/>
          </a:xfrm>
          <a:prstGeom prst="rect">
            <a:avLst/>
          </a:prstGeom>
          <a:solidFill>
            <a:srgbClr val="F5A623"/>
          </a:solidFill>
          <a:ln w="63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2" name="Text 140"/>
          <p:cNvSpPr/>
          <p:nvPr/>
        </p:nvSpPr>
        <p:spPr>
          <a:xfrm>
            <a:off x="5751576" y="4169664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50-79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5751576" y="4352544"/>
            <a:ext cx="1316736" cy="146304"/>
          </a:xfrm>
          <a:prstGeom prst="rect">
            <a:avLst/>
          </a:prstGeom>
          <a:solidFill>
            <a:srgbClr val="E05252"/>
          </a:solidFill>
          <a:ln w="6350">
            <a:solidFill>
              <a:srgbClr val="E0525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4" name="Text 142"/>
          <p:cNvSpPr/>
          <p:nvPr/>
        </p:nvSpPr>
        <p:spPr>
          <a:xfrm>
            <a:off x="5751576" y="4352544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&lt;50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5669280" y="4645152"/>
            <a:ext cx="1481328" cy="182880"/>
          </a:xfrm>
          <a:prstGeom prst="rect">
            <a:avLst/>
          </a:prstGeom>
          <a:solidFill>
            <a:srgbClr val="534AB7"/>
          </a:solidFill>
          <a:ln w="6350">
            <a:solidFill>
              <a:srgbClr val="7F77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6" name="Text 144"/>
          <p:cNvSpPr/>
          <p:nvPr/>
        </p:nvSpPr>
        <p:spPr>
          <a:xfrm>
            <a:off x="5669280" y="4645152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retry: feedback injected</a:t>
            </a:r>
            <a:endParaRPr lang="en-US" sz="750" dirty="0"/>
          </a:p>
        </p:txBody>
      </p:sp>
      <p:sp>
        <p:nvSpPr>
          <p:cNvPr id="147" name="Shape 145"/>
          <p:cNvSpPr/>
          <p:nvPr/>
        </p:nvSpPr>
        <p:spPr>
          <a:xfrm>
            <a:off x="5724144" y="4864608"/>
            <a:ext cx="1371600" cy="201168"/>
          </a:xfrm>
          <a:prstGeom prst="rect">
            <a:avLst/>
          </a:prstGeom>
          <a:solidFill>
            <a:srgbClr val="3C3489"/>
          </a:solidFill>
          <a:ln w="6350">
            <a:solidFill>
              <a:srgbClr val="534AB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8" name="Text 146"/>
          <p:cNvSpPr/>
          <p:nvPr/>
        </p:nvSpPr>
        <p:spPr>
          <a:xfrm>
            <a:off x="5724144" y="48646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checks</a:t>
            </a:r>
            <a:endParaRPr lang="en-US" sz="750" dirty="0"/>
          </a:p>
        </p:txBody>
      </p:sp>
      <p:sp>
        <p:nvSpPr>
          <p:cNvPr id="149" name="Text 147"/>
          <p:cNvSpPr/>
          <p:nvPr/>
        </p:nvSpPr>
        <p:spPr>
          <a:xfrm>
            <a:off x="5760720" y="5102352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correctness</a:t>
            </a:r>
            <a:endParaRPr lang="en-US" sz="750" dirty="0"/>
          </a:p>
        </p:txBody>
      </p:sp>
      <p:sp>
        <p:nvSpPr>
          <p:cNvPr id="150" name="Text 148"/>
          <p:cNvSpPr/>
          <p:nvPr/>
        </p:nvSpPr>
        <p:spPr>
          <a:xfrm>
            <a:off x="5760720" y="5358384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fields preserved</a:t>
            </a:r>
            <a:endParaRPr lang="en-US" sz="750" dirty="0"/>
          </a:p>
        </p:txBody>
      </p:sp>
      <p:sp>
        <p:nvSpPr>
          <p:cNvPr id="151" name="Text 149"/>
          <p:cNvSpPr/>
          <p:nvPr/>
        </p:nvSpPr>
        <p:spPr>
          <a:xfrm>
            <a:off x="5760720" y="5614416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OGNL refs flagged</a:t>
            </a:r>
            <a:endParaRPr lang="en-US" sz="750" dirty="0"/>
          </a:p>
        </p:txBody>
      </p:sp>
      <p:sp>
        <p:nvSpPr>
          <p:cNvPr id="152" name="Text 150"/>
          <p:cNvSpPr/>
          <p:nvPr/>
        </p:nvSpPr>
        <p:spPr>
          <a:xfrm>
            <a:off x="5760720" y="5870448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deprecations</a:t>
            </a:r>
            <a:endParaRPr lang="en-US" sz="750" dirty="0"/>
          </a:p>
        </p:txBody>
      </p:sp>
      <p:sp>
        <p:nvSpPr>
          <p:cNvPr id="153" name="Shape 151"/>
          <p:cNvSpPr/>
          <p:nvPr/>
        </p:nvSpPr>
        <p:spPr>
          <a:xfrm>
            <a:off x="5669280" y="6345936"/>
            <a:ext cx="1481328" cy="91440"/>
          </a:xfrm>
          <a:prstGeom prst="rect">
            <a:avLst/>
          </a:prstGeom>
          <a:solidFill>
            <a:srgbClr val="EAF3DE"/>
          </a:solidFill>
          <a:ln w="6350">
            <a:solidFill>
              <a:srgbClr val="63992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4" name="Text 152"/>
          <p:cNvSpPr/>
          <p:nvPr/>
        </p:nvSpPr>
        <p:spPr>
          <a:xfrm>
            <a:off x="5669280" y="6345936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Nova Pro + RAG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7150608" y="3236976"/>
            <a:ext cx="128016" cy="22860"/>
          </a:xfrm>
          <a:prstGeom prst="rect">
            <a:avLst/>
          </a:prstGeom>
          <a:solidFill>
            <a:srgbClr val="F5A623">
              <a:alpha val="50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278624" y="768096"/>
            <a:ext cx="1188720" cy="5669280"/>
          </a:xfrm>
          <a:prstGeom prst="rect">
            <a:avLst/>
          </a:prstGeom>
          <a:solidFill>
            <a:srgbClr val="FEF6E7"/>
          </a:solidFill>
          <a:ln w="1524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7" name="Shape 155"/>
          <p:cNvSpPr/>
          <p:nvPr/>
        </p:nvSpPr>
        <p:spPr>
          <a:xfrm>
            <a:off x="7278624" y="768096"/>
            <a:ext cx="1188720" cy="43891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7278624" y="8183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338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Guardrails (post)</a:t>
            </a:r>
            <a:endParaRPr lang="en-US" sz="850" dirty="0"/>
          </a:p>
        </p:txBody>
      </p:sp>
      <p:sp>
        <p:nvSpPr>
          <p:cNvPr id="159" name="Shape 157"/>
          <p:cNvSpPr/>
          <p:nvPr/>
        </p:nvSpPr>
        <p:spPr>
          <a:xfrm>
            <a:off x="7351776" y="1097280"/>
            <a:ext cx="1042416" cy="384048"/>
          </a:xfrm>
          <a:prstGeom prst="rect">
            <a:avLst/>
          </a:prstGeom>
          <a:solidFill>
            <a:srgbClr val="FDD17A"/>
          </a:solidFill>
          <a:ln w="63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0" name="Text 158"/>
          <p:cNvSpPr/>
          <p:nvPr/>
        </p:nvSpPr>
        <p:spPr>
          <a:xfrm>
            <a:off x="7351776" y="1097280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enforcer</a:t>
            </a:r>
            <a:endParaRPr lang="en-US" sz="800" dirty="0"/>
          </a:p>
        </p:txBody>
      </p:sp>
      <p:sp>
        <p:nvSpPr>
          <p:cNvPr id="161" name="Shape 159"/>
          <p:cNvSpPr/>
          <p:nvPr/>
        </p:nvSpPr>
        <p:spPr>
          <a:xfrm>
            <a:off x="7351776" y="1554480"/>
            <a:ext cx="1042416" cy="384048"/>
          </a:xfrm>
          <a:prstGeom prst="rect">
            <a:avLst/>
          </a:prstGeom>
          <a:solidFill>
            <a:srgbClr val="FDD17A"/>
          </a:solidFill>
          <a:ln w="63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2" name="Text 160"/>
          <p:cNvSpPr/>
          <p:nvPr/>
        </p:nvSpPr>
        <p:spPr>
          <a:xfrm>
            <a:off x="7351776" y="1554480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patterns</a:t>
            </a:r>
            <a:endParaRPr lang="en-US" sz="800" dirty="0"/>
          </a:p>
        </p:txBody>
      </p:sp>
      <p:sp>
        <p:nvSpPr>
          <p:cNvPr id="163" name="Shape 161"/>
          <p:cNvSpPr/>
          <p:nvPr/>
        </p:nvSpPr>
        <p:spPr>
          <a:xfrm>
            <a:off x="7351776" y="2011680"/>
            <a:ext cx="1042416" cy="384048"/>
          </a:xfrm>
          <a:prstGeom prst="rect">
            <a:avLst/>
          </a:prstGeom>
          <a:solidFill>
            <a:srgbClr val="FDD17A"/>
          </a:solidFill>
          <a:ln w="63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4" name="Text 162"/>
          <p:cNvSpPr/>
          <p:nvPr/>
        </p:nvSpPr>
        <p:spPr>
          <a:xfrm>
            <a:off x="7351776" y="2011680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headers</a:t>
            </a:r>
            <a:endParaRPr lang="en-US" sz="800" dirty="0"/>
          </a:p>
        </p:txBody>
      </p:sp>
      <p:sp>
        <p:nvSpPr>
          <p:cNvPr id="165" name="Shape 163"/>
          <p:cNvSpPr/>
          <p:nvPr/>
        </p:nvSpPr>
        <p:spPr>
          <a:xfrm>
            <a:off x="7351776" y="2468880"/>
            <a:ext cx="1042416" cy="384048"/>
          </a:xfrm>
          <a:prstGeom prst="rect">
            <a:avLst/>
          </a:prstGeom>
          <a:solidFill>
            <a:srgbClr val="FDD17A"/>
          </a:solidFill>
          <a:ln w="63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6" name="Text 164"/>
          <p:cNvSpPr/>
          <p:nvPr/>
        </p:nvSpPr>
        <p:spPr>
          <a:xfrm>
            <a:off x="7351776" y="2468880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No-regression</a:t>
            </a:r>
            <a:endParaRPr lang="en-US" sz="800" dirty="0"/>
          </a:p>
        </p:txBody>
      </p:sp>
      <p:sp>
        <p:nvSpPr>
          <p:cNvPr id="167" name="Shape 165"/>
          <p:cNvSpPr/>
          <p:nvPr/>
        </p:nvSpPr>
        <p:spPr>
          <a:xfrm>
            <a:off x="7351776" y="2962656"/>
            <a:ext cx="1042416" cy="201168"/>
          </a:xfrm>
          <a:prstGeom prst="rect">
            <a:avLst/>
          </a:prstGeom>
          <a:solidFill>
            <a:srgbClr val="E05252"/>
          </a:solidFill>
          <a:ln w="6350">
            <a:solidFill>
              <a:srgbClr val="E0525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8" name="Text 166"/>
          <p:cNvSpPr/>
          <p:nvPr/>
        </p:nvSpPr>
        <p:spPr>
          <a:xfrm>
            <a:off x="7351776" y="296265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800" dirty="0"/>
          </a:p>
        </p:txBody>
      </p:sp>
      <p:sp>
        <p:nvSpPr>
          <p:cNvPr id="169" name="Shape 167"/>
          <p:cNvSpPr/>
          <p:nvPr/>
        </p:nvSpPr>
        <p:spPr>
          <a:xfrm>
            <a:off x="7351776" y="3218688"/>
            <a:ext cx="1042416" cy="201168"/>
          </a:xfrm>
          <a:prstGeom prst="rect">
            <a:avLst/>
          </a:prstGeom>
          <a:solidFill>
            <a:srgbClr val="F5A623"/>
          </a:solidFill>
          <a:ln w="63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0" name="Text 168"/>
          <p:cNvSpPr/>
          <p:nvPr/>
        </p:nvSpPr>
        <p:spPr>
          <a:xfrm>
            <a:off x="7351776" y="321868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800" dirty="0"/>
          </a:p>
        </p:txBody>
      </p:sp>
      <p:sp>
        <p:nvSpPr>
          <p:cNvPr id="171" name="Shape 169"/>
          <p:cNvSpPr/>
          <p:nvPr/>
        </p:nvSpPr>
        <p:spPr>
          <a:xfrm>
            <a:off x="7351776" y="3474720"/>
            <a:ext cx="1042416" cy="201168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2" name="Text 170"/>
          <p:cNvSpPr/>
          <p:nvPr/>
        </p:nvSpPr>
        <p:spPr>
          <a:xfrm>
            <a:off x="7351776" y="3474720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173" name="Shape 171"/>
          <p:cNvSpPr/>
          <p:nvPr/>
        </p:nvSpPr>
        <p:spPr>
          <a:xfrm>
            <a:off x="7333488" y="3785616"/>
            <a:ext cx="1078992" cy="201168"/>
          </a:xfrm>
          <a:prstGeom prst="rect">
            <a:avLst/>
          </a:prstGeom>
          <a:solidFill>
            <a:srgbClr val="FDD17A"/>
          </a:solidFill>
          <a:ln w="63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4" name="Text 172"/>
          <p:cNvSpPr/>
          <p:nvPr/>
        </p:nvSpPr>
        <p:spPr>
          <a:xfrm>
            <a:off x="7333488" y="378561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Post-review checks</a:t>
            </a:r>
            <a:endParaRPr lang="en-US" sz="750" dirty="0"/>
          </a:p>
        </p:txBody>
      </p:sp>
      <p:sp>
        <p:nvSpPr>
          <p:cNvPr id="175" name="Text 173"/>
          <p:cNvSpPr/>
          <p:nvPr/>
        </p:nvSpPr>
        <p:spPr>
          <a:xfrm>
            <a:off x="7370064" y="4023360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naming</a:t>
            </a:r>
            <a:endParaRPr lang="en-US" sz="750" dirty="0"/>
          </a:p>
        </p:txBody>
      </p:sp>
      <p:sp>
        <p:nvSpPr>
          <p:cNvPr id="176" name="Text 174"/>
          <p:cNvSpPr/>
          <p:nvPr/>
        </p:nvSpPr>
        <p:spPr>
          <a:xfrm>
            <a:off x="7370064" y="4279392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OGNL in output</a:t>
            </a:r>
            <a:endParaRPr lang="en-US" sz="750" dirty="0"/>
          </a:p>
        </p:txBody>
      </p:sp>
      <p:sp>
        <p:nvSpPr>
          <p:cNvPr id="177" name="Text 175"/>
          <p:cNvSpPr/>
          <p:nvPr/>
        </p:nvSpPr>
        <p:spPr>
          <a:xfrm>
            <a:off x="7370064" y="4535424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@Valid on DTOs</a:t>
            </a:r>
            <a:endParaRPr lang="en-US" sz="750" dirty="0"/>
          </a:p>
        </p:txBody>
      </p:sp>
      <p:sp>
        <p:nvSpPr>
          <p:cNvPr id="178" name="Text 176"/>
          <p:cNvSpPr/>
          <p:nvPr/>
        </p:nvSpPr>
        <p:spPr>
          <a:xfrm>
            <a:off x="7370064" y="4791456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patterns</a:t>
            </a:r>
            <a:endParaRPr lang="en-US" sz="750" dirty="0"/>
          </a:p>
        </p:txBody>
      </p:sp>
      <p:sp>
        <p:nvSpPr>
          <p:cNvPr id="179" name="Text 177"/>
          <p:cNvSpPr/>
          <p:nvPr/>
        </p:nvSpPr>
        <p:spPr>
          <a:xfrm>
            <a:off x="7370064" y="5047488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header</a:t>
            </a:r>
            <a:endParaRPr lang="en-US" sz="750" dirty="0"/>
          </a:p>
        </p:txBody>
      </p:sp>
      <p:sp>
        <p:nvSpPr>
          <p:cNvPr id="180" name="Shape 178"/>
          <p:cNvSpPr/>
          <p:nvPr/>
        </p:nvSpPr>
        <p:spPr>
          <a:xfrm>
            <a:off x="7278624" y="6345936"/>
            <a:ext cx="1188720" cy="91440"/>
          </a:xfrm>
          <a:prstGeom prst="rect">
            <a:avLst/>
          </a:prstGeom>
          <a:solidFill>
            <a:srgbClr val="F5A623"/>
          </a:solidFill>
          <a:ln w="63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1" name="Text 179"/>
          <p:cNvSpPr/>
          <p:nvPr/>
        </p:nvSpPr>
        <p:spPr>
          <a:xfrm>
            <a:off x="7278624" y="6345936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4.5</a:t>
            </a:r>
            <a:endParaRPr lang="en-US" sz="700" dirty="0"/>
          </a:p>
        </p:txBody>
      </p:sp>
      <p:sp>
        <p:nvSpPr>
          <p:cNvPr id="182" name="Shape 180"/>
          <p:cNvSpPr/>
          <p:nvPr/>
        </p:nvSpPr>
        <p:spPr>
          <a:xfrm>
            <a:off x="8467344" y="1426464"/>
            <a:ext cx="128016" cy="22860"/>
          </a:xfrm>
          <a:prstGeom prst="rect">
            <a:avLst/>
          </a:prstGeom>
          <a:solidFill>
            <a:srgbClr val="F5A623">
              <a:alpha val="50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8595360" y="768096"/>
            <a:ext cx="1417320" cy="1737360"/>
          </a:xfrm>
          <a:prstGeom prst="rect">
            <a:avLst/>
          </a:prstGeom>
          <a:solidFill>
            <a:srgbClr val="E1F5EE"/>
          </a:solidFill>
          <a:ln w="1524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4" name="Shape 182"/>
          <p:cNvSpPr/>
          <p:nvPr/>
        </p:nvSpPr>
        <p:spPr>
          <a:xfrm>
            <a:off x="8595360" y="768096"/>
            <a:ext cx="1417320" cy="43891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>
                <a:alpha val="0"/>
              </a:srgbClr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8595360" y="81838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50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850" dirty="0"/>
          </a:p>
        </p:txBody>
      </p:sp>
      <p:sp>
        <p:nvSpPr>
          <p:cNvPr id="186" name="Text 184"/>
          <p:cNvSpPr/>
          <p:nvPr/>
        </p:nvSpPr>
        <p:spPr>
          <a:xfrm>
            <a:off x="8686800" y="1097280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 classes</a:t>
            </a:r>
            <a:endParaRPr lang="en-US" sz="750" dirty="0"/>
          </a:p>
        </p:txBody>
      </p:sp>
      <p:sp>
        <p:nvSpPr>
          <p:cNvPr id="187" name="Text 185"/>
          <p:cNvSpPr/>
          <p:nvPr/>
        </p:nvSpPr>
        <p:spPr>
          <a:xfrm>
            <a:off x="8686800" y="1371600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@ModelAttribute DTOs</a:t>
            </a:r>
            <a:endParaRPr lang="en-US" sz="750" dirty="0"/>
          </a:p>
        </p:txBody>
      </p:sp>
      <p:sp>
        <p:nvSpPr>
          <p:cNvPr id="188" name="Text 186"/>
          <p:cNvSpPr/>
          <p:nvPr/>
        </p:nvSpPr>
        <p:spPr>
          <a:xfrm>
            <a:off x="8686800" y="1645920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WebMvcConfigurer</a:t>
            </a:r>
            <a:endParaRPr lang="en-US" sz="750" dirty="0"/>
          </a:p>
        </p:txBody>
      </p:sp>
      <p:sp>
        <p:nvSpPr>
          <p:cNvPr id="189" name="Text 187"/>
          <p:cNvSpPr/>
          <p:nvPr/>
        </p:nvSpPr>
        <p:spPr>
          <a:xfrm>
            <a:off x="8686800" y="1920240"/>
            <a:ext cx="130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JSP / config</a:t>
            </a:r>
            <a:endParaRPr lang="en-US" sz="750" dirty="0"/>
          </a:p>
        </p:txBody>
      </p:sp>
      <p:sp>
        <p:nvSpPr>
          <p:cNvPr id="190" name="Shape 188"/>
          <p:cNvSpPr/>
          <p:nvPr/>
        </p:nvSpPr>
        <p:spPr>
          <a:xfrm>
            <a:off x="8668512" y="2249424"/>
            <a:ext cx="1271016" cy="201168"/>
          </a:xfrm>
          <a:prstGeom prst="rect">
            <a:avLst/>
          </a:prstGeom>
          <a:solidFill>
            <a:srgbClr val="C7EAD8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1" name="Text 189"/>
          <p:cNvSpPr/>
          <p:nvPr/>
        </p:nvSpPr>
        <p:spPr>
          <a:xfrm>
            <a:off x="8668512" y="2249424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./migrated/myapp/</a:t>
            </a:r>
            <a:endParaRPr lang="en-US" sz="750" dirty="0"/>
          </a:p>
        </p:txBody>
      </p:sp>
      <p:sp>
        <p:nvSpPr>
          <p:cNvPr id="192" name="Shape 190"/>
          <p:cNvSpPr/>
          <p:nvPr/>
        </p:nvSpPr>
        <p:spPr>
          <a:xfrm>
            <a:off x="8595360" y="2651760"/>
            <a:ext cx="1417320" cy="1325880"/>
          </a:xfrm>
          <a:prstGeom prst="rect">
            <a:avLst/>
          </a:prstGeom>
          <a:solidFill>
            <a:srgbClr val="FEF6E7"/>
          </a:solidFill>
          <a:ln w="1524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3" name="Shape 191"/>
          <p:cNvSpPr/>
          <p:nvPr/>
        </p:nvSpPr>
        <p:spPr>
          <a:xfrm>
            <a:off x="8595360" y="2651760"/>
            <a:ext cx="1417320" cy="43891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8595360" y="270205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338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review queue</a:t>
            </a:r>
            <a:endParaRPr lang="en-US" sz="850" dirty="0"/>
          </a:p>
        </p:txBody>
      </p:sp>
      <p:sp>
        <p:nvSpPr>
          <p:cNvPr id="195" name="Text 193"/>
          <p:cNvSpPr/>
          <p:nvPr/>
        </p:nvSpPr>
        <p:spPr>
          <a:xfrm>
            <a:off x="8686800" y="2962656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manual-review-queue.json</a:t>
            </a:r>
            <a:endParaRPr lang="en-US" sz="750" dirty="0"/>
          </a:p>
        </p:txBody>
      </p:sp>
      <p:sp>
        <p:nvSpPr>
          <p:cNvPr id="196" name="Text 194"/>
          <p:cNvSpPr/>
          <p:nvPr/>
        </p:nvSpPr>
        <p:spPr>
          <a:xfrm>
            <a:off x="8686800" y="3182112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review_portal.py</a:t>
            </a:r>
            <a:endParaRPr lang="en-US" sz="750" dirty="0"/>
          </a:p>
        </p:txBody>
      </p:sp>
      <p:sp>
        <p:nvSpPr>
          <p:cNvPr id="197" name="Text 195"/>
          <p:cNvSpPr/>
          <p:nvPr/>
        </p:nvSpPr>
        <p:spPr>
          <a:xfrm>
            <a:off x="8686800" y="3401568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context: original</a:t>
            </a:r>
            <a:endParaRPr lang="en-US" sz="750" dirty="0"/>
          </a:p>
        </p:txBody>
      </p:sp>
      <p:sp>
        <p:nvSpPr>
          <p:cNvPr id="198" name="Text 196"/>
          <p:cNvSpPr/>
          <p:nvPr/>
        </p:nvSpPr>
        <p:spPr>
          <a:xfrm>
            <a:off x="8686800" y="3621024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transformed + verdicts</a:t>
            </a:r>
            <a:endParaRPr lang="en-US" sz="750" dirty="0"/>
          </a:p>
        </p:txBody>
      </p:sp>
      <p:sp>
        <p:nvSpPr>
          <p:cNvPr id="199" name="Text 197"/>
          <p:cNvSpPr/>
          <p:nvPr/>
        </p:nvSpPr>
        <p:spPr>
          <a:xfrm>
            <a:off x="8686800" y="3840480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Engineer: approve/reject</a:t>
            </a:r>
            <a:endParaRPr lang="en-US" sz="750" dirty="0"/>
          </a:p>
        </p:txBody>
      </p:sp>
      <p:sp>
        <p:nvSpPr>
          <p:cNvPr id="200" name="Shape 198"/>
          <p:cNvSpPr/>
          <p:nvPr/>
        </p:nvSpPr>
        <p:spPr>
          <a:xfrm>
            <a:off x="8595360" y="4114800"/>
            <a:ext cx="1417320" cy="2322576"/>
          </a:xfrm>
          <a:prstGeom prst="rect">
            <a:avLst/>
          </a:prstGeom>
          <a:solidFill>
            <a:srgbClr val="0F2040"/>
          </a:solidFill>
          <a:ln w="9525">
            <a:solidFill>
              <a:srgbClr val="626E7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1" name="Text 199"/>
          <p:cNvSpPr/>
          <p:nvPr/>
        </p:nvSpPr>
        <p:spPr>
          <a:xfrm>
            <a:off x="8595360" y="416966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</a:t>
            </a:r>
            <a:endParaRPr lang="en-US" sz="750" dirty="0"/>
          </a:p>
        </p:txBody>
      </p:sp>
      <p:sp>
        <p:nvSpPr>
          <p:cNvPr id="202" name="Shape 200"/>
          <p:cNvSpPr/>
          <p:nvPr/>
        </p:nvSpPr>
        <p:spPr>
          <a:xfrm>
            <a:off x="8668512" y="4407408"/>
            <a:ext cx="1271016" cy="246888"/>
          </a:xfrm>
          <a:prstGeom prst="rect">
            <a:avLst/>
          </a:prstGeom>
          <a:solidFill>
            <a:srgbClr val="7A95B4"/>
          </a:solidFill>
          <a:ln w="6350">
            <a:solidFill>
              <a:srgbClr val="7A95B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3" name="Text 201"/>
          <p:cNvSpPr/>
          <p:nvPr/>
        </p:nvSpPr>
        <p:spPr>
          <a:xfrm>
            <a:off x="8668512" y="4407408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50" dirty="0"/>
          </a:p>
        </p:txBody>
      </p:sp>
      <p:sp>
        <p:nvSpPr>
          <p:cNvPr id="204" name="Shape 202"/>
          <p:cNvSpPr/>
          <p:nvPr/>
        </p:nvSpPr>
        <p:spPr>
          <a:xfrm>
            <a:off x="8668512" y="4709160"/>
            <a:ext cx="1271016" cy="246888"/>
          </a:xfrm>
          <a:prstGeom prst="rect">
            <a:avLst/>
          </a:prstGeom>
          <a:solidFill>
            <a:srgbClr val="3B82C4"/>
          </a:solidFill>
          <a:ln w="6350">
            <a:solidFill>
              <a:srgbClr val="3B82C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5" name="Text 203"/>
          <p:cNvSpPr/>
          <p:nvPr/>
        </p:nvSpPr>
        <p:spPr>
          <a:xfrm>
            <a:off x="8668512" y="4709160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</a:t>
            </a:r>
            <a:endParaRPr lang="en-US" sz="750" dirty="0"/>
          </a:p>
        </p:txBody>
      </p:sp>
      <p:sp>
        <p:nvSpPr>
          <p:cNvPr id="206" name="Shape 204"/>
          <p:cNvSpPr/>
          <p:nvPr/>
        </p:nvSpPr>
        <p:spPr>
          <a:xfrm>
            <a:off x="8668512" y="5010912"/>
            <a:ext cx="1271016" cy="246888"/>
          </a:xfrm>
          <a:prstGeom prst="rect">
            <a:avLst/>
          </a:prstGeom>
          <a:solidFill>
            <a:srgbClr val="534AB7"/>
          </a:solidFill>
          <a:ln w="6350">
            <a:solidFill>
              <a:srgbClr val="534AB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7" name="Text 205"/>
          <p:cNvSpPr/>
          <p:nvPr/>
        </p:nvSpPr>
        <p:spPr>
          <a:xfrm>
            <a:off x="8668512" y="5010912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</a:t>
            </a:r>
            <a:endParaRPr lang="en-US" sz="750" dirty="0"/>
          </a:p>
        </p:txBody>
      </p:sp>
      <p:sp>
        <p:nvSpPr>
          <p:cNvPr id="208" name="Shape 206"/>
          <p:cNvSpPr/>
          <p:nvPr/>
        </p:nvSpPr>
        <p:spPr>
          <a:xfrm>
            <a:off x="8668512" y="5312664"/>
            <a:ext cx="1271016" cy="246888"/>
          </a:xfrm>
          <a:prstGeom prst="rect">
            <a:avLst/>
          </a:prstGeom>
          <a:solidFill>
            <a:srgbClr val="F5A623"/>
          </a:solidFill>
          <a:ln w="63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9" name="Text 207"/>
          <p:cNvSpPr/>
          <p:nvPr/>
        </p:nvSpPr>
        <p:spPr>
          <a:xfrm>
            <a:off x="8668512" y="5312664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1/2</a:t>
            </a:r>
            <a:endParaRPr lang="en-US" sz="750" dirty="0"/>
          </a:p>
        </p:txBody>
      </p:sp>
      <p:sp>
        <p:nvSpPr>
          <p:cNvPr id="210" name="Shape 208"/>
          <p:cNvSpPr/>
          <p:nvPr/>
        </p:nvSpPr>
        <p:spPr>
          <a:xfrm>
            <a:off x="8668512" y="5614416"/>
            <a:ext cx="1271016" cy="246888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1" name="Text 209"/>
          <p:cNvSpPr/>
          <p:nvPr/>
        </p:nvSpPr>
        <p:spPr>
          <a:xfrm>
            <a:off x="8668512" y="5614416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50" dirty="0"/>
          </a:p>
        </p:txBody>
      </p:sp>
      <p:sp>
        <p:nvSpPr>
          <p:cNvPr id="212" name="Shape 210"/>
          <p:cNvSpPr/>
          <p:nvPr/>
        </p:nvSpPr>
        <p:spPr>
          <a:xfrm>
            <a:off x="8668512" y="5916168"/>
            <a:ext cx="1271016" cy="246888"/>
          </a:xfrm>
          <a:prstGeom prst="rect">
            <a:avLst/>
          </a:prstGeom>
          <a:solidFill>
            <a:srgbClr val="E05252"/>
          </a:solidFill>
          <a:ln w="6350">
            <a:solidFill>
              <a:srgbClr val="E0525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3" name="Text 211"/>
          <p:cNvSpPr/>
          <p:nvPr/>
        </p:nvSpPr>
        <p:spPr>
          <a:xfrm>
            <a:off x="8668512" y="5916168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MANUAL_REVIEW</a:t>
            </a:r>
            <a:endParaRPr lang="en-US" sz="750" dirty="0"/>
          </a:p>
        </p:txBody>
      </p:sp>
      <p:sp>
        <p:nvSpPr>
          <p:cNvPr id="214" name="Shape 212"/>
          <p:cNvSpPr/>
          <p:nvPr/>
        </p:nvSpPr>
        <p:spPr>
          <a:xfrm>
            <a:off x="10149840" y="768096"/>
            <a:ext cx="1874520" cy="1792224"/>
          </a:xfrm>
          <a:prstGeom prst="rect">
            <a:avLst/>
          </a:prstGeom>
          <a:solidFill>
            <a:srgbClr val="E6F1FB"/>
          </a:solidFill>
          <a:ln w="12700">
            <a:solidFill>
              <a:srgbClr val="3B82C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5" name="Shape 213"/>
          <p:cNvSpPr/>
          <p:nvPr/>
        </p:nvSpPr>
        <p:spPr>
          <a:xfrm>
            <a:off x="10149840" y="768096"/>
            <a:ext cx="1874520" cy="43891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>
                <a:alpha val="0"/>
              </a:srgbClr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10149840" y="81838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2C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Bedrock</a:t>
            </a:r>
            <a:endParaRPr lang="en-US" sz="850" dirty="0"/>
          </a:p>
        </p:txBody>
      </p:sp>
      <p:sp>
        <p:nvSpPr>
          <p:cNvPr id="217" name="Text 215"/>
          <p:cNvSpPr/>
          <p:nvPr/>
        </p:nvSpPr>
        <p:spPr>
          <a:xfrm>
            <a:off x="10241280" y="1106424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&amp; Leader &amp; Guardrails</a:t>
            </a:r>
            <a:endParaRPr lang="en-US" sz="750" dirty="0"/>
          </a:p>
        </p:txBody>
      </p:sp>
      <p:sp>
        <p:nvSpPr>
          <p:cNvPr id="218" name="Text 216"/>
          <p:cNvSpPr/>
          <p:nvPr/>
        </p:nvSpPr>
        <p:spPr>
          <a:xfrm>
            <a:off x="10241280" y="1271016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4.5</a:t>
            </a:r>
            <a:endParaRPr lang="en-US" sz="750" dirty="0"/>
          </a:p>
        </p:txBody>
      </p:sp>
      <p:sp>
        <p:nvSpPr>
          <p:cNvPr id="219" name="Text 217"/>
          <p:cNvSpPr/>
          <p:nvPr/>
        </p:nvSpPr>
        <p:spPr>
          <a:xfrm>
            <a:off x="10241280" y="1453896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agents (cross-model check)</a:t>
            </a:r>
            <a:endParaRPr lang="en-US" sz="750" dirty="0"/>
          </a:p>
        </p:txBody>
      </p:sp>
      <p:sp>
        <p:nvSpPr>
          <p:cNvPr id="220" name="Text 218"/>
          <p:cNvSpPr/>
          <p:nvPr/>
        </p:nvSpPr>
        <p:spPr>
          <a:xfrm>
            <a:off x="10241280" y="1618488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Nova Pro</a:t>
            </a:r>
            <a:endParaRPr lang="en-US" sz="750" dirty="0"/>
          </a:p>
        </p:txBody>
      </p:sp>
      <p:sp>
        <p:nvSpPr>
          <p:cNvPr id="221" name="Text 219"/>
          <p:cNvSpPr/>
          <p:nvPr/>
        </p:nvSpPr>
        <p:spPr>
          <a:xfrm>
            <a:off x="10241280" y="1801368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(KB)</a:t>
            </a:r>
            <a:endParaRPr lang="en-US" sz="750" dirty="0"/>
          </a:p>
        </p:txBody>
      </p:sp>
      <p:sp>
        <p:nvSpPr>
          <p:cNvPr id="222" name="Text 220"/>
          <p:cNvSpPr/>
          <p:nvPr/>
        </p:nvSpPr>
        <p:spPr>
          <a:xfrm>
            <a:off x="10241280" y="1965960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Text v2</a:t>
            </a:r>
            <a:endParaRPr lang="en-US" sz="750" dirty="0"/>
          </a:p>
        </p:txBody>
      </p:sp>
      <p:sp>
        <p:nvSpPr>
          <p:cNvPr id="223" name="Text 221"/>
          <p:cNvSpPr/>
          <p:nvPr/>
        </p:nvSpPr>
        <p:spPr>
          <a:xfrm>
            <a:off x="10241280" y="2148840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750" dirty="0"/>
          </a:p>
        </p:txBody>
      </p:sp>
      <p:sp>
        <p:nvSpPr>
          <p:cNvPr id="224" name="Text 222"/>
          <p:cNvSpPr/>
          <p:nvPr/>
        </p:nvSpPr>
        <p:spPr>
          <a:xfrm>
            <a:off x="10241280" y="2313432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Serverless</a:t>
            </a:r>
            <a:endParaRPr lang="en-US" sz="750" dirty="0"/>
          </a:p>
        </p:txBody>
      </p:sp>
      <p:sp>
        <p:nvSpPr>
          <p:cNvPr id="225" name="Shape 223"/>
          <p:cNvSpPr/>
          <p:nvPr/>
        </p:nvSpPr>
        <p:spPr>
          <a:xfrm>
            <a:off x="10149840" y="2688336"/>
            <a:ext cx="1874520" cy="2377440"/>
          </a:xfrm>
          <a:prstGeom prst="rect">
            <a:avLst/>
          </a:prstGeom>
          <a:solidFill>
            <a:srgbClr val="1A2810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6" name="Shape 224"/>
          <p:cNvSpPr/>
          <p:nvPr/>
        </p:nvSpPr>
        <p:spPr>
          <a:xfrm>
            <a:off x="10149840" y="2688336"/>
            <a:ext cx="1874520" cy="43891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10149840" y="27432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DD1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Bedrock KB (RAG)</a:t>
            </a:r>
            <a:endParaRPr lang="en-US" sz="850" dirty="0"/>
          </a:p>
        </p:txBody>
      </p:sp>
      <p:sp>
        <p:nvSpPr>
          <p:cNvPr id="228" name="Text 226"/>
          <p:cNvSpPr/>
          <p:nvPr/>
        </p:nvSpPr>
        <p:spPr>
          <a:xfrm>
            <a:off x="10241280" y="3035808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D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coding_standards</a:t>
            </a:r>
            <a:endParaRPr lang="en-US" sz="750" dirty="0"/>
          </a:p>
        </p:txBody>
      </p:sp>
      <p:sp>
        <p:nvSpPr>
          <p:cNvPr id="229" name="Text 227"/>
          <p:cNvSpPr/>
          <p:nvPr/>
        </p:nvSpPr>
        <p:spPr>
          <a:xfrm>
            <a:off x="10241280" y="3209544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Transform agents</a:t>
            </a:r>
            <a:endParaRPr lang="en-US" sz="700" dirty="0"/>
          </a:p>
        </p:txBody>
      </p:sp>
      <p:sp>
        <p:nvSpPr>
          <p:cNvPr id="230" name="Text 228"/>
          <p:cNvSpPr/>
          <p:nvPr/>
        </p:nvSpPr>
        <p:spPr>
          <a:xfrm>
            <a:off x="10241280" y="3383280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D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spring_migration_patterns</a:t>
            </a:r>
            <a:endParaRPr lang="en-US" sz="750" dirty="0"/>
          </a:p>
        </p:txBody>
      </p:sp>
      <p:sp>
        <p:nvSpPr>
          <p:cNvPr id="231" name="Text 229"/>
          <p:cNvSpPr/>
          <p:nvPr/>
        </p:nvSpPr>
        <p:spPr>
          <a:xfrm>
            <a:off x="10241280" y="3557016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Transform agents</a:t>
            </a:r>
            <a:endParaRPr lang="en-US" sz="700" dirty="0"/>
          </a:p>
        </p:txBody>
      </p:sp>
      <p:sp>
        <p:nvSpPr>
          <p:cNvPr id="232" name="Text 230"/>
          <p:cNvSpPr/>
          <p:nvPr/>
        </p:nvSpPr>
        <p:spPr>
          <a:xfrm>
            <a:off x="10241280" y="3730752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D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struts2_mvc_mappings</a:t>
            </a:r>
            <a:endParaRPr lang="en-US" sz="750" dirty="0"/>
          </a:p>
        </p:txBody>
      </p:sp>
      <p:sp>
        <p:nvSpPr>
          <p:cNvPr id="233" name="Text 231"/>
          <p:cNvSpPr/>
          <p:nvPr/>
        </p:nvSpPr>
        <p:spPr>
          <a:xfrm>
            <a:off x="10241280" y="3904488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Struts2 agent</a:t>
            </a:r>
            <a:endParaRPr lang="en-US" sz="700" dirty="0"/>
          </a:p>
        </p:txBody>
      </p:sp>
      <p:sp>
        <p:nvSpPr>
          <p:cNvPr id="234" name="Text 232"/>
          <p:cNvSpPr/>
          <p:nvPr/>
        </p:nvSpPr>
        <p:spPr>
          <a:xfrm>
            <a:off x="10241280" y="4078224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D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arch_decisions (ADRs)</a:t>
            </a:r>
            <a:endParaRPr lang="en-US" sz="750" dirty="0"/>
          </a:p>
        </p:txBody>
      </p:sp>
      <p:sp>
        <p:nvSpPr>
          <p:cNvPr id="235" name="Text 233"/>
          <p:cNvSpPr/>
          <p:nvPr/>
        </p:nvSpPr>
        <p:spPr>
          <a:xfrm>
            <a:off x="10241280" y="4251960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Review agents</a:t>
            </a:r>
            <a:endParaRPr lang="en-US" sz="700" dirty="0"/>
          </a:p>
        </p:txBody>
      </p:sp>
      <p:sp>
        <p:nvSpPr>
          <p:cNvPr id="236" name="Text 234"/>
          <p:cNvSpPr/>
          <p:nvPr/>
        </p:nvSpPr>
        <p:spPr>
          <a:xfrm>
            <a:off x="10241280" y="4425696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D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security_policies</a:t>
            </a:r>
            <a:endParaRPr lang="en-US" sz="750" dirty="0"/>
          </a:p>
        </p:txBody>
      </p:sp>
      <p:sp>
        <p:nvSpPr>
          <p:cNvPr id="237" name="Text 235"/>
          <p:cNvSpPr/>
          <p:nvPr/>
        </p:nvSpPr>
        <p:spPr>
          <a:xfrm>
            <a:off x="10241280" y="4599432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Guardrails</a:t>
            </a:r>
            <a:endParaRPr lang="en-US" sz="700" dirty="0"/>
          </a:p>
        </p:txBody>
      </p:sp>
      <p:sp>
        <p:nvSpPr>
          <p:cNvPr id="238" name="Text 236"/>
          <p:cNvSpPr/>
          <p:nvPr/>
        </p:nvSpPr>
        <p:spPr>
          <a:xfrm>
            <a:off x="10241280" y="4773168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D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liberty_config_standards</a:t>
            </a:r>
            <a:endParaRPr lang="en-US" sz="750" dirty="0"/>
          </a:p>
        </p:txBody>
      </p:sp>
      <p:sp>
        <p:nvSpPr>
          <p:cNvPr id="239" name="Text 237"/>
          <p:cNvSpPr/>
          <p:nvPr/>
        </p:nvSpPr>
        <p:spPr>
          <a:xfrm>
            <a:off x="10241280" y="4946904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Container agent</a:t>
            </a:r>
            <a:endParaRPr lang="en-US" sz="700" dirty="0"/>
          </a:p>
        </p:txBody>
      </p:sp>
      <p:sp>
        <p:nvSpPr>
          <p:cNvPr id="240" name="Shape 238"/>
          <p:cNvSpPr/>
          <p:nvPr/>
        </p:nvSpPr>
        <p:spPr>
          <a:xfrm>
            <a:off x="10149840" y="5193792"/>
            <a:ext cx="1874520" cy="1243584"/>
          </a:xfrm>
          <a:prstGeom prst="rect">
            <a:avLst/>
          </a:prstGeom>
          <a:solidFill>
            <a:srgbClr val="0F2040"/>
          </a:solidFill>
          <a:ln w="9525">
            <a:solidFill>
              <a:srgbClr val="626E7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1" name="Shape 239"/>
          <p:cNvSpPr/>
          <p:nvPr/>
        </p:nvSpPr>
        <p:spPr>
          <a:xfrm>
            <a:off x="10149840" y="5193792"/>
            <a:ext cx="1874520" cy="43891"/>
          </a:xfrm>
          <a:prstGeom prst="rect">
            <a:avLst/>
          </a:prstGeom>
          <a:solidFill>
            <a:srgbClr val="7A95B4"/>
          </a:solidFill>
          <a:ln w="12700">
            <a:solidFill>
              <a:srgbClr val="7A95B4">
                <a:alpha val="0"/>
              </a:srgbClr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10149840" y="523951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95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I/O layer</a:t>
            </a:r>
            <a:endParaRPr lang="en-US" sz="800" dirty="0"/>
          </a:p>
        </p:txBody>
      </p:sp>
      <p:sp>
        <p:nvSpPr>
          <p:cNvPr id="243" name="Text 241"/>
          <p:cNvSpPr/>
          <p:nvPr/>
        </p:nvSpPr>
        <p:spPr>
          <a:xfrm>
            <a:off x="10241280" y="552297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FileScanner</a:t>
            </a:r>
            <a:endParaRPr lang="en-US" sz="750" dirty="0"/>
          </a:p>
        </p:txBody>
      </p:sp>
      <p:sp>
        <p:nvSpPr>
          <p:cNvPr id="244" name="Text 242"/>
          <p:cNvSpPr/>
          <p:nvPr/>
        </p:nvSpPr>
        <p:spPr>
          <a:xfrm>
            <a:off x="11036808" y="552297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./myapp/**</a:t>
            </a:r>
            <a:endParaRPr lang="en-US" sz="700" dirty="0"/>
          </a:p>
        </p:txBody>
      </p:sp>
      <p:sp>
        <p:nvSpPr>
          <p:cNvPr id="245" name="Text 243"/>
          <p:cNvSpPr/>
          <p:nvPr/>
        </p:nvSpPr>
        <p:spPr>
          <a:xfrm>
            <a:off x="10241280" y="574243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FileWriter</a:t>
            </a:r>
            <a:endParaRPr lang="en-US" sz="750" dirty="0"/>
          </a:p>
        </p:txBody>
      </p:sp>
      <p:sp>
        <p:nvSpPr>
          <p:cNvPr id="246" name="Text 244"/>
          <p:cNvSpPr/>
          <p:nvPr/>
        </p:nvSpPr>
        <p:spPr>
          <a:xfrm>
            <a:off x="11036808" y="574243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./migrated/myapp/</a:t>
            </a:r>
            <a:endParaRPr lang="en-US" sz="700" dirty="0"/>
          </a:p>
        </p:txBody>
      </p:sp>
      <p:sp>
        <p:nvSpPr>
          <p:cNvPr id="247" name="Text 245"/>
          <p:cNvSpPr/>
          <p:nvPr/>
        </p:nvSpPr>
        <p:spPr>
          <a:xfrm>
            <a:off x="10241280" y="59618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StateManager</a:t>
            </a:r>
            <a:endParaRPr lang="en-US" sz="750" dirty="0"/>
          </a:p>
        </p:txBody>
      </p:sp>
      <p:sp>
        <p:nvSpPr>
          <p:cNvPr id="248" name="Text 246"/>
          <p:cNvSpPr/>
          <p:nvPr/>
        </p:nvSpPr>
        <p:spPr>
          <a:xfrm>
            <a:off x="11036808" y="596188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migration-state.json</a:t>
            </a:r>
            <a:endParaRPr lang="en-US" sz="700" dirty="0"/>
          </a:p>
        </p:txBody>
      </p:sp>
      <p:sp>
        <p:nvSpPr>
          <p:cNvPr id="249" name="Text 247"/>
          <p:cNvSpPr/>
          <p:nvPr/>
        </p:nvSpPr>
        <p:spPr>
          <a:xfrm>
            <a:off x="10241280" y="618134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ReviewQueue</a:t>
            </a:r>
            <a:endParaRPr lang="en-US" sz="750" dirty="0"/>
          </a:p>
        </p:txBody>
      </p:sp>
      <p:sp>
        <p:nvSpPr>
          <p:cNvPr id="250" name="Text 248"/>
          <p:cNvSpPr/>
          <p:nvPr/>
        </p:nvSpPr>
        <p:spPr>
          <a:xfrm>
            <a:off x="11036808" y="618134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manual-review-queue.json</a:t>
            </a:r>
            <a:endParaRPr lang="en-US" sz="700" dirty="0"/>
          </a:p>
        </p:txBody>
      </p:sp>
      <p:sp>
        <p:nvSpPr>
          <p:cNvPr id="251" name="Shape 249"/>
          <p:cNvSpPr/>
          <p:nvPr/>
        </p:nvSpPr>
        <p:spPr>
          <a:xfrm>
            <a:off x="201168" y="6510528"/>
            <a:ext cx="11795760" cy="20117"/>
          </a:xfrm>
          <a:prstGeom prst="rect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201168" y="6565392"/>
            <a:ext cx="146304" cy="128016"/>
          </a:xfrm>
          <a:prstGeom prst="rect">
            <a:avLst/>
          </a:prstGeom>
          <a:solidFill>
            <a:srgbClr val="FEF6E7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384048" y="655624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agent (Sonnet 4.5)</a:t>
            </a:r>
            <a:endParaRPr lang="en-US" sz="750" dirty="0"/>
          </a:p>
        </p:txBody>
      </p:sp>
      <p:sp>
        <p:nvSpPr>
          <p:cNvPr id="254" name="Shape 252"/>
          <p:cNvSpPr/>
          <p:nvPr/>
        </p:nvSpPr>
        <p:spPr>
          <a:xfrm>
            <a:off x="2167128" y="6565392"/>
            <a:ext cx="146304" cy="128016"/>
          </a:xfrm>
          <a:prstGeom prst="rect">
            <a:avLst/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2350008" y="655624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agent (Sonnet 4.5)</a:t>
            </a:r>
            <a:endParaRPr lang="en-US" sz="750" dirty="0"/>
          </a:p>
        </p:txBody>
      </p:sp>
      <p:sp>
        <p:nvSpPr>
          <p:cNvPr id="256" name="Shape 254"/>
          <p:cNvSpPr/>
          <p:nvPr/>
        </p:nvSpPr>
        <p:spPr>
          <a:xfrm>
            <a:off x="4133088" y="6565392"/>
            <a:ext cx="146304" cy="128016"/>
          </a:xfrm>
          <a:prstGeom prst="rect">
            <a:avLst/>
          </a:prstGeom>
          <a:solidFill>
            <a:srgbClr val="E6F1FB"/>
          </a:solidFill>
          <a:ln w="9525">
            <a:solidFill>
              <a:srgbClr val="3B82C4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4315968" y="655624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agents × 8 (Sonnet 4.5)</a:t>
            </a:r>
            <a:endParaRPr lang="en-US" sz="750" dirty="0"/>
          </a:p>
        </p:txBody>
      </p:sp>
      <p:sp>
        <p:nvSpPr>
          <p:cNvPr id="258" name="Shape 256"/>
          <p:cNvSpPr/>
          <p:nvPr/>
        </p:nvSpPr>
        <p:spPr>
          <a:xfrm>
            <a:off x="6099048" y="6565392"/>
            <a:ext cx="146304" cy="128016"/>
          </a:xfrm>
          <a:prstGeom prst="rect">
            <a:avLst/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6281928" y="655624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agents × 5 (Nova Pro)</a:t>
            </a:r>
            <a:endParaRPr lang="en-US" sz="750" dirty="0"/>
          </a:p>
        </p:txBody>
      </p:sp>
      <p:sp>
        <p:nvSpPr>
          <p:cNvPr id="260" name="Shape 258"/>
          <p:cNvSpPr/>
          <p:nvPr/>
        </p:nvSpPr>
        <p:spPr>
          <a:xfrm>
            <a:off x="8065008" y="6565392"/>
            <a:ext cx="146304" cy="128016"/>
          </a:xfrm>
          <a:prstGeom prst="rect">
            <a:avLst/>
          </a:prstGeom>
          <a:solidFill>
            <a:srgbClr val="1A2810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8247888" y="655624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Base</a:t>
            </a:r>
            <a:endParaRPr lang="en-US" sz="750" dirty="0"/>
          </a:p>
        </p:txBody>
      </p:sp>
      <p:sp>
        <p:nvSpPr>
          <p:cNvPr id="262" name="Shape 260"/>
          <p:cNvSpPr/>
          <p:nvPr/>
        </p:nvSpPr>
        <p:spPr>
          <a:xfrm>
            <a:off x="10030968" y="6565392"/>
            <a:ext cx="146304" cy="128016"/>
          </a:xfrm>
          <a:prstGeom prst="rect">
            <a:avLst/>
          </a:prstGeom>
          <a:solidFill>
            <a:srgbClr val="FEF6E7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10213848" y="655624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queue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 — Full Architecture</dc:title>
  <dc:subject>PptxGenJS Presentation</dc:subject>
  <dc:creator>PptxGenJS</dc:creator>
  <cp:lastModifiedBy>PptxGenJS</cp:lastModifiedBy>
  <cp:revision>1</cp:revision>
  <dcterms:created xsi:type="dcterms:W3CDTF">2026-04-13T23:18:53Z</dcterms:created>
  <dcterms:modified xsi:type="dcterms:W3CDTF">2026-04-13T23:18:53Z</dcterms:modified>
</cp:coreProperties>
</file>