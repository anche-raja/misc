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2016" y="-137160"/>
            <a:ext cx="486461" cy="192024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18872"/>
            <a:ext cx="704088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48826" y="349301"/>
            <a:ext cx="332842" cy="128016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8088" y="-137160"/>
            <a:ext cx="590702" cy="233172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73736"/>
            <a:ext cx="854964" cy="2020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41357" y="453542"/>
            <a:ext cx="404165" cy="155448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1592" y="-137160"/>
            <a:ext cx="451714" cy="178308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100584"/>
            <a:ext cx="653796" cy="1545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2915" y="314554"/>
            <a:ext cx="309067" cy="118872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-137160"/>
            <a:ext cx="347472" cy="137160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35640" y="45720"/>
            <a:ext cx="50292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210312"/>
            <a:ext cx="237744" cy="91440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91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1168" y="47548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Orchestrated Rewrite &amp; Generation Engine  ·  Full Architecture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713232"/>
            <a:ext cx="11795760" cy="20117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768096"/>
            <a:ext cx="1097280" cy="5669280"/>
          </a:xfrm>
          <a:prstGeom prst="rect">
            <a:avLst/>
          </a:prstGeom>
          <a:solidFill>
            <a:srgbClr val="0F2040"/>
          </a:solidFill>
          <a:ln w="9525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768096"/>
            <a:ext cx="1097280" cy="43891"/>
          </a:xfrm>
          <a:prstGeom prst="rect">
            <a:avLst/>
          </a:prstGeom>
          <a:solidFill>
            <a:srgbClr val="7A95B4"/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8183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9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entry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1078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12801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sequencer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1481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--phase java21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1682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--dry-run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--resume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185416"/>
            <a:ext cx="987552" cy="201168"/>
          </a:xfrm>
          <a:prstGeom prst="rect">
            <a:avLst/>
          </a:prstGeom>
          <a:solidFill>
            <a:srgbClr val="1A3A5C"/>
          </a:solidFill>
          <a:ln w="6350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21854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" y="2432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discover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2724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java21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spring6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struts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345643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containerize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testgen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298448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26464" y="768096"/>
            <a:ext cx="1188720" cy="566928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426464" y="768096"/>
            <a:ext cx="11887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8183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3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(pre)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499616" y="10972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99616" y="10972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499616" y="15544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99616" y="15544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validator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99616" y="20116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99616" y="20116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499616" y="24688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499616" y="24688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gate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99616" y="2962656"/>
            <a:ext cx="1042416" cy="201168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499616" y="29626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499616" y="3218688"/>
            <a:ext cx="1042416" cy="201168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499616" y="32186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499616" y="3474720"/>
            <a:ext cx="1042416" cy="20116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499616" y="34747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481328" y="3785616"/>
            <a:ext cx="1078992" cy="20116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481328" y="3785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Pre-transform checks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17904" y="402336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source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517904" y="42793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within scope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517904" y="453542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LOC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517904" y="479145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flagged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426464" y="6345936"/>
            <a:ext cx="1188720" cy="91440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426464" y="63459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615184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0" y="768096"/>
            <a:ext cx="1188720" cy="566928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0" y="768096"/>
            <a:ext cx="1188720" cy="43891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0" y="8183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 agent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816352" y="1097280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2816352" y="109728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per file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816352" y="1426464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816352" y="14264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(max 2)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816352" y="1755648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816352" y="1755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feedback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816352" y="2084832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2816352" y="20848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verdicts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816352" y="2414016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2816352" y="241401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816352" y="2743200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2816352" y="27432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queue push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798064" y="3145536"/>
            <a:ext cx="1078992" cy="201168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798064" y="31455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834640" y="33832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≥80 → write file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834640" y="365760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50-79 → re-transform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834640" y="393192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count +1 (max 2)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834640" y="42062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&lt;50 → queue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798064" y="4535424"/>
            <a:ext cx="1078992" cy="201168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798064" y="45354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2834640" y="477316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Review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834640" y="50474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→ Guardrails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2834640" y="532180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→ Output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834640" y="55961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Manual queue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743200" y="6345936"/>
            <a:ext cx="1188720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2743200" y="63459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931920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059936" y="768096"/>
            <a:ext cx="1481328" cy="5669280"/>
          </a:xfrm>
          <a:prstGeom prst="rect">
            <a:avLst/>
          </a:prstGeom>
          <a:solidFill>
            <a:srgbClr val="E6F1FB"/>
          </a:solidFill>
          <a:ln w="1524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059936" y="768096"/>
            <a:ext cx="1481328" cy="43891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59936" y="8183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agents × 8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142232" y="1088136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4142232" y="108813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142232" y="1563624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4142232" y="15636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142232" y="2039112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4142232" y="20391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8→21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142232" y="2514600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142232" y="25146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5→6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142232" y="2990088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4142232" y="299008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Struts1 → MVC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142232" y="3465576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4142232" y="346557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Struts2 → MVC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142232" y="3941064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4142232" y="394106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142232" y="4416552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4142232" y="441655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059936" y="4974336"/>
            <a:ext cx="1481328" cy="201168"/>
          </a:xfrm>
          <a:prstGeom prst="rect">
            <a:avLst/>
          </a:prstGeom>
          <a:solidFill>
            <a:srgbClr val="185FA5"/>
          </a:solidFill>
          <a:ln w="635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4059936" y="497433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functions per agent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133088" y="5212080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4133088" y="521208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detect_patterns()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133088" y="5431536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4133088" y="543153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parse_struts_xml()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4133088" y="5650992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4133088" y="565099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detect_ognl()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4133088" y="5870448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4133088" y="587044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map_tags()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059936" y="6345936"/>
            <a:ext cx="1481328" cy="91440"/>
          </a:xfrm>
          <a:prstGeom prst="rect">
            <a:avLst/>
          </a:prstGeom>
          <a:solidFill>
            <a:srgbClr val="3B82C4"/>
          </a:solidFill>
          <a:ln w="635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4059936" y="634593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+ RAG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541264" y="3236976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69280" y="768096"/>
            <a:ext cx="1481328" cy="5669280"/>
          </a:xfrm>
          <a:prstGeom prst="rect">
            <a:avLst/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5669280" y="768096"/>
            <a:ext cx="1481328" cy="43891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>
                <a:alpha val="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669280" y="8183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agents × 5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5751576" y="1088136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5751576" y="108813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review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5751576" y="1655064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5751576" y="1655064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review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751576" y="2221992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5751576" y="2221992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review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5751576" y="2788920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5751576" y="2788920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review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5751576" y="3355848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5751576" y="3355848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review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5669280" y="3950208"/>
            <a:ext cx="1481328" cy="658368"/>
          </a:xfrm>
          <a:prstGeom prst="rect">
            <a:avLst/>
          </a:prstGeom>
          <a:solidFill>
            <a:srgbClr val="26215C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5751576" y="3986784"/>
            <a:ext cx="1316736" cy="146304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0" name="Text 138"/>
          <p:cNvSpPr/>
          <p:nvPr/>
        </p:nvSpPr>
        <p:spPr>
          <a:xfrm>
            <a:off x="5751576" y="398678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≥80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751576" y="4169664"/>
            <a:ext cx="1316736" cy="146304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5751576" y="416966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50-79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751576" y="4352544"/>
            <a:ext cx="1316736" cy="146304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5751576" y="435254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&lt;50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5669280" y="4645152"/>
            <a:ext cx="1481328" cy="182880"/>
          </a:xfrm>
          <a:prstGeom prst="rect">
            <a:avLst/>
          </a:prstGeom>
          <a:solidFill>
            <a:srgbClr val="534AB7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5669280" y="4645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retry: feedback injected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5724144" y="4864608"/>
            <a:ext cx="1371600" cy="201168"/>
          </a:xfrm>
          <a:prstGeom prst="rect">
            <a:avLst/>
          </a:prstGeom>
          <a:solidFill>
            <a:srgbClr val="3C3489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5724144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checks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5760720" y="510235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correctness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5760720" y="53583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fields preserved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5760720" y="56144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refs flagged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5760720" y="587044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deprecations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5669280" y="6345936"/>
            <a:ext cx="1481328" cy="91440"/>
          </a:xfrm>
          <a:prstGeom prst="rect">
            <a:avLst/>
          </a:prstGeom>
          <a:solidFill>
            <a:srgbClr val="EAF3DE"/>
          </a:solidFill>
          <a:ln w="6350">
            <a:solidFill>
              <a:srgbClr val="6399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5669280" y="634593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Pro + RAG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7150608" y="3236976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278624" y="768096"/>
            <a:ext cx="1188720" cy="566928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7" name="Shape 155"/>
          <p:cNvSpPr/>
          <p:nvPr/>
        </p:nvSpPr>
        <p:spPr>
          <a:xfrm>
            <a:off x="7278624" y="768096"/>
            <a:ext cx="11887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278624" y="8183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3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(post)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7351776" y="10972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7351776" y="10972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enforcer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7351776" y="15544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7351776" y="15544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patterns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7351776" y="20116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4" name="Text 162"/>
          <p:cNvSpPr/>
          <p:nvPr/>
        </p:nvSpPr>
        <p:spPr>
          <a:xfrm>
            <a:off x="7351776" y="20116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headers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7351776" y="24688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>
            <a:off x="7351776" y="24688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No-regression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7351776" y="2962656"/>
            <a:ext cx="1042416" cy="201168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8" name="Text 166"/>
          <p:cNvSpPr/>
          <p:nvPr/>
        </p:nvSpPr>
        <p:spPr>
          <a:xfrm>
            <a:off x="7351776" y="29626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7351776" y="3218688"/>
            <a:ext cx="1042416" cy="201168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0" name="Text 168"/>
          <p:cNvSpPr/>
          <p:nvPr/>
        </p:nvSpPr>
        <p:spPr>
          <a:xfrm>
            <a:off x="7351776" y="32186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7351776" y="3474720"/>
            <a:ext cx="1042416" cy="20116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7351776" y="34747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7333488" y="3785616"/>
            <a:ext cx="1078992" cy="20116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4" name="Text 172"/>
          <p:cNvSpPr/>
          <p:nvPr/>
        </p:nvSpPr>
        <p:spPr>
          <a:xfrm>
            <a:off x="7333488" y="3785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Post-review checks</a:t>
            </a:r>
            <a:endParaRPr lang="en-US" sz="750" dirty="0"/>
          </a:p>
        </p:txBody>
      </p:sp>
      <p:sp>
        <p:nvSpPr>
          <p:cNvPr id="175" name="Text 173"/>
          <p:cNvSpPr/>
          <p:nvPr/>
        </p:nvSpPr>
        <p:spPr>
          <a:xfrm>
            <a:off x="7370064" y="402336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naming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7370064" y="42793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OGNL in output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7370064" y="453542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on DTOs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7370064" y="479145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patterns</a:t>
            </a:r>
            <a:endParaRPr lang="en-US" sz="750" dirty="0"/>
          </a:p>
        </p:txBody>
      </p:sp>
      <p:sp>
        <p:nvSpPr>
          <p:cNvPr id="179" name="Text 177"/>
          <p:cNvSpPr/>
          <p:nvPr/>
        </p:nvSpPr>
        <p:spPr>
          <a:xfrm>
            <a:off x="7370064" y="504748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header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7278624" y="6345936"/>
            <a:ext cx="1188720" cy="91440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7278624" y="63459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8467344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595360" y="768096"/>
            <a:ext cx="1417320" cy="347472"/>
          </a:xfrm>
          <a:prstGeom prst="rect">
            <a:avLst/>
          </a:prstGeom>
          <a:solidFill>
            <a:srgbClr val="E05252"/>
          </a:solidFill>
          <a:ln w="190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4" name="Text 182"/>
          <p:cNvSpPr/>
          <p:nvPr/>
        </p:nvSpPr>
        <p:spPr>
          <a:xfrm>
            <a:off x="8595360" y="7680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STRUTS ELIMINATED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8595360" y="1152144"/>
            <a:ext cx="1417320" cy="2048256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8595360" y="1152144"/>
            <a:ext cx="1417320" cy="43891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8595360" y="12024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— pure Spring MVC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8668512" y="1463040"/>
            <a:ext cx="1271016" cy="237744"/>
          </a:xfrm>
          <a:prstGeom prst="rect">
            <a:avLst/>
          </a:prstGeom>
          <a:solidFill>
            <a:srgbClr val="C7EAD8"/>
          </a:solidFill>
          <a:ln w="508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8705088" y="1463040"/>
            <a:ext cx="678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</a:t>
            </a:r>
            <a:endParaRPr lang="en-US" sz="750" dirty="0"/>
          </a:p>
        </p:txBody>
      </p:sp>
      <p:sp>
        <p:nvSpPr>
          <p:cNvPr id="190" name="Text 188"/>
          <p:cNvSpPr/>
          <p:nvPr/>
        </p:nvSpPr>
        <p:spPr>
          <a:xfrm>
            <a:off x="9384030" y="1463040"/>
            <a:ext cx="555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ActionSupport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8668512" y="1737360"/>
            <a:ext cx="1271016" cy="237744"/>
          </a:xfrm>
          <a:prstGeom prst="rect">
            <a:avLst/>
          </a:prstGeom>
          <a:solidFill>
            <a:srgbClr val="C7EAD8"/>
          </a:solidFill>
          <a:ln w="508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8705088" y="1737360"/>
            <a:ext cx="678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</a:t>
            </a:r>
            <a:endParaRPr lang="en-US" sz="750" dirty="0"/>
          </a:p>
        </p:txBody>
      </p:sp>
      <p:sp>
        <p:nvSpPr>
          <p:cNvPr id="193" name="Text 191"/>
          <p:cNvSpPr/>
          <p:nvPr/>
        </p:nvSpPr>
        <p:spPr>
          <a:xfrm>
            <a:off x="9384030" y="1737360"/>
            <a:ext cx="555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struts.xml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8668512" y="2011680"/>
            <a:ext cx="1271016" cy="237744"/>
          </a:xfrm>
          <a:prstGeom prst="rect">
            <a:avLst/>
          </a:prstGeom>
          <a:solidFill>
            <a:srgbClr val="C7EAD8"/>
          </a:solidFill>
          <a:ln w="508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8705088" y="2011680"/>
            <a:ext cx="678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</a:t>
            </a:r>
            <a:endParaRPr lang="en-US" sz="750" dirty="0"/>
          </a:p>
        </p:txBody>
      </p:sp>
      <p:sp>
        <p:nvSpPr>
          <p:cNvPr id="196" name="Text 194"/>
          <p:cNvSpPr/>
          <p:nvPr/>
        </p:nvSpPr>
        <p:spPr>
          <a:xfrm>
            <a:off x="9384030" y="2011680"/>
            <a:ext cx="555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ActionForm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8668512" y="2286000"/>
            <a:ext cx="1271016" cy="237744"/>
          </a:xfrm>
          <a:prstGeom prst="rect">
            <a:avLst/>
          </a:prstGeom>
          <a:solidFill>
            <a:srgbClr val="C7EAD8"/>
          </a:solidFill>
          <a:ln w="508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8705088" y="2286000"/>
            <a:ext cx="678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</a:t>
            </a:r>
            <a:endParaRPr lang="en-US" sz="750" dirty="0"/>
          </a:p>
        </p:txBody>
      </p:sp>
      <p:sp>
        <p:nvSpPr>
          <p:cNvPr id="199" name="Text 197"/>
          <p:cNvSpPr/>
          <p:nvPr/>
        </p:nvSpPr>
        <p:spPr>
          <a:xfrm>
            <a:off x="9384030" y="2286000"/>
            <a:ext cx="555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S2 interceptors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8668512" y="2560320"/>
            <a:ext cx="1271016" cy="237744"/>
          </a:xfrm>
          <a:prstGeom prst="rect">
            <a:avLst/>
          </a:prstGeom>
          <a:solidFill>
            <a:srgbClr val="C7EAD8"/>
          </a:solidFill>
          <a:ln w="508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8705088" y="2560320"/>
            <a:ext cx="678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&lt;form:&gt; / JSTL</a:t>
            </a:r>
            <a:endParaRPr lang="en-US" sz="750" dirty="0"/>
          </a:p>
        </p:txBody>
      </p:sp>
      <p:sp>
        <p:nvSpPr>
          <p:cNvPr id="202" name="Text 200"/>
          <p:cNvSpPr/>
          <p:nvPr/>
        </p:nvSpPr>
        <p:spPr>
          <a:xfrm>
            <a:off x="9384030" y="2560320"/>
            <a:ext cx="555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&lt;s:&gt; tags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8668512" y="2834640"/>
            <a:ext cx="1271016" cy="237744"/>
          </a:xfrm>
          <a:prstGeom prst="rect">
            <a:avLst/>
          </a:prstGeom>
          <a:solidFill>
            <a:srgbClr val="C7EAD8"/>
          </a:solidFill>
          <a:ln w="508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8705088" y="2834640"/>
            <a:ext cx="678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${} EL only</a:t>
            </a:r>
            <a:endParaRPr lang="en-US" sz="750" dirty="0"/>
          </a:p>
        </p:txBody>
      </p:sp>
      <p:sp>
        <p:nvSpPr>
          <p:cNvPr id="205" name="Text 203"/>
          <p:cNvSpPr/>
          <p:nvPr/>
        </p:nvSpPr>
        <p:spPr>
          <a:xfrm>
            <a:off x="9384030" y="2834640"/>
            <a:ext cx="555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OGNL %{...}</a:t>
            </a:r>
            <a:endParaRPr lang="en-US" sz="650" dirty="0"/>
          </a:p>
        </p:txBody>
      </p:sp>
      <p:sp>
        <p:nvSpPr>
          <p:cNvPr id="206" name="Shape 204"/>
          <p:cNvSpPr/>
          <p:nvPr/>
        </p:nvSpPr>
        <p:spPr>
          <a:xfrm>
            <a:off x="8650224" y="3108960"/>
            <a:ext cx="1307592" cy="36576"/>
          </a:xfrm>
          <a:prstGeom prst="rect">
            <a:avLst/>
          </a:prstGeom>
          <a:solidFill>
            <a:srgbClr val="E05252"/>
          </a:solidFill>
          <a:ln w="508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7" name="Shape 205"/>
          <p:cNvSpPr/>
          <p:nvPr/>
        </p:nvSpPr>
        <p:spPr>
          <a:xfrm>
            <a:off x="8595360" y="3163824"/>
            <a:ext cx="1417320" cy="347472"/>
          </a:xfrm>
          <a:prstGeom prst="rect">
            <a:avLst/>
          </a:prstGeom>
          <a:solidFill>
            <a:srgbClr val="17340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8" name="Text 206"/>
          <p:cNvSpPr/>
          <p:nvPr/>
        </p:nvSpPr>
        <p:spPr>
          <a:xfrm>
            <a:off x="8595360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Struts in output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8595360" y="3511296"/>
            <a:ext cx="1417320" cy="54864"/>
          </a:xfrm>
          <a:prstGeom prst="rect">
            <a:avLst/>
          </a:prstGeom>
          <a:solidFill>
            <a:srgbClr val="1D9E75"/>
          </a:solidFill>
          <a:ln w="508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0" name="Text 208"/>
          <p:cNvSpPr/>
          <p:nvPr/>
        </p:nvSpPr>
        <p:spPr>
          <a:xfrm>
            <a:off x="8595360" y="3511296"/>
            <a:ext cx="1417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./migrated/myapp/</a:t>
            </a:r>
            <a:endParaRPr lang="en-US" sz="700" dirty="0"/>
          </a:p>
        </p:txBody>
      </p:sp>
      <p:sp>
        <p:nvSpPr>
          <p:cNvPr id="211" name="Shape 209"/>
          <p:cNvSpPr/>
          <p:nvPr/>
        </p:nvSpPr>
        <p:spPr>
          <a:xfrm>
            <a:off x="8595360" y="3621024"/>
            <a:ext cx="1417320" cy="1152144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2" name="Shape 210"/>
          <p:cNvSpPr/>
          <p:nvPr/>
        </p:nvSpPr>
        <p:spPr>
          <a:xfrm>
            <a:off x="8595360" y="3621024"/>
            <a:ext cx="14173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8595360" y="36713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3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review queue</a:t>
            </a:r>
            <a:endParaRPr lang="en-US" sz="850" dirty="0"/>
          </a:p>
        </p:txBody>
      </p:sp>
      <p:sp>
        <p:nvSpPr>
          <p:cNvPr id="214" name="Text 212"/>
          <p:cNvSpPr/>
          <p:nvPr/>
        </p:nvSpPr>
        <p:spPr>
          <a:xfrm>
            <a:off x="8686800" y="393192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manual-review-queue.json</a:t>
            </a:r>
            <a:endParaRPr lang="en-US" sz="750" dirty="0"/>
          </a:p>
        </p:txBody>
      </p:sp>
      <p:sp>
        <p:nvSpPr>
          <p:cNvPr id="215" name="Text 213"/>
          <p:cNvSpPr/>
          <p:nvPr/>
        </p:nvSpPr>
        <p:spPr>
          <a:xfrm>
            <a:off x="8686800" y="4096512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review_portal.py</a:t>
            </a:r>
            <a:endParaRPr lang="en-US" sz="750" dirty="0"/>
          </a:p>
        </p:txBody>
      </p:sp>
      <p:sp>
        <p:nvSpPr>
          <p:cNvPr id="216" name="Text 214"/>
          <p:cNvSpPr/>
          <p:nvPr/>
        </p:nvSpPr>
        <p:spPr>
          <a:xfrm>
            <a:off x="8686800" y="426110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context: original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8686800" y="442569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transformed + verdicts</a:t>
            </a:r>
            <a:endParaRPr lang="en-US" sz="750" dirty="0"/>
          </a:p>
        </p:txBody>
      </p:sp>
      <p:sp>
        <p:nvSpPr>
          <p:cNvPr id="218" name="Text 216"/>
          <p:cNvSpPr/>
          <p:nvPr/>
        </p:nvSpPr>
        <p:spPr>
          <a:xfrm>
            <a:off x="8686800" y="45902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Engineer: approve/reject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8595360" y="4919472"/>
            <a:ext cx="1417320" cy="1517904"/>
          </a:xfrm>
          <a:prstGeom prst="rect">
            <a:avLst/>
          </a:prstGeom>
          <a:solidFill>
            <a:srgbClr val="0F2040"/>
          </a:solidFill>
          <a:ln w="9525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0" name="Text 218"/>
          <p:cNvSpPr/>
          <p:nvPr/>
        </p:nvSpPr>
        <p:spPr>
          <a:xfrm>
            <a:off x="8595360" y="49743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8668512" y="5212080"/>
            <a:ext cx="1271016" cy="164592"/>
          </a:xfrm>
          <a:prstGeom prst="rect">
            <a:avLst/>
          </a:prstGeom>
          <a:solidFill>
            <a:srgbClr val="7A95B4"/>
          </a:solidFill>
          <a:ln w="6350">
            <a:solidFill>
              <a:srgbClr val="7A95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2" name="Text 220"/>
          <p:cNvSpPr/>
          <p:nvPr/>
        </p:nvSpPr>
        <p:spPr>
          <a:xfrm>
            <a:off x="8668512" y="521208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223" name="Shape 221"/>
          <p:cNvSpPr/>
          <p:nvPr/>
        </p:nvSpPr>
        <p:spPr>
          <a:xfrm>
            <a:off x="8668512" y="5413248"/>
            <a:ext cx="1271016" cy="164592"/>
          </a:xfrm>
          <a:prstGeom prst="rect">
            <a:avLst/>
          </a:prstGeom>
          <a:solidFill>
            <a:srgbClr val="3B82C4"/>
          </a:solidFill>
          <a:ln w="635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4" name="Text 222"/>
          <p:cNvSpPr/>
          <p:nvPr/>
        </p:nvSpPr>
        <p:spPr>
          <a:xfrm>
            <a:off x="8668512" y="541324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700" dirty="0"/>
          </a:p>
        </p:txBody>
      </p:sp>
      <p:sp>
        <p:nvSpPr>
          <p:cNvPr id="225" name="Shape 223"/>
          <p:cNvSpPr/>
          <p:nvPr/>
        </p:nvSpPr>
        <p:spPr>
          <a:xfrm>
            <a:off x="8668512" y="5614416"/>
            <a:ext cx="1271016" cy="164592"/>
          </a:xfrm>
          <a:prstGeom prst="rect">
            <a:avLst/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6" name="Text 224"/>
          <p:cNvSpPr/>
          <p:nvPr/>
        </p:nvSpPr>
        <p:spPr>
          <a:xfrm>
            <a:off x="8668512" y="561441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</a:t>
            </a:r>
            <a:endParaRPr lang="en-US" sz="700" dirty="0"/>
          </a:p>
        </p:txBody>
      </p:sp>
      <p:sp>
        <p:nvSpPr>
          <p:cNvPr id="227" name="Shape 225"/>
          <p:cNvSpPr/>
          <p:nvPr/>
        </p:nvSpPr>
        <p:spPr>
          <a:xfrm>
            <a:off x="8668512" y="5815584"/>
            <a:ext cx="1271016" cy="164592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8" name="Text 226"/>
          <p:cNvSpPr/>
          <p:nvPr/>
        </p:nvSpPr>
        <p:spPr>
          <a:xfrm>
            <a:off x="8668512" y="581558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1/2</a:t>
            </a:r>
            <a:endParaRPr lang="en-US" sz="700" dirty="0"/>
          </a:p>
        </p:txBody>
      </p:sp>
      <p:sp>
        <p:nvSpPr>
          <p:cNvPr id="229" name="Shape 227"/>
          <p:cNvSpPr/>
          <p:nvPr/>
        </p:nvSpPr>
        <p:spPr>
          <a:xfrm>
            <a:off x="8668512" y="6016752"/>
            <a:ext cx="1271016" cy="16459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0" name="Text 228"/>
          <p:cNvSpPr/>
          <p:nvPr/>
        </p:nvSpPr>
        <p:spPr>
          <a:xfrm>
            <a:off x="8668512" y="601675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8668512" y="6217920"/>
            <a:ext cx="1271016" cy="164592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2" name="Text 230"/>
          <p:cNvSpPr/>
          <p:nvPr/>
        </p:nvSpPr>
        <p:spPr>
          <a:xfrm>
            <a:off x="8668512" y="62179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MANUAL_REVIEW</a:t>
            </a:r>
            <a:endParaRPr lang="en-US" sz="700" dirty="0"/>
          </a:p>
        </p:txBody>
      </p:sp>
      <p:sp>
        <p:nvSpPr>
          <p:cNvPr id="233" name="Shape 231"/>
          <p:cNvSpPr/>
          <p:nvPr/>
        </p:nvSpPr>
        <p:spPr>
          <a:xfrm>
            <a:off x="10149840" y="768096"/>
            <a:ext cx="1874520" cy="1792224"/>
          </a:xfrm>
          <a:prstGeom prst="rect">
            <a:avLst/>
          </a:prstGeom>
          <a:solidFill>
            <a:srgbClr val="E6F1FB"/>
          </a:solidFill>
          <a:ln w="1270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4" name="Shape 232"/>
          <p:cNvSpPr/>
          <p:nvPr/>
        </p:nvSpPr>
        <p:spPr>
          <a:xfrm>
            <a:off x="10149840" y="768096"/>
            <a:ext cx="1874520" cy="43891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10149840" y="8183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Bedrock</a:t>
            </a:r>
            <a:endParaRPr lang="en-US" sz="850" dirty="0"/>
          </a:p>
        </p:txBody>
      </p:sp>
      <p:sp>
        <p:nvSpPr>
          <p:cNvPr id="236" name="Text 234"/>
          <p:cNvSpPr/>
          <p:nvPr/>
        </p:nvSpPr>
        <p:spPr>
          <a:xfrm>
            <a:off x="10241280" y="11064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Leader &amp; Guardrails</a:t>
            </a:r>
            <a:endParaRPr lang="en-US" sz="750" dirty="0"/>
          </a:p>
        </p:txBody>
      </p:sp>
      <p:sp>
        <p:nvSpPr>
          <p:cNvPr id="237" name="Text 235"/>
          <p:cNvSpPr/>
          <p:nvPr/>
        </p:nvSpPr>
        <p:spPr>
          <a:xfrm>
            <a:off x="10241280" y="1271016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750" dirty="0"/>
          </a:p>
        </p:txBody>
      </p:sp>
      <p:sp>
        <p:nvSpPr>
          <p:cNvPr id="238" name="Text 236"/>
          <p:cNvSpPr/>
          <p:nvPr/>
        </p:nvSpPr>
        <p:spPr>
          <a:xfrm>
            <a:off x="10241280" y="145389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agents (cross-model check)</a:t>
            </a:r>
            <a:endParaRPr lang="en-US" sz="750" dirty="0"/>
          </a:p>
        </p:txBody>
      </p:sp>
      <p:sp>
        <p:nvSpPr>
          <p:cNvPr id="239" name="Text 237"/>
          <p:cNvSpPr/>
          <p:nvPr/>
        </p:nvSpPr>
        <p:spPr>
          <a:xfrm>
            <a:off x="10241280" y="161848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Pro</a:t>
            </a:r>
            <a:endParaRPr lang="en-US" sz="750" dirty="0"/>
          </a:p>
        </p:txBody>
      </p:sp>
      <p:sp>
        <p:nvSpPr>
          <p:cNvPr id="240" name="Text 238"/>
          <p:cNvSpPr/>
          <p:nvPr/>
        </p:nvSpPr>
        <p:spPr>
          <a:xfrm>
            <a:off x="10241280" y="18013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(KB)</a:t>
            </a:r>
            <a:endParaRPr lang="en-US" sz="750" dirty="0"/>
          </a:p>
        </p:txBody>
      </p:sp>
      <p:sp>
        <p:nvSpPr>
          <p:cNvPr id="241" name="Text 239"/>
          <p:cNvSpPr/>
          <p:nvPr/>
        </p:nvSpPr>
        <p:spPr>
          <a:xfrm>
            <a:off x="10241280" y="1965960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Text v2</a:t>
            </a:r>
            <a:endParaRPr lang="en-US" sz="750" dirty="0"/>
          </a:p>
        </p:txBody>
      </p:sp>
      <p:sp>
        <p:nvSpPr>
          <p:cNvPr id="242" name="Text 240"/>
          <p:cNvSpPr/>
          <p:nvPr/>
        </p:nvSpPr>
        <p:spPr>
          <a:xfrm>
            <a:off x="10241280" y="21488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750" dirty="0"/>
          </a:p>
        </p:txBody>
      </p:sp>
      <p:sp>
        <p:nvSpPr>
          <p:cNvPr id="243" name="Text 241"/>
          <p:cNvSpPr/>
          <p:nvPr/>
        </p:nvSpPr>
        <p:spPr>
          <a:xfrm>
            <a:off x="10241280" y="2313432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10149840" y="2688336"/>
            <a:ext cx="1874520" cy="2377440"/>
          </a:xfrm>
          <a:prstGeom prst="rect">
            <a:avLst/>
          </a:prstGeom>
          <a:solidFill>
            <a:srgbClr val="1A281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5" name="Shape 243"/>
          <p:cNvSpPr/>
          <p:nvPr/>
        </p:nvSpPr>
        <p:spPr>
          <a:xfrm>
            <a:off x="10149840" y="2688336"/>
            <a:ext cx="18745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0149840" y="27432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DD1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KB (RAG)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10241280" y="303580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coding_standards</a:t>
            </a:r>
            <a:endParaRPr lang="en-US" sz="750" dirty="0"/>
          </a:p>
        </p:txBody>
      </p:sp>
      <p:sp>
        <p:nvSpPr>
          <p:cNvPr id="248" name="Text 246"/>
          <p:cNvSpPr/>
          <p:nvPr/>
        </p:nvSpPr>
        <p:spPr>
          <a:xfrm>
            <a:off x="10241280" y="320954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Transform agents</a:t>
            </a:r>
            <a:endParaRPr lang="en-US" sz="700" dirty="0"/>
          </a:p>
        </p:txBody>
      </p:sp>
      <p:sp>
        <p:nvSpPr>
          <p:cNvPr id="249" name="Text 247"/>
          <p:cNvSpPr/>
          <p:nvPr/>
        </p:nvSpPr>
        <p:spPr>
          <a:xfrm>
            <a:off x="10241280" y="338328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spring_migration_patterns</a:t>
            </a:r>
            <a:endParaRPr lang="en-US" sz="750" dirty="0"/>
          </a:p>
        </p:txBody>
      </p:sp>
      <p:sp>
        <p:nvSpPr>
          <p:cNvPr id="250" name="Text 248"/>
          <p:cNvSpPr/>
          <p:nvPr/>
        </p:nvSpPr>
        <p:spPr>
          <a:xfrm>
            <a:off x="10241280" y="3557016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Transform agents</a:t>
            </a:r>
            <a:endParaRPr lang="en-US" sz="700" dirty="0"/>
          </a:p>
        </p:txBody>
      </p:sp>
      <p:sp>
        <p:nvSpPr>
          <p:cNvPr id="251" name="Text 249"/>
          <p:cNvSpPr/>
          <p:nvPr/>
        </p:nvSpPr>
        <p:spPr>
          <a:xfrm>
            <a:off x="10241280" y="373075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struts2_to_mvc_rules</a:t>
            </a:r>
            <a:endParaRPr lang="en-US" sz="750" dirty="0"/>
          </a:p>
        </p:txBody>
      </p:sp>
      <p:sp>
        <p:nvSpPr>
          <p:cNvPr id="252" name="Text 250"/>
          <p:cNvSpPr/>
          <p:nvPr/>
        </p:nvSpPr>
        <p:spPr>
          <a:xfrm>
            <a:off x="10241280" y="390448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Struts→MVC agents</a:t>
            </a:r>
            <a:endParaRPr lang="en-US" sz="700" dirty="0"/>
          </a:p>
        </p:txBody>
      </p:sp>
      <p:sp>
        <p:nvSpPr>
          <p:cNvPr id="253" name="Text 251"/>
          <p:cNvSpPr/>
          <p:nvPr/>
        </p:nvSpPr>
        <p:spPr>
          <a:xfrm>
            <a:off x="10241280" y="40782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arch_decisions (ADRs)</a:t>
            </a:r>
            <a:endParaRPr lang="en-US" sz="750" dirty="0"/>
          </a:p>
        </p:txBody>
      </p:sp>
      <p:sp>
        <p:nvSpPr>
          <p:cNvPr id="254" name="Text 252"/>
          <p:cNvSpPr/>
          <p:nvPr/>
        </p:nvSpPr>
        <p:spPr>
          <a:xfrm>
            <a:off x="10241280" y="4251960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agents</a:t>
            </a:r>
            <a:endParaRPr lang="en-US" sz="700" dirty="0"/>
          </a:p>
        </p:txBody>
      </p:sp>
      <p:sp>
        <p:nvSpPr>
          <p:cNvPr id="255" name="Text 253"/>
          <p:cNvSpPr/>
          <p:nvPr/>
        </p:nvSpPr>
        <p:spPr>
          <a:xfrm>
            <a:off x="10241280" y="442569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security_policies</a:t>
            </a:r>
            <a:endParaRPr lang="en-US" sz="750" dirty="0"/>
          </a:p>
        </p:txBody>
      </p:sp>
      <p:sp>
        <p:nvSpPr>
          <p:cNvPr id="256" name="Text 254"/>
          <p:cNvSpPr/>
          <p:nvPr/>
        </p:nvSpPr>
        <p:spPr>
          <a:xfrm>
            <a:off x="10241280" y="4599432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Guardrails</a:t>
            </a:r>
            <a:endParaRPr lang="en-US" sz="700" dirty="0"/>
          </a:p>
        </p:txBody>
      </p:sp>
      <p:sp>
        <p:nvSpPr>
          <p:cNvPr id="257" name="Text 255"/>
          <p:cNvSpPr/>
          <p:nvPr/>
        </p:nvSpPr>
        <p:spPr>
          <a:xfrm>
            <a:off x="10241280" y="47731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liberty_config_standards</a:t>
            </a:r>
            <a:endParaRPr lang="en-US" sz="750" dirty="0"/>
          </a:p>
        </p:txBody>
      </p:sp>
      <p:sp>
        <p:nvSpPr>
          <p:cNvPr id="258" name="Text 256"/>
          <p:cNvSpPr/>
          <p:nvPr/>
        </p:nvSpPr>
        <p:spPr>
          <a:xfrm>
            <a:off x="10241280" y="494690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Container agent</a:t>
            </a:r>
            <a:endParaRPr lang="en-US" sz="700" dirty="0"/>
          </a:p>
        </p:txBody>
      </p:sp>
      <p:sp>
        <p:nvSpPr>
          <p:cNvPr id="259" name="Shape 257"/>
          <p:cNvSpPr/>
          <p:nvPr/>
        </p:nvSpPr>
        <p:spPr>
          <a:xfrm>
            <a:off x="10149840" y="5193792"/>
            <a:ext cx="1874520" cy="1243584"/>
          </a:xfrm>
          <a:prstGeom prst="rect">
            <a:avLst/>
          </a:prstGeom>
          <a:solidFill>
            <a:srgbClr val="0F2040"/>
          </a:solidFill>
          <a:ln w="9525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0" name="Shape 258"/>
          <p:cNvSpPr/>
          <p:nvPr/>
        </p:nvSpPr>
        <p:spPr>
          <a:xfrm>
            <a:off x="10149840" y="5193792"/>
            <a:ext cx="1874520" cy="43891"/>
          </a:xfrm>
          <a:prstGeom prst="rect">
            <a:avLst/>
          </a:prstGeom>
          <a:solidFill>
            <a:srgbClr val="7A95B4"/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10149840" y="52395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9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I/O layer</a:t>
            </a:r>
            <a:endParaRPr lang="en-US" sz="800" dirty="0"/>
          </a:p>
        </p:txBody>
      </p:sp>
      <p:sp>
        <p:nvSpPr>
          <p:cNvPr id="262" name="Text 260"/>
          <p:cNvSpPr/>
          <p:nvPr/>
        </p:nvSpPr>
        <p:spPr>
          <a:xfrm>
            <a:off x="10241280" y="55229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FileScanner</a:t>
            </a:r>
            <a:endParaRPr lang="en-US" sz="750" dirty="0"/>
          </a:p>
        </p:txBody>
      </p:sp>
      <p:sp>
        <p:nvSpPr>
          <p:cNvPr id="263" name="Text 261"/>
          <p:cNvSpPr/>
          <p:nvPr/>
        </p:nvSpPr>
        <p:spPr>
          <a:xfrm>
            <a:off x="11036808" y="55229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./myapp/**</a:t>
            </a:r>
            <a:endParaRPr lang="en-US" sz="700" dirty="0"/>
          </a:p>
        </p:txBody>
      </p:sp>
      <p:sp>
        <p:nvSpPr>
          <p:cNvPr id="264" name="Text 262"/>
          <p:cNvSpPr/>
          <p:nvPr/>
        </p:nvSpPr>
        <p:spPr>
          <a:xfrm>
            <a:off x="10241280" y="57424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FileWriter</a:t>
            </a:r>
            <a:endParaRPr lang="en-US" sz="750" dirty="0"/>
          </a:p>
        </p:txBody>
      </p:sp>
      <p:sp>
        <p:nvSpPr>
          <p:cNvPr id="265" name="Text 263"/>
          <p:cNvSpPr/>
          <p:nvPr/>
        </p:nvSpPr>
        <p:spPr>
          <a:xfrm>
            <a:off x="11036808" y="57424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./migrated/myapp/</a:t>
            </a:r>
            <a:endParaRPr lang="en-US" sz="700" dirty="0"/>
          </a:p>
        </p:txBody>
      </p:sp>
      <p:sp>
        <p:nvSpPr>
          <p:cNvPr id="266" name="Text 264"/>
          <p:cNvSpPr/>
          <p:nvPr/>
        </p:nvSpPr>
        <p:spPr>
          <a:xfrm>
            <a:off x="10241280" y="5961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StateManager</a:t>
            </a:r>
            <a:endParaRPr lang="en-US" sz="750" dirty="0"/>
          </a:p>
        </p:txBody>
      </p:sp>
      <p:sp>
        <p:nvSpPr>
          <p:cNvPr id="267" name="Text 265"/>
          <p:cNvSpPr/>
          <p:nvPr/>
        </p:nvSpPr>
        <p:spPr>
          <a:xfrm>
            <a:off x="11036808" y="5961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migration-state.json</a:t>
            </a:r>
            <a:endParaRPr lang="en-US" sz="700" dirty="0"/>
          </a:p>
        </p:txBody>
      </p:sp>
      <p:sp>
        <p:nvSpPr>
          <p:cNvPr id="268" name="Text 266"/>
          <p:cNvSpPr/>
          <p:nvPr/>
        </p:nvSpPr>
        <p:spPr>
          <a:xfrm>
            <a:off x="10241280" y="61813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ReviewQueue</a:t>
            </a:r>
            <a:endParaRPr lang="en-US" sz="750" dirty="0"/>
          </a:p>
        </p:txBody>
      </p:sp>
      <p:sp>
        <p:nvSpPr>
          <p:cNvPr id="269" name="Text 267"/>
          <p:cNvSpPr/>
          <p:nvPr/>
        </p:nvSpPr>
        <p:spPr>
          <a:xfrm>
            <a:off x="11036808" y="6181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manual-review-queue.json</a:t>
            </a:r>
            <a:endParaRPr lang="en-US" sz="700" dirty="0"/>
          </a:p>
        </p:txBody>
      </p:sp>
      <p:sp>
        <p:nvSpPr>
          <p:cNvPr id="270" name="Shape 268"/>
          <p:cNvSpPr/>
          <p:nvPr/>
        </p:nvSpPr>
        <p:spPr>
          <a:xfrm>
            <a:off x="201168" y="6510528"/>
            <a:ext cx="11795760" cy="20117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01168" y="6565392"/>
            <a:ext cx="146304" cy="128016"/>
          </a:xfrm>
          <a:prstGeom prst="rect">
            <a:avLst/>
          </a:prstGeom>
          <a:solidFill>
            <a:srgbClr val="FEF6E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38404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agent (Sonnet 4.5)</a:t>
            </a:r>
            <a:endParaRPr lang="en-US" sz="750" dirty="0"/>
          </a:p>
        </p:txBody>
      </p:sp>
      <p:sp>
        <p:nvSpPr>
          <p:cNvPr id="273" name="Shape 271"/>
          <p:cNvSpPr/>
          <p:nvPr/>
        </p:nvSpPr>
        <p:spPr>
          <a:xfrm>
            <a:off x="2167128" y="6565392"/>
            <a:ext cx="146304" cy="128016"/>
          </a:xfrm>
          <a:prstGeom prst="rect">
            <a:avLst/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235000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agent (Sonnet 4.5)</a:t>
            </a:r>
            <a:endParaRPr lang="en-US" sz="750" dirty="0"/>
          </a:p>
        </p:txBody>
      </p:sp>
      <p:sp>
        <p:nvSpPr>
          <p:cNvPr id="275" name="Shape 273"/>
          <p:cNvSpPr/>
          <p:nvPr/>
        </p:nvSpPr>
        <p:spPr>
          <a:xfrm>
            <a:off x="4133088" y="6565392"/>
            <a:ext cx="146304" cy="128016"/>
          </a:xfrm>
          <a:prstGeom prst="rect">
            <a:avLst/>
          </a:prstGeom>
          <a:solidFill>
            <a:srgbClr val="E6F1FB"/>
          </a:solidFill>
          <a:ln w="9525">
            <a:solidFill>
              <a:srgbClr val="3B82C4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431596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agents × 8 (Sonnet 4.5)</a:t>
            </a:r>
            <a:endParaRPr lang="en-US" sz="750" dirty="0"/>
          </a:p>
        </p:txBody>
      </p:sp>
      <p:sp>
        <p:nvSpPr>
          <p:cNvPr id="277" name="Shape 275"/>
          <p:cNvSpPr/>
          <p:nvPr/>
        </p:nvSpPr>
        <p:spPr>
          <a:xfrm>
            <a:off x="6099048" y="6565392"/>
            <a:ext cx="146304" cy="128016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628192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agents × 5 (Nova Pro)</a:t>
            </a:r>
            <a:endParaRPr lang="en-US" sz="750" dirty="0"/>
          </a:p>
        </p:txBody>
      </p:sp>
      <p:sp>
        <p:nvSpPr>
          <p:cNvPr id="279" name="Shape 277"/>
          <p:cNvSpPr/>
          <p:nvPr/>
        </p:nvSpPr>
        <p:spPr>
          <a:xfrm>
            <a:off x="8065008" y="6565392"/>
            <a:ext cx="146304" cy="128016"/>
          </a:xfrm>
          <a:prstGeom prst="rect">
            <a:avLst/>
          </a:prstGeom>
          <a:solidFill>
            <a:srgbClr val="1A2810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824788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750" dirty="0"/>
          </a:p>
        </p:txBody>
      </p:sp>
      <p:sp>
        <p:nvSpPr>
          <p:cNvPr id="281" name="Shape 279"/>
          <p:cNvSpPr/>
          <p:nvPr/>
        </p:nvSpPr>
        <p:spPr>
          <a:xfrm>
            <a:off x="10030968" y="6565392"/>
            <a:ext cx="146304" cy="128016"/>
          </a:xfrm>
          <a:prstGeom prst="rect">
            <a:avLst/>
          </a:prstGeom>
          <a:solidFill>
            <a:srgbClr val="FEF6E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1021384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queue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Full Architecture</dc:title>
  <dc:subject>PptxGenJS Presentation</dc:subject>
  <dc:creator>PptxGenJS</dc:creator>
  <cp:lastModifiedBy>PptxGenJS</cp:lastModifiedBy>
  <cp:revision>1</cp:revision>
  <dcterms:created xsi:type="dcterms:W3CDTF">2026-04-13T23:28:25Z</dcterms:created>
  <dcterms:modified xsi:type="dcterms:W3CDTF">2026-04-13T23:28:25Z</dcterms:modified>
</cp:coreProperties>
</file>