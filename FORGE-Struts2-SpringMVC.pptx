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47688" y="-182880"/>
            <a:ext cx="699516" cy="2798064"/>
          </a:xfrm>
          <a:prstGeom prst="rect">
            <a:avLst/>
          </a:prstGeom>
          <a:solidFill>
            <a:srgbClr val="C47E0F">
              <a:alpha val="85000"/>
            </a:srgbClr>
          </a:solidFill>
          <a:ln w="12700">
            <a:solidFill>
              <a:srgbClr val="C47E0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205740"/>
            <a:ext cx="1010412" cy="24094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03136" y="516636"/>
            <a:ext cx="466344" cy="1865376"/>
          </a:xfrm>
          <a:prstGeom prst="rect">
            <a:avLst/>
          </a:prstGeom>
          <a:solidFill>
            <a:srgbClr val="FDD17A"/>
          </a:solidFill>
          <a:ln w="12700">
            <a:solidFill>
              <a:srgbClr val="FDD17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60920" y="-182880"/>
            <a:ext cx="822960" cy="3291840"/>
          </a:xfrm>
          <a:prstGeom prst="rect">
            <a:avLst/>
          </a:prstGeom>
          <a:solidFill>
            <a:srgbClr val="C47E0F">
              <a:alpha val="85000"/>
            </a:srgbClr>
          </a:solidFill>
          <a:ln w="12700">
            <a:solidFill>
              <a:srgbClr val="C47E0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78040" y="274320"/>
            <a:ext cx="1188720" cy="2834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43800" y="640080"/>
            <a:ext cx="548640" cy="2194560"/>
          </a:xfrm>
          <a:prstGeom prst="rect">
            <a:avLst/>
          </a:prstGeom>
          <a:solidFill>
            <a:srgbClr val="FDD17A"/>
          </a:solidFill>
          <a:ln w="12700">
            <a:solidFill>
              <a:srgbClr val="FDD17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97012" y="-182880"/>
            <a:ext cx="637794" cy="2551176"/>
          </a:xfrm>
          <a:prstGeom prst="rect">
            <a:avLst/>
          </a:prstGeom>
          <a:solidFill>
            <a:srgbClr val="C47E0F">
              <a:alpha val="85000"/>
            </a:srgbClr>
          </a:solidFill>
          <a:ln w="12700">
            <a:solidFill>
              <a:srgbClr val="C47E0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5280" y="171450"/>
            <a:ext cx="921258" cy="219684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38744" y="454914"/>
            <a:ext cx="425196" cy="1700784"/>
          </a:xfrm>
          <a:prstGeom prst="rect">
            <a:avLst/>
          </a:prstGeom>
          <a:solidFill>
            <a:srgbClr val="FDD17A"/>
          </a:solidFill>
          <a:ln w="12700">
            <a:solidFill>
              <a:srgbClr val="FDD17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54796" y="-182880"/>
            <a:ext cx="473202" cy="1892808"/>
          </a:xfrm>
          <a:prstGeom prst="rect">
            <a:avLst/>
          </a:prstGeom>
          <a:solidFill>
            <a:srgbClr val="C47E0F">
              <a:alpha val="85000"/>
            </a:srgbClr>
          </a:solidFill>
          <a:ln w="12700">
            <a:solidFill>
              <a:srgbClr val="C47E0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49640" y="80010"/>
            <a:ext cx="683514" cy="162991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59952" y="290322"/>
            <a:ext cx="315468" cy="1261872"/>
          </a:xfrm>
          <a:prstGeom prst="rect">
            <a:avLst/>
          </a:prstGeom>
          <a:solidFill>
            <a:srgbClr val="FDD17A"/>
          </a:solidFill>
          <a:ln w="12700">
            <a:solidFill>
              <a:srgbClr val="FDD17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38912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DD1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Struts 2 →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502920" y="1042416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MVC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502920" y="175564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7A95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Eliminating Struts 2 from the enterprise J2EE stack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215798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00" kern="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FORGE  ·  Claude Sonnet 4.5  ·  Amazon Nova Pro  ·  AWS Bedrock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2487168"/>
            <a:ext cx="1444752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487168"/>
            <a:ext cx="1444752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257860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struts.xml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6072" y="298094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mappings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039112" y="2487168"/>
            <a:ext cx="1444752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39112" y="2487168"/>
            <a:ext cx="1444752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12264" y="257860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OGNL/ValueStack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112264" y="298094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 entirely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575304" y="2487168"/>
            <a:ext cx="1444752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75304" y="2487168"/>
            <a:ext cx="1444752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48456" y="257860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Interceptors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648456" y="298094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HandlerInterceptor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111496" y="2487168"/>
            <a:ext cx="1444752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11496" y="2487168"/>
            <a:ext cx="1444752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84648" y="257860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s: JSP tags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184648" y="298094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Spring form: / JSTL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3493008"/>
            <a:ext cx="1851660" cy="256032"/>
          </a:xfrm>
          <a:prstGeom prst="rect">
            <a:avLst/>
          </a:prstGeom>
          <a:solidFill>
            <a:srgbClr val="0F2040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493008"/>
            <a:ext cx="18516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ActionSupport → removed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436876" y="3493008"/>
            <a:ext cx="1440180" cy="256032"/>
          </a:xfrm>
          <a:prstGeom prst="rect">
            <a:avLst/>
          </a:prstGeom>
          <a:solidFill>
            <a:srgbClr val="0F2040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36876" y="3493008"/>
            <a:ext cx="14401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OGNL → eliminated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959352" y="3493008"/>
            <a:ext cx="2331720" cy="256032"/>
          </a:xfrm>
          <a:prstGeom prst="rect">
            <a:avLst/>
          </a:prstGeom>
          <a:solidFill>
            <a:srgbClr val="0F2040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59352" y="34930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struts-tags → Spring form tags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373368" y="3493008"/>
            <a:ext cx="2194560" cy="256032"/>
          </a:xfrm>
          <a:prstGeom prst="rect">
            <a:avLst/>
          </a:prstGeom>
          <a:solidFill>
            <a:srgbClr val="0F2040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73368" y="34930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struts.xml → @RequestMapping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02920" y="46268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JavaOne  ·  AWS re:Invent  ·  Enterprise Java Summit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64592" y="5047488"/>
            <a:ext cx="8979408" cy="54864"/>
          </a:xfrm>
          <a:prstGeom prst="rect">
            <a:avLst/>
          </a:prstGeom>
          <a:solidFill>
            <a:srgbClr val="C47E0F"/>
          </a:solidFill>
          <a:ln w="12700">
            <a:solidFill>
              <a:srgbClr val="C47E0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88720"/>
            <a:ext cx="91440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Why eliminate Struts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329184"/>
            <a:ext cx="8229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Struts 2 is a liability. Not just technical debt.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2011680" cy="3474720"/>
          </a:xfrm>
          <a:prstGeom prst="rect">
            <a:avLst/>
          </a:prstGeom>
          <a:solidFill>
            <a:srgbClr val="FCEBEB"/>
          </a:solidFill>
          <a:ln w="15240">
            <a:solidFill>
              <a:srgbClr val="E052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71600"/>
            <a:ext cx="2011680" cy="5029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9848" y="1481328"/>
            <a:ext cx="658368" cy="658368"/>
          </a:xfrm>
          <a:prstGeom prst="ellipse">
            <a:avLst/>
          </a:prstGeom>
          <a:solidFill>
            <a:srgbClr val="E05252">
              <a:alpha val="80000"/>
            </a:srgbClr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14813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CVE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22311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surface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615184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3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Struts 2 has a history of critical RCE vulnerabilities via OGNL injection (CVE-2017-5638, CVE-2018-11776 and more). OGNL is a runtime expression evaluator — an attacker-controlled input surface baked into the framework.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9464" y="1371600"/>
            <a:ext cx="2011680" cy="3474720"/>
          </a:xfrm>
          <a:prstGeom prst="rect">
            <a:avLst/>
          </a:prstGeom>
          <a:solidFill>
            <a:srgbClr val="FEF6E7"/>
          </a:solidFill>
          <a:ln w="1524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9464" y="1371600"/>
            <a:ext cx="201168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27832" y="1481328"/>
            <a:ext cx="658368" cy="658368"/>
          </a:xfrm>
          <a:prstGeom prst="ellipse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27832" y="14813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660904" y="22311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6 incompatible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60904" y="2615184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3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6 requires Jakarta EE 9+ namespace (jakarta.*). Struts 2 cannot coexist with Spring 6 on the same classpath. The Java 21 upgrade makes this incompatibility unavoidable.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27448" y="1371600"/>
            <a:ext cx="2011680" cy="3474720"/>
          </a:xfrm>
          <a:prstGeom prst="rect">
            <a:avLst/>
          </a:prstGeom>
          <a:solidFill>
            <a:srgbClr val="EEEDFE"/>
          </a:solidFill>
          <a:ln w="1524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27448" y="1371600"/>
            <a:ext cx="2011680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85816" y="1481328"/>
            <a:ext cx="658368" cy="658368"/>
          </a:xfrm>
          <a:prstGeom prst="ellipse">
            <a:avLst/>
          </a:prstGeom>
          <a:solidFill>
            <a:srgbClr val="534AB7">
              <a:alpha val="80000"/>
            </a:srgbClr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85816" y="14813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34A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{}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818888" y="22311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OGNL complexity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18888" y="2615184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3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OGNL ValueStack access in JSPs creates opaque, hard-to-test data flows. Fields are set on the action class by a runtime evaluator — no IDE completion, no compile-time checks, no refactoring safety.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85432" y="1371600"/>
            <a:ext cx="2011680" cy="3474720"/>
          </a:xfrm>
          <a:prstGeom prst="rect">
            <a:avLst/>
          </a:prstGeom>
          <a:solidFill>
            <a:srgbClr val="E6F1FB"/>
          </a:solidFill>
          <a:ln w="15240">
            <a:solidFill>
              <a:srgbClr val="3B82C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85432" y="1371600"/>
            <a:ext cx="2011680" cy="5029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43800" y="1481328"/>
            <a:ext cx="658368" cy="658368"/>
          </a:xfrm>
          <a:prstGeom prst="ellipse">
            <a:avLst/>
          </a:prstGeom>
          <a:solidFill>
            <a:srgbClr val="3B82C4">
              <a:alpha val="80000"/>
            </a:srgbClr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43800" y="14813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976872" y="22311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Maintenance risk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76872" y="2615184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3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Struts 2 is in maintenance-only mode. No new features, minimal security patches. Running it on Java 21 is not a supported configuration. Every year in production is accumulated risk.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Transformation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310896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in. Spring MVC out. OGNL gone.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25603"/>
          </a:xfrm>
          <a:prstGeom prst="rect">
            <a:avLst/>
          </a:prstGeom>
          <a:solidFill>
            <a:srgbClr val="F5A623">
              <a:alpha val="45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9264"/>
            <a:ext cx="1572768" cy="1115568"/>
          </a:xfrm>
          <a:prstGeom prst="rect">
            <a:avLst/>
          </a:prstGeom>
          <a:solidFill>
            <a:srgbClr val="0F2040"/>
          </a:solidFill>
          <a:ln w="15240">
            <a:solidFill>
              <a:srgbClr val="E052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969264"/>
            <a:ext cx="1572768" cy="4572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6070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struts.xml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426464"/>
            <a:ext cx="13898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mappings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interceptors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249424"/>
            <a:ext cx="1572768" cy="1115568"/>
          </a:xfrm>
          <a:prstGeom prst="rect">
            <a:avLst/>
          </a:prstGeom>
          <a:solidFill>
            <a:srgbClr val="0F2040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249424"/>
            <a:ext cx="1572768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4086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UserAction.java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706624"/>
            <a:ext cx="13898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ActionSupport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ModelDriven · OGNL fields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529584"/>
            <a:ext cx="1572768" cy="1115568"/>
          </a:xfrm>
          <a:prstGeom prst="rect">
            <a:avLst/>
          </a:prstGeom>
          <a:solidFill>
            <a:srgbClr val="0F2040"/>
          </a:solidFill>
          <a:ln w="15240">
            <a:solidFill>
              <a:srgbClr val="534AB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529584"/>
            <a:ext cx="1572768" cy="457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62102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user/list.jsp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3986784"/>
            <a:ext cx="13898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&lt;s:form&gt; &lt;s:iterator&gt;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&lt;s:if&gt; OGNL %{...}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029968" y="969264"/>
            <a:ext cx="4937760" cy="1664208"/>
          </a:xfrm>
          <a:prstGeom prst="rect">
            <a:avLst/>
          </a:prstGeom>
          <a:solidFill>
            <a:srgbClr val="1A3A5C"/>
          </a:solidFill>
          <a:ln w="19050">
            <a:solidFill>
              <a:srgbClr val="3B82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29968" y="969264"/>
            <a:ext cx="4937760" cy="5029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39696" y="1060704"/>
            <a:ext cx="471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Struts2Agent — Claude Sonnet 4.5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139696" y="1389888"/>
            <a:ext cx="4718304" cy="256032"/>
          </a:xfrm>
          <a:prstGeom prst="rect">
            <a:avLst/>
          </a:prstGeom>
          <a:solidFill>
            <a:srgbClr val="0F2040"/>
          </a:solidFill>
          <a:ln w="12700">
            <a:solidFill>
              <a:srgbClr val="3B82C4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94560" y="138988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@tool  detect_struts2_patterns()  →  is_struts2, has_model_driven, action_methods, ognl_fields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39696" y="1691640"/>
            <a:ext cx="4718304" cy="256032"/>
          </a:xfrm>
          <a:prstGeom prst="rect">
            <a:avLst/>
          </a:prstGeom>
          <a:solidFill>
            <a:srgbClr val="0F2040"/>
          </a:solidFill>
          <a:ln w="12700">
            <a:solidFill>
              <a:srgbClr val="3B82C4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456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@tool  parse_struts2_xml()         →  namespaces, actions, results, interceptors (structured JSON)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139696" y="1993392"/>
            <a:ext cx="4718304" cy="256032"/>
          </a:xfrm>
          <a:prstGeom prst="rect">
            <a:avLst/>
          </a:prstGeom>
          <a:solidFill>
            <a:srgbClr val="0F2040"/>
          </a:solidFill>
          <a:ln w="12700">
            <a:solidFill>
              <a:srgbClr val="3B82C4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94560" y="199339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@tool  detect_ognl_expressions()  →  flags static methods, projections, selections in JSPs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139696" y="2295144"/>
            <a:ext cx="4718304" cy="256032"/>
          </a:xfrm>
          <a:prstGeom prst="rect">
            <a:avLst/>
          </a:prstGeom>
          <a:solidFill>
            <a:srgbClr val="0F2040"/>
          </a:solidFill>
          <a:ln w="12700">
            <a:solidFill>
              <a:srgbClr val="3B82C4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94560" y="229514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@tool  map_struts2_tags()          →  replaces s: tags with form:/c: equivalents, counts replaced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89704" y="2660904"/>
            <a:ext cx="18288" cy="201168"/>
          </a:xfrm>
          <a:prstGeom prst="rect">
            <a:avLst/>
          </a:prstGeom>
          <a:solidFill>
            <a:srgbClr val="F5A623">
              <a:alpha val="60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29968" y="2889504"/>
            <a:ext cx="4937760" cy="658368"/>
          </a:xfrm>
          <a:prstGeom prst="rect">
            <a:avLst/>
          </a:prstGeom>
          <a:solidFill>
            <a:srgbClr val="EEEDFE"/>
          </a:solidFill>
          <a:ln w="15240">
            <a:solidFill>
              <a:srgbClr val="534AB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29968" y="2889504"/>
            <a:ext cx="4937760" cy="457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39696" y="29626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1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Struts Review Agent — Amazon Nova Pro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139696" y="3236976"/>
            <a:ext cx="4718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Checks: mapping correctness · DTO fields preserved · OGNL refs flagged · interceptors documented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90288" y="2962656"/>
            <a:ext cx="713232" cy="219456"/>
          </a:xfrm>
          <a:prstGeom prst="rect">
            <a:avLst/>
          </a:prstGeom>
          <a:solidFill>
            <a:srgbClr val="1D9E75">
              <a:alpha val="70000"/>
            </a:srgbClr>
          </a:solidFill>
          <a:ln w="12700">
            <a:solidFill>
              <a:srgbClr val="1D9E75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90288" y="296265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≥80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367528" y="2962656"/>
            <a:ext cx="713232" cy="219456"/>
          </a:xfrm>
          <a:prstGeom prst="rect">
            <a:avLst/>
          </a:prstGeom>
          <a:solidFill>
            <a:srgbClr val="F5A623">
              <a:alpha val="70000"/>
            </a:srgbClr>
          </a:solidFill>
          <a:ln w="12700">
            <a:solidFill>
              <a:srgbClr val="F5A623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67528" y="296265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50–79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144768" y="2962656"/>
            <a:ext cx="713232" cy="219456"/>
          </a:xfrm>
          <a:prstGeom prst="rect">
            <a:avLst/>
          </a:prstGeom>
          <a:solidFill>
            <a:srgbClr val="E05252">
              <a:alpha val="70000"/>
            </a:srgbClr>
          </a:solidFill>
          <a:ln w="12700">
            <a:solidFill>
              <a:srgbClr val="E05252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44768" y="296265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&lt;50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489704" y="3575304"/>
            <a:ext cx="18288" cy="182880"/>
          </a:xfrm>
          <a:prstGeom prst="rect">
            <a:avLst/>
          </a:prstGeom>
          <a:solidFill>
            <a:srgbClr val="F5A623">
              <a:alpha val="60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29968" y="3785616"/>
            <a:ext cx="4937760" cy="658368"/>
          </a:xfrm>
          <a:prstGeom prst="rect">
            <a:avLst/>
          </a:prstGeom>
          <a:solidFill>
            <a:srgbClr val="FEF6E7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29968" y="3785616"/>
            <a:ext cx="49377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39696" y="38587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54F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Guardrails Agent — Claude Sonnet 4.5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139696" y="4133088"/>
            <a:ext cx="4718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Post-review: naming conventions · no OGNL leak · security patterns · license headers · no-regression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095744" y="969264"/>
            <a:ext cx="1728216" cy="804672"/>
          </a:xfrm>
          <a:prstGeom prst="rect">
            <a:avLst/>
          </a:prstGeom>
          <a:solidFill>
            <a:srgbClr val="0F2040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095744" y="969264"/>
            <a:ext cx="1728216" cy="457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68896" y="1060704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UserController.java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168896" y="1316736"/>
            <a:ext cx="1581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@Controller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@RequestMapping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095744" y="1901952"/>
            <a:ext cx="1728216" cy="804672"/>
          </a:xfrm>
          <a:prstGeom prst="rect">
            <a:avLst/>
          </a:prstGeom>
          <a:solidFill>
            <a:srgbClr val="0F2040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095744" y="1901952"/>
            <a:ext cx="1728216" cy="457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68896" y="1993392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UserForm.java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7168896" y="2249424"/>
            <a:ext cx="1581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@ModelAttribute DTO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JSR-380 annotations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095744" y="2834640"/>
            <a:ext cx="1728216" cy="804672"/>
          </a:xfrm>
          <a:prstGeom prst="rect">
            <a:avLst/>
          </a:prstGeom>
          <a:solidFill>
            <a:srgbClr val="0F2040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095744" y="2834640"/>
            <a:ext cx="1728216" cy="457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68896" y="2926080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WebMvcConfigurer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7168896" y="3182112"/>
            <a:ext cx="1581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Interceptors registered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ViewResolver config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095744" y="3767328"/>
            <a:ext cx="1728216" cy="804672"/>
          </a:xfrm>
          <a:prstGeom prst="rect">
            <a:avLst/>
          </a:prstGeom>
          <a:solidFill>
            <a:srgbClr val="0F2040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095744" y="3767328"/>
            <a:ext cx="1728216" cy="4572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68896" y="3858768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user/list.jsp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168896" y="4114800"/>
            <a:ext cx="1581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&lt;form:form&gt; &lt;c:forEach&gt;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${} EL expressions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20040" y="4498848"/>
            <a:ext cx="8503920" cy="402336"/>
          </a:xfrm>
          <a:prstGeom prst="rect">
            <a:avLst/>
          </a:prstGeom>
          <a:solidFill>
            <a:srgbClr val="1A2810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449884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Knowledge Base (RAG)  ·  coding_standards  ·  spring_migration_patterns  ·  security_policies  ·  liberty_config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15568"/>
            <a:ext cx="91440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Transformation patterns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329184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Struts 2 concept has a direct Spring MVC equivalent.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225296"/>
            <a:ext cx="3520440" cy="310896"/>
          </a:xfrm>
          <a:prstGeom prst="rect">
            <a:avLst/>
          </a:prstGeom>
          <a:solidFill>
            <a:srgbClr val="E05252">
              <a:alpha val="80000"/>
            </a:srgbClr>
          </a:solidFill>
          <a:ln w="12700">
            <a:solidFill>
              <a:srgbClr val="E05252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2529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Struts 2 (remove)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0" y="1225296"/>
            <a:ext cx="502920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122529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663440" y="1225296"/>
            <a:ext cx="4069080" cy="310896"/>
          </a:xfrm>
          <a:prstGeom prst="rect">
            <a:avLst/>
          </a:prstGeom>
          <a:solidFill>
            <a:srgbClr val="1D9E75">
              <a:alpha val="80000"/>
            </a:srgbClr>
          </a:solidFill>
          <a:ln w="12700">
            <a:solidFill>
              <a:srgbClr val="1D9E75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225296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MVC (add)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1600200"/>
            <a:ext cx="35204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4DC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60020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ActionSupport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600200"/>
            <a:ext cx="40690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4DC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7448" y="160020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@Controller  +  @RequestMapping("/namespace")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0" y="1600200"/>
            <a:ext cx="502920" cy="256032"/>
          </a:xfrm>
          <a:prstGeom prst="rect">
            <a:avLst/>
          </a:prstGeom>
          <a:solidFill>
            <a:srgbClr val="0A1628">
              <a:alpha val="10000"/>
            </a:srgbClr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16002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5B4"/>
                </a:solidFill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1892808"/>
            <a:ext cx="3520440" cy="256032"/>
          </a:xfrm>
          <a:prstGeom prst="rect">
            <a:avLst/>
          </a:prstGeom>
          <a:solidFill>
            <a:srgbClr val="F0F4F9"/>
          </a:solidFill>
          <a:ln w="6350">
            <a:solidFill>
              <a:srgbClr val="D4DC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189280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String execute()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892808"/>
            <a:ext cx="4069080" cy="256032"/>
          </a:xfrm>
          <a:prstGeom prst="rect">
            <a:avLst/>
          </a:prstGeom>
          <a:solidFill>
            <a:srgbClr val="F0F4F9"/>
          </a:solidFill>
          <a:ln w="6350">
            <a:solidFill>
              <a:srgbClr val="D4DC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27448" y="1892808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@GetMapping("/action")  or  @PostMapping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0" y="1892808"/>
            <a:ext cx="502920" cy="256032"/>
          </a:xfrm>
          <a:prstGeom prst="rect">
            <a:avLst/>
          </a:prstGeom>
          <a:solidFill>
            <a:srgbClr val="0A1628">
              <a:alpha val="10000"/>
            </a:srgbClr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0" y="18928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5B4"/>
                </a:solidFill>
              </a:rPr>
              <a:t>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2185416"/>
            <a:ext cx="35204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4DC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218541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field (OGNL bound setter)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185416"/>
            <a:ext cx="40690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4DC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27448" y="2185416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@ModelAttribute XxxForm dto  (separate DTO class)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0" y="2185416"/>
            <a:ext cx="502920" cy="256032"/>
          </a:xfrm>
          <a:prstGeom prst="rect">
            <a:avLst/>
          </a:prstGeom>
          <a:solidFill>
            <a:srgbClr val="0A1628">
              <a:alpha val="10000"/>
            </a:srgbClr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0" y="218541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5B4"/>
                </a:solidFill>
              </a:rPr>
              <a:t>→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11480" y="2478024"/>
            <a:ext cx="3520440" cy="256032"/>
          </a:xfrm>
          <a:prstGeom prst="rect">
            <a:avLst/>
          </a:prstGeom>
          <a:solidFill>
            <a:srgbClr val="F0F4F9"/>
          </a:solidFill>
          <a:ln w="6350">
            <a:solidFill>
              <a:srgbClr val="D4DC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2478024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ModelDriven&lt;T&gt;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2478024"/>
            <a:ext cx="4069080" cy="256032"/>
          </a:xfrm>
          <a:prstGeom prst="rect">
            <a:avLst/>
          </a:prstGeom>
          <a:solidFill>
            <a:srgbClr val="F0F4F9"/>
          </a:solidFill>
          <a:ln w="6350">
            <a:solidFill>
              <a:srgbClr val="D4DC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27448" y="2478024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@ModelAttribute method on controller  →  returns 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0" y="2478024"/>
            <a:ext cx="502920" cy="256032"/>
          </a:xfrm>
          <a:prstGeom prst="rect">
            <a:avLst/>
          </a:prstGeom>
          <a:solidFill>
            <a:srgbClr val="0A1628">
              <a:alpha val="10000"/>
            </a:srgbClr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0" y="24780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5B4"/>
                </a:solidFill>
              </a:rPr>
              <a:t>→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11480" y="2770632"/>
            <a:ext cx="35204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4DC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" y="277063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Preparable + prepare()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2770632"/>
            <a:ext cx="40690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4DC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27448" y="277063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@ModelAttribute method pre-loads data before handlers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114800" y="2770632"/>
            <a:ext cx="502920" cy="256032"/>
          </a:xfrm>
          <a:prstGeom prst="rect">
            <a:avLst/>
          </a:prstGeom>
          <a:solidFill>
            <a:srgbClr val="0A1628">
              <a:alpha val="10000"/>
            </a:srgbClr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0" y="27706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5B4"/>
                </a:solidFill>
              </a:rPr>
              <a:t>→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11480" y="3063240"/>
            <a:ext cx="3520440" cy="256032"/>
          </a:xfrm>
          <a:prstGeom prst="rect">
            <a:avLst/>
          </a:prstGeom>
          <a:solidFill>
            <a:srgbClr val="F0F4F9"/>
          </a:solidFill>
          <a:ln w="6350">
            <a:solidFill>
              <a:srgbClr val="D4DC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" y="306324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addFieldError("field","msg")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63440" y="3063240"/>
            <a:ext cx="4069080" cy="256032"/>
          </a:xfrm>
          <a:prstGeom prst="rect">
            <a:avLst/>
          </a:prstGeom>
          <a:solidFill>
            <a:srgbClr val="F0F4F9"/>
          </a:solidFill>
          <a:ln w="6350">
            <a:solidFill>
              <a:srgbClr val="D4DC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27448" y="306324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bindingResult.rejectValue("field", "code", "msg")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114800" y="3063240"/>
            <a:ext cx="502920" cy="256032"/>
          </a:xfrm>
          <a:prstGeom prst="rect">
            <a:avLst/>
          </a:prstGeom>
          <a:solidFill>
            <a:srgbClr val="0A1628">
              <a:alpha val="10000"/>
            </a:srgbClr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0" y="30632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5B4"/>
                </a:solidFill>
              </a:rPr>
              <a:t>→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11480" y="3355848"/>
            <a:ext cx="35204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4DC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" y="335584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validate() — simple null checks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63440" y="3355848"/>
            <a:ext cx="40690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4DC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27448" y="3355848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@NotBlank @Size @Min @Email on DTO fields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114800" y="3355848"/>
            <a:ext cx="502920" cy="256032"/>
          </a:xfrm>
          <a:prstGeom prst="rect">
            <a:avLst/>
          </a:prstGeom>
          <a:solidFill>
            <a:srgbClr val="0A1628">
              <a:alpha val="10000"/>
            </a:srgbClr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0" y="33558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5B4"/>
                </a:solidFill>
              </a:rPr>
              <a:t>→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11480" y="3648456"/>
            <a:ext cx="3520440" cy="256032"/>
          </a:xfrm>
          <a:prstGeom prst="rect">
            <a:avLst/>
          </a:prstGeom>
          <a:solidFill>
            <a:srgbClr val="F0F4F9"/>
          </a:solidFill>
          <a:ln w="6350">
            <a:solidFill>
              <a:srgbClr val="D4DC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5488" y="364845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ActionContext.getSession().get(x)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663440" y="3648456"/>
            <a:ext cx="4069080" cy="256032"/>
          </a:xfrm>
          <a:prstGeom prst="rect">
            <a:avLst/>
          </a:prstGeom>
          <a:solidFill>
            <a:srgbClr val="F0F4F9"/>
          </a:solidFill>
          <a:ln w="6350">
            <a:solidFill>
              <a:srgbClr val="D4DC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27448" y="3648456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HttpSession session  (injected as method param)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114800" y="3648456"/>
            <a:ext cx="502920" cy="256032"/>
          </a:xfrm>
          <a:prstGeom prst="rect">
            <a:avLst/>
          </a:prstGeom>
          <a:solidFill>
            <a:srgbClr val="0A1628">
              <a:alpha val="10000"/>
            </a:srgbClr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14800" y="36484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5B4"/>
                </a:solidFill>
              </a:rPr>
              <a:t>→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411480" y="3941064"/>
            <a:ext cx="35204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4DC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5488" y="3941064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SUCCESS  (dispatcher)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663440" y="3941064"/>
            <a:ext cx="40690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4DC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27448" y="3941064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"namespace/viewName"  (InternalResourceViewResolver)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114800" y="3941064"/>
            <a:ext cx="502920" cy="256032"/>
          </a:xfrm>
          <a:prstGeom prst="rect">
            <a:avLst/>
          </a:prstGeom>
          <a:solidFill>
            <a:srgbClr val="0A1628">
              <a:alpha val="10000"/>
            </a:srgbClr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114800" y="394106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5B4"/>
                </a:solidFill>
              </a:rPr>
              <a:t>→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411480" y="4233672"/>
            <a:ext cx="3520440" cy="256032"/>
          </a:xfrm>
          <a:prstGeom prst="rect">
            <a:avLst/>
          </a:prstGeom>
          <a:solidFill>
            <a:srgbClr val="F0F4F9"/>
          </a:solidFill>
          <a:ln w="6350">
            <a:solidFill>
              <a:srgbClr val="D4DC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5488" y="423367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SUCCESS  (redirectAction)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4663440" y="4233672"/>
            <a:ext cx="4069080" cy="256032"/>
          </a:xfrm>
          <a:prstGeom prst="rect">
            <a:avLst/>
          </a:prstGeom>
          <a:solidFill>
            <a:srgbClr val="F0F4F9"/>
          </a:solidFill>
          <a:ln w="6350">
            <a:solidFill>
              <a:srgbClr val="D4DC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27448" y="423367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"redirect:/namespace/action"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114800" y="4233672"/>
            <a:ext cx="502920" cy="256032"/>
          </a:xfrm>
          <a:prstGeom prst="rect">
            <a:avLst/>
          </a:prstGeom>
          <a:solidFill>
            <a:srgbClr val="0A1628">
              <a:alpha val="10000"/>
            </a:srgbClr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114800" y="42336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5B4"/>
                </a:solidFill>
              </a:rPr>
              <a:t>→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411480" y="4526280"/>
            <a:ext cx="35204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4DC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5488" y="452628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type="json" result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4663440" y="4526280"/>
            <a:ext cx="40690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4DC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27448" y="452628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@ResponseBody on method  or  @RestController on class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4114800" y="4526280"/>
            <a:ext cx="502920" cy="256032"/>
          </a:xfrm>
          <a:prstGeom prst="rect">
            <a:avLst/>
          </a:prstGeom>
          <a:solidFill>
            <a:srgbClr val="0A1628">
              <a:alpha val="10000"/>
            </a:srgbClr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0" y="45262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5B4"/>
                </a:solidFill>
              </a:rPr>
              <a:t>→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411480" y="4818888"/>
            <a:ext cx="3520440" cy="256032"/>
          </a:xfrm>
          <a:prstGeom prst="rect">
            <a:avLst/>
          </a:prstGeom>
          <a:solidFill>
            <a:srgbClr val="F0F4F9"/>
          </a:solidFill>
          <a:ln w="6350">
            <a:solidFill>
              <a:srgbClr val="D4DCE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75488" y="481888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+ String + String (upload)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4663440" y="4818888"/>
            <a:ext cx="4069080" cy="256032"/>
          </a:xfrm>
          <a:prstGeom prst="rect">
            <a:avLst/>
          </a:prstGeom>
          <a:solidFill>
            <a:srgbClr val="F0F4F9"/>
          </a:solidFill>
          <a:ln w="6350">
            <a:solidFill>
              <a:srgbClr val="D4DCE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27448" y="4818888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@RequestParam("file") MultipartFile  →  file.transferTo()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4114800" y="4818888"/>
            <a:ext cx="502920" cy="256032"/>
          </a:xfrm>
          <a:prstGeom prst="rect">
            <a:avLst/>
          </a:prstGeom>
          <a:solidFill>
            <a:srgbClr val="0A1628">
              <a:alpha val="10000"/>
            </a:srgbClr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114800" y="48188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5B4"/>
                </a:solidFill>
              </a:rPr>
              <a:t>→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411480" y="4983480"/>
            <a:ext cx="8321040" cy="292608"/>
          </a:xfrm>
          <a:prstGeom prst="rect">
            <a:avLst/>
          </a:prstGeom>
          <a:solidFill>
            <a:srgbClr val="FEF6E7"/>
          </a:solidFill>
          <a:ln w="12700">
            <a:solidFill>
              <a:srgbClr val="F5A623">
                <a:alpha val="5000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02920" y="498348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OGNL completely eliminated — no runtime expression evaluator in the output codebase  ·  All data flows are compile-time verifiable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Flagging logic — what the agent auto-transforms vs flags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310896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 knows its own limits.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25603"/>
          </a:xfrm>
          <a:prstGeom prst="rect">
            <a:avLst/>
          </a:prstGeom>
          <a:solidFill>
            <a:srgbClr val="F5A623">
              <a:alpha val="45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9264"/>
            <a:ext cx="2670048" cy="530352"/>
          </a:xfrm>
          <a:prstGeom prst="rect">
            <a:avLst/>
          </a:prstGeom>
          <a:solidFill>
            <a:srgbClr val="1D9E75">
              <a:alpha val="85000"/>
            </a:srgbClr>
          </a:solidFill>
          <a:ln w="19050">
            <a:solidFill>
              <a:srgbClr val="1D9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2412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Auto-transformed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316736"/>
            <a:ext cx="1097280" cy="164592"/>
          </a:xfrm>
          <a:prstGeom prst="rect">
            <a:avLst/>
          </a:prstGeom>
          <a:solidFill>
            <a:srgbClr val="1D9E75">
              <a:alpha val="70000"/>
            </a:srgbClr>
          </a:solidFill>
          <a:ln w="12700">
            <a:solidFill>
              <a:srgbClr val="1D9E75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167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 of files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572768"/>
            <a:ext cx="2670048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1D9E75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572768"/>
            <a:ext cx="41148" cy="384048"/>
          </a:xfrm>
          <a:prstGeom prst="rect">
            <a:avLst/>
          </a:prstGeom>
          <a:solidFill>
            <a:srgbClr val="1D9E75">
              <a:alpha val="80000"/>
            </a:srgbClr>
          </a:solidFill>
          <a:ln w="12700">
            <a:solidFill>
              <a:srgbClr val="1D9E7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5727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ActionSupport → @Controller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011680"/>
            <a:ext cx="2670048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1D9E75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011680"/>
            <a:ext cx="41148" cy="384048"/>
          </a:xfrm>
          <a:prstGeom prst="rect">
            <a:avLst/>
          </a:prstGeom>
          <a:solidFill>
            <a:srgbClr val="1D9E75">
              <a:alpha val="80000"/>
            </a:srgbClr>
          </a:solidFill>
          <a:ln w="12700">
            <a:solidFill>
              <a:srgbClr val="1D9E7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0116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OGNL setter fields → @ModelAttribute DTO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450592"/>
            <a:ext cx="2670048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1D9E75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450592"/>
            <a:ext cx="41148" cy="384048"/>
          </a:xfrm>
          <a:prstGeom prst="rect">
            <a:avLst/>
          </a:prstGeom>
          <a:solidFill>
            <a:srgbClr val="1D9E75">
              <a:alpha val="80000"/>
            </a:srgbClr>
          </a:solidFill>
          <a:ln w="12700">
            <a:solidFill>
              <a:srgbClr val="1D9E7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4505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@Action, @Namespace → @RequestMapping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889504"/>
            <a:ext cx="2670048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1D9E75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889504"/>
            <a:ext cx="41148" cy="384048"/>
          </a:xfrm>
          <a:prstGeom prst="rect">
            <a:avLst/>
          </a:prstGeom>
          <a:solidFill>
            <a:srgbClr val="1D9E75">
              <a:alpha val="80000"/>
            </a:srgbClr>
          </a:solidFill>
          <a:ln w="12700">
            <a:solidFill>
              <a:srgbClr val="1D9E75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8895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result types (dispatcher, redirect, redirectAction)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328416"/>
            <a:ext cx="2670048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1D9E75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328416"/>
            <a:ext cx="41148" cy="384048"/>
          </a:xfrm>
          <a:prstGeom prst="rect">
            <a:avLst/>
          </a:prstGeom>
          <a:solidFill>
            <a:srgbClr val="1D9E75">
              <a:alpha val="80000"/>
            </a:srgbClr>
          </a:solidFill>
          <a:ln w="12700">
            <a:solidFill>
              <a:srgbClr val="1D9E7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32841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validate() with null/empty/length checks → JSR-380 annotations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767328"/>
            <a:ext cx="2670048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1D9E75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767328"/>
            <a:ext cx="41148" cy="384048"/>
          </a:xfrm>
          <a:prstGeom prst="rect">
            <a:avLst/>
          </a:prstGeom>
          <a:solidFill>
            <a:srgbClr val="1D9E75">
              <a:alpha val="80000"/>
            </a:srgbClr>
          </a:solidFill>
          <a:ln w="12700">
            <a:solidFill>
              <a:srgbClr val="1D9E75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7673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addFieldError() → bindingResult.rejectValue()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4206240"/>
            <a:ext cx="2670048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1D9E75">
                <a:alpha val="2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4206240"/>
            <a:ext cx="41148" cy="384048"/>
          </a:xfrm>
          <a:prstGeom prst="rect">
            <a:avLst/>
          </a:prstGeom>
          <a:solidFill>
            <a:srgbClr val="1D9E75">
              <a:alpha val="80000"/>
            </a:srgbClr>
          </a:solidFill>
          <a:ln w="12700">
            <a:solidFill>
              <a:srgbClr val="1D9E7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206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interceptor references documented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4645152"/>
            <a:ext cx="2670048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1D9E75">
                <a:alpha val="2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4645152"/>
            <a:ext cx="41148" cy="384048"/>
          </a:xfrm>
          <a:prstGeom prst="rect">
            <a:avLst/>
          </a:prstGeom>
          <a:solidFill>
            <a:srgbClr val="1D9E75">
              <a:alpha val="80000"/>
            </a:srgbClr>
          </a:solidFill>
          <a:ln w="12700">
            <a:solidFill>
              <a:srgbClr val="1D9E75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46451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s: JSP tag categories replaced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5084064"/>
            <a:ext cx="2670048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1D9E75">
                <a:alpha val="2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5084064"/>
            <a:ext cx="41148" cy="384048"/>
          </a:xfrm>
          <a:prstGeom prst="rect">
            <a:avLst/>
          </a:prstGeom>
          <a:solidFill>
            <a:srgbClr val="1D9E75">
              <a:alpha val="80000"/>
            </a:srgbClr>
          </a:solidFill>
          <a:ln w="12700">
            <a:solidFill>
              <a:srgbClr val="1D9E75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50840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triplet → MultipartFile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" y="5522976"/>
            <a:ext cx="2670048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1D9E75">
                <a:alpha val="2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5522976"/>
            <a:ext cx="41148" cy="384048"/>
          </a:xfrm>
          <a:prstGeom prst="rect">
            <a:avLst/>
          </a:prstGeom>
          <a:solidFill>
            <a:srgbClr val="1D9E75">
              <a:alpha val="80000"/>
            </a:srgbClr>
          </a:solidFill>
          <a:ln w="12700">
            <a:solidFill>
              <a:srgbClr val="1D9E75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552297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type="json" result → @ResponseBody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" y="5961888"/>
            <a:ext cx="2670048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1D9E75">
                <a:alpha val="2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5961888"/>
            <a:ext cx="41148" cy="384048"/>
          </a:xfrm>
          <a:prstGeom prst="rect">
            <a:avLst/>
          </a:prstGeom>
          <a:solidFill>
            <a:srgbClr val="1D9E75">
              <a:alpha val="80000"/>
            </a:srgbClr>
          </a:solidFill>
          <a:ln w="12700">
            <a:solidFill>
              <a:srgbClr val="1D9E75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59618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ActionContext.getSession() → HttpSession param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0040" y="6400800"/>
            <a:ext cx="2670048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1D9E75">
                <a:alpha val="2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" y="6400800"/>
            <a:ext cx="41148" cy="384048"/>
          </a:xfrm>
          <a:prstGeom prst="rect">
            <a:avLst/>
          </a:prstGeom>
          <a:solidFill>
            <a:srgbClr val="1D9E75">
              <a:alpha val="80000"/>
            </a:srgbClr>
          </a:solidFill>
          <a:ln w="12700">
            <a:solidFill>
              <a:srgbClr val="1D9E75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64008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pom.xml: struts2-* removed, spring-webmvc added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154680" y="969264"/>
            <a:ext cx="2670048" cy="530352"/>
          </a:xfrm>
          <a:prstGeom prst="rect">
            <a:avLst/>
          </a:prstGeom>
          <a:solidFill>
            <a:srgbClr val="F5A623">
              <a:alpha val="85000"/>
            </a:srgbClr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46120" y="102412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Retry (feedback injected)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246120" y="1316736"/>
            <a:ext cx="1097280" cy="164592"/>
          </a:xfrm>
          <a:prstGeom prst="rect">
            <a:avLst/>
          </a:prstGeom>
          <a:solidFill>
            <a:srgbClr val="F5A623">
              <a:alpha val="70000"/>
            </a:srgbClr>
          </a:solidFill>
          <a:ln w="12700">
            <a:solidFill>
              <a:srgbClr val="F5A623">
                <a:alpha val="5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46120" y="13167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 of files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154680" y="1572768"/>
            <a:ext cx="2670048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F5A623">
                <a:alpha val="2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154680" y="1572768"/>
            <a:ext cx="41148" cy="384048"/>
          </a:xfrm>
          <a:prstGeom prst="rect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46120" y="15727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ModelDriven + Preparable combined (complex @ModelAttribute method needed)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154680" y="2011680"/>
            <a:ext cx="2670048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F5A623">
                <a:alpha val="2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154680" y="2011680"/>
            <a:ext cx="41148" cy="384048"/>
          </a:xfrm>
          <a:prstGeom prst="rect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46120" y="20116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 with scope-specific logic (session/request scope dependencies)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154680" y="2450592"/>
            <a:ext cx="2670048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F5A623">
                <a:alpha val="2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154680" y="2450592"/>
            <a:ext cx="41148" cy="384048"/>
          </a:xfrm>
          <a:prstGeom prst="rect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46120" y="24505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result type (forward: + model state transfer)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154680" y="2889504"/>
            <a:ext cx="2670048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F5A623">
                <a:alpha val="2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154680" y="2889504"/>
            <a:ext cx="41148" cy="384048"/>
          </a:xfrm>
          <a:prstGeom prst="rect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46120" y="28895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action methods with same path (HTTP method disambiguation needed)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154680" y="3328416"/>
            <a:ext cx="2670048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F5A623">
                <a:alpha val="2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154680" y="3328416"/>
            <a:ext cx="41148" cy="384048"/>
          </a:xfrm>
          <a:prstGeom prst="rect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46120" y="332841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prepareXxx() per-method preparation (must be merged into @ModelAttribute)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154680" y="3767328"/>
            <a:ext cx="2670048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F5A623">
                <a:alpha val="2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154680" y="3767328"/>
            <a:ext cx="41148" cy="384048"/>
          </a:xfrm>
          <a:prstGeom prst="rect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46120" y="37673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tiles result type (TilesViewResolver config required)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989320" y="969264"/>
            <a:ext cx="2670048" cy="530352"/>
          </a:xfrm>
          <a:prstGeom prst="rect">
            <a:avLst/>
          </a:prstGeom>
          <a:solidFill>
            <a:srgbClr val="E05252">
              <a:alpha val="85000"/>
            </a:srgbClr>
          </a:solidFill>
          <a:ln w="19050">
            <a:solidFill>
              <a:srgbClr val="E0525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080760" y="102412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review required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6080760" y="1316736"/>
            <a:ext cx="1097280" cy="164592"/>
          </a:xfrm>
          <a:prstGeom prst="rect">
            <a:avLst/>
          </a:prstGeom>
          <a:solidFill>
            <a:srgbClr val="E05252">
              <a:alpha val="70000"/>
            </a:srgbClr>
          </a:solidFill>
          <a:ln w="12700">
            <a:solidFill>
              <a:srgbClr val="E05252">
                <a:alpha val="5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080760" y="13167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~5% of files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989320" y="1572768"/>
            <a:ext cx="2670048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E05252">
                <a:alpha val="25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989320" y="1572768"/>
            <a:ext cx="41148" cy="384048"/>
          </a:xfrm>
          <a:prstGeom prst="rect">
            <a:avLst/>
          </a:prstGeom>
          <a:solidFill>
            <a:srgbClr val="E05252">
              <a:alpha val="80000"/>
            </a:srgbClr>
          </a:solidFill>
          <a:ln w="12700">
            <a:solidFill>
              <a:srgbClr val="E05252">
                <a:alpha val="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080760" y="15727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OGNL static method calls: %{@Class@method()} in JSPs — no EL equivalent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5989320" y="2011680"/>
            <a:ext cx="2670048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E05252">
                <a:alpha val="25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989320" y="2011680"/>
            <a:ext cx="41148" cy="384048"/>
          </a:xfrm>
          <a:prstGeom prst="rect">
            <a:avLst/>
          </a:prstGeom>
          <a:solidFill>
            <a:srgbClr val="E05252">
              <a:alpha val="80000"/>
            </a:srgbClr>
          </a:solidFill>
          <a:ln w="12700">
            <a:solidFill>
              <a:srgbClr val="E05252">
                <a:alpha val="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080760" y="20116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OGNL projections: %{list.{field}} — must be computed in controller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5989320" y="2450592"/>
            <a:ext cx="2670048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E05252">
                <a:alpha val="25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989320" y="2450592"/>
            <a:ext cx="41148" cy="384048"/>
          </a:xfrm>
          <a:prstGeom prst="rect">
            <a:avLst/>
          </a:prstGeom>
          <a:solidFill>
            <a:srgbClr val="E05252">
              <a:alpha val="80000"/>
            </a:srgbClr>
          </a:solidFill>
          <a:ln w="12700">
            <a:solidFill>
              <a:srgbClr val="E05252">
                <a:alpha val="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080760" y="24505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OGNL selections: %{list.{? condition}} — filter logic moved to service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5989320" y="2889504"/>
            <a:ext cx="2670048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E05252">
                <a:alpha val="25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989320" y="2889504"/>
            <a:ext cx="41148" cy="384048"/>
          </a:xfrm>
          <a:prstGeom prst="rect">
            <a:avLst/>
          </a:prstGeom>
          <a:solidFill>
            <a:srgbClr val="E05252">
              <a:alpha val="80000"/>
            </a:srgbClr>
          </a:solidFill>
          <a:ln w="12700">
            <a:solidFill>
              <a:srgbClr val="E05252">
                <a:alpha val="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80760" y="28895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interceptor calling invocation.getAction() — casts to action class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5989320" y="3328416"/>
            <a:ext cx="2670048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E05252">
                <a:alpha val="25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989320" y="3328416"/>
            <a:ext cx="41148" cy="384048"/>
          </a:xfrm>
          <a:prstGeom prst="rect">
            <a:avLst/>
          </a:prstGeom>
          <a:solidFill>
            <a:srgbClr val="E05252">
              <a:alpha val="80000"/>
            </a:srgbClr>
          </a:solidFill>
          <a:ln w="12700">
            <a:solidFill>
              <a:srgbClr val="E05252">
                <a:alpha val="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080760" y="332841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validate() with DAO/service/DB calls — needs Spring Validator implementation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5989320" y="3767328"/>
            <a:ext cx="2670048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E05252">
                <a:alpha val="25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989320" y="3767328"/>
            <a:ext cx="41148" cy="384048"/>
          </a:xfrm>
          <a:prstGeom prst="rect">
            <a:avLst/>
          </a:prstGeom>
          <a:solidFill>
            <a:srgbClr val="E05252">
              <a:alpha val="80000"/>
            </a:srgbClr>
          </a:solidFill>
          <a:ln w="12700">
            <a:solidFill>
              <a:srgbClr val="E05252">
                <a:alpha val="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080760" y="37673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result types (beyond standard 6) — needs ResponseEntity handling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5989320" y="4206240"/>
            <a:ext cx="2670048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E05252">
                <a:alpha val="25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989320" y="4206240"/>
            <a:ext cx="41148" cy="384048"/>
          </a:xfrm>
          <a:prstGeom prst="rect">
            <a:avLst/>
          </a:prstGeom>
          <a:solidFill>
            <a:srgbClr val="E05252">
              <a:alpha val="80000"/>
            </a:srgbClr>
          </a:solidFill>
          <a:ln w="12700">
            <a:solidFill>
              <a:srgbClr val="E05252">
                <a:alpha val="0"/>
              </a:srgbClr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080760" y="4206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freemarker / velocity templates — out of scope, separate track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15568"/>
            <a:ext cx="91440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Per-file execution flow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329184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file. Six checkpoints. Nothing reaches ./migrated/ unchecked.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1133856" cy="1417320"/>
          </a:xfrm>
          <a:prstGeom prst="rect">
            <a:avLst/>
          </a:prstGeom>
          <a:solidFill>
            <a:srgbClr val="FEF6E7"/>
          </a:solidFill>
          <a:ln w="1524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98448"/>
            <a:ext cx="1133856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389888"/>
            <a:ext cx="402336" cy="402336"/>
          </a:xfrm>
          <a:prstGeom prst="ellipse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389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" y="1847088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3C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Guardrails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A3C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(pre)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" y="2267712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check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gate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545336" y="1993392"/>
            <a:ext cx="54864" cy="27432"/>
          </a:xfrm>
          <a:prstGeom prst="rect">
            <a:avLst/>
          </a:prstGeom>
          <a:solidFill>
            <a:srgbClr val="7A95B4">
              <a:alpha val="60000"/>
            </a:srgbClr>
          </a:solidFill>
          <a:ln w="12700">
            <a:solidFill>
              <a:srgbClr val="7A95B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1298448"/>
            <a:ext cx="1133856" cy="1417320"/>
          </a:xfrm>
          <a:prstGeom prst="rect">
            <a:avLst/>
          </a:prstGeom>
          <a:solidFill>
            <a:srgbClr val="E6F1FB"/>
          </a:solidFill>
          <a:ln w="15240">
            <a:solidFill>
              <a:srgbClr val="3B82C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600200" y="1298448"/>
            <a:ext cx="1133856" cy="4572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65960" y="1389888"/>
            <a:ext cx="402336" cy="402336"/>
          </a:xfrm>
          <a:prstGeom prst="ellipse">
            <a:avLst/>
          </a:prstGeom>
          <a:solidFill>
            <a:srgbClr val="3B82C4">
              <a:alpha val="80000"/>
            </a:srgbClr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5960" y="1389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55064" y="1847088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3C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parse_struts2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A3C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_xml()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55064" y="2267712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struts.xml →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mapping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34056" y="1993392"/>
            <a:ext cx="54864" cy="27432"/>
          </a:xfrm>
          <a:prstGeom prst="rect">
            <a:avLst/>
          </a:prstGeom>
          <a:solidFill>
            <a:srgbClr val="7A95B4">
              <a:alpha val="60000"/>
            </a:srgbClr>
          </a:solidFill>
          <a:ln w="12700">
            <a:solidFill>
              <a:srgbClr val="7A95B4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88920" y="1298448"/>
            <a:ext cx="1133856" cy="1417320"/>
          </a:xfrm>
          <a:prstGeom prst="rect">
            <a:avLst/>
          </a:prstGeom>
          <a:solidFill>
            <a:srgbClr val="E6F1FB"/>
          </a:solidFill>
          <a:ln w="15240">
            <a:solidFill>
              <a:srgbClr val="3B82C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88920" y="1298448"/>
            <a:ext cx="1133856" cy="4572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54680" y="1389888"/>
            <a:ext cx="402336" cy="402336"/>
          </a:xfrm>
          <a:prstGeom prst="ellipse">
            <a:avLst/>
          </a:prstGeom>
          <a:solidFill>
            <a:srgbClr val="3B82C4">
              <a:alpha val="80000"/>
            </a:srgbClr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54680" y="1389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843784" y="1847088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3C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Struts2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A3C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843784" y="2267712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@tools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4.5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RAG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922776" y="1993392"/>
            <a:ext cx="54864" cy="27432"/>
          </a:xfrm>
          <a:prstGeom prst="rect">
            <a:avLst/>
          </a:prstGeom>
          <a:solidFill>
            <a:srgbClr val="7A95B4">
              <a:alpha val="60000"/>
            </a:srgbClr>
          </a:solidFill>
          <a:ln w="12700">
            <a:solidFill>
              <a:srgbClr val="7A95B4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77640" y="1298448"/>
            <a:ext cx="1133856" cy="1417320"/>
          </a:xfrm>
          <a:prstGeom prst="rect">
            <a:avLst/>
          </a:prstGeom>
          <a:solidFill>
            <a:srgbClr val="EEEDFE"/>
          </a:solidFill>
          <a:ln w="1524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977640" y="1298448"/>
            <a:ext cx="1133856" cy="457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43400" y="1389888"/>
            <a:ext cx="402336" cy="402336"/>
          </a:xfrm>
          <a:prstGeom prst="ellipse">
            <a:avLst/>
          </a:prstGeom>
          <a:solidFill>
            <a:srgbClr val="534AB7">
              <a:alpha val="80000"/>
            </a:srgbClr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3400" y="1389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032504" y="1847088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3C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A3C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032504" y="2267712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Pro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0–100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PASS/RETRY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111496" y="1993392"/>
            <a:ext cx="54864" cy="27432"/>
          </a:xfrm>
          <a:prstGeom prst="rect">
            <a:avLst/>
          </a:prstGeom>
          <a:solidFill>
            <a:srgbClr val="7A95B4">
              <a:alpha val="60000"/>
            </a:srgbClr>
          </a:solidFill>
          <a:ln w="12700">
            <a:solidFill>
              <a:srgbClr val="7A95B4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66360" y="1298448"/>
            <a:ext cx="1133856" cy="1417320"/>
          </a:xfrm>
          <a:prstGeom prst="rect">
            <a:avLst/>
          </a:prstGeom>
          <a:solidFill>
            <a:srgbClr val="E1F5EE"/>
          </a:solidFill>
          <a:ln w="1524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166360" y="1298448"/>
            <a:ext cx="1133856" cy="457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32120" y="1389888"/>
            <a:ext cx="402336" cy="402336"/>
          </a:xfrm>
          <a:prstGeom prst="ellipse">
            <a:avLst/>
          </a:prstGeom>
          <a:solidFill>
            <a:srgbClr val="1D9E75">
              <a:alpha val="80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1389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221224" y="1847088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3C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A3C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21224" y="2267712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PASS→ step 6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RETRY→step 3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MANUAL→queue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300216" y="1993392"/>
            <a:ext cx="54864" cy="27432"/>
          </a:xfrm>
          <a:prstGeom prst="rect">
            <a:avLst/>
          </a:prstGeom>
          <a:solidFill>
            <a:srgbClr val="7A95B4">
              <a:alpha val="60000"/>
            </a:srgbClr>
          </a:solidFill>
          <a:ln w="12700">
            <a:solidFill>
              <a:srgbClr val="7A95B4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55080" y="1298448"/>
            <a:ext cx="1133856" cy="1417320"/>
          </a:xfrm>
          <a:prstGeom prst="rect">
            <a:avLst/>
          </a:prstGeom>
          <a:solidFill>
            <a:srgbClr val="FEF6E7"/>
          </a:solidFill>
          <a:ln w="1524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55080" y="1298448"/>
            <a:ext cx="1133856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20840" y="1389888"/>
            <a:ext cx="402336" cy="402336"/>
          </a:xfrm>
          <a:prstGeom prst="ellipse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20840" y="1389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409944" y="1847088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3C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Guardrails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A3C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(post)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09944" y="2267712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488936" y="1993392"/>
            <a:ext cx="54864" cy="27432"/>
          </a:xfrm>
          <a:prstGeom prst="rect">
            <a:avLst/>
          </a:prstGeom>
          <a:solidFill>
            <a:srgbClr val="7A95B4">
              <a:alpha val="60000"/>
            </a:srgbClr>
          </a:solidFill>
          <a:ln w="12700">
            <a:solidFill>
              <a:srgbClr val="7A95B4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543800" y="1298448"/>
            <a:ext cx="1133856" cy="1417320"/>
          </a:xfrm>
          <a:prstGeom prst="rect">
            <a:avLst/>
          </a:prstGeom>
          <a:solidFill>
            <a:srgbClr val="E1F5EE"/>
          </a:solidFill>
          <a:ln w="1524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543800" y="1298448"/>
            <a:ext cx="1133856" cy="457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09560" y="1389888"/>
            <a:ext cx="402336" cy="402336"/>
          </a:xfrm>
          <a:prstGeom prst="ellipse">
            <a:avLst/>
          </a:prstGeom>
          <a:solidFill>
            <a:srgbClr val="1D9E75">
              <a:alpha val="80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09560" y="1389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598664" y="1847088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3C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A3C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./migrated/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598664" y="2267712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@Controller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· JSP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798064" y="2889504"/>
            <a:ext cx="2359152" cy="219456"/>
          </a:xfrm>
          <a:prstGeom prst="rect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6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98064" y="2889504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7E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Retry — review feedback injected into prompt (max 2)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11480" y="32735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3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machine: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11480" y="3529584"/>
            <a:ext cx="1353312" cy="292608"/>
          </a:xfrm>
          <a:prstGeom prst="rect">
            <a:avLst/>
          </a:prstGeom>
          <a:solidFill>
            <a:srgbClr val="7A95B4">
              <a:alpha val="75000"/>
            </a:srgbClr>
          </a:solidFill>
          <a:ln w="12700">
            <a:solidFill>
              <a:srgbClr val="7A95B4">
                <a:alpha val="5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1480" y="3529584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764792" y="3639312"/>
            <a:ext cx="82296" cy="54864"/>
          </a:xfrm>
          <a:prstGeom prst="rect">
            <a:avLst/>
          </a:prstGeom>
          <a:solidFill>
            <a:srgbClr val="7A95B4">
              <a:alpha val="70000"/>
            </a:srgbClr>
          </a:solidFill>
          <a:ln w="12700">
            <a:solidFill>
              <a:srgbClr val="7A95B4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847088" y="3529584"/>
            <a:ext cx="1353312" cy="292608"/>
          </a:xfrm>
          <a:prstGeom prst="rect">
            <a:avLst/>
          </a:prstGeom>
          <a:solidFill>
            <a:srgbClr val="3B82C4">
              <a:alpha val="75000"/>
            </a:srgbClr>
          </a:solidFill>
          <a:ln w="12700">
            <a:solidFill>
              <a:srgbClr val="3B82C4">
                <a:alpha val="5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847088" y="3529584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00400" y="3639312"/>
            <a:ext cx="82296" cy="54864"/>
          </a:xfrm>
          <a:prstGeom prst="rect">
            <a:avLst/>
          </a:prstGeom>
          <a:solidFill>
            <a:srgbClr val="7A95B4">
              <a:alpha val="70000"/>
            </a:srgbClr>
          </a:solidFill>
          <a:ln w="12700">
            <a:solidFill>
              <a:srgbClr val="7A95B4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282696" y="3529584"/>
            <a:ext cx="1353312" cy="292608"/>
          </a:xfrm>
          <a:prstGeom prst="rect">
            <a:avLst/>
          </a:prstGeom>
          <a:solidFill>
            <a:srgbClr val="534AB7">
              <a:alpha val="75000"/>
            </a:srgbClr>
          </a:solidFill>
          <a:ln w="12700">
            <a:solidFill>
              <a:srgbClr val="534AB7">
                <a:alpha val="5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82696" y="3529584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636008" y="3639312"/>
            <a:ext cx="82296" cy="54864"/>
          </a:xfrm>
          <a:prstGeom prst="rect">
            <a:avLst/>
          </a:prstGeom>
          <a:solidFill>
            <a:srgbClr val="7A95B4">
              <a:alpha val="70000"/>
            </a:srgbClr>
          </a:solidFill>
          <a:ln w="12700">
            <a:solidFill>
              <a:srgbClr val="7A95B4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718304" y="3529584"/>
            <a:ext cx="1353312" cy="292608"/>
          </a:xfrm>
          <a:prstGeom prst="rect">
            <a:avLst/>
          </a:prstGeom>
          <a:solidFill>
            <a:srgbClr val="F5A623">
              <a:alpha val="75000"/>
            </a:srgbClr>
          </a:solidFill>
          <a:ln w="12700">
            <a:solidFill>
              <a:srgbClr val="F5A623">
                <a:alpha val="5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18304" y="3529584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RETRY_1/2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071616" y="3639312"/>
            <a:ext cx="82296" cy="54864"/>
          </a:xfrm>
          <a:prstGeom prst="rect">
            <a:avLst/>
          </a:prstGeom>
          <a:solidFill>
            <a:srgbClr val="7A95B4">
              <a:alpha val="70000"/>
            </a:srgbClr>
          </a:solidFill>
          <a:ln w="12700">
            <a:solidFill>
              <a:srgbClr val="7A95B4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153912" y="3529584"/>
            <a:ext cx="1353312" cy="292608"/>
          </a:xfrm>
          <a:prstGeom prst="rect">
            <a:avLst/>
          </a:prstGeom>
          <a:solidFill>
            <a:srgbClr val="1D9E75">
              <a:alpha val="75000"/>
            </a:srgbClr>
          </a:solidFill>
          <a:ln w="12700">
            <a:solidFill>
              <a:srgbClr val="1D9E75">
                <a:alpha val="50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153912" y="3529584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7507224" y="3639312"/>
            <a:ext cx="82296" cy="54864"/>
          </a:xfrm>
          <a:prstGeom prst="rect">
            <a:avLst/>
          </a:prstGeom>
          <a:solidFill>
            <a:srgbClr val="7A95B4">
              <a:alpha val="70000"/>
            </a:srgbClr>
          </a:solidFill>
          <a:ln w="12700">
            <a:solidFill>
              <a:srgbClr val="7A95B4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589520" y="3529584"/>
            <a:ext cx="1353312" cy="292608"/>
          </a:xfrm>
          <a:prstGeom prst="rect">
            <a:avLst/>
          </a:prstGeom>
          <a:solidFill>
            <a:srgbClr val="E05252">
              <a:alpha val="75000"/>
            </a:srgbClr>
          </a:solidFill>
          <a:ln w="12700">
            <a:solidFill>
              <a:srgbClr val="E05252">
                <a:alpha val="50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589520" y="3529584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MANUAL_REVIEW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3968496"/>
            <a:ext cx="8321040" cy="896112"/>
          </a:xfrm>
          <a:prstGeom prst="rect">
            <a:avLst/>
          </a:prstGeom>
          <a:solidFill>
            <a:srgbClr val="FEF6E7"/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48640" y="40233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retrieves per step: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548640" y="426110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(Transform):  coding_standards  ·  spring_migration_patterns  ·  struts2_mvc_mappings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548640" y="446227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(Review):     architecture_decisions (ADRs)  ·  security_policies  ·  spring_mvc_best_practices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548640" y="46634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(Guardrails): enterprise_naming_conventions  ·  OWASP_rules  ·  liberty_config_standards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Expected outcomes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310896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Struts 2 out. Spring MVC in. OGNL gone.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25603"/>
          </a:xfrm>
          <a:prstGeom prst="rect">
            <a:avLst/>
          </a:prstGeom>
          <a:solidFill>
            <a:srgbClr val="F5A623">
              <a:alpha val="45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50976"/>
            <a:ext cx="2029968" cy="1115568"/>
          </a:xfrm>
          <a:prstGeom prst="rect">
            <a:avLst/>
          </a:prstGeom>
          <a:solidFill>
            <a:srgbClr val="0F2040"/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950976"/>
            <a:ext cx="2029968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42416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20040" y="162763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Auto-transformed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865376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on first review cycle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96312" y="950976"/>
            <a:ext cx="2029968" cy="1115568"/>
          </a:xfrm>
          <a:prstGeom prst="rect">
            <a:avLst/>
          </a:prstGeom>
          <a:solidFill>
            <a:srgbClr val="0F2040"/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96312" y="950976"/>
            <a:ext cx="2029968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1042416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~15%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2496312" y="162763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(max 2)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96312" y="1865376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fixes them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72584" y="950976"/>
            <a:ext cx="2029968" cy="1115568"/>
          </a:xfrm>
          <a:prstGeom prst="rect">
            <a:avLst/>
          </a:prstGeom>
          <a:solidFill>
            <a:srgbClr val="0F2040"/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72584" y="950976"/>
            <a:ext cx="2029968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72584" y="1042416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~5%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4672584" y="162763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72584" y="1865376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OGNL projections · custom interceptors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48856" y="950976"/>
            <a:ext cx="2029968" cy="1115568"/>
          </a:xfrm>
          <a:prstGeom prst="rect">
            <a:avLst/>
          </a:prstGeom>
          <a:solidFill>
            <a:srgbClr val="0F2040"/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48856" y="950976"/>
            <a:ext cx="2029968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48856" y="1042416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848856" y="162763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OGNL expressions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48856" y="1865376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eliminated from output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2212848"/>
            <a:ext cx="4023360" cy="329184"/>
          </a:xfrm>
          <a:prstGeom prst="rect">
            <a:avLst/>
          </a:prstGeom>
          <a:solidFill>
            <a:srgbClr val="E05252">
              <a:alpha val="75000"/>
            </a:srgbClr>
          </a:solidFill>
          <a:ln w="12700">
            <a:solidFill>
              <a:srgbClr val="E05252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21284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Removed from codebase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0" y="2212848"/>
            <a:ext cx="4251960" cy="329184"/>
          </a:xfrm>
          <a:prstGeom prst="rect">
            <a:avLst/>
          </a:prstGeom>
          <a:solidFill>
            <a:srgbClr val="1D9E75">
              <a:alpha val="75000"/>
            </a:srgbClr>
          </a:solidFill>
          <a:ln w="12700">
            <a:solidFill>
              <a:srgbClr val="1D9E75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2212848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Added to codebase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2596896"/>
            <a:ext cx="4023360" cy="274320"/>
          </a:xfrm>
          <a:prstGeom prst="rect">
            <a:avLst/>
          </a:prstGeom>
          <a:solidFill>
            <a:srgbClr val="0F2040"/>
          </a:solidFill>
          <a:ln w="12700">
            <a:solidFill>
              <a:srgbClr val="E05252">
                <a:alpha val="2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2596896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struts2-core · struts2-spring-plugin · xwork-core · ognl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2907792"/>
            <a:ext cx="402336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E05252">
                <a:alpha val="2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290779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StrutsPrepareAndExecuteFilter from web.xml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3218688"/>
            <a:ext cx="4023360" cy="274320"/>
          </a:xfrm>
          <a:prstGeom prst="rect">
            <a:avLst/>
          </a:prstGeom>
          <a:solidFill>
            <a:srgbClr val="0F2040"/>
          </a:solidFill>
          <a:ln w="12700">
            <a:solidFill>
              <a:srgbClr val="E05252">
                <a:alpha val="2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21868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struts.xml and all action-mapping XML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3529584"/>
            <a:ext cx="402336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E05252">
                <a:alpha val="2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529584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extends ActionSupport / implements Action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3840480"/>
            <a:ext cx="4023360" cy="274320"/>
          </a:xfrm>
          <a:prstGeom prst="rect">
            <a:avLst/>
          </a:prstGeom>
          <a:solidFill>
            <a:srgbClr val="0F2040"/>
          </a:solidFill>
          <a:ln w="12700">
            <a:solidFill>
              <a:srgbClr val="E05252">
                <a:alpha val="2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384048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OGNL expressions %{...} from every JSP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" y="4151376"/>
            <a:ext cx="402336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E05252">
                <a:alpha val="2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151376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&lt;s:form&gt; &lt;s:textfield&gt; &lt;s:iterator&gt; tags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0040" y="4462272"/>
            <a:ext cx="4023360" cy="274320"/>
          </a:xfrm>
          <a:prstGeom prst="rect">
            <a:avLst/>
          </a:prstGeom>
          <a:solidFill>
            <a:srgbClr val="0F2040"/>
          </a:solidFill>
          <a:ln w="12700">
            <a:solidFill>
              <a:srgbClr val="E05252">
                <a:alpha val="2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446227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struts.properties constants file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0040" y="4773168"/>
            <a:ext cx="402336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E05252">
                <a:alpha val="2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47731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+ String + String upload triplets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0" y="2596896"/>
            <a:ext cx="4251960" cy="274320"/>
          </a:xfrm>
          <a:prstGeom prst="rect">
            <a:avLst/>
          </a:prstGeom>
          <a:solidFill>
            <a:srgbClr val="0F2040"/>
          </a:solidFill>
          <a:ln w="12700">
            <a:solidFill>
              <a:srgbClr val="1D9E75">
                <a:alpha val="2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2596896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@Controller + @RequestMapping on every action class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72000" y="2907792"/>
            <a:ext cx="425196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D9E75">
                <a:alpha val="2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2907792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@ModelAttribute DTOs (one per action class)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572000" y="3218688"/>
            <a:ext cx="4251960" cy="274320"/>
          </a:xfrm>
          <a:prstGeom prst="rect">
            <a:avLst/>
          </a:prstGeom>
          <a:solidFill>
            <a:srgbClr val="0F2040"/>
          </a:solidFill>
          <a:ln w="12700">
            <a:solidFill>
              <a:srgbClr val="1D9E75">
                <a:alpha val="2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63440" y="3218688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JSR-380 annotations (@NotBlank @Size @Email @Min)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572000" y="3529584"/>
            <a:ext cx="425196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D9E75">
                <a:alpha val="2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63440" y="3529584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HandlerInterceptor implementations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572000" y="3840480"/>
            <a:ext cx="4251960" cy="274320"/>
          </a:xfrm>
          <a:prstGeom prst="rect">
            <a:avLst/>
          </a:prstGeom>
          <a:solidFill>
            <a:srgbClr val="0F2040"/>
          </a:solidFill>
          <a:ln w="12700">
            <a:solidFill>
              <a:srgbClr val="1D9E75">
                <a:alpha val="2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63440" y="3840480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WebMvcConfigurer for interceptors + view resolver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572000" y="4151376"/>
            <a:ext cx="425196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D9E75">
                <a:alpha val="2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63440" y="4151376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&lt;form:form&gt; &lt;form:input&gt; &lt;c:forEach&gt; tags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572000" y="4462272"/>
            <a:ext cx="4251960" cy="274320"/>
          </a:xfrm>
          <a:prstGeom prst="rect">
            <a:avLst/>
          </a:prstGeom>
          <a:solidFill>
            <a:srgbClr val="0F2040"/>
          </a:solidFill>
          <a:ln w="12700">
            <a:solidFill>
              <a:srgbClr val="1D9E75">
                <a:alpha val="2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63440" y="4462272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BindingResult + RedirectAttributes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572000" y="4773168"/>
            <a:ext cx="425196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D9E75">
                <a:alpha val="2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663440" y="4773168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MultipartFile for file uploads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solidFill>
            <a:srgbClr val="C47E0F"/>
          </a:solidFill>
          <a:ln w="12700">
            <a:solidFill>
              <a:srgbClr val="C47E0F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 ·  Struts 2 → Spring MVC  ·  Powered by Claude Sonnet 4.5  +  Amazon Nova Pro  +  AWS Bedrock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Struts 2 → Spring MVC Migration</dc:title>
  <dc:subject>PptxGenJS Presentation</dc:subject>
  <dc:creator>PptxGenJS</dc:creator>
  <cp:lastModifiedBy>PptxGenJS</cp:lastModifiedBy>
  <cp:revision>1</cp:revision>
  <dcterms:created xsi:type="dcterms:W3CDTF">2026-04-13T23:01:02Z</dcterms:created>
  <dcterms:modified xsi:type="dcterms:W3CDTF">2026-04-13T23:01:02Z</dcterms:modified>
</cp:coreProperties>
</file>