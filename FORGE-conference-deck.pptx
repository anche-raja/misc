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729984" y="-182880"/>
            <a:ext cx="658368" cy="2633472"/>
          </a:xfrm>
          <a:prstGeom prst="rect">
            <a:avLst/>
          </a:prstGeom>
          <a:solidFill>
            <a:srgbClr val="C47E0F">
              <a:alpha val="85000"/>
            </a:srgbClr>
          </a:solidFill>
          <a:ln w="12700">
            <a:solidFill>
              <a:srgbClr val="C47E0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583680" y="182880"/>
            <a:ext cx="950976" cy="226771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76288" y="475488"/>
            <a:ext cx="438912" cy="1755648"/>
          </a:xfrm>
          <a:prstGeom prst="rect">
            <a:avLst/>
          </a:prstGeom>
          <a:solidFill>
            <a:srgbClr val="FDD17A"/>
          </a:solidFill>
          <a:ln w="12700">
            <a:solidFill>
              <a:srgbClr val="FDD17A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97496" y="-182880"/>
            <a:ext cx="781812" cy="3127248"/>
          </a:xfrm>
          <a:prstGeom prst="rect">
            <a:avLst/>
          </a:prstGeom>
          <a:solidFill>
            <a:srgbClr val="C47E0F">
              <a:alpha val="85000"/>
            </a:srgbClr>
          </a:solidFill>
          <a:ln w="12700">
            <a:solidFill>
              <a:srgbClr val="C47E0F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223760" y="251460"/>
            <a:ext cx="1129284" cy="269290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571232" y="598932"/>
            <a:ext cx="521208" cy="2084832"/>
          </a:xfrm>
          <a:prstGeom prst="rect">
            <a:avLst/>
          </a:prstGeom>
          <a:solidFill>
            <a:srgbClr val="FDD17A"/>
          </a:solidFill>
          <a:ln w="12700">
            <a:solidFill>
              <a:srgbClr val="FDD17A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138160" y="-182880"/>
            <a:ext cx="617220" cy="2468880"/>
          </a:xfrm>
          <a:prstGeom prst="rect">
            <a:avLst/>
          </a:prstGeom>
          <a:solidFill>
            <a:srgbClr val="C47E0F">
              <a:alpha val="85000"/>
            </a:srgbClr>
          </a:solidFill>
          <a:ln w="12700">
            <a:solidFill>
              <a:srgbClr val="C47E0F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001000" y="160020"/>
            <a:ext cx="891540" cy="212598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75320" y="434340"/>
            <a:ext cx="411480" cy="1645920"/>
          </a:xfrm>
          <a:prstGeom prst="rect">
            <a:avLst/>
          </a:prstGeom>
          <a:solidFill>
            <a:srgbClr val="FDD17A"/>
          </a:solidFill>
          <a:ln w="12700">
            <a:solidFill>
              <a:srgbClr val="FDD17A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650224" y="-182880"/>
            <a:ext cx="452628" cy="1810512"/>
          </a:xfrm>
          <a:prstGeom prst="rect">
            <a:avLst/>
          </a:prstGeom>
          <a:solidFill>
            <a:srgbClr val="C47E0F">
              <a:alpha val="85000"/>
            </a:srgbClr>
          </a:solidFill>
          <a:ln w="12700">
            <a:solidFill>
              <a:srgbClr val="C47E0F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549640" y="68580"/>
            <a:ext cx="653796" cy="155905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750808" y="269748"/>
            <a:ext cx="301752" cy="1207008"/>
          </a:xfrm>
          <a:prstGeom prst="rect">
            <a:avLst/>
          </a:prstGeom>
          <a:solidFill>
            <a:srgbClr val="FDD17A"/>
          </a:solidFill>
          <a:ln w="12700">
            <a:solidFill>
              <a:srgbClr val="FDD17A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64592" y="0"/>
            <a:ext cx="6400800" cy="51435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640080"/>
            <a:ext cx="59436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800" b="1" spc="800" kern="0" dirty="0">
                <a:solidFill>
                  <a:srgbClr val="F5A6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FORGE</a:t>
            </a:r>
            <a:endParaRPr lang="en-US" sz="8800" dirty="0"/>
          </a:p>
        </p:txBody>
      </p:sp>
      <p:sp>
        <p:nvSpPr>
          <p:cNvPr id="17" name="Text 15"/>
          <p:cNvSpPr/>
          <p:nvPr/>
        </p:nvSpPr>
        <p:spPr>
          <a:xfrm>
            <a:off x="502920" y="1783080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spc="200" kern="0" dirty="0">
                <a:solidFill>
                  <a:srgbClr val="7A9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 Orchestrated Rewrite &amp; Generation Engine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02920" y="2286000"/>
            <a:ext cx="6035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i="1" dirty="0">
                <a:solidFill>
                  <a:srgbClr val="E8EDF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Agentic J2EE modernisation at enterprise scale on AWS Bedrock</a:t>
            </a:r>
            <a:endParaRPr lang="en-US" sz="2100" dirty="0"/>
          </a:p>
        </p:txBody>
      </p:sp>
      <p:sp>
        <p:nvSpPr>
          <p:cNvPr id="19" name="Shape 17"/>
          <p:cNvSpPr/>
          <p:nvPr/>
        </p:nvSpPr>
        <p:spPr>
          <a:xfrm>
            <a:off x="502920" y="2926080"/>
            <a:ext cx="2194560" cy="36576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02920" y="3072384"/>
            <a:ext cx="1181405" cy="274320"/>
          </a:xfrm>
          <a:prstGeom prst="rect">
            <a:avLst/>
          </a:prstGeom>
          <a:solidFill>
            <a:srgbClr val="1A3A5C"/>
          </a:solidFill>
          <a:ln w="12700">
            <a:solidFill>
              <a:srgbClr val="F5A623">
                <a:alpha val="40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3072384"/>
            <a:ext cx="118140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Bedrock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1775765" y="3072384"/>
            <a:ext cx="1433779" cy="274320"/>
          </a:xfrm>
          <a:prstGeom prst="rect">
            <a:avLst/>
          </a:prstGeom>
          <a:solidFill>
            <a:srgbClr val="1A3A5C"/>
          </a:solidFill>
          <a:ln w="12700">
            <a:solidFill>
              <a:srgbClr val="F5A623">
                <a:alpha val="40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775765" y="3072384"/>
            <a:ext cx="143377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Strands Agents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300984" y="3072384"/>
            <a:ext cx="1686154" cy="274320"/>
          </a:xfrm>
          <a:prstGeom prst="rect">
            <a:avLst/>
          </a:prstGeom>
          <a:solidFill>
            <a:srgbClr val="1A3A5C"/>
          </a:solidFill>
          <a:ln w="12700">
            <a:solidFill>
              <a:srgbClr val="F5A623">
                <a:alpha val="40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300984" y="3072384"/>
            <a:ext cx="168615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3.5 Sonnet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078578" y="3072384"/>
            <a:ext cx="1097280" cy="274320"/>
          </a:xfrm>
          <a:prstGeom prst="rect">
            <a:avLst/>
          </a:prstGeom>
          <a:solidFill>
            <a:srgbClr val="1A3A5C"/>
          </a:solidFill>
          <a:ln w="12700">
            <a:solidFill>
              <a:srgbClr val="F5A623">
                <a:alpha val="40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78578" y="3072384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CLI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02920" y="448056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JavaOne  ·  AWS re:Invent  ·  Enterprise Java Summit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164592" y="5047488"/>
            <a:ext cx="8979408" cy="54864"/>
          </a:xfrm>
          <a:prstGeom prst="rect">
            <a:avLst/>
          </a:prstGeom>
          <a:solidFill>
            <a:srgbClr val="C47E0F"/>
          </a:solidFill>
          <a:ln w="12700">
            <a:solidFill>
              <a:srgbClr val="C47E0F">
                <a:alpha val="0"/>
              </a:srgbClr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41732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417320"/>
            <a:ext cx="9144000" cy="457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91440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200" kern="0" dirty="0">
                <a:solidFill>
                  <a:srgbClr val="7A9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·  The Problem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347472"/>
            <a:ext cx="8321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400K lines of J2EE. Zero migration plan.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411480" y="1591056"/>
            <a:ext cx="1965960" cy="1234440"/>
          </a:xfrm>
          <a:prstGeom prst="rect">
            <a:avLst/>
          </a:prstGeom>
          <a:solidFill>
            <a:srgbClr val="FFFFFF"/>
          </a:solidFill>
          <a:ln w="9525">
            <a:solidFill>
              <a:srgbClr val="D4DCE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11480" y="1591056"/>
            <a:ext cx="1965960" cy="54864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700784"/>
            <a:ext cx="1965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20+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411480" y="228600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A3C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apps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11480" y="2560320"/>
            <a:ext cx="19659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A9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Struts 1.x and 2.x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468880" y="1591056"/>
            <a:ext cx="1965960" cy="1234440"/>
          </a:xfrm>
          <a:prstGeom prst="rect">
            <a:avLst/>
          </a:prstGeom>
          <a:solidFill>
            <a:srgbClr val="FFFFFF"/>
          </a:solidFill>
          <a:ln w="9525">
            <a:solidFill>
              <a:srgbClr val="D4DCE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468880" y="1591056"/>
            <a:ext cx="1965960" cy="54864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468880" y="1700784"/>
            <a:ext cx="1965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400K</a:t>
            </a:r>
            <a:endParaRPr lang="en-US" sz="4000" dirty="0"/>
          </a:p>
        </p:txBody>
      </p:sp>
      <p:sp>
        <p:nvSpPr>
          <p:cNvPr id="14" name="Text 12"/>
          <p:cNvSpPr/>
          <p:nvPr/>
        </p:nvSpPr>
        <p:spPr>
          <a:xfrm>
            <a:off x="2468880" y="228600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A3C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Lines of legacy code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468880" y="2560320"/>
            <a:ext cx="19659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A9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8 · Spring 5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26280" y="1591056"/>
            <a:ext cx="1965960" cy="1234440"/>
          </a:xfrm>
          <a:prstGeom prst="rect">
            <a:avLst/>
          </a:prstGeom>
          <a:solidFill>
            <a:srgbClr val="FFFFFF"/>
          </a:solidFill>
          <a:ln w="9525">
            <a:solidFill>
              <a:srgbClr val="D4DCE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26280" y="1591056"/>
            <a:ext cx="1965960" cy="54864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26280" y="1700784"/>
            <a:ext cx="1965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3–5 yr</a:t>
            </a:r>
            <a:endParaRPr lang="en-US" sz="4000" dirty="0"/>
          </a:p>
        </p:txBody>
      </p:sp>
      <p:sp>
        <p:nvSpPr>
          <p:cNvPr id="19" name="Text 17"/>
          <p:cNvSpPr/>
          <p:nvPr/>
        </p:nvSpPr>
        <p:spPr>
          <a:xfrm>
            <a:off x="4526280" y="228600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A3C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estimate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526280" y="2560320"/>
            <a:ext cx="19659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A9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done by hand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583680" y="1591056"/>
            <a:ext cx="1965960" cy="1234440"/>
          </a:xfrm>
          <a:prstGeom prst="rect">
            <a:avLst/>
          </a:prstGeom>
          <a:solidFill>
            <a:srgbClr val="FFFFFF"/>
          </a:solidFill>
          <a:ln w="9525">
            <a:solidFill>
              <a:srgbClr val="D4DCE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583680" y="1591056"/>
            <a:ext cx="1965960" cy="54864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583680" y="1700784"/>
            <a:ext cx="1965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5A6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</a:t>
            </a:r>
            <a:endParaRPr lang="en-US" sz="4000" dirty="0"/>
          </a:p>
        </p:txBody>
      </p:sp>
      <p:sp>
        <p:nvSpPr>
          <p:cNvPr id="24" name="Text 22"/>
          <p:cNvSpPr/>
          <p:nvPr/>
        </p:nvSpPr>
        <p:spPr>
          <a:xfrm>
            <a:off x="6583680" y="228600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A3C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Transformation agents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583680" y="2560320"/>
            <a:ext cx="19659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A9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FORGE automates this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11480" y="2880360"/>
            <a:ext cx="3977640" cy="2194560"/>
          </a:xfrm>
          <a:prstGeom prst="rect">
            <a:avLst/>
          </a:prstGeom>
          <a:solidFill>
            <a:srgbClr val="FFFFFF"/>
          </a:solidFill>
          <a:ln w="9525">
            <a:solidFill>
              <a:srgbClr val="D4DCE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11480" y="2880360"/>
            <a:ext cx="64008" cy="2194560"/>
          </a:xfrm>
          <a:prstGeom prst="rect">
            <a:avLst/>
          </a:prstGeom>
          <a:solidFill>
            <a:srgbClr val="E05252"/>
          </a:solidFill>
          <a:ln w="12700">
            <a:solidFill>
              <a:srgbClr val="E05252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66928" y="304495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A3C5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reality today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621792" y="3374136"/>
            <a:ext cx="3657600" cy="1627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3A4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Struts 1.x and 2.x coexist — fundamentally different migration paths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3A4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javax.* namespace must become jakarta.* across 400K lines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3A4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Security breaking changes in every config class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3A4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EJB coupling and OGNL ValueStack refs block automation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3A4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Developers can't migrate and ship features simultaneously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754880" y="2880360"/>
            <a:ext cx="3977640" cy="219456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>
                <a:alpha val="0"/>
              </a:srgbClr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754880" y="2880360"/>
            <a:ext cx="64008" cy="219456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>
                <a:alpha val="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919472" y="304495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A6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FORGE answers it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4919472" y="3374136"/>
            <a:ext cx="3611880" cy="1627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Struts1 and Struts2 agents — different logic, different prompts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Java21Agent runs first, fixes all javax.* before Struts agent touches a file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Spring6Agent detects antMatchers, WebSecurityConfigurerAdapter, rewrites them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Flags OGNL and EJB refs for human review — never guesses on ambiguous code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locally on ./myapp — no pipeline infra needed to start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0972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200" kern="0" dirty="0">
                <a:solidFill>
                  <a:srgbClr val="7A9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·  Architecture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20040" y="320040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 agents. 6 phases. One CLI.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20040" y="868680"/>
            <a:ext cx="8503920" cy="27432"/>
          </a:xfrm>
          <a:prstGeom prst="rect">
            <a:avLst/>
          </a:prstGeom>
          <a:solidFill>
            <a:srgbClr val="F5A623">
              <a:alpha val="40000"/>
            </a:srgbClr>
          </a:solidFill>
          <a:ln w="12700">
            <a:solidFill>
              <a:srgbClr val="F5A623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005840"/>
            <a:ext cx="1261872" cy="658368"/>
          </a:xfrm>
          <a:prstGeom prst="rect">
            <a:avLst/>
          </a:prstGeom>
          <a:solidFill>
            <a:srgbClr val="1A3A5C"/>
          </a:solidFill>
          <a:ln w="19050">
            <a:solidFill>
              <a:srgbClr val="3BB58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29768" y="1097280"/>
            <a:ext cx="274320" cy="274320"/>
          </a:xfrm>
          <a:prstGeom prst="ellipse">
            <a:avLst/>
          </a:prstGeom>
          <a:solidFill>
            <a:srgbClr val="3BB58A">
              <a:alpha val="80000"/>
            </a:srgbClr>
          </a:solidFill>
          <a:ln w="12700">
            <a:solidFill>
              <a:srgbClr val="3BB58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29768" y="10972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38328" y="1389888"/>
            <a:ext cx="12252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581912" y="1321308"/>
            <a:ext cx="73152" cy="27432"/>
          </a:xfrm>
          <a:prstGeom prst="rect">
            <a:avLst/>
          </a:prstGeom>
          <a:solidFill>
            <a:srgbClr val="7A95B4">
              <a:alpha val="60000"/>
            </a:srgbClr>
          </a:solidFill>
          <a:ln w="12700">
            <a:solidFill>
              <a:srgbClr val="7A95B4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655064" y="1005840"/>
            <a:ext cx="1261872" cy="658368"/>
          </a:xfrm>
          <a:prstGeom prst="rect">
            <a:avLst/>
          </a:prstGeom>
          <a:solidFill>
            <a:srgbClr val="1A3A5C"/>
          </a:solidFill>
          <a:ln w="19050">
            <a:solidFill>
              <a:srgbClr val="3B82C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764792" y="1097280"/>
            <a:ext cx="274320" cy="274320"/>
          </a:xfrm>
          <a:prstGeom prst="ellipse">
            <a:avLst/>
          </a:prstGeom>
          <a:solidFill>
            <a:srgbClr val="3B82C4">
              <a:alpha val="80000"/>
            </a:srgbClr>
          </a:solidFill>
          <a:ln w="12700">
            <a:solidFill>
              <a:srgbClr val="3B82C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764792" y="10972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673352" y="1389888"/>
            <a:ext cx="12252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8→21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916936" y="1321308"/>
            <a:ext cx="73152" cy="27432"/>
          </a:xfrm>
          <a:prstGeom prst="rect">
            <a:avLst/>
          </a:prstGeom>
          <a:solidFill>
            <a:srgbClr val="7A95B4">
              <a:alpha val="60000"/>
            </a:srgbClr>
          </a:solidFill>
          <a:ln w="12700">
            <a:solidFill>
              <a:srgbClr val="7A95B4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990088" y="1005840"/>
            <a:ext cx="1261872" cy="658368"/>
          </a:xfrm>
          <a:prstGeom prst="rect">
            <a:avLst/>
          </a:prstGeom>
          <a:solidFill>
            <a:srgbClr val="1A3A5C"/>
          </a:solidFill>
          <a:ln w="19050">
            <a:solidFill>
              <a:srgbClr val="3B82C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099816" y="1097280"/>
            <a:ext cx="274320" cy="274320"/>
          </a:xfrm>
          <a:prstGeom prst="ellipse">
            <a:avLst/>
          </a:prstGeom>
          <a:solidFill>
            <a:srgbClr val="3B82C4">
              <a:alpha val="80000"/>
            </a:srgbClr>
          </a:solidFill>
          <a:ln w="12700">
            <a:solidFill>
              <a:srgbClr val="3B82C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099816" y="10972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008376" y="1389888"/>
            <a:ext cx="12252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5→6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251960" y="1321308"/>
            <a:ext cx="73152" cy="27432"/>
          </a:xfrm>
          <a:prstGeom prst="rect">
            <a:avLst/>
          </a:prstGeom>
          <a:solidFill>
            <a:srgbClr val="7A95B4">
              <a:alpha val="60000"/>
            </a:srgbClr>
          </a:solidFill>
          <a:ln w="12700">
            <a:solidFill>
              <a:srgbClr val="7A95B4">
                <a:alpha val="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325112" y="1005840"/>
            <a:ext cx="1261872" cy="658368"/>
          </a:xfrm>
          <a:prstGeom prst="rect">
            <a:avLst/>
          </a:prstGeom>
          <a:solidFill>
            <a:srgbClr val="1A3A5C"/>
          </a:solidFill>
          <a:ln w="19050">
            <a:solidFill>
              <a:srgbClr val="E0525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434840" y="1097280"/>
            <a:ext cx="274320" cy="274320"/>
          </a:xfrm>
          <a:prstGeom prst="ellipse">
            <a:avLst/>
          </a:prstGeom>
          <a:solidFill>
            <a:srgbClr val="E05252">
              <a:alpha val="80000"/>
            </a:srgbClr>
          </a:solidFill>
          <a:ln w="12700">
            <a:solidFill>
              <a:srgbClr val="E0525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434840" y="10972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343400" y="1389888"/>
            <a:ext cx="12252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Struts→MVC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602724" y="1700784"/>
            <a:ext cx="706648" cy="201168"/>
          </a:xfrm>
          <a:prstGeom prst="rect">
            <a:avLst/>
          </a:prstGeom>
          <a:solidFill>
            <a:srgbClr val="C47E0F"/>
          </a:solidFill>
          <a:ln w="9525">
            <a:solidFill>
              <a:srgbClr val="F5A62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602724" y="1700784"/>
            <a:ext cx="7066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F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gate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5586984" y="1321308"/>
            <a:ext cx="73152" cy="27432"/>
          </a:xfrm>
          <a:prstGeom prst="rect">
            <a:avLst/>
          </a:prstGeom>
          <a:solidFill>
            <a:srgbClr val="7A95B4">
              <a:alpha val="60000"/>
            </a:srgbClr>
          </a:solidFill>
          <a:ln w="12700">
            <a:solidFill>
              <a:srgbClr val="7A95B4">
                <a:alpha val="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660136" y="1005840"/>
            <a:ext cx="1261872" cy="658368"/>
          </a:xfrm>
          <a:prstGeom prst="rect">
            <a:avLst/>
          </a:prstGeom>
          <a:solidFill>
            <a:srgbClr val="1A3A5C"/>
          </a:solidFill>
          <a:ln w="19050">
            <a:solidFill>
              <a:srgbClr val="F5A623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769864" y="1097280"/>
            <a:ext cx="274320" cy="274320"/>
          </a:xfrm>
          <a:prstGeom prst="ellipse">
            <a:avLst/>
          </a:prstGeom>
          <a:solidFill>
            <a:srgbClr val="F5A623">
              <a:alpha val="80000"/>
            </a:srgbClr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769864" y="10972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678424" y="1389888"/>
            <a:ext cx="12252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Containerize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5937748" y="1700784"/>
            <a:ext cx="706648" cy="201168"/>
          </a:xfrm>
          <a:prstGeom prst="rect">
            <a:avLst/>
          </a:prstGeom>
          <a:solidFill>
            <a:srgbClr val="C47E0F"/>
          </a:solidFill>
          <a:ln w="9525">
            <a:solidFill>
              <a:srgbClr val="F5A62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937748" y="1700784"/>
            <a:ext cx="7066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F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gate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6922008" y="1321308"/>
            <a:ext cx="73152" cy="27432"/>
          </a:xfrm>
          <a:prstGeom prst="rect">
            <a:avLst/>
          </a:prstGeom>
          <a:solidFill>
            <a:srgbClr val="7A95B4">
              <a:alpha val="60000"/>
            </a:srgbClr>
          </a:solidFill>
          <a:ln w="12700">
            <a:solidFill>
              <a:srgbClr val="7A95B4">
                <a:alpha val="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995160" y="1005840"/>
            <a:ext cx="1261872" cy="658368"/>
          </a:xfrm>
          <a:prstGeom prst="rect">
            <a:avLst/>
          </a:prstGeom>
          <a:solidFill>
            <a:srgbClr val="1A3A5C"/>
          </a:solidFill>
          <a:ln w="19050">
            <a:solidFill>
              <a:srgbClr val="3BB58A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104888" y="1097280"/>
            <a:ext cx="274320" cy="274320"/>
          </a:xfrm>
          <a:prstGeom prst="ellipse">
            <a:avLst/>
          </a:prstGeom>
          <a:solidFill>
            <a:srgbClr val="3BB58A">
              <a:alpha val="80000"/>
            </a:srgbClr>
          </a:solidFill>
          <a:ln w="12700">
            <a:solidFill>
              <a:srgbClr val="3BB58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104888" y="10972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7013448" y="1389888"/>
            <a:ext cx="12252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gen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320040" y="2084832"/>
            <a:ext cx="1508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7A9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Bedrock agents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320040" y="2322576"/>
            <a:ext cx="1005840" cy="475488"/>
          </a:xfrm>
          <a:prstGeom prst="rect">
            <a:avLst/>
          </a:prstGeom>
          <a:solidFill>
            <a:srgbClr val="0F2040"/>
          </a:solidFill>
          <a:ln w="12700">
            <a:solidFill>
              <a:srgbClr val="3BB58A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20040" y="2322576"/>
            <a:ext cx="1005840" cy="45720"/>
          </a:xfrm>
          <a:prstGeom prst="rect">
            <a:avLst/>
          </a:prstGeom>
          <a:solidFill>
            <a:srgbClr val="3BB58A"/>
          </a:solidFill>
          <a:ln w="12700">
            <a:solidFill>
              <a:srgbClr val="3BB58A">
                <a:alpha val="0"/>
              </a:srgbClr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20040" y="2414016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1405433" y="2322576"/>
            <a:ext cx="1005840" cy="475488"/>
          </a:xfrm>
          <a:prstGeom prst="rect">
            <a:avLst/>
          </a:prstGeom>
          <a:solidFill>
            <a:srgbClr val="0F2040"/>
          </a:solidFill>
          <a:ln w="12700">
            <a:solidFill>
              <a:srgbClr val="3BB58A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1405433" y="2322576"/>
            <a:ext cx="1005840" cy="45720"/>
          </a:xfrm>
          <a:prstGeom prst="rect">
            <a:avLst/>
          </a:prstGeom>
          <a:solidFill>
            <a:srgbClr val="3BB58A"/>
          </a:solidFill>
          <a:ln w="12700">
            <a:solidFill>
              <a:srgbClr val="3BB58A">
                <a:alpha val="0"/>
              </a:srgbClr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1405433" y="2414016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scorer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2490826" y="2322576"/>
            <a:ext cx="1005840" cy="475488"/>
          </a:xfrm>
          <a:prstGeom prst="rect">
            <a:avLst/>
          </a:prstGeom>
          <a:solidFill>
            <a:srgbClr val="0F2040"/>
          </a:solidFill>
          <a:ln w="12700">
            <a:solidFill>
              <a:srgbClr val="3B82C4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2490826" y="2322576"/>
            <a:ext cx="1005840" cy="45720"/>
          </a:xfrm>
          <a:prstGeom prst="rect">
            <a:avLst/>
          </a:prstGeom>
          <a:solidFill>
            <a:srgbClr val="3B82C4"/>
          </a:solidFill>
          <a:ln w="12700">
            <a:solidFill>
              <a:srgbClr val="3B82C4">
                <a:alpha val="0"/>
              </a:srgbClr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490826" y="2414016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8→21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3576218" y="2322576"/>
            <a:ext cx="1005840" cy="475488"/>
          </a:xfrm>
          <a:prstGeom prst="rect">
            <a:avLst/>
          </a:prstGeom>
          <a:solidFill>
            <a:srgbClr val="0F2040"/>
          </a:solidFill>
          <a:ln w="12700">
            <a:solidFill>
              <a:srgbClr val="3B82C4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576218" y="2322576"/>
            <a:ext cx="1005840" cy="45720"/>
          </a:xfrm>
          <a:prstGeom prst="rect">
            <a:avLst/>
          </a:prstGeom>
          <a:solidFill>
            <a:srgbClr val="3B82C4"/>
          </a:solidFill>
          <a:ln w="12700">
            <a:solidFill>
              <a:srgbClr val="3B82C4">
                <a:alpha val="0"/>
              </a:srgbClr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3576218" y="2414016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5→6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4661611" y="2322576"/>
            <a:ext cx="1005840" cy="475488"/>
          </a:xfrm>
          <a:prstGeom prst="rect">
            <a:avLst/>
          </a:prstGeom>
          <a:solidFill>
            <a:srgbClr val="0F2040"/>
          </a:solidFill>
          <a:ln w="12700">
            <a:solidFill>
              <a:srgbClr val="E05252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4661611" y="2322576"/>
            <a:ext cx="1005840" cy="45720"/>
          </a:xfrm>
          <a:prstGeom prst="rect">
            <a:avLst/>
          </a:prstGeom>
          <a:solidFill>
            <a:srgbClr val="E05252"/>
          </a:solidFill>
          <a:ln w="12700">
            <a:solidFill>
              <a:srgbClr val="E05252">
                <a:alpha val="0"/>
              </a:srgbClr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661611" y="2414016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Struts 1.x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5747004" y="2322576"/>
            <a:ext cx="1005840" cy="475488"/>
          </a:xfrm>
          <a:prstGeom prst="rect">
            <a:avLst/>
          </a:prstGeom>
          <a:solidFill>
            <a:srgbClr val="0F2040"/>
          </a:solidFill>
          <a:ln w="12700">
            <a:solidFill>
              <a:srgbClr val="E05252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5747004" y="2322576"/>
            <a:ext cx="1005840" cy="45720"/>
          </a:xfrm>
          <a:prstGeom prst="rect">
            <a:avLst/>
          </a:prstGeom>
          <a:solidFill>
            <a:srgbClr val="E05252"/>
          </a:solidFill>
          <a:ln w="12700">
            <a:solidFill>
              <a:srgbClr val="E05252">
                <a:alpha val="0"/>
              </a:srgbClr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5747004" y="2414016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Struts 2.x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6832397" y="2322576"/>
            <a:ext cx="1005840" cy="475488"/>
          </a:xfrm>
          <a:prstGeom prst="rect">
            <a:avLst/>
          </a:prstGeom>
          <a:solidFill>
            <a:srgbClr val="0F2040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6832397" y="2322576"/>
            <a:ext cx="1005840" cy="457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>
                <a:alpha val="0"/>
              </a:srgbClr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832397" y="2414016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Containerize</a:t>
            </a:r>
            <a:endParaRPr lang="en-US" sz="1000" dirty="0"/>
          </a:p>
        </p:txBody>
      </p:sp>
      <p:sp>
        <p:nvSpPr>
          <p:cNvPr id="61" name="Shape 59"/>
          <p:cNvSpPr/>
          <p:nvPr/>
        </p:nvSpPr>
        <p:spPr>
          <a:xfrm>
            <a:off x="7917790" y="2322576"/>
            <a:ext cx="1005840" cy="475488"/>
          </a:xfrm>
          <a:prstGeom prst="rect">
            <a:avLst/>
          </a:prstGeom>
          <a:solidFill>
            <a:srgbClr val="0F2040"/>
          </a:solidFill>
          <a:ln w="12700">
            <a:solidFill>
              <a:srgbClr val="3BB58A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7917790" y="2322576"/>
            <a:ext cx="1005840" cy="45720"/>
          </a:xfrm>
          <a:prstGeom prst="rect">
            <a:avLst/>
          </a:prstGeom>
          <a:solidFill>
            <a:srgbClr val="3BB58A"/>
          </a:solidFill>
          <a:ln w="12700">
            <a:solidFill>
              <a:srgbClr val="3BB58A">
                <a:alpha val="0"/>
              </a:srgbClr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7917790" y="2414016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gen</a:t>
            </a:r>
            <a:endParaRPr lang="en-US" sz="1000" dirty="0"/>
          </a:p>
        </p:txBody>
      </p:sp>
      <p:sp>
        <p:nvSpPr>
          <p:cNvPr id="64" name="Shape 62"/>
          <p:cNvSpPr/>
          <p:nvPr/>
        </p:nvSpPr>
        <p:spPr>
          <a:xfrm>
            <a:off x="320040" y="2926080"/>
            <a:ext cx="2670048" cy="2176272"/>
          </a:xfrm>
          <a:prstGeom prst="rect">
            <a:avLst/>
          </a:prstGeom>
          <a:solidFill>
            <a:srgbClr val="1A3A5C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320040" y="2926080"/>
            <a:ext cx="2670048" cy="54864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>
                <a:alpha val="0"/>
              </a:srgbClr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457200" y="3072384"/>
            <a:ext cx="23957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Local-first</a:t>
            </a:r>
            <a:endParaRPr lang="en-US" sz="1600" dirty="0"/>
          </a:p>
        </p:txBody>
      </p:sp>
      <p:sp>
        <p:nvSpPr>
          <p:cNvPr id="67" name="Text 65"/>
          <p:cNvSpPr/>
          <p:nvPr/>
        </p:nvSpPr>
        <p:spPr>
          <a:xfrm>
            <a:off x="457200" y="3474720"/>
            <a:ext cx="2395728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migrate.py ./myapp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pipeline. No infra. Just AWS creds and a folder.</a:t>
            </a:r>
            <a:endParaRPr lang="en-US" sz="1200" dirty="0"/>
          </a:p>
        </p:txBody>
      </p:sp>
      <p:sp>
        <p:nvSpPr>
          <p:cNvPr id="68" name="Shape 66"/>
          <p:cNvSpPr/>
          <p:nvPr/>
        </p:nvSpPr>
        <p:spPr>
          <a:xfrm>
            <a:off x="3218688" y="2926080"/>
            <a:ext cx="2670048" cy="2176272"/>
          </a:xfrm>
          <a:prstGeom prst="rect">
            <a:avLst/>
          </a:prstGeom>
          <a:solidFill>
            <a:srgbClr val="1A3A5C"/>
          </a:solidFill>
          <a:ln w="12700">
            <a:solidFill>
              <a:srgbClr val="E05252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3218688" y="2926080"/>
            <a:ext cx="2670048" cy="54864"/>
          </a:xfrm>
          <a:prstGeom prst="rect">
            <a:avLst/>
          </a:prstGeom>
          <a:solidFill>
            <a:srgbClr val="E05252"/>
          </a:solidFill>
          <a:ln w="12700">
            <a:solidFill>
              <a:srgbClr val="E05252">
                <a:alpha val="0"/>
              </a:srgbClr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3355848" y="3072384"/>
            <a:ext cx="23957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Human gates</a:t>
            </a:r>
            <a:endParaRPr lang="en-US" sz="1600" dirty="0"/>
          </a:p>
        </p:txBody>
      </p:sp>
      <p:sp>
        <p:nvSpPr>
          <p:cNvPr id="71" name="Text 69"/>
          <p:cNvSpPr/>
          <p:nvPr/>
        </p:nvSpPr>
        <p:spPr>
          <a:xfrm>
            <a:off x="3355848" y="3474720"/>
            <a:ext cx="2395728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 pauses before Struts + Containerize.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 reviews migration-report.md, then approves.</a:t>
            </a:r>
            <a:endParaRPr lang="en-US" sz="1200" dirty="0"/>
          </a:p>
        </p:txBody>
      </p:sp>
      <p:sp>
        <p:nvSpPr>
          <p:cNvPr id="72" name="Shape 70"/>
          <p:cNvSpPr/>
          <p:nvPr/>
        </p:nvSpPr>
        <p:spPr>
          <a:xfrm>
            <a:off x="6117336" y="2926080"/>
            <a:ext cx="2670048" cy="2176272"/>
          </a:xfrm>
          <a:prstGeom prst="rect">
            <a:avLst/>
          </a:prstGeom>
          <a:solidFill>
            <a:srgbClr val="1A3A5C"/>
          </a:solidFill>
          <a:ln w="12700">
            <a:solidFill>
              <a:srgbClr val="3BB58A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6117336" y="2926080"/>
            <a:ext cx="2670048" cy="54864"/>
          </a:xfrm>
          <a:prstGeom prst="rect">
            <a:avLst/>
          </a:prstGeom>
          <a:solidFill>
            <a:srgbClr val="3BB58A"/>
          </a:solidFill>
          <a:ln w="12700">
            <a:solidFill>
              <a:srgbClr val="3BB58A">
                <a:alpha val="0"/>
              </a:srgbClr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6254496" y="3072384"/>
            <a:ext cx="23957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Pipeline-ready</a:t>
            </a:r>
            <a:endParaRPr lang="en-US" sz="1600" dirty="0"/>
          </a:p>
        </p:txBody>
      </p:sp>
      <p:sp>
        <p:nvSpPr>
          <p:cNvPr id="75" name="Text 73"/>
          <p:cNvSpPr/>
          <p:nvPr/>
        </p:nvSpPr>
        <p:spPr>
          <a:xfrm>
            <a:off x="6254496" y="3474720"/>
            <a:ext cx="2395728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FileScanner → S3, StateManager → DynamoDB.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Agents: zero changes.</a:t>
            </a:r>
            <a:endParaRPr lang="en-US" sz="1200" dirty="0"/>
          </a:p>
        </p:txBody>
      </p:sp>
      <p:sp>
        <p:nvSpPr>
          <p:cNvPr id="76" name="Text 74"/>
          <p:cNvSpPr/>
          <p:nvPr/>
        </p:nvSpPr>
        <p:spPr>
          <a:xfrm>
            <a:off x="320040" y="491947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9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Strands Agents  ·  AWS Bedrock  ·  Claude 3.5 Sonnet  ·  GitLab  ·  Open Liberty on ECS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FORGE — Agentic J2EE Modernisation</dc:title>
  <dc:subject>PptxGenJS Presentation</dc:subject>
  <dc:creator>FORGE Project</dc:creator>
  <cp:lastModifiedBy>FORGE Project</cp:lastModifiedBy>
  <cp:revision>1</cp:revision>
  <dcterms:created xsi:type="dcterms:W3CDTF">2026-04-12T23:15:40Z</dcterms:created>
  <dcterms:modified xsi:type="dcterms:W3CDTF">2026-04-12T23:15:40Z</dcterms:modified>
</cp:coreProperties>
</file>