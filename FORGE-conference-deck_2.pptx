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371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729984" y="-182880"/>
            <a:ext cx="658368" cy="2633472"/>
          </a:xfrm>
          <a:prstGeom prst="rect">
            <a:avLst/>
          </a:prstGeom>
          <a:solidFill>
            <a:srgbClr val="C47E0F">
              <a:alpha val="85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182880"/>
            <a:ext cx="950976" cy="226771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76288" y="475488"/>
            <a:ext cx="438912" cy="1755648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97496" y="-182880"/>
            <a:ext cx="781812" cy="3127248"/>
          </a:xfrm>
          <a:prstGeom prst="rect">
            <a:avLst/>
          </a:prstGeom>
          <a:solidFill>
            <a:srgbClr val="C47E0F">
              <a:alpha val="85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23760" y="251460"/>
            <a:ext cx="1129284" cy="26929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71232" y="598932"/>
            <a:ext cx="521208" cy="2084832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38160" y="-182880"/>
            <a:ext cx="617220" cy="2468880"/>
          </a:xfrm>
          <a:prstGeom prst="rect">
            <a:avLst/>
          </a:prstGeom>
          <a:solidFill>
            <a:srgbClr val="C47E0F">
              <a:alpha val="85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01000" y="160020"/>
            <a:ext cx="891540" cy="21259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275320" y="434340"/>
            <a:ext cx="411480" cy="1645920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650224" y="-182880"/>
            <a:ext cx="452628" cy="1810512"/>
          </a:xfrm>
          <a:prstGeom prst="rect">
            <a:avLst/>
          </a:prstGeom>
          <a:solidFill>
            <a:srgbClr val="C47E0F">
              <a:alpha val="85000"/>
            </a:srgbClr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49640" y="68580"/>
            <a:ext cx="653796" cy="15590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750808" y="269748"/>
            <a:ext cx="301752" cy="1207008"/>
          </a:xfrm>
          <a:prstGeom prst="rect">
            <a:avLst/>
          </a:prstGeom>
          <a:solidFill>
            <a:srgbClr val="FDD17A"/>
          </a:solidFill>
          <a:ln w="12700">
            <a:solidFill>
              <a:srgbClr val="FDD1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64592" y="0"/>
            <a:ext cx="64008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640080"/>
            <a:ext cx="5943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kern="0" spc="80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</a:t>
            </a:r>
            <a:endParaRPr lang="en-US" sz="8800" dirty="0"/>
          </a:p>
        </p:txBody>
      </p:sp>
      <p:sp>
        <p:nvSpPr>
          <p:cNvPr id="17" name="Text 15"/>
          <p:cNvSpPr/>
          <p:nvPr/>
        </p:nvSpPr>
        <p:spPr>
          <a:xfrm>
            <a:off x="502920" y="1783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2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Orchestrated Rewrite &amp; Generation Engine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2860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i="1" dirty="0">
                <a:solidFill>
                  <a:srgbClr val="E8ED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J2EE modernisation at enterprise scale on AWS Bedrock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502920" y="2926080"/>
            <a:ext cx="219456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2920" y="3072384"/>
            <a:ext cx="1181405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072384"/>
            <a:ext cx="1181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75765" y="3072384"/>
            <a:ext cx="1433779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775765" y="3072384"/>
            <a:ext cx="1433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00984" y="3072384"/>
            <a:ext cx="1686154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00984" y="3072384"/>
            <a:ext cx="1686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4.5 Sonnet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78578" y="3072384"/>
            <a:ext cx="109728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78578" y="30723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4805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Delivery Conference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64592" y="5047488"/>
            <a:ext cx="8979408" cy="54864"/>
          </a:xfrm>
          <a:prstGeom prst="rect">
            <a:avLst/>
          </a:prstGeom>
          <a:solidFill>
            <a:srgbClr val="C47E0F"/>
          </a:solidFill>
          <a:ln w="12700">
            <a:solidFill>
              <a:srgbClr val="C47E0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417320"/>
            <a:ext cx="91440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4747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40K lines of J2EE. Zero migration plan.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1591056"/>
            <a:ext cx="1965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196596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700784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1628"/>
                </a:solidFill>
                <a:latin typeface="Georgia" pitchFamily="34" charset="0"/>
              </a:rPr>
              <a:t>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3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560320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 1.x and 2.x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1591056"/>
            <a:ext cx="1965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68880" y="1591056"/>
            <a:ext cx="196596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68880" y="1700784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40K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46888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3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legacy code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560320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 · Spring 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26280" y="1591056"/>
            <a:ext cx="1965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26280" y="1591056"/>
            <a:ext cx="1965960" cy="548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26280" y="1700784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</a:t>
            </a:r>
            <a:r>
              <a:rPr lang="en-US" sz="4000" b="1" dirty="0" err="1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52628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3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estimate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26280" y="2560320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done by hand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1591056"/>
            <a:ext cx="196596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83680" y="1591056"/>
            <a:ext cx="196596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1700784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583680" y="22860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3C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agents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2560320"/>
            <a:ext cx="1965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automates this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80360"/>
            <a:ext cx="39776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4D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11480" y="2880360"/>
            <a:ext cx="64008" cy="219456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66928" y="3044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3C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reality today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" y="3374136"/>
            <a:ext cx="365760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 1.x and 2.x coexist — fundamentally different migration paths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javax.* namespace must become jakarta.* across 400K lines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breaking changes in every config class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EJB coupling and OGNL ValueStack refs block automation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3A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can't migrate and ship features simultaneously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880360"/>
            <a:ext cx="3977640" cy="2194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>
                <a:alpha val="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2880360"/>
            <a:ext cx="64008" cy="21945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19472" y="3044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FORGE answers it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19472" y="3374136"/>
            <a:ext cx="3611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Struts1 and Struts2 agents — different logic, different prompts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Java21Agent runs first, fixes all javax.* before Struts agent touches a file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Spring6Agent detects antMatchers, WebSecurityConfigurerAdapter, rewrites them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OGNL and EJB refs for human review — never guesses on ambiguous code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locally on ./myapp — no pipeline infra needed to start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32004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agents. 6 phases. One CLI.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8503920" cy="27432"/>
          </a:xfrm>
          <a:prstGeom prst="rect">
            <a:avLst/>
          </a:prstGeom>
          <a:solidFill>
            <a:srgbClr val="F5A623">
              <a:alpha val="40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261872" cy="658368"/>
          </a:xfrm>
          <a:prstGeom prst="rect">
            <a:avLst/>
          </a:prstGeom>
          <a:solidFill>
            <a:srgbClr val="1A3A5C"/>
          </a:solidFill>
          <a:ln w="19050">
            <a:solidFill>
              <a:srgbClr val="3BB5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097280"/>
            <a:ext cx="274320" cy="274320"/>
          </a:xfrm>
          <a:prstGeom prst="ellipse">
            <a:avLst/>
          </a:prstGeom>
          <a:solidFill>
            <a:srgbClr val="3BB58A">
              <a:alpha val="80000"/>
            </a:srgbClr>
          </a:solidFill>
          <a:ln w="12700">
            <a:solidFill>
              <a:srgbClr val="3BB5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" y="138988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81912" y="1321308"/>
            <a:ext cx="73152" cy="27432"/>
          </a:xfrm>
          <a:prstGeom prst="rect">
            <a:avLst/>
          </a:prstGeom>
          <a:solidFill>
            <a:srgbClr val="7A95B4">
              <a:alpha val="6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55064" y="1005840"/>
            <a:ext cx="1261872" cy="658368"/>
          </a:xfrm>
          <a:prstGeom prst="rect">
            <a:avLst/>
          </a:prstGeom>
          <a:solidFill>
            <a:srgbClr val="1A3A5C"/>
          </a:solidFill>
          <a:ln w="1905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64792" y="1097280"/>
            <a:ext cx="274320" cy="274320"/>
          </a:xfrm>
          <a:prstGeom prst="ellipse">
            <a:avLst/>
          </a:prstGeom>
          <a:solidFill>
            <a:srgbClr val="3B82C4">
              <a:alpha val="80000"/>
            </a:srgbClr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764792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73352" y="138988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8→21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16936" y="1321308"/>
            <a:ext cx="73152" cy="27432"/>
          </a:xfrm>
          <a:prstGeom prst="rect">
            <a:avLst/>
          </a:prstGeom>
          <a:solidFill>
            <a:srgbClr val="7A95B4">
              <a:alpha val="6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990088" y="1005840"/>
            <a:ext cx="1261872" cy="658368"/>
          </a:xfrm>
          <a:prstGeom prst="rect">
            <a:avLst/>
          </a:prstGeom>
          <a:solidFill>
            <a:srgbClr val="1A3A5C"/>
          </a:solidFill>
          <a:ln w="1905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99816" y="1097280"/>
            <a:ext cx="274320" cy="274320"/>
          </a:xfrm>
          <a:prstGeom prst="ellipse">
            <a:avLst/>
          </a:prstGeom>
          <a:solidFill>
            <a:srgbClr val="3B82C4">
              <a:alpha val="80000"/>
            </a:srgbClr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099816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08376" y="138988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5→6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51960" y="1321308"/>
            <a:ext cx="73152" cy="27432"/>
          </a:xfrm>
          <a:prstGeom prst="rect">
            <a:avLst/>
          </a:prstGeom>
          <a:solidFill>
            <a:srgbClr val="7A95B4">
              <a:alpha val="6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25112" y="1005840"/>
            <a:ext cx="1261872" cy="658368"/>
          </a:xfrm>
          <a:prstGeom prst="rect">
            <a:avLst/>
          </a:prstGeom>
          <a:solidFill>
            <a:srgbClr val="1A3A5C"/>
          </a:solidFill>
          <a:ln w="1905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434840" y="1097280"/>
            <a:ext cx="274320" cy="274320"/>
          </a:xfrm>
          <a:prstGeom prst="ellipse">
            <a:avLst/>
          </a:prstGeom>
          <a:solidFill>
            <a:srgbClr val="E05252">
              <a:alpha val="80000"/>
            </a:srgbClr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3484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138988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 → Spring MVC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02724" y="1700784"/>
            <a:ext cx="706648" cy="201168"/>
          </a:xfrm>
          <a:prstGeom prst="rect">
            <a:avLst/>
          </a:prstGeom>
          <a:solidFill>
            <a:srgbClr val="C47E0F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02724" y="1700784"/>
            <a:ext cx="706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586984" y="1321308"/>
            <a:ext cx="73152" cy="27432"/>
          </a:xfrm>
          <a:prstGeom prst="rect">
            <a:avLst/>
          </a:prstGeom>
          <a:solidFill>
            <a:srgbClr val="7A95B4">
              <a:alpha val="6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660136" y="1005840"/>
            <a:ext cx="1261872" cy="658368"/>
          </a:xfrm>
          <a:prstGeom prst="rect">
            <a:avLst/>
          </a:prstGeom>
          <a:solidFill>
            <a:srgbClr val="1A3A5C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769864" y="1097280"/>
            <a:ext cx="274320" cy="27432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769864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78424" y="138988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37748" y="1700784"/>
            <a:ext cx="706648" cy="201168"/>
          </a:xfrm>
          <a:prstGeom prst="rect">
            <a:avLst/>
          </a:prstGeom>
          <a:solidFill>
            <a:srgbClr val="C47E0F"/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937748" y="1700784"/>
            <a:ext cx="706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F2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22008" y="1321308"/>
            <a:ext cx="73152" cy="27432"/>
          </a:xfrm>
          <a:prstGeom prst="rect">
            <a:avLst/>
          </a:prstGeom>
          <a:solidFill>
            <a:srgbClr val="7A95B4">
              <a:alpha val="60000"/>
            </a:srgbClr>
          </a:solidFill>
          <a:ln w="12700">
            <a:solidFill>
              <a:srgbClr val="7A95B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995160" y="1005840"/>
            <a:ext cx="1261872" cy="658368"/>
          </a:xfrm>
          <a:prstGeom prst="rect">
            <a:avLst/>
          </a:prstGeom>
          <a:solidFill>
            <a:srgbClr val="1A3A5C"/>
          </a:solidFill>
          <a:ln w="19050">
            <a:solidFill>
              <a:srgbClr val="3BB5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104888" y="1097280"/>
            <a:ext cx="274320" cy="274320"/>
          </a:xfrm>
          <a:prstGeom prst="ellipse">
            <a:avLst/>
          </a:prstGeom>
          <a:solidFill>
            <a:srgbClr val="3BB58A">
              <a:alpha val="80000"/>
            </a:srgbClr>
          </a:solidFill>
          <a:ln w="12700">
            <a:solidFill>
              <a:srgbClr val="3BB5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104888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13448" y="138988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20040" y="208483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" y="2322576"/>
            <a:ext cx="10058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3BB5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0040" y="2322576"/>
            <a:ext cx="1005840" cy="45720"/>
          </a:xfrm>
          <a:prstGeom prst="rect">
            <a:avLst/>
          </a:prstGeom>
          <a:solidFill>
            <a:srgbClr val="3BB58A"/>
          </a:solidFill>
          <a:ln w="12700">
            <a:solidFill>
              <a:srgbClr val="3BB5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0040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405433" y="2322576"/>
            <a:ext cx="10058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3BB5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405433" y="2322576"/>
            <a:ext cx="1005840" cy="45720"/>
          </a:xfrm>
          <a:prstGeom prst="rect">
            <a:avLst/>
          </a:prstGeom>
          <a:solidFill>
            <a:srgbClr val="3BB58A"/>
          </a:solidFill>
          <a:ln w="12700">
            <a:solidFill>
              <a:srgbClr val="3BB5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405433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490826" y="2322576"/>
            <a:ext cx="10058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490826" y="2322576"/>
            <a:ext cx="1005840" cy="4572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490826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8→21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576218" y="2322576"/>
            <a:ext cx="10058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3B8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576218" y="2322576"/>
            <a:ext cx="1005840" cy="45720"/>
          </a:xfrm>
          <a:prstGeom prst="rect">
            <a:avLst/>
          </a:prstGeom>
          <a:solidFill>
            <a:srgbClr val="3B82C4"/>
          </a:solidFill>
          <a:ln w="12700">
            <a:solidFill>
              <a:srgbClr val="3B82C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57621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5→6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661611" y="2322576"/>
            <a:ext cx="10058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661611" y="2322576"/>
            <a:ext cx="1005840" cy="457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661611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 1.x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747004" y="2322576"/>
            <a:ext cx="10058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747004" y="2322576"/>
            <a:ext cx="1005840" cy="4572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747004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Struts 2.x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832397" y="2322576"/>
            <a:ext cx="10058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832397" y="2322576"/>
            <a:ext cx="100584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6832397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917790" y="2322576"/>
            <a:ext cx="1005840" cy="475488"/>
          </a:xfrm>
          <a:prstGeom prst="rect">
            <a:avLst/>
          </a:prstGeom>
          <a:solidFill>
            <a:srgbClr val="0F2040"/>
          </a:solidFill>
          <a:ln w="12700">
            <a:solidFill>
              <a:srgbClr val="3BB5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917790" y="2322576"/>
            <a:ext cx="1005840" cy="45720"/>
          </a:xfrm>
          <a:prstGeom prst="rect">
            <a:avLst/>
          </a:prstGeom>
          <a:solidFill>
            <a:srgbClr val="3BB58A"/>
          </a:solidFill>
          <a:ln w="12700">
            <a:solidFill>
              <a:srgbClr val="3BB5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917790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gen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20040" y="2926080"/>
            <a:ext cx="2670048" cy="2011680"/>
          </a:xfrm>
          <a:prstGeom prst="rect">
            <a:avLst/>
          </a:prstGeom>
          <a:solidFill>
            <a:srgbClr val="1A3A5C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320040" y="2926080"/>
            <a:ext cx="2670048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57200" y="307238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Local-first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457200" y="3474720"/>
            <a:ext cx="23957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migrate.py ./myapp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pipeline. No infra. Just AWS creds and a folder.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218688" y="2926080"/>
            <a:ext cx="2670048" cy="2011680"/>
          </a:xfrm>
          <a:prstGeom prst="rect">
            <a:avLst/>
          </a:prstGeom>
          <a:solidFill>
            <a:srgbClr val="1A3A5C"/>
          </a:solidFill>
          <a:ln w="12700">
            <a:solidFill>
              <a:srgbClr val="E0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3218688" y="2926080"/>
            <a:ext cx="2670048" cy="54864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355848" y="307238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gates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3384194" y="3442716"/>
            <a:ext cx="2395728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pauses before Struts + Containerize.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reviews migration-report.md, then approves.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117336" y="2926080"/>
            <a:ext cx="2670048" cy="2011680"/>
          </a:xfrm>
          <a:prstGeom prst="rect">
            <a:avLst/>
          </a:prstGeom>
          <a:solidFill>
            <a:srgbClr val="1A3A5C"/>
          </a:solidFill>
          <a:ln w="12700">
            <a:solidFill>
              <a:srgbClr val="3BB5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117336" y="2926080"/>
            <a:ext cx="2670048" cy="54864"/>
          </a:xfrm>
          <a:prstGeom prst="rect">
            <a:avLst/>
          </a:prstGeom>
          <a:solidFill>
            <a:srgbClr val="3BB58A"/>
          </a:solidFill>
          <a:ln w="12700">
            <a:solidFill>
              <a:srgbClr val="3BB58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254496" y="3072384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Pipeline-ready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254496" y="3474720"/>
            <a:ext cx="23957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FileScanner → S3, StateManager → DynamoDB.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zero changes.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320040" y="4919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9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AWS Bedrock  ·  Claude 4.5 Sonnet  ·  GitLab  · Liberty on ECS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322</Words>
  <Application>Microsoft Macintosh PowerPoint</Application>
  <PresentationFormat>On-screen Show (16:9)</PresentationFormat>
  <Paragraphs>72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— Agentic J2EE Modernisation</dc:title>
  <dc:subject>PptxGenJS Presentation</dc:subject>
  <dc:creator>FORGE Project</dc:creator>
  <cp:lastModifiedBy>Raja Anche</cp:lastModifiedBy>
  <cp:revision>4</cp:revision>
  <dcterms:created xsi:type="dcterms:W3CDTF">2026-04-12T23:15:40Z</dcterms:created>
  <dcterms:modified xsi:type="dcterms:W3CDTF">2026-04-13T22:13:56Z</dcterms:modified>
</cp:coreProperties>
</file>